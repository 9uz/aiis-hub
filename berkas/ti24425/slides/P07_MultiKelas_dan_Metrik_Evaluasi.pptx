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baik (AUC ≈ 0,90)</c:v>
                </c:pt>
              </c:strCache>
            </c:strRef>
          </c:tx>
          <c:spPr>
            <a:solidFill>
              <a:srgbClr val="2E9E6B"/>
            </a:solidFill>
            <a:ln w="38100" cap="flat">
              <a:solidFill>
                <a:srgbClr val="2E9E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9E6B"/>
              </a:solidFill>
              <a:ln w="9525" cap="flat">
                <a:solidFill>
                  <a:srgbClr val="2E9E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  <c:pt idx="10">
                    <c:v>1,0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0.45</c:v>
                </c:pt>
                <c:pt idx="2">
                  <c:v>0.68</c:v>
                </c:pt>
                <c:pt idx="3">
                  <c:v>0.8</c:v>
                </c:pt>
                <c:pt idx="4">
                  <c:v>0.87</c:v>
                </c:pt>
                <c:pt idx="5">
                  <c:v>0.92</c:v>
                </c:pt>
                <c:pt idx="6">
                  <c:v>0.95</c:v>
                </c:pt>
                <c:pt idx="7">
                  <c:v>0.97</c:v>
                </c:pt>
                <c:pt idx="8">
                  <c:v>0.99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lemah (AUC ≈ 0,68)</c:v>
                </c:pt>
              </c:strCache>
            </c:strRef>
          </c:tx>
          <c:spPr>
            <a:solidFill>
              <a:srgbClr val="3E92C4"/>
            </a:solidFill>
            <a:ln w="38100" cap="flat">
              <a:solidFill>
                <a:srgbClr val="3E9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92C4"/>
              </a:solidFill>
              <a:ln w="9525" cap="flat">
                <a:solidFill>
                  <a:srgbClr val="3E9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  <c:pt idx="10">
                    <c:v>1,0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0.2</c:v>
                </c:pt>
                <c:pt idx="2">
                  <c:v>0.35</c:v>
                </c:pt>
                <c:pt idx="3">
                  <c:v>0.48</c:v>
                </c:pt>
                <c:pt idx="4">
                  <c:v>0.58</c:v>
                </c:pt>
                <c:pt idx="5">
                  <c:v>0.68</c:v>
                </c:pt>
                <c:pt idx="6">
                  <c:v>0.76</c:v>
                </c:pt>
                <c:pt idx="7">
                  <c:v>0.84</c:v>
                </c:pt>
                <c:pt idx="8">
                  <c:v>0.91</c:v>
                </c:pt>
                <c:pt idx="9">
                  <c:v>0.96</c:v>
                </c:pt>
                <c:pt idx="1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Tebakan acak (AUC = 0,50)</c:v>
                </c:pt>
              </c:strCache>
            </c:strRef>
          </c:tx>
          <c:spPr>
            <a:solidFill>
              <a:srgbClr val="9A90AE"/>
            </a:solidFill>
            <a:ln w="38100" cap="flat">
              <a:solidFill>
                <a:srgbClr val="9A90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90AE"/>
              </a:solidFill>
              <a:ln w="9525" cap="flat">
                <a:solidFill>
                  <a:srgbClr val="9A90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  <c:pt idx="10">
                    <c:v>1,0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4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483"/>
                    </a:solidFill>
                    <a:latin typeface="Arial"/>
                  </a:rPr>
                  <a:t>False Positive Rate  —  peringatan palsu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0D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4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483"/>
                    </a:solidFill>
                    <a:latin typeface="Arial"/>
                  </a:rPr>
                  <a:t>True Positive Rate  —  recall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E648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7 dari 16, sekaligus pertemuan terakhir sebelum UTS. Empat bagian, dua latihan terbimbing, satu diskusi kasus. Warna: hijau = prediksi benar, merah = prediksi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menagih kembali kasus C. Kesinambungan antarpertemuan membuat materi terasa satu bangunan, bukan potongan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bobot pertemuan ini 8 persen, tertinggi di antara pertemuan biasa. Alasannya: metrik evaluasi dipakai di seluruh sisa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tindakan berbeda untuk tiap kelas. Ini yang membuat kesalahan antar-kelas punya biaya berbeda pula.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contoh angka: 0,20 + 0,75 + 0,40 = 1,35. Tunjukkan bahwa jumlahnya melebihi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Nilai 0,20 bukan hasil pembulatan kasar: 2,72 dibagi 14,34 sama dengan 0,19 dan dibulatkan. Jelaskan bila ada yang bertanya.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kasus yang cocok untuk one-vs-rest: pelabelan topik berita, di mana satu artikel bisa sekaligus politik dan ekonomi.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Sambungkan langsung ke tabel latihan pertemuan 6. Bila mahasiswa membawanya, minta mereka menyusun ulang confusion matrix untuk ambang 0,30 dan 0,70 sebagai pemanasan.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menghafal: precision melihat kolom prediksi positif, recall melihat baris kelas positif sebenarnya.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Model A - accuracy 0,949, precision 0,600, recall 0,450, F1 0,514. Model B - accuracy 0,781, precision 0,195, recall 0,850, F1 0,317. Model A menang pada akurasi dan F1, tetapi hanya menemukan 45 persen keterlambatan. Model B menemukan 85 persen tetapi dengan 210 peringatan palsu. Pilihan bergantung pada harga tiap kesalahan; tidak ada jawaban tunggal yang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jawaban atas kasus C pertemuan lalu. Sebut contoh nyata: deteksi penipuan kartu kredit dengan kasus positif di bawah satu persen.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Hitung di papan bila perlu: rata-rata biasa dari 0,95 dan 0,05 adalah 0,5, sedangkan F1 hanya 0,095. Perbedaan inilah alasan memakai rata-rata harmonik.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Cukup konseptual. Yang wajib dipahami: satu titik sama dengan satu ambang, dan AUC meringkas seluruh ambang menjadi satu angka.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kelas terlambat berat paling sering keliru diprediksi sebagai terlambat ringan, dan itulah kesalahan yang paling mahal karena armada cadangan tidak disiagakan.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Metrik regresi disinggung kembali di sini agar mahasiswa punya gambaran utuh sebelum UTS. Sebagian sudah muncul di pertemuan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recall, karena kasus terlewat berakibat penularan; precision rendah masih dapat diterima. B precision, karena memblokir penumpang yang tidak bersalah sangat merugikan dan sulit diperbaiki. C RMSE atau MAE karena keluarannya angka, bukan kelas; RMSE bila keterlambatan besar sangat merugikan. D bukan akurasi - dengan 1,2 persen positif, model malas sudah mencapai 98,8 persen; gunakan recall dan precision, atau Precision-Recall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Keempat butir ini sangat mungkin muncul sebagai soal analisis kasus pada 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ini sekaligus kerangka belajar untuk UTS bagian klasifikasi.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Menyebutkan bahwa tabel rumus disediakan mengurangi kecemasan menghafal dan mengarahkan belajar pada pemahaman.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menegaskan bahwa kejujuran dalam menilai model adalah inti profesi ini, bukan sekadar keterampilan teknis.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Multi-Kelas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Metrik Evaluasi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3931920"/>
            <a:ext cx="1371600" cy="32004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206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7  ·  Mampu membandingkan strategi klasifikasi multi-kelas serta memilih dan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menjustifikasi metrik evaluasi yang sesuai dengan karakteristik masalah dan distribusi data.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Pertemuan terakhir sebelum 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sudah bisa memprediksi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kelas dan menggeser ambang.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F2545"/>
          </a:solidFill>
          <a:ln w="12700">
            <a:solidFill>
              <a:srgbClr val="2F2545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Multi-Kelas &amp; Metrik Evaluasi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dua kelas, dan cara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model dengan benar.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Tengah Semester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tertulis 100 menit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 materi pertemuan 1–7.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892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4EFF7"/>
          </a:solidFill>
          <a:ln w="12700">
            <a:solidFill>
              <a:srgbClr val="C6DEEE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05840" y="5102352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F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kasus C pada diskusi pertemuan lalu — model dengan akurasi 97% pada data yang hanya 3% berisi keterlambatan, dan tim menganggapnya berhasil. Hari ini kita bongkar kenapa kesimpulan itu keliru.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strategi klasifikasi multi-kelas one-vs-rest dan softmax beserta konsekuensinya.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566928" cy="566928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0545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precision, recall, dan F1 dari sebuah confusion matrix dengan benar.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mengapa akurasi menyesatkan pada data yang tidak seimbang.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566928" cy="566928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537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dan menjustifikasi metrik evaluasi sesuai konteks masalah dan biaya kesalahan.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02 dan 04 dinilai lewat Tugas Terstruktur 3 (bobot 4%) yang diberikan di akhir pertemuan ini, dan diuji kembali pada UTS.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Dua Kelas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Banyak Kelas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dan Softmax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PEMBUKA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status, bukan lagi dua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Perhubungan tidak lagi puas dengan jawaban terlambat atau tidak. Mereka ingin status yang lebih rinci untuk menentukan tindakan.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05740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Tepat waktu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di bawah 5 menit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564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Tindakan: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tindakan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0574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05740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0574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Terlambat ringan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5 sampai 15 menit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564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Tindakan: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Umumkan lewat papan informasi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3880" y="20574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205740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20574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Terlambat berat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di atas 15 menit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4564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Tindakan: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Siagakan armada cadangan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43484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2F2545"/>
          </a:solidFill>
          <a:ln w="12700">
            <a:solidFill>
              <a:srgbClr val="2F2545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461772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93776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hanya menghasilkan satu angka antara 0 dan 1 — cukup untuk dua kelas, tidak untuk tiga. Kita perlu cara memperluasnya. Ada dua pendekatan, dan keduanya masih memakai model linier yang sama.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PERTAMA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One-vs-Rest: banyak model kecil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satu model biner terpisah untuk setiap kelas. Tiap model menjawab satu pertanyaan sederhana: apakah ini kelas saya, atau bukan?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76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Tepat waktu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sisanya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632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sigmoid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2176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Terlambat ringan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sisanya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632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sigmoid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9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8388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76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Terlambat berat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sisanya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632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sigmoid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94360" y="406908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E8F5EF"/>
          </a:solidFill>
          <a:ln w="12700">
            <a:solidFill>
              <a:srgbClr val="C4E5D6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akhir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5537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kelas dengan keluaran tertinggi. Pada contoh di atas: terlambat ringan (0,75).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93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 kelas dibutuhkan k model terpisah.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406908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FBEAEB"/>
          </a:solidFill>
          <a:ln w="12700">
            <a:solidFill>
              <a:srgbClr val="F0C8CB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903720" y="4251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Kelemahannya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55371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angka tidak dijamin berjumlah 1. Model dapat memberi 0,9 untuk dua kelas sekaligus, atau di bawah 0,3 untuk semuanya — keluarannya tidak dapat dibaca sebagai probabilitas yang utuh.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KEDUA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Softmax: satu model, banyak keluaran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model menghasilkan satu skor mentah untuk tiap kelas. Softmax mengubah seluruh skor itu sekaligus menjadi probabilitas yang berjumlah tepat 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920240"/>
            <a:ext cx="6126480" cy="822960"/>
          </a:xfrm>
          <a:prstGeom prst="roundRect">
            <a:avLst>
              <a:gd name="adj" fmla="val 7778"/>
            </a:avLst>
          </a:prstGeom>
          <a:solidFill>
            <a:srgbClr val="3F33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920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softmax(zᵢ) = e^zᵢ / Σ e^zⱼ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292608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5544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mentah 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Probabilitas softmax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 ringan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 berat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94360" y="50292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berjumlah 1, keluaran softmax benar-benar dapat dibaca sebagai probabilitas — dan bisa dibandingkan antar-kelas secara adil.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546811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dua kelas, softmax menghasilkan hasil yang persis sama dengan sigmoid. Ia bukan hal baru, melainkan perumuman.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One-vs-Rest atau Softmax?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100297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79392"/>
                <a:gridCol w="4251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One-vs-Rest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model biner terpisah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model dengan k keluaran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probabilitas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dijamin berjumlah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Selalu berjumlah tepat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Asumsi antar-kelas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Tiap kelas dinilai sendiri-sendiri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saling bersaing satu sama 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Cocok untuk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Kasus di mana satu data boleh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 lebih dari satu kelas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Kasus di mana kelas saling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meniadakan (hanya satu benar)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pelatihan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Naik seiring jumlah kelas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 satu kali pelatihan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biner, k kali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kategorik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51206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kita — status perjalanan — bersifat saling meniadakan: satu bus tidak mungkin tepat waktu sekaligus terlambat berat. Softmax lebih tepat.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Membongkar satu angka akurasi menjadi empat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kotak yang menjelaskan segalanya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155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kembali hasil latihan ambang batas pertemuan lalu pada ambang 0,50, lalu susun ulang menjadi tabel ini.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27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527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SEBENARNYA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11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(0)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911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(1)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624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(0)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721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(1)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28600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kasus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228600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kasus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26280" y="338328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kasus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78040" y="338328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kasus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466344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4EFF7"/>
          </a:solidFill>
          <a:ln w="12700">
            <a:solidFill>
              <a:srgbClr val="C6DEEE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5840" y="4828032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dari pertemuan lalu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138928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adalah peringatan palsu — kesalahan tipe I.   FN adalah keterlambatan yang terlewat — kesalahan tipe II.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Menggeser ambang batas memindahkan angka antara kedua kotak merah itu, tanpa mengubah jumlah data.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TURUNANNYA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metrik dari empat kotak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325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3258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semua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bagian prediksi yang benar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Menyesatkan bila kelas timpang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2588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325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13258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yang ditandai positif,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yang benar-benar positif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bila peringatan palsu mahal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538728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538728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5387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35387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159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seluruh positif yang ada,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yang berhasil ditemukan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0017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bila kasus terlewat berbahaya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538728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538728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7B5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35387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5387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 + R)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3159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harmonik precision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recall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017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bila keduanya sama penting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56235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metrik yang unggul secara mutlak. Yang ada hanyalah metrik yang sesuai atau tidak sesuai dengan konteks masalah.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Hitung dan bandingkan dua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11002975" cy="594360"/>
          </a:xfrm>
          <a:prstGeom prst="roundRect">
            <a:avLst>
              <a:gd name="adj" fmla="val 13846"/>
            </a:avLst>
          </a:prstGeom>
          <a:solidFill>
            <a:srgbClr val="E4EFF7"/>
          </a:solidFill>
          <a:ln w="12700">
            <a:solidFill>
              <a:srgbClr val="C6DEEE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35024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15 menit · Dari 1.000 perjalanan, 60 di antaranya benar-benar terlambat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2024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= 27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98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= 33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 = 18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4838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 = 922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92024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= 51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898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= 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 = 210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4838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 = 730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1663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94360" y="4114800"/>
            <a:ext cx="11002975" cy="1691640"/>
          </a:xfrm>
          <a:prstGeom prst="roundRect">
            <a:avLst>
              <a:gd name="adj" fmla="val 4865"/>
            </a:avLst>
          </a:prstGeom>
          <a:solidFill>
            <a:srgbClr val="2F2545"/>
          </a:solidFill>
          <a:ln w="12700">
            <a:solidFill>
              <a:srgbClr val="2F2545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005840" y="4297680"/>
            <a:ext cx="10180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tabel terisi, jawab tiga hal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4681728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 yang punya akurasi lebih tinggi? Apakah itu berarti model tersebut lebih baik?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 yang lebih banyak menemukan keterlambatan sebenarnya? Metrik mana yang menunjukkannya?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Anda Kepala Dinas Perhubungan yang bertanggung jawab atas kepercayaan penumpang, model mana yang Anda pilih, dan apa harga yang harus Anda bayar untuk pilihan itu?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Ketika Akurasi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Berbohong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seimbang dan biaya kesalahan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yang tidak melakukan apa pun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sebuah model yang selalu menjawab "tidak terlambat" untuk setiap perjalanan, tanpa melihat data sama sekali.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Prediksi: Negatif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Prediksi: Positif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Sebenarnya negatif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Sebenarnya positif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1488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 = 940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26280" y="21488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 = 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560320" y="310896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3108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= 60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26280" y="310896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108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= 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66560" y="2103120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4088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103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mengesankan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971800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40880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195560" y="30449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satu pun keterlambatan ditemukan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840480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040880" y="3840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3840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terdefinisi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39136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Pembaginya nol — tidak ada prediksi positif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489204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FBEAEB"/>
          </a:solidFill>
          <a:ln w="12700">
            <a:solidFill>
              <a:srgbClr val="F0C8CB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05840" y="5102352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9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 sepenuhnya tidak berguna, tetapi akurasinya 94%. Setiap kali Anda melihat akurasi tinggi, pertanyaan pertama yang wajib diajukan adalah: berapa proporsi kelas positif dalam data ini?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TARIK-MENARIK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dan recall jarang naik bersama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27632"/>
            <a:ext cx="502920" cy="45720"/>
          </a:xfrm>
          <a:prstGeom prst="rect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Mengutamakan Precision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hanya menandai positif bila sangat yakin. Peringatan palsu sedikit, tetapi banyak kasus nyata terlewat.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penerapan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74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Penyaringan lamaran kerja otomatis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produk berbayar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Penandaan konten untuk dihapus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1627632"/>
            <a:ext cx="502920" cy="45720"/>
          </a:xfrm>
          <a:prstGeom prst="rect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Mengutamakan Recall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menandai positif meski ragu. Hampir semua kasus nyata tertangkap, tetapi peringatan palsu membanjir.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penerapan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474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Penapisan awal penyakit menular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penipuan transaksi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dini bencana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00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3E92C4"/>
          </a:solidFill>
          <a:ln w="12700">
            <a:solidFill>
              <a:srgbClr val="3E92C4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98348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memakai rata-rata harmonik, bukan rata-rata biasa. Akibatnya, model dengan precision 0,95 dan recall 0,05 hanya memperoleh F1 sebesar 0,095 — tidak bisa menyembunyikan kelemahan di salah satu sisi.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SEMUA AMBANG SEKALIGUS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Kurva ROC dan AUC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6751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28016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18120" y="1371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digambar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6093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titik pada kurva mewakili satu nilai ambang batas. Kurva menelusuri seluruh kemungkinan sekaligus.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43800" y="2276856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18120" y="2368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6060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melengkung ke pojok kiri atas, semakin baik. Garis diagonal berarti model tidak lebih baik dari menebak.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3273552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818120" y="3364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6027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di bawah kurva. Nilainya satu angka antara 0,5 dan 1 yang meringkas kinerja di semua ambang.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43800" y="4270248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818120" y="4361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5994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yang sangat timpang, AUC tetap dapat terlihat tinggi. Precision-Recall Curve lebih jujur untuk kasus itu.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MULTI-KELAS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tiga kelas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02975" cy="914400"/>
        </p:xfrm>
        <a:graphic>
          <a:graphicData uri="http://schemas.openxmlformats.org/drawingml/2006/table">
            <a:tbl>
              <a:tblPr/>
              <a:tblGrid>
                <a:gridCol w="2953512"/>
                <a:gridCol w="2011680"/>
                <a:gridCol w="2194560"/>
                <a:gridCol w="201168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Diprediksi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Diprediksi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 ringan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Diprediksi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 berat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sebenarnya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Sebenarnya tepat waktu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Sebenarnya terlambat ringan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Sebenarnya terlambat berat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diprediksi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2976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4526280"/>
            <a:ext cx="411480" cy="41148"/>
          </a:xfrm>
          <a:prstGeom prst="rect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663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utama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9560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hijau adalah prediksi yang benar. Semua kotak lain adalah kesalahan.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42976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4526280"/>
            <a:ext cx="411480" cy="41148"/>
          </a:xfrm>
          <a:prstGeom prst="rect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4663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per kelas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49560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menurut kolom. Untuk terlambat berat: 42 dari 77, atau 0,55.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83880" y="42976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58200" y="4526280"/>
            <a:ext cx="411480" cy="41148"/>
          </a:xfrm>
          <a:prstGeom prst="rect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58200" y="4663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per kelas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49560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menurut baris. Untuk terlambat berat: 42 dari 80, atau 0,53.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57150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memperoleh satu angka ringkasan, precision dan recall tiap kelas dirata-ratakan — macro average memperlakukan semua kelas setara, weighted average menimbang menurut jumlah data.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untuk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keluarannya kembali berupa angka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PELENGKAP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metrik untuk model regresi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100297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2560320"/>
                <a:gridCol w="38679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Rumus inti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Satuan hasil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dipilih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(galat)²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Kuadrat satuan asli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galat besar harus dihindari sekuat tenaga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akar dari 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dengan satuan asli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ingin sifat MSE tetapi hasilnya mudah dibaca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|galat|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dengan satuan asli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data mengandung pencilan yang wajar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(galat model / galat rata-rata)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satuan, 0 sampai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ingin tahu seberapa baik dibanding tebakan rata-rata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3434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membaca RMSE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8280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4,2 menit berarti model rata-rata meleset sekitar 4,2 menit — langsung dapat dijelaskan kepada Kepala Dinas tanpa penerjemahan.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43434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tentang R²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8280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selalu naik ketika fitur ditambahkan, meski fitur itu tidak berguna. Gunakan Adjusted R² bila membandingkan model dengan jumlah fitur berbeda.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konteks, empat metrik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55648"/>
            <a:ext cx="566928" cy="566928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5910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Penapisan awal penumpang bergejala penyakit menular di terminal bus antarkota.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55648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5910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otomatis yang memblokir akun penumpang yang diduga menyalahgunakan kartu langganan.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944368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328416"/>
            <a:ext cx="566928" cy="566928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16382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 waktu kedatangan bus yang ditampilkan pada papan informasi halte.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944368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328416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16382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yang memprediksi kerusakan mesin bus, dengan hanya 1,2% data berlabel rusak.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66344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2F2545"/>
          </a:solidFill>
          <a:ln w="12700">
            <a:solidFill>
              <a:srgbClr val="2F2545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84632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konteks: metrik apa yang Anda jadikan patokan utama, dan mengapa? Sebutkan juga metrik yang justru berbahaya bila dipakai di situ.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4 orang · 15 menit.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53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tinggi berarti model baik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435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timpang, model yang tidak melakukan apa pun bisa mencapai akurasi di atas 95%.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32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selalu metrik yang paling aman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14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memperlakukan precision dan recall setara. Bila biaya keduanya jauh berbeda, F1 menyembunyikan hal yang penting.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11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dan recall bisa dimaksimalkan bersama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59359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model yang sama, menaikkan satu hampir selalu menurunkan yang lain. Yang bisa dinaikkan bersama hanya lewat model yang lebih baik.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6908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tinggi berarti aman dipakai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67258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menilai pemeringkatan, bukan keputusan. Model dengan AUC 0,95 tetap bisa buruk pada ambang yang Anda pilih.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Multi-kelas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melatih k model terpisah;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satu model berjumlah 1.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kotak: TP, TN, FP, FN.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metrik lahir dari sini.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yang ditandai positif, berapa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benar. Kolom prediksi positif.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seluruh positif nyata, berapa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ditemukan. Baris positif nyata.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Akurasi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Menyesatkan pada data timpang.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tanyakan proporsi kelas.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F3359"/>
          </a:solidFill>
          <a:ln w="12700">
            <a:solidFill>
              <a:srgbClr val="52446F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Pemilihan metrik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berdasarkan biaya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kesalahan, bukan kebiasaan.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Terstruktur 3 dan persiapan 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3E92C4"/>
          </a:solidFill>
          <a:ln w="12700">
            <a:solidFill>
              <a:srgbClr val="3E92C4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3619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9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591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Terstruktur 3  ·  Bobot 4%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 kasus: menghitung metrik dari confusion matrix yang diberikan, lalu menjustifikasi pemilihan metrik untuk kasus dengan biaya kesalahan asimetris.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280160"/>
            <a:ext cx="50292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0DBE8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536192"/>
            <a:ext cx="530352" cy="53035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5910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1945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Géron [1] Bab 3 mengenai evaluasi model klasifikasi, serta ISL [11] Bab 4.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611880"/>
            <a:ext cx="11002975" cy="2331720"/>
          </a:xfrm>
          <a:prstGeom prst="roundRect">
            <a:avLst>
              <a:gd name="adj" fmla="val 3529"/>
            </a:avLst>
          </a:prstGeom>
          <a:solidFill>
            <a:srgbClr val="2F2545"/>
          </a:solidFill>
          <a:ln w="12700">
            <a:solidFill>
              <a:srgbClr val="2F2545"/>
            </a:solidFill>
            <a:prstDash val="solid"/>
          </a:ln>
          <a:effectLst>
            <a:outerShdw sx="100000" sy="100000" kx="0" ky="0" algn="bl" rotWithShape="0" blurRad="101600" dist="508" dir="5400000">
              <a:srgbClr val="B4ABC2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822192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 Ujian Tengah Semester · Pertemuan 8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20624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tertulis terjadwal 100 menit atas materi pertemuan 1 sampai 7. Komposisi soal: 40% konsep dan 60% analisis kasus. Tidak ada soal yang menuntut menulis kode.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73168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soal analisis: diberikan keluaran model, confusion matrix, atau kurva pembelajaran — Anda diminta menafsirkan dan merekomendasikan perbaikan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tanpa alasan tidak memperoleh nilai penuh, sekalipun tindakannya benar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 kalkulator sederhana. Tabel rumus metrik akan disediakan pada lembar soal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F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E9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Tengah Semester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3520440"/>
            <a:ext cx="1371600" cy="32004"/>
          </a:xfrm>
          <a:prstGeom prst="rect">
            <a:avLst/>
          </a:prstGeom>
          <a:solidFill>
            <a:srgbClr val="6DB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pertemuan terakhir membangun satu kemampuan: menilai apakah sebuah model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3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benar-benar bekerja, dan mengatakannya dengan jujur. Itulah yang diuji.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92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UTS: cross-validation dan tuning hyperparameter, model berbasis pohon,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neural network, hingga CNN, RNN, dan Large Language Model.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2026-08-31T05:20:07Z</dcterms:created>
  <dcterms:modified xsi:type="dcterms:W3CDTF">2026-08-31T05:20:07Z</dcterms:modified>
</cp:coreProperties>
</file>