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bermateri terakhir dan paling padat. Lima bagian, satu latihan terbimbing, satu diskusi etis, ditambah Presentasi Kilat sesi 2. Sediakan 30 menit untuk presentasi kilat; sisanya 120 menit untuk materi.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pembagian waktu sejak awal: 120 menit materi, 30 menit presentasi kilat.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indikator adalah yang terbanyak dalam satu pertemuan. Sebut bahwa cakupannya memang luas tetapi kedalamannya konseptual.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ke pertemuan 2 tentang kualitas data: tokenisasi adalah bentuk praproses, dan keputusannya harus dijustifikasi.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kalimat terbalik ini adalah cara tercepat menunjukkan keterbatasan Bag-of-Words.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baris pertama: kata bus muncul di semua dokumen sehingga bobotnya nol. Inilah inti gagasan TF-IDF.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kosakata tujuh kata yaitu rute, panjang, sering, terlambat, pendek, jarang, penuh. IDF - rute nol karena muncul di tiga dokumen; panjang, terlambat, dan jarang bernilai 0,176 karena muncul di dua dokumen; sering, pendek, dan penuh bernilai 0,477 karena muncul di satu dokumen. Kata rute sama sekali tidak berguna. Untuk pertanyaan kedua: tidak mampu, karena Bag-of-Words mengabaikan urutan dan tidak mengenal makna; kata sering dan jarang hanya dua kolom berbeda tanpa hubungan berlawanan 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ke K-Means pertemuan 11: begitu makna menjadi jarak, seluruh perkakas yang sudah dipelajari kembali dapat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contoh adalah pendeteksi tepi sederhana. Hasilnya minus empat karena pusat bernilai satu dikelilingi nol.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contoh sengaja dipilih agar kata terlambat baru muncul di akhir, sehingga makna kalimat bergantung pada seluruh 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kalimat penutup. Banyak mahasiswa mengira LLM dilatih untuk menjawab pertanyaan; sebenarnya ia dilatih menebak token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ini penting agar mahasiswa tidak memilih neural network hanya karena baru dipelajari dan terdengar canggih.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dengan kebocoran data pertemuan 9: sama-sama tidak menimbulkan galat, sama-sama hanya bisa ditangkap lewat pemeriksaan prosedur.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Sambungkan ke dokumen Tugas Studi Kasus Akhir yang memuat lampiran pernyataan penggunaan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A melanggar aturan 3 dan 4; analisis keterbatasan justru bagian yang paling menuntut penalaran sendiri dan akan ditanyakan saat UAS. B melanggar aturan 2 dan berpotensi melanggar hukum perlindungan data pribadi. C halusinasi klasik; melanggar aturan 1 bila dipakai tanpa verifikasi. D bias yang dipelajari dari data; melanggar aturan 6 karena menyangkut nafkah orang, dan wajib diaudit sebelum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yang dinilai bukan kecanggihan algoritma yang diundi, melainkan kualitas telaah mandiri dan kejujuran refleksinya.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Butir keempat adalah pesan yang paling ingin Anda tinggalkan pada mahasiswa dari seluruh pertemuan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ringkasan pertemuan bermateri terakhir. Sisa semester adalah kerja proyek dan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butir-butir ini pelan. Inilah pengarahan resmi untuk Studi Kasus Akhir, dan pertemuan berikutnya sudah masuk kerja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menegaskan bahwa inti mata kuliah ini adalah kejujuran menilai, bukan penguasaan algoritma terbaru.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8595360" y="-1828800"/>
            <a:ext cx="5852160" cy="5852160"/>
          </a:xfrm>
          <a:prstGeom prst="ellipse">
            <a:avLst/>
          </a:prstGeom>
          <a:solidFill>
            <a:srgbClr val="8F72CC"/>
          </a:solidFill>
          <a:ln w="12700">
            <a:solidFill>
              <a:srgbClr val="333333"/>
            </a:solidFill>
            <a:prstDash val="solid"/>
          </a:ln>
        </p:spPr>
      </p:sp>
      <p:sp>
        <p:nvSpPr>
          <p:cNvPr id="3" name="Shape 1"/>
          <p:cNvSpPr/>
          <p:nvPr/>
        </p:nvSpPr>
        <p:spPr>
          <a:xfrm>
            <a:off x="9966960" y="3291840"/>
            <a:ext cx="4023360" cy="4023360"/>
          </a:xfrm>
          <a:prstGeom prst="ellipse">
            <a:avLst/>
          </a:prstGeom>
          <a:solidFill>
            <a:srgbClr val="D9922E"/>
          </a:solidFill>
          <a:ln w="12700">
            <a:solidFill>
              <a:srgbClr val="333333"/>
            </a:solidFill>
            <a:prstDash val="solid"/>
          </a:ln>
        </p:spPr>
      </p:sp>
      <p:sp>
        <p:nvSpPr>
          <p:cNvPr id="4" name="Shape 2"/>
          <p:cNvSpPr/>
          <p:nvPr/>
        </p:nvSpPr>
        <p:spPr>
          <a:xfrm>
            <a:off x="11064240" y="5120640"/>
            <a:ext cx="1828800" cy="1828800"/>
          </a:xfrm>
          <a:prstGeom prst="ellipse">
            <a:avLst/>
          </a:prstGeom>
          <a:solidFill>
            <a:srgbClr val="D95F6B"/>
          </a:solidFill>
          <a:ln w="12700">
            <a:solidFill>
              <a:srgbClr val="333333"/>
            </a:solidFill>
            <a:prstDash val="solid"/>
          </a:ln>
        </p:spPr>
      </p:sp>
      <p:sp>
        <p:nvSpPr>
          <p:cNvPr id="5" name="Text 3"/>
          <p:cNvSpPr txBox="1"/>
          <p:nvPr/>
        </p:nvSpPr>
        <p:spPr>
          <a:xfrm>
            <a:off x="594360" y="1280160"/>
            <a:ext cx="7680960" cy="32004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DATA SCIENCE  ·  TI24425  ·  PERTEMUAN 13</a:t>
            </a:r>
            <a:endParaRPr lang="en-US" sz="1300" dirty="0"/>
          </a:p>
        </p:txBody>
      </p:sp>
      <p:sp>
        <p:nvSpPr>
          <p:cNvPr id="6" name="Text 4"/>
          <p:cNvSpPr txBox="1"/>
          <p:nvPr/>
        </p:nvSpPr>
        <p:spPr>
          <a:xfrm>
            <a:off x="594360" y="1783080"/>
            <a:ext cx="7680960" cy="2194560"/>
          </a:xfrm>
          <a:prstGeom prst="rect">
            <a:avLst/>
          </a:prstGeom>
          <a:noFill/>
          <a:ln/>
        </p:spPr>
        <p:txBody>
          <a:bodyPr wrap="square" lIns="0" tIns="0" rIns="0" bIns="0" rtlCol="0" anchor="t"/>
          <a:lstStyle/>
          <a:p>
            <a:pPr algn="l" indent="0" marL="0">
              <a:lnSpc>
                <a:spcPct val="115000"/>
              </a:lnSpc>
              <a:buNone/>
            </a:pPr>
            <a:r>
              <a:rPr lang="en-US" sz="3800" b="1" dirty="0">
                <a:solidFill>
                  <a:srgbClr val="FFFFFF"/>
                </a:solidFill>
                <a:latin typeface="Cambria" pitchFamily="34" charset="0"/>
                <a:ea typeface="Cambria" pitchFamily="34" charset="-122"/>
                <a:cs typeface="Cambria" pitchFamily="34" charset="-120"/>
              </a:rPr>
              <a:t>Representasi Teks,</a:t>
            </a:r>
            <a:endParaRPr lang="en-US" sz="3800" dirty="0"/>
          </a:p>
          <a:p>
            <a:pPr algn="l" indent="0" marL="0">
              <a:lnSpc>
                <a:spcPct val="115000"/>
              </a:lnSpc>
              <a:buNone/>
            </a:pPr>
            <a:r>
              <a:rPr lang="en-US" sz="3800" b="1" dirty="0">
                <a:solidFill>
                  <a:srgbClr val="FFFFFF"/>
                </a:solidFill>
                <a:latin typeface="Cambria" pitchFamily="34" charset="0"/>
                <a:ea typeface="Cambria" pitchFamily="34" charset="-122"/>
                <a:cs typeface="Cambria" pitchFamily="34" charset="-120"/>
              </a:rPr>
              <a:t>CNN, RNN, dan</a:t>
            </a:r>
            <a:endParaRPr lang="en-US" sz="3800" dirty="0"/>
          </a:p>
          <a:p>
            <a:pPr algn="l" indent="0" marL="0">
              <a:lnSpc>
                <a:spcPct val="115000"/>
              </a:lnSpc>
              <a:buNone/>
            </a:pPr>
            <a:r>
              <a:rPr lang="en-US" sz="3800" b="1" dirty="0">
                <a:solidFill>
                  <a:srgbClr val="FFFFFF"/>
                </a:solidFill>
                <a:latin typeface="Cambria" pitchFamily="34" charset="0"/>
                <a:ea typeface="Cambria" pitchFamily="34" charset="-122"/>
                <a:cs typeface="Cambria" pitchFamily="34" charset="-120"/>
              </a:rPr>
              <a:t>Large Language Model</a:t>
            </a:r>
            <a:endParaRPr lang="en-US" sz="3800" dirty="0"/>
          </a:p>
        </p:txBody>
      </p:sp>
      <p:sp>
        <p:nvSpPr>
          <p:cNvPr id="7" name="Shape 5"/>
          <p:cNvSpPr/>
          <p:nvPr/>
        </p:nvSpPr>
        <p:spPr>
          <a:xfrm>
            <a:off x="594360" y="4160520"/>
            <a:ext cx="1371600" cy="32004"/>
          </a:xfrm>
          <a:prstGeom prst="rect">
            <a:avLst/>
          </a:prstGeom>
          <a:solidFill>
            <a:srgbClr val="6FC7D6"/>
          </a:solidFill>
          <a:ln w="12700">
            <a:solidFill>
              <a:srgbClr val="333333"/>
            </a:solidFill>
            <a:prstDash val="solid"/>
          </a:ln>
        </p:spPr>
      </p:sp>
      <p:sp>
        <p:nvSpPr>
          <p:cNvPr id="8" name="Text 6"/>
          <p:cNvSpPr txBox="1"/>
          <p:nvPr/>
        </p:nvSpPr>
        <p:spPr>
          <a:xfrm>
            <a:off x="594360" y="4434840"/>
            <a:ext cx="7680960" cy="822960"/>
          </a:xfrm>
          <a:prstGeom prst="rect">
            <a:avLst/>
          </a:prstGeom>
          <a:noFill/>
          <a:ln/>
        </p:spPr>
        <p:txBody>
          <a:bodyPr wrap="square" lIns="0" tIns="0" rIns="0" bIns="0" rtlCol="0" anchor="t"/>
          <a:lstStyle/>
          <a:p>
            <a:pPr algn="l" indent="0" marL="0">
              <a:lnSpc>
                <a:spcPct val="120000"/>
              </a:lnSpc>
              <a:buNone/>
            </a:pPr>
            <a:r>
              <a:rPr lang="en-US" sz="1350" dirty="0">
                <a:solidFill>
                  <a:srgbClr val="B4C7CD"/>
                </a:solidFill>
                <a:latin typeface="Calibri" pitchFamily="34" charset="0"/>
                <a:ea typeface="Calibri" pitchFamily="34" charset="-122"/>
                <a:cs typeface="Calibri" pitchFamily="34" charset="-120"/>
              </a:rPr>
              <a:t>Sub-CPMK 12  ·  Mampu menganalisis representasi data teks sebagai jembatan menuju arsitektur modern,</a:t>
            </a:r>
            <a:endParaRPr lang="en-US" sz="1350" dirty="0"/>
          </a:p>
          <a:p>
            <a:pPr algn="l" indent="0" marL="0">
              <a:lnSpc>
                <a:spcPct val="120000"/>
              </a:lnSpc>
              <a:buNone/>
            </a:pPr>
            <a:r>
              <a:rPr lang="en-US" sz="1350" dirty="0">
                <a:solidFill>
                  <a:srgbClr val="B4C7CD"/>
                </a:solidFill>
                <a:latin typeface="Calibri" pitchFamily="34" charset="0"/>
                <a:ea typeface="Calibri" pitchFamily="34" charset="-122"/>
                <a:cs typeface="Calibri" pitchFamily="34" charset="-120"/>
              </a:rPr>
              <a:t>serta konsep dasar CNN, RNN, dan LLM beserta keterbatasan, risiko, dan implikasi etisnya.</a:t>
            </a:r>
            <a:endParaRPr lang="en-US" sz="1350" dirty="0"/>
          </a:p>
        </p:txBody>
      </p:sp>
      <p:sp>
        <p:nvSpPr>
          <p:cNvPr id="9" name="Text 7"/>
          <p:cNvSpPr txBox="1"/>
          <p:nvPr/>
        </p:nvSpPr>
        <p:spPr>
          <a:xfrm>
            <a:off x="594360" y="5989320"/>
            <a:ext cx="7680960" cy="274320"/>
          </a:xfrm>
          <a:prstGeom prst="rect">
            <a:avLst/>
          </a:prstGeom>
          <a:noFill/>
          <a:ln/>
        </p:spPr>
        <p:txBody>
          <a:bodyPr wrap="square" lIns="0" tIns="0" rIns="0" bIns="0" rtlCol="0" anchor="t"/>
          <a:lstStyle/>
          <a:p>
            <a:pPr algn="l" indent="0" marL="0">
              <a:buNone/>
            </a:pPr>
            <a:r>
              <a:rPr lang="en-US" sz="1200" dirty="0">
                <a:solidFill>
                  <a:srgbClr val="7E959D"/>
                </a:solidFill>
                <a:latin typeface="Calibri" pitchFamily="34" charset="0"/>
                <a:ea typeface="Calibri" pitchFamily="34" charset="-122"/>
                <a:cs typeface="Calibri" pitchFamily="34" charset="-120"/>
              </a:rPr>
              <a:t>Program Studi Teknologi Informasi  ·  Politeknik Negeri Madiun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ORIENTASI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Pertemuan bermateri terakhir</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417320"/>
            <a:ext cx="3520440" cy="3200400"/>
          </a:xfrm>
          <a:prstGeom prst="roundRect">
            <a:avLst>
              <a:gd name="adj" fmla="val 2571"/>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914400" y="1737360"/>
            <a:ext cx="621792" cy="621792"/>
          </a:xfrm>
          <a:prstGeom prst="ellipse">
            <a:avLst/>
          </a:prstGeom>
          <a:solidFill>
            <a:srgbClr val="A7B5BA"/>
          </a:solidFill>
          <a:ln w="12700">
            <a:solidFill>
              <a:srgbClr val="333333"/>
            </a:solidFill>
            <a:prstDash val="solid"/>
          </a:ln>
        </p:spPr>
      </p:sp>
      <p:sp>
        <p:nvSpPr>
          <p:cNvPr id="7" name="Text 5"/>
          <p:cNvSpPr txBox="1"/>
          <p:nvPr/>
        </p:nvSpPr>
        <p:spPr>
          <a:xfrm>
            <a:off x="91440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a:t>
            </a:r>
            <a:endParaRPr lang="en-US" sz="2000" dirty="0"/>
          </a:p>
        </p:txBody>
      </p:sp>
      <p:sp>
        <p:nvSpPr>
          <p:cNvPr id="8" name="Text 6"/>
          <p:cNvSpPr txBox="1"/>
          <p:nvPr/>
        </p:nvSpPr>
        <p:spPr>
          <a:xfrm>
            <a:off x="1691640" y="1883664"/>
            <a:ext cx="2194560" cy="320040"/>
          </a:xfrm>
          <a:prstGeom prst="rect">
            <a:avLst/>
          </a:prstGeom>
          <a:noFill/>
          <a:ln/>
        </p:spPr>
        <p:txBody>
          <a:bodyPr wrap="square" lIns="0" tIns="0" rIns="0" bIns="0" rtlCol="0" anchor="t"/>
          <a:lstStyle/>
          <a:p>
            <a:pPr algn="l" indent="0" marL="0">
              <a:buNone/>
            </a:pPr>
            <a:r>
              <a:rPr lang="en-US" sz="1000" b="1" dirty="0">
                <a:solidFill>
                  <a:srgbClr val="5F7178"/>
                </a:solidFill>
                <a:latin typeface="Calibri" pitchFamily="34" charset="0"/>
                <a:ea typeface="Calibri" pitchFamily="34" charset="-122"/>
                <a:cs typeface="Calibri" pitchFamily="34" charset="-120"/>
              </a:rPr>
              <a:t>SELESAI</a:t>
            </a:r>
            <a:endParaRPr lang="en-US" sz="1000" dirty="0"/>
          </a:p>
        </p:txBody>
      </p:sp>
      <p:sp>
        <p:nvSpPr>
          <p:cNvPr id="9" name="Text 7"/>
          <p:cNvSpPr txBox="1"/>
          <p:nvPr/>
        </p:nvSpPr>
        <p:spPr>
          <a:xfrm>
            <a:off x="914400" y="2560320"/>
            <a:ext cx="2880360" cy="68580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Neural Network</a:t>
            </a:r>
            <a:endParaRPr lang="en-US" sz="1700" dirty="0"/>
          </a:p>
        </p:txBody>
      </p:sp>
      <p:sp>
        <p:nvSpPr>
          <p:cNvPr id="10" name="Text 8"/>
          <p:cNvSpPr txBox="1"/>
          <p:nvPr/>
        </p:nvSpPr>
        <p:spPr>
          <a:xfrm>
            <a:off x="91440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5F7178"/>
                </a:solidFill>
                <a:latin typeface="Calibri" pitchFamily="34" charset="0"/>
                <a:ea typeface="Calibri" pitchFamily="34" charset="-122"/>
                <a:cs typeface="Calibri" pitchFamily="34" charset="-120"/>
              </a:rPr>
              <a:t>Kita sudah tahu cara menumpuk</a:t>
            </a:r>
            <a:endParaRPr lang="en-US" sz="1300" dirty="0"/>
          </a:p>
          <a:p>
            <a:pPr algn="l" indent="0" marL="0">
              <a:lnSpc>
                <a:spcPct val="125000"/>
              </a:lnSpc>
              <a:buNone/>
            </a:pPr>
            <a:r>
              <a:rPr lang="en-US" sz="1300" dirty="0">
                <a:solidFill>
                  <a:srgbClr val="5F7178"/>
                </a:solidFill>
                <a:latin typeface="Calibri" pitchFamily="34" charset="0"/>
                <a:ea typeface="Calibri" pitchFamily="34" charset="-122"/>
                <a:cs typeface="Calibri" pitchFamily="34" charset="-120"/>
              </a:rPr>
              <a:t>neuron menjadi jaringan.</a:t>
            </a:r>
            <a:endParaRPr lang="en-US" sz="1300" dirty="0"/>
          </a:p>
        </p:txBody>
      </p:sp>
      <p:sp>
        <p:nvSpPr>
          <p:cNvPr id="11" name="Shape 9"/>
          <p:cNvSpPr/>
          <p:nvPr/>
        </p:nvSpPr>
        <p:spPr>
          <a:xfrm>
            <a:off x="4389120" y="1417320"/>
            <a:ext cx="3520440" cy="3200400"/>
          </a:xfrm>
          <a:prstGeom prst="roundRect">
            <a:avLst>
              <a:gd name="adj" fmla="val 2571"/>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12" name="Shape 10"/>
          <p:cNvSpPr/>
          <p:nvPr/>
        </p:nvSpPr>
        <p:spPr>
          <a:xfrm>
            <a:off x="4709160" y="1737360"/>
            <a:ext cx="621792" cy="621792"/>
          </a:xfrm>
          <a:prstGeom prst="ellipse">
            <a:avLst/>
          </a:prstGeom>
          <a:solidFill>
            <a:srgbClr val="8F72CC"/>
          </a:solidFill>
          <a:ln w="12700">
            <a:solidFill>
              <a:srgbClr val="333333"/>
            </a:solidFill>
            <a:prstDash val="solid"/>
          </a:ln>
        </p:spPr>
      </p:sp>
      <p:sp>
        <p:nvSpPr>
          <p:cNvPr id="13" name="Text 11"/>
          <p:cNvSpPr txBox="1"/>
          <p:nvPr/>
        </p:nvSpPr>
        <p:spPr>
          <a:xfrm>
            <a:off x="470916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13</a:t>
            </a:r>
            <a:endParaRPr lang="en-US" sz="2000" dirty="0"/>
          </a:p>
        </p:txBody>
      </p:sp>
      <p:sp>
        <p:nvSpPr>
          <p:cNvPr id="14" name="Text 12"/>
          <p:cNvSpPr txBox="1"/>
          <p:nvPr/>
        </p:nvSpPr>
        <p:spPr>
          <a:xfrm>
            <a:off x="5486400" y="1883664"/>
            <a:ext cx="2194560" cy="320040"/>
          </a:xfrm>
          <a:prstGeom prst="rect">
            <a:avLst/>
          </a:prstGeom>
          <a:noFill/>
          <a:ln/>
        </p:spPr>
        <p:txBody>
          <a:bodyPr wrap="square" lIns="0" tIns="0" rIns="0" bIns="0" rtlCol="0" anchor="t"/>
          <a:lstStyle/>
          <a:p>
            <a:pPr algn="l" indent="0" marL="0">
              <a:buNone/>
            </a:pPr>
            <a:r>
              <a:rPr lang="en-US" sz="1000" b="1" dirty="0">
                <a:solidFill>
                  <a:srgbClr val="6FC7D6"/>
                </a:solidFill>
                <a:latin typeface="Calibri" pitchFamily="34" charset="0"/>
                <a:ea typeface="Calibri" pitchFamily="34" charset="-122"/>
                <a:cs typeface="Calibri" pitchFamily="34" charset="-120"/>
              </a:rPr>
              <a:t>HARI INI</a:t>
            </a:r>
            <a:endParaRPr lang="en-US" sz="1000" dirty="0"/>
          </a:p>
        </p:txBody>
      </p:sp>
      <p:sp>
        <p:nvSpPr>
          <p:cNvPr id="15" name="Text 13"/>
          <p:cNvSpPr txBox="1"/>
          <p:nvPr/>
        </p:nvSpPr>
        <p:spPr>
          <a:xfrm>
            <a:off x="4709160" y="2560320"/>
            <a:ext cx="2880360" cy="68580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Teks, CNN, RNN, dan LLM</a:t>
            </a:r>
            <a:endParaRPr lang="en-US" sz="1700" dirty="0"/>
          </a:p>
        </p:txBody>
      </p:sp>
      <p:sp>
        <p:nvSpPr>
          <p:cNvPr id="16" name="Text 14"/>
          <p:cNvSpPr txBox="1"/>
          <p:nvPr/>
        </p:nvSpPr>
        <p:spPr>
          <a:xfrm>
            <a:off x="470916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B4C7CD"/>
                </a:solidFill>
                <a:latin typeface="Calibri" pitchFamily="34" charset="0"/>
                <a:ea typeface="Calibri" pitchFamily="34" charset="-122"/>
                <a:cs typeface="Calibri" pitchFamily="34" charset="-120"/>
              </a:rPr>
              <a:t>Bagaimana susunan neuron</a:t>
            </a:r>
            <a:endParaRPr lang="en-US" sz="1300" dirty="0"/>
          </a:p>
          <a:p>
            <a:pPr algn="l" indent="0" marL="0">
              <a:lnSpc>
                <a:spcPct val="125000"/>
              </a:lnSpc>
              <a:buNone/>
            </a:pPr>
            <a:r>
              <a:rPr lang="en-US" sz="1300" dirty="0">
                <a:solidFill>
                  <a:srgbClr val="B4C7CD"/>
                </a:solidFill>
                <a:latin typeface="Calibri" pitchFamily="34" charset="0"/>
                <a:ea typeface="Calibri" pitchFamily="34" charset="-122"/>
                <a:cs typeface="Calibri" pitchFamily="34" charset="-120"/>
              </a:rPr>
              <a:t>dirancang untuk jenis data khusus.</a:t>
            </a:r>
            <a:endParaRPr lang="en-US" sz="1300" dirty="0"/>
          </a:p>
        </p:txBody>
      </p:sp>
      <p:sp>
        <p:nvSpPr>
          <p:cNvPr id="17" name="Shape 15"/>
          <p:cNvSpPr/>
          <p:nvPr/>
        </p:nvSpPr>
        <p:spPr>
          <a:xfrm>
            <a:off x="8183880" y="1417320"/>
            <a:ext cx="3520440" cy="3200400"/>
          </a:xfrm>
          <a:prstGeom prst="roundRect">
            <a:avLst>
              <a:gd name="adj" fmla="val 2571"/>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8" name="Shape 16"/>
          <p:cNvSpPr/>
          <p:nvPr/>
        </p:nvSpPr>
        <p:spPr>
          <a:xfrm>
            <a:off x="8503920" y="1737360"/>
            <a:ext cx="621792" cy="621792"/>
          </a:xfrm>
          <a:prstGeom prst="ellipse">
            <a:avLst/>
          </a:prstGeom>
          <a:solidFill>
            <a:srgbClr val="A7B5BA"/>
          </a:solidFill>
          <a:ln w="12700">
            <a:solidFill>
              <a:srgbClr val="333333"/>
            </a:solidFill>
            <a:prstDash val="solid"/>
          </a:ln>
        </p:spPr>
      </p:sp>
      <p:sp>
        <p:nvSpPr>
          <p:cNvPr id="19" name="Text 17"/>
          <p:cNvSpPr txBox="1"/>
          <p:nvPr/>
        </p:nvSpPr>
        <p:spPr>
          <a:xfrm>
            <a:off x="8503920" y="1737360"/>
            <a:ext cx="621792" cy="62179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14–15</a:t>
            </a:r>
            <a:endParaRPr lang="en-US" sz="1400" dirty="0"/>
          </a:p>
        </p:txBody>
      </p:sp>
      <p:sp>
        <p:nvSpPr>
          <p:cNvPr id="20" name="Text 18"/>
          <p:cNvSpPr txBox="1"/>
          <p:nvPr/>
        </p:nvSpPr>
        <p:spPr>
          <a:xfrm>
            <a:off x="9281160" y="1883664"/>
            <a:ext cx="2194560" cy="320040"/>
          </a:xfrm>
          <a:prstGeom prst="rect">
            <a:avLst/>
          </a:prstGeom>
          <a:noFill/>
          <a:ln/>
        </p:spPr>
        <p:txBody>
          <a:bodyPr wrap="square" lIns="0" tIns="0" rIns="0" bIns="0" rtlCol="0" anchor="t"/>
          <a:lstStyle/>
          <a:p>
            <a:pPr algn="l" indent="0" marL="0">
              <a:buNone/>
            </a:pPr>
            <a:r>
              <a:rPr lang="en-US" sz="1000" b="1" dirty="0">
                <a:solidFill>
                  <a:srgbClr val="5F7178"/>
                </a:solidFill>
                <a:latin typeface="Calibri" pitchFamily="34" charset="0"/>
                <a:ea typeface="Calibri" pitchFamily="34" charset="-122"/>
                <a:cs typeface="Calibri" pitchFamily="34" charset="-120"/>
              </a:rPr>
              <a:t>BERIKUTNYA</a:t>
            </a:r>
            <a:endParaRPr lang="en-US" sz="1000" dirty="0"/>
          </a:p>
        </p:txBody>
      </p:sp>
      <p:sp>
        <p:nvSpPr>
          <p:cNvPr id="21" name="Text 19"/>
          <p:cNvSpPr txBox="1"/>
          <p:nvPr/>
        </p:nvSpPr>
        <p:spPr>
          <a:xfrm>
            <a:off x="8503920" y="2560320"/>
            <a:ext cx="2880360" cy="68580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Studi Kasus Akhir</a:t>
            </a:r>
            <a:endParaRPr lang="en-US" sz="1700" dirty="0"/>
          </a:p>
        </p:txBody>
      </p:sp>
      <p:sp>
        <p:nvSpPr>
          <p:cNvPr id="22" name="Text 20"/>
          <p:cNvSpPr txBox="1"/>
          <p:nvPr/>
        </p:nvSpPr>
        <p:spPr>
          <a:xfrm>
            <a:off x="850392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5F7178"/>
                </a:solidFill>
                <a:latin typeface="Calibri" pitchFamily="34" charset="0"/>
                <a:ea typeface="Calibri" pitchFamily="34" charset="-122"/>
                <a:cs typeface="Calibri" pitchFamily="34" charset="-120"/>
              </a:rPr>
              <a:t>Tidak ada materi baru.</a:t>
            </a:r>
            <a:endParaRPr lang="en-US" sz="1300" dirty="0"/>
          </a:p>
          <a:p>
            <a:pPr algn="l" indent="0" marL="0">
              <a:lnSpc>
                <a:spcPct val="125000"/>
              </a:lnSpc>
              <a:buNone/>
            </a:pPr>
            <a:r>
              <a:rPr lang="en-US" sz="1300" dirty="0">
                <a:solidFill>
                  <a:srgbClr val="5F7178"/>
                </a:solidFill>
                <a:latin typeface="Calibri" pitchFamily="34" charset="0"/>
                <a:ea typeface="Calibri" pitchFamily="34" charset="-122"/>
                <a:cs typeface="Calibri" pitchFamily="34" charset="-120"/>
              </a:rPr>
              <a:t>Seluruhnya kerja kelompok.</a:t>
            </a:r>
            <a:endParaRPr lang="en-US" sz="1300" dirty="0"/>
          </a:p>
        </p:txBody>
      </p:sp>
      <p:sp>
        <p:nvSpPr>
          <p:cNvPr id="23" name="Shape 21"/>
          <p:cNvSpPr/>
          <p:nvPr/>
        </p:nvSpPr>
        <p:spPr>
          <a:xfrm>
            <a:off x="594360" y="4892040"/>
            <a:ext cx="11002975" cy="914400"/>
          </a:xfrm>
          <a:prstGeom prst="roundRect">
            <a:avLst>
              <a:gd name="adj" fmla="val 9000"/>
            </a:avLst>
          </a:prstGeom>
          <a:solidFill>
            <a:srgbClr val="F5EDDD"/>
          </a:solidFill>
          <a:ln w="12700">
            <a:solidFill>
              <a:srgbClr val="E8D5AD"/>
            </a:solidFill>
            <a:prstDash val="solid"/>
          </a:ln>
          <a:effectLst>
            <a:outerShdw sx="100000" sy="100000" kx="0" ky="0" algn="bl" rotWithShape="0" blurRad="101600" dist="508" dir="5400000">
              <a:srgbClr val="A9BABF">
                <a:alpha val="30000"/>
              </a:srgbClr>
            </a:outerShdw>
          </a:effectLst>
        </p:spPr>
      </p:sp>
      <p:sp>
        <p:nvSpPr>
          <p:cNvPr id="24" name="Text 22"/>
          <p:cNvSpPr txBox="1"/>
          <p:nvPr/>
        </p:nvSpPr>
        <p:spPr>
          <a:xfrm>
            <a:off x="1005840" y="5102352"/>
            <a:ext cx="10180015" cy="548640"/>
          </a:xfrm>
          <a:prstGeom prst="rect">
            <a:avLst/>
          </a:prstGeom>
          <a:noFill/>
          <a:ln/>
        </p:spPr>
        <p:txBody>
          <a:bodyPr wrap="square" lIns="0" tIns="0" rIns="0" bIns="0" rtlCol="0" anchor="t"/>
          <a:lstStyle/>
          <a:p>
            <a:pPr algn="l" indent="0" marL="0">
              <a:lnSpc>
                <a:spcPct val="125000"/>
              </a:lnSpc>
              <a:buNone/>
            </a:pPr>
            <a:r>
              <a:rPr lang="en-US" sz="1400" b="1" dirty="0">
                <a:solidFill>
                  <a:srgbClr val="8A5B12"/>
                </a:solidFill>
                <a:latin typeface="Calibri" pitchFamily="34" charset="0"/>
                <a:ea typeface="Calibri" pitchFamily="34" charset="-122"/>
                <a:cs typeface="Calibri" pitchFamily="34" charset="-120"/>
              </a:rPr>
              <a:t>Pertemuan ini padat dan berbobot 8%: Aktivitas Partisipatif 4% ditambah Tugas Terstruktur 5 sebesar 4% yang secara khusus mengukur kemampuan belajar mandiri Anda. Presentasi Kilat Algoritma sesi 2 juga berlangsung hari ini.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CAPAIAN PEMBELAJARAN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Setelah pertemuan ini Anda mampu…</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94360" y="1417320"/>
            <a:ext cx="530352" cy="530352"/>
          </a:xfrm>
          <a:prstGeom prst="ellipse">
            <a:avLst/>
          </a:prstGeom>
          <a:solidFill>
            <a:srgbClr val="D9922E"/>
          </a:solidFill>
          <a:ln w="12700">
            <a:solidFill>
              <a:srgbClr val="333333"/>
            </a:solidFill>
            <a:prstDash val="solid"/>
          </a:ln>
        </p:spPr>
      </p:sp>
      <p:sp>
        <p:nvSpPr>
          <p:cNvPr id="6" name="Text 4"/>
          <p:cNvSpPr txBox="1"/>
          <p:nvPr/>
        </p:nvSpPr>
        <p:spPr>
          <a:xfrm>
            <a:off x="594360" y="1417320"/>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txBox="1"/>
          <p:nvPr/>
        </p:nvSpPr>
        <p:spPr>
          <a:xfrm>
            <a:off x="1371600" y="1435608"/>
            <a:ext cx="10195560" cy="731520"/>
          </a:xfrm>
          <a:prstGeom prst="rect">
            <a:avLst/>
          </a:prstGeom>
          <a:noFill/>
          <a:ln/>
        </p:spPr>
        <p:txBody>
          <a:bodyPr wrap="square" lIns="0" tIns="0" rIns="0" bIns="0" rtlCol="0" anchor="t"/>
          <a:lstStyle/>
          <a:p>
            <a:pPr algn="l" indent="0" marL="0">
              <a:lnSpc>
                <a:spcPct val="125000"/>
              </a:lnSpc>
              <a:buNone/>
            </a:pPr>
            <a:r>
              <a:rPr lang="en-US" sz="1550" dirty="0">
                <a:solidFill>
                  <a:srgbClr val="13272E"/>
                </a:solidFill>
                <a:latin typeface="Calibri" pitchFamily="34" charset="0"/>
                <a:ea typeface="Calibri" pitchFamily="34" charset="-122"/>
                <a:cs typeface="Calibri" pitchFamily="34" charset="-120"/>
              </a:rPr>
              <a:t>Menyusun representasi Bag-of-Words dan TF-IDF untuk teks pendek serta menjelaskan keterbatasannya.</a:t>
            </a:r>
            <a:endParaRPr lang="en-US" sz="1550" dirty="0"/>
          </a:p>
        </p:txBody>
      </p:sp>
      <p:sp>
        <p:nvSpPr>
          <p:cNvPr id="8" name="Shape 6"/>
          <p:cNvSpPr/>
          <p:nvPr/>
        </p:nvSpPr>
        <p:spPr>
          <a:xfrm>
            <a:off x="594360" y="2313432"/>
            <a:ext cx="530352" cy="530352"/>
          </a:xfrm>
          <a:prstGeom prst="ellipse">
            <a:avLst/>
          </a:prstGeom>
          <a:solidFill>
            <a:srgbClr val="1F7A8C"/>
          </a:solidFill>
          <a:ln w="12700">
            <a:solidFill>
              <a:srgbClr val="333333"/>
            </a:solidFill>
            <a:prstDash val="solid"/>
          </a:ln>
        </p:spPr>
      </p:sp>
      <p:sp>
        <p:nvSpPr>
          <p:cNvPr id="9" name="Text 7"/>
          <p:cNvSpPr txBox="1"/>
          <p:nvPr/>
        </p:nvSpPr>
        <p:spPr>
          <a:xfrm>
            <a:off x="594360" y="231343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0" name="Text 8"/>
          <p:cNvSpPr txBox="1"/>
          <p:nvPr/>
        </p:nvSpPr>
        <p:spPr>
          <a:xfrm>
            <a:off x="1371600" y="2331720"/>
            <a:ext cx="10195560" cy="731520"/>
          </a:xfrm>
          <a:prstGeom prst="rect">
            <a:avLst/>
          </a:prstGeom>
          <a:noFill/>
          <a:ln/>
        </p:spPr>
        <p:txBody>
          <a:bodyPr wrap="square" lIns="0" tIns="0" rIns="0" bIns="0" rtlCol="0" anchor="t"/>
          <a:lstStyle/>
          <a:p>
            <a:pPr algn="l" indent="0" marL="0">
              <a:lnSpc>
                <a:spcPct val="125000"/>
              </a:lnSpc>
              <a:buNone/>
            </a:pPr>
            <a:r>
              <a:rPr lang="en-US" sz="1550" dirty="0">
                <a:solidFill>
                  <a:srgbClr val="13272E"/>
                </a:solidFill>
                <a:latin typeface="Calibri" pitchFamily="34" charset="0"/>
                <a:ea typeface="Calibri" pitchFamily="34" charset="-122"/>
                <a:cs typeface="Calibri" pitchFamily="34" charset="-120"/>
              </a:rPr>
              <a:t>Memetakan jenis arsitektur terhadap karakteristik data yang dihadapi.</a:t>
            </a:r>
            <a:endParaRPr lang="en-US" sz="1550" dirty="0"/>
          </a:p>
        </p:txBody>
      </p:sp>
      <p:sp>
        <p:nvSpPr>
          <p:cNvPr id="11" name="Shape 9"/>
          <p:cNvSpPr/>
          <p:nvPr/>
        </p:nvSpPr>
        <p:spPr>
          <a:xfrm>
            <a:off x="594360" y="3209544"/>
            <a:ext cx="530352" cy="530352"/>
          </a:xfrm>
          <a:prstGeom prst="ellipse">
            <a:avLst/>
          </a:prstGeom>
          <a:solidFill>
            <a:srgbClr val="D95F6B"/>
          </a:solidFill>
          <a:ln w="12700">
            <a:solidFill>
              <a:srgbClr val="333333"/>
            </a:solidFill>
            <a:prstDash val="solid"/>
          </a:ln>
        </p:spPr>
      </p:sp>
      <p:sp>
        <p:nvSpPr>
          <p:cNvPr id="12" name="Text 10"/>
          <p:cNvSpPr txBox="1"/>
          <p:nvPr/>
        </p:nvSpPr>
        <p:spPr>
          <a:xfrm>
            <a:off x="594360" y="320954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3" name="Text 11"/>
          <p:cNvSpPr txBox="1"/>
          <p:nvPr/>
        </p:nvSpPr>
        <p:spPr>
          <a:xfrm>
            <a:off x="1371600" y="3227832"/>
            <a:ext cx="10195560" cy="731520"/>
          </a:xfrm>
          <a:prstGeom prst="rect">
            <a:avLst/>
          </a:prstGeom>
          <a:noFill/>
          <a:ln/>
        </p:spPr>
        <p:txBody>
          <a:bodyPr wrap="square" lIns="0" tIns="0" rIns="0" bIns="0" rtlCol="0" anchor="t"/>
          <a:lstStyle/>
          <a:p>
            <a:pPr algn="l" indent="0" marL="0">
              <a:lnSpc>
                <a:spcPct val="125000"/>
              </a:lnSpc>
              <a:buNone/>
            </a:pPr>
            <a:r>
              <a:rPr lang="en-US" sz="1550" dirty="0">
                <a:solidFill>
                  <a:srgbClr val="13272E"/>
                </a:solidFill>
                <a:latin typeface="Calibri" pitchFamily="34" charset="0"/>
                <a:ea typeface="Calibri" pitchFamily="34" charset="-122"/>
                <a:cs typeface="Calibri" pitchFamily="34" charset="-120"/>
              </a:rPr>
              <a:t>Menjelaskan konsep konvolusi, rekurensi, embedding, dan attention secara konseptual.</a:t>
            </a:r>
            <a:endParaRPr lang="en-US" sz="1550" dirty="0"/>
          </a:p>
        </p:txBody>
      </p:sp>
      <p:sp>
        <p:nvSpPr>
          <p:cNvPr id="14" name="Shape 12"/>
          <p:cNvSpPr/>
          <p:nvPr/>
        </p:nvSpPr>
        <p:spPr>
          <a:xfrm>
            <a:off x="594360" y="4105656"/>
            <a:ext cx="530352" cy="530352"/>
          </a:xfrm>
          <a:prstGeom prst="ellipse">
            <a:avLst/>
          </a:prstGeom>
          <a:solidFill>
            <a:srgbClr val="8F72CC"/>
          </a:solidFill>
          <a:ln w="12700">
            <a:solidFill>
              <a:srgbClr val="333333"/>
            </a:solidFill>
            <a:prstDash val="solid"/>
          </a:ln>
        </p:spPr>
      </p:sp>
      <p:sp>
        <p:nvSpPr>
          <p:cNvPr id="15" name="Text 13"/>
          <p:cNvSpPr txBox="1"/>
          <p:nvPr/>
        </p:nvSpPr>
        <p:spPr>
          <a:xfrm>
            <a:off x="594360" y="4105656"/>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6" name="Text 14"/>
          <p:cNvSpPr txBox="1"/>
          <p:nvPr/>
        </p:nvSpPr>
        <p:spPr>
          <a:xfrm>
            <a:off x="1371600" y="4123944"/>
            <a:ext cx="10195560" cy="731520"/>
          </a:xfrm>
          <a:prstGeom prst="rect">
            <a:avLst/>
          </a:prstGeom>
          <a:noFill/>
          <a:ln/>
        </p:spPr>
        <p:txBody>
          <a:bodyPr wrap="square" lIns="0" tIns="0" rIns="0" bIns="0" rtlCol="0" anchor="t"/>
          <a:lstStyle/>
          <a:p>
            <a:pPr algn="l" indent="0" marL="0">
              <a:lnSpc>
                <a:spcPct val="125000"/>
              </a:lnSpc>
              <a:buNone/>
            </a:pPr>
            <a:r>
              <a:rPr lang="en-US" sz="1550" dirty="0">
                <a:solidFill>
                  <a:srgbClr val="13272E"/>
                </a:solidFill>
                <a:latin typeface="Calibri" pitchFamily="34" charset="0"/>
                <a:ea typeface="Calibri" pitchFamily="34" charset="-122"/>
                <a:cs typeface="Calibri" pitchFamily="34" charset="-120"/>
              </a:rPr>
              <a:t>Mengidentifikasi keterbatasan, risiko, dan implikasi etis penggunaan Large Language Model.</a:t>
            </a:r>
            <a:endParaRPr lang="en-US" sz="1550" dirty="0"/>
          </a:p>
        </p:txBody>
      </p:sp>
      <p:sp>
        <p:nvSpPr>
          <p:cNvPr id="17" name="Shape 15"/>
          <p:cNvSpPr/>
          <p:nvPr/>
        </p:nvSpPr>
        <p:spPr>
          <a:xfrm>
            <a:off x="594360" y="5001768"/>
            <a:ext cx="530352" cy="530352"/>
          </a:xfrm>
          <a:prstGeom prst="ellipse">
            <a:avLst/>
          </a:prstGeom>
          <a:solidFill>
            <a:srgbClr val="6FA45A"/>
          </a:solidFill>
          <a:ln w="12700">
            <a:solidFill>
              <a:srgbClr val="333333"/>
            </a:solidFill>
            <a:prstDash val="solid"/>
          </a:ln>
        </p:spPr>
      </p:sp>
      <p:sp>
        <p:nvSpPr>
          <p:cNvPr id="18" name="Text 16"/>
          <p:cNvSpPr txBox="1"/>
          <p:nvPr/>
        </p:nvSpPr>
        <p:spPr>
          <a:xfrm>
            <a:off x="594360" y="5001768"/>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19" name="Text 17"/>
          <p:cNvSpPr txBox="1"/>
          <p:nvPr/>
        </p:nvSpPr>
        <p:spPr>
          <a:xfrm>
            <a:off x="1371600" y="5020056"/>
            <a:ext cx="10195560" cy="731520"/>
          </a:xfrm>
          <a:prstGeom prst="rect">
            <a:avLst/>
          </a:prstGeom>
          <a:noFill/>
          <a:ln/>
        </p:spPr>
        <p:txBody>
          <a:bodyPr wrap="square" lIns="0" tIns="0" rIns="0" bIns="0" rtlCol="0" anchor="t"/>
          <a:lstStyle/>
          <a:p>
            <a:pPr algn="l" indent="0" marL="0">
              <a:lnSpc>
                <a:spcPct val="125000"/>
              </a:lnSpc>
              <a:buNone/>
            </a:pPr>
            <a:r>
              <a:rPr lang="en-US" sz="1550" dirty="0">
                <a:solidFill>
                  <a:srgbClr val="13272E"/>
                </a:solidFill>
                <a:latin typeface="Calibri" pitchFamily="34" charset="0"/>
                <a:ea typeface="Calibri" pitchFamily="34" charset="-122"/>
                <a:cs typeface="Calibri" pitchFamily="34" charset="-120"/>
              </a:rPr>
              <a:t>Menjelaskan prinsip kerja satu algoritma di luar materi kuliah yang Anda pelajari secara mandiri.</a:t>
            </a:r>
            <a:endParaRPr lang="en-US" sz="1550" dirty="0"/>
          </a:p>
        </p:txBody>
      </p:sp>
      <p:sp>
        <p:nvSpPr>
          <p:cNvPr id="20" name="Text 18"/>
          <p:cNvSpPr txBox="1"/>
          <p:nvPr/>
        </p:nvSpPr>
        <p:spPr>
          <a:xfrm>
            <a:off x="594360" y="5806440"/>
            <a:ext cx="11002975" cy="365760"/>
          </a:xfrm>
          <a:prstGeom prst="rect">
            <a:avLst/>
          </a:prstGeom>
          <a:noFill/>
          <a:ln/>
        </p:spPr>
        <p:txBody>
          <a:bodyPr wrap="square" lIns="0" tIns="0" rIns="0" bIns="0" rtlCol="0" anchor="t"/>
          <a:lstStyle/>
          <a:p>
            <a:pPr algn="l" indent="0" marL="0">
              <a:buNone/>
            </a:pPr>
            <a:r>
              <a:rPr lang="en-US" sz="1300" i="1" dirty="0">
                <a:solidFill>
                  <a:srgbClr val="5F7178"/>
                </a:solidFill>
                <a:latin typeface="Calibri" pitchFamily="34" charset="0"/>
                <a:ea typeface="Calibri" pitchFamily="34" charset="-122"/>
                <a:cs typeface="Calibri" pitchFamily="34" charset="-120"/>
              </a:rPr>
              <a:t>Indikator 01 dinilai lewat latihan terbimbing hari ini. Indikator 04 dan 05 dinilai lewat Tugas Terstruktur 5.</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8F72CC"/>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D9922E"/>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BAGIAN 1</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Representasi Teks</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4C7CD"/>
                </a:solidFill>
                <a:latin typeface="Calibri" pitchFamily="34" charset="0"/>
                <a:ea typeface="Calibri" pitchFamily="34" charset="-122"/>
                <a:cs typeface="Calibri" pitchFamily="34" charset="-120"/>
              </a:rPr>
              <a:t>Bagaimana kata diubah menjadi angka</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MASALAHNYA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Model tidak bisa membaca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280160"/>
            <a:ext cx="5577840" cy="2011680"/>
          </a:xfrm>
          <a:prstGeom prst="roundRect">
            <a:avLst>
              <a:gd name="adj" fmla="val 4091"/>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6" name="Text 4"/>
          <p:cNvSpPr txBox="1"/>
          <p:nvPr/>
        </p:nvSpPr>
        <p:spPr>
          <a:xfrm>
            <a:off x="960120" y="1554480"/>
            <a:ext cx="4846320" cy="1005840"/>
          </a:xfrm>
          <a:prstGeom prst="rect">
            <a:avLst/>
          </a:prstGeom>
          <a:noFill/>
          <a:ln/>
        </p:spPr>
        <p:txBody>
          <a:bodyPr wrap="square" lIns="0" tIns="0" rIns="0" bIns="0" rtlCol="0" anchor="t"/>
          <a:lstStyle/>
          <a:p>
            <a:pPr algn="l" indent="0" marL="0">
              <a:lnSpc>
                <a:spcPct val="130000"/>
              </a:lnSpc>
              <a:buNone/>
            </a:pPr>
            <a:r>
              <a:rPr lang="en-US" sz="1550" dirty="0">
                <a:solidFill>
                  <a:srgbClr val="FFFFFF"/>
                </a:solidFill>
                <a:latin typeface="Calibri" pitchFamily="34" charset="0"/>
                <a:ea typeface="Calibri" pitchFamily="34" charset="-122"/>
                <a:cs typeface="Calibri" pitchFamily="34" charset="-120"/>
              </a:rPr>
              <a:t>Setiap model yang kita pelajari — regresi, logistic regression, pohon, neural network — hanya menerima angka. Tidak satu pun dapat menerima kalimat sebagai masukan.</a:t>
            </a:r>
            <a:endParaRPr lang="en-US" sz="1550" dirty="0"/>
          </a:p>
        </p:txBody>
      </p:sp>
      <p:sp>
        <p:nvSpPr>
          <p:cNvPr id="7" name="Text 5"/>
          <p:cNvSpPr txBox="1"/>
          <p:nvPr/>
        </p:nvSpPr>
        <p:spPr>
          <a:xfrm>
            <a:off x="960120" y="2606040"/>
            <a:ext cx="4846320" cy="594360"/>
          </a:xfrm>
          <a:prstGeom prst="rect">
            <a:avLst/>
          </a:prstGeom>
          <a:noFill/>
          <a:ln/>
        </p:spPr>
        <p:txBody>
          <a:bodyPr wrap="square" lIns="0" tIns="0" rIns="0" bIns="0" rtlCol="0" anchor="t"/>
          <a:lstStyle/>
          <a:p>
            <a:pPr algn="l" indent="0" marL="0">
              <a:lnSpc>
                <a:spcPct val="125000"/>
              </a:lnSpc>
              <a:buNone/>
            </a:pPr>
            <a:r>
              <a:rPr lang="en-US" sz="1450" dirty="0">
                <a:solidFill>
                  <a:srgbClr val="6FC7D6"/>
                </a:solidFill>
                <a:latin typeface="Calibri" pitchFamily="34" charset="0"/>
                <a:ea typeface="Calibri" pitchFamily="34" charset="-122"/>
                <a:cs typeface="Calibri" pitchFamily="34" charset="-120"/>
              </a:rPr>
              <a:t>Sebelum teks dapat dianalisis, ia harus diubah menjadi vektor angka. Cara mengubahnya menentukan apa yang bisa dan tidak bisa ditangkap model.</a:t>
            </a:r>
            <a:endParaRPr lang="en-US" sz="1450" dirty="0"/>
          </a:p>
        </p:txBody>
      </p:sp>
      <p:sp>
        <p:nvSpPr>
          <p:cNvPr id="8" name="Shape 6"/>
          <p:cNvSpPr/>
          <p:nvPr/>
        </p:nvSpPr>
        <p:spPr>
          <a:xfrm>
            <a:off x="6537960" y="1280160"/>
            <a:ext cx="5029200" cy="621792"/>
          </a:xfrm>
          <a:prstGeom prst="roundRect">
            <a:avLst>
              <a:gd name="adj" fmla="val 1323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9" name="Shape 7"/>
          <p:cNvSpPr/>
          <p:nvPr/>
        </p:nvSpPr>
        <p:spPr>
          <a:xfrm>
            <a:off x="6766560" y="1362456"/>
            <a:ext cx="457200" cy="457200"/>
          </a:xfrm>
          <a:prstGeom prst="ellipse">
            <a:avLst/>
          </a:prstGeom>
          <a:solidFill>
            <a:srgbClr val="D9922E"/>
          </a:solidFill>
          <a:ln w="12700">
            <a:solidFill>
              <a:srgbClr val="333333"/>
            </a:solidFill>
            <a:prstDash val="solid"/>
          </a:ln>
        </p:spPr>
      </p:sp>
      <p:sp>
        <p:nvSpPr>
          <p:cNvPr id="10" name="Text 8"/>
          <p:cNvSpPr txBox="1"/>
          <p:nvPr/>
        </p:nvSpPr>
        <p:spPr>
          <a:xfrm>
            <a:off x="6766560" y="13624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1" name="Text 9"/>
          <p:cNvSpPr txBox="1"/>
          <p:nvPr/>
        </p:nvSpPr>
        <p:spPr>
          <a:xfrm>
            <a:off x="7360920" y="1335024"/>
            <a:ext cx="1737360" cy="512064"/>
          </a:xfrm>
          <a:prstGeom prst="rect">
            <a:avLst/>
          </a:prstGeom>
          <a:noFill/>
          <a:ln/>
        </p:spPr>
        <p:txBody>
          <a:bodyPr wrap="square" lIns="0" tIns="0" rIns="0" bIns="0" rtlCol="0" anchor="ctr"/>
          <a:lstStyle/>
          <a:p>
            <a:pPr algn="l" indent="0" marL="0">
              <a:buNone/>
            </a:pPr>
            <a:r>
              <a:rPr lang="en-US" sz="1350" b="1" dirty="0">
                <a:solidFill>
                  <a:srgbClr val="0F3743"/>
                </a:solidFill>
                <a:latin typeface="Calibri" pitchFamily="34" charset="0"/>
                <a:ea typeface="Calibri" pitchFamily="34" charset="-122"/>
                <a:cs typeface="Calibri" pitchFamily="34" charset="-120"/>
              </a:rPr>
              <a:t>Tokenisasi</a:t>
            </a:r>
            <a:endParaRPr lang="en-US" sz="1350" dirty="0"/>
          </a:p>
        </p:txBody>
      </p:sp>
      <p:sp>
        <p:nvSpPr>
          <p:cNvPr id="12" name="Text 10"/>
          <p:cNvSpPr txBox="1"/>
          <p:nvPr/>
        </p:nvSpPr>
        <p:spPr>
          <a:xfrm>
            <a:off x="9144000" y="1316736"/>
            <a:ext cx="2240280" cy="548640"/>
          </a:xfrm>
          <a:prstGeom prst="rect">
            <a:avLst/>
          </a:prstGeom>
          <a:noFill/>
          <a:ln/>
        </p:spPr>
        <p:txBody>
          <a:bodyPr wrap="square" lIns="0" tIns="0" rIns="0" bIns="0" rtlCol="0" anchor="ctr"/>
          <a:lstStyle/>
          <a:p>
            <a:pPr algn="l" indent="0" marL="0">
              <a:lnSpc>
                <a:spcPct val="112000"/>
              </a:lnSpc>
              <a:buNone/>
            </a:pPr>
            <a:r>
              <a:rPr lang="en-US" sz="1050" dirty="0">
                <a:solidFill>
                  <a:srgbClr val="5F7178"/>
                </a:solidFill>
                <a:latin typeface="Calibri" pitchFamily="34" charset="0"/>
                <a:ea typeface="Calibri" pitchFamily="34" charset="-122"/>
                <a:cs typeface="Calibri" pitchFamily="34" charset="-120"/>
              </a:rPr>
              <a:t>Memecah kalimat menjadi satuan terkecil — biasanya kata.</a:t>
            </a:r>
            <a:endParaRPr lang="en-US" sz="1050" dirty="0"/>
          </a:p>
        </p:txBody>
      </p:sp>
      <p:sp>
        <p:nvSpPr>
          <p:cNvPr id="13" name="Shape 11"/>
          <p:cNvSpPr/>
          <p:nvPr/>
        </p:nvSpPr>
        <p:spPr>
          <a:xfrm>
            <a:off x="6537960" y="1993392"/>
            <a:ext cx="5029200" cy="621792"/>
          </a:xfrm>
          <a:prstGeom prst="roundRect">
            <a:avLst>
              <a:gd name="adj" fmla="val 1323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4" name="Shape 12"/>
          <p:cNvSpPr/>
          <p:nvPr/>
        </p:nvSpPr>
        <p:spPr>
          <a:xfrm>
            <a:off x="6766560" y="2075688"/>
            <a:ext cx="457200" cy="457200"/>
          </a:xfrm>
          <a:prstGeom prst="ellipse">
            <a:avLst/>
          </a:prstGeom>
          <a:solidFill>
            <a:srgbClr val="1F7A8C"/>
          </a:solidFill>
          <a:ln w="12700">
            <a:solidFill>
              <a:srgbClr val="333333"/>
            </a:solidFill>
            <a:prstDash val="solid"/>
          </a:ln>
        </p:spPr>
      </p:sp>
      <p:sp>
        <p:nvSpPr>
          <p:cNvPr id="15" name="Text 13"/>
          <p:cNvSpPr txBox="1"/>
          <p:nvPr/>
        </p:nvSpPr>
        <p:spPr>
          <a:xfrm>
            <a:off x="6766560" y="2075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6" name="Text 14"/>
          <p:cNvSpPr txBox="1"/>
          <p:nvPr/>
        </p:nvSpPr>
        <p:spPr>
          <a:xfrm>
            <a:off x="7360920" y="2048256"/>
            <a:ext cx="1737360" cy="512064"/>
          </a:xfrm>
          <a:prstGeom prst="rect">
            <a:avLst/>
          </a:prstGeom>
          <a:noFill/>
          <a:ln/>
        </p:spPr>
        <p:txBody>
          <a:bodyPr wrap="square" lIns="0" tIns="0" rIns="0" bIns="0" rtlCol="0" anchor="ctr"/>
          <a:lstStyle/>
          <a:p>
            <a:pPr algn="l" indent="0" marL="0">
              <a:buNone/>
            </a:pPr>
            <a:r>
              <a:rPr lang="en-US" sz="1350" b="1" dirty="0">
                <a:solidFill>
                  <a:srgbClr val="0F3743"/>
                </a:solidFill>
                <a:latin typeface="Calibri" pitchFamily="34" charset="0"/>
                <a:ea typeface="Calibri" pitchFamily="34" charset="-122"/>
                <a:cs typeface="Calibri" pitchFamily="34" charset="-120"/>
              </a:rPr>
              <a:t>Pembentukan kosakata</a:t>
            </a:r>
            <a:endParaRPr lang="en-US" sz="1350" dirty="0"/>
          </a:p>
        </p:txBody>
      </p:sp>
      <p:sp>
        <p:nvSpPr>
          <p:cNvPr id="17" name="Text 15"/>
          <p:cNvSpPr txBox="1"/>
          <p:nvPr/>
        </p:nvSpPr>
        <p:spPr>
          <a:xfrm>
            <a:off x="9144000" y="2029968"/>
            <a:ext cx="2240280" cy="548640"/>
          </a:xfrm>
          <a:prstGeom prst="rect">
            <a:avLst/>
          </a:prstGeom>
          <a:noFill/>
          <a:ln/>
        </p:spPr>
        <p:txBody>
          <a:bodyPr wrap="square" lIns="0" tIns="0" rIns="0" bIns="0" rtlCol="0" anchor="ctr"/>
          <a:lstStyle/>
          <a:p>
            <a:pPr algn="l" indent="0" marL="0">
              <a:lnSpc>
                <a:spcPct val="112000"/>
              </a:lnSpc>
              <a:buNone/>
            </a:pPr>
            <a:r>
              <a:rPr lang="en-US" sz="1050" dirty="0">
                <a:solidFill>
                  <a:srgbClr val="5F7178"/>
                </a:solidFill>
                <a:latin typeface="Calibri" pitchFamily="34" charset="0"/>
                <a:ea typeface="Calibri" pitchFamily="34" charset="-122"/>
                <a:cs typeface="Calibri" pitchFamily="34" charset="-120"/>
              </a:rPr>
              <a:t>Mengumpulkan seluruh token unik menjadi daftar bernomor.</a:t>
            </a:r>
            <a:endParaRPr lang="en-US" sz="1050" dirty="0"/>
          </a:p>
        </p:txBody>
      </p:sp>
      <p:sp>
        <p:nvSpPr>
          <p:cNvPr id="18" name="Shape 16"/>
          <p:cNvSpPr/>
          <p:nvPr/>
        </p:nvSpPr>
        <p:spPr>
          <a:xfrm>
            <a:off x="6537960" y="2706624"/>
            <a:ext cx="5029200" cy="621792"/>
          </a:xfrm>
          <a:prstGeom prst="roundRect">
            <a:avLst>
              <a:gd name="adj" fmla="val 1323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9" name="Shape 17"/>
          <p:cNvSpPr/>
          <p:nvPr/>
        </p:nvSpPr>
        <p:spPr>
          <a:xfrm>
            <a:off x="6766560" y="2788920"/>
            <a:ext cx="457200" cy="457200"/>
          </a:xfrm>
          <a:prstGeom prst="ellipse">
            <a:avLst/>
          </a:prstGeom>
          <a:solidFill>
            <a:srgbClr val="8F72CC"/>
          </a:solidFill>
          <a:ln w="12700">
            <a:solidFill>
              <a:srgbClr val="333333"/>
            </a:solidFill>
            <a:prstDash val="solid"/>
          </a:ln>
        </p:spPr>
      </p:sp>
      <p:sp>
        <p:nvSpPr>
          <p:cNvPr id="20" name="Text 18"/>
          <p:cNvSpPr txBox="1"/>
          <p:nvPr/>
        </p:nvSpPr>
        <p:spPr>
          <a:xfrm>
            <a:off x="676656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1" name="Text 19"/>
          <p:cNvSpPr txBox="1"/>
          <p:nvPr/>
        </p:nvSpPr>
        <p:spPr>
          <a:xfrm>
            <a:off x="7360920" y="2761488"/>
            <a:ext cx="1737360" cy="512064"/>
          </a:xfrm>
          <a:prstGeom prst="rect">
            <a:avLst/>
          </a:prstGeom>
          <a:noFill/>
          <a:ln/>
        </p:spPr>
        <p:txBody>
          <a:bodyPr wrap="square" lIns="0" tIns="0" rIns="0" bIns="0" rtlCol="0" anchor="ctr"/>
          <a:lstStyle/>
          <a:p>
            <a:pPr algn="l" indent="0" marL="0">
              <a:buNone/>
            </a:pPr>
            <a:r>
              <a:rPr lang="en-US" sz="1350" b="1" dirty="0">
                <a:solidFill>
                  <a:srgbClr val="0F3743"/>
                </a:solidFill>
                <a:latin typeface="Calibri" pitchFamily="34" charset="0"/>
                <a:ea typeface="Calibri" pitchFamily="34" charset="-122"/>
                <a:cs typeface="Calibri" pitchFamily="34" charset="-120"/>
              </a:rPr>
              <a:t>Vektorisasi</a:t>
            </a:r>
            <a:endParaRPr lang="en-US" sz="1350" dirty="0"/>
          </a:p>
        </p:txBody>
      </p:sp>
      <p:sp>
        <p:nvSpPr>
          <p:cNvPr id="22" name="Text 20"/>
          <p:cNvSpPr txBox="1"/>
          <p:nvPr/>
        </p:nvSpPr>
        <p:spPr>
          <a:xfrm>
            <a:off x="9144000" y="2743200"/>
            <a:ext cx="2240280" cy="548640"/>
          </a:xfrm>
          <a:prstGeom prst="rect">
            <a:avLst/>
          </a:prstGeom>
          <a:noFill/>
          <a:ln/>
        </p:spPr>
        <p:txBody>
          <a:bodyPr wrap="square" lIns="0" tIns="0" rIns="0" bIns="0" rtlCol="0" anchor="ctr"/>
          <a:lstStyle/>
          <a:p>
            <a:pPr algn="l" indent="0" marL="0">
              <a:lnSpc>
                <a:spcPct val="112000"/>
              </a:lnSpc>
              <a:buNone/>
            </a:pPr>
            <a:r>
              <a:rPr lang="en-US" sz="1050" dirty="0">
                <a:solidFill>
                  <a:srgbClr val="5F7178"/>
                </a:solidFill>
                <a:latin typeface="Calibri" pitchFamily="34" charset="0"/>
                <a:ea typeface="Calibri" pitchFamily="34" charset="-122"/>
                <a:cs typeface="Calibri" pitchFamily="34" charset="-120"/>
              </a:rPr>
              <a:t>Mengubah tiap dokumen menjadi vektor angka berdasarkan kosakata itu.</a:t>
            </a:r>
            <a:endParaRPr lang="en-US" sz="1050" dirty="0"/>
          </a:p>
        </p:txBody>
      </p:sp>
      <p:sp>
        <p:nvSpPr>
          <p:cNvPr id="23" name="Shape 21"/>
          <p:cNvSpPr/>
          <p:nvPr/>
        </p:nvSpPr>
        <p:spPr>
          <a:xfrm>
            <a:off x="594360" y="3520440"/>
            <a:ext cx="11002975" cy="2240280"/>
          </a:xfrm>
          <a:prstGeom prst="roundRect">
            <a:avLst>
              <a:gd name="adj" fmla="val 3673"/>
            </a:avLst>
          </a:prstGeom>
          <a:solidFill>
            <a:srgbClr val="F5EDDD"/>
          </a:solidFill>
          <a:ln w="12700">
            <a:solidFill>
              <a:srgbClr val="E8D5AD"/>
            </a:solidFill>
            <a:prstDash val="solid"/>
          </a:ln>
          <a:effectLst>
            <a:outerShdw sx="100000" sy="100000" kx="0" ky="0" algn="bl" rotWithShape="0" blurRad="101600" dist="508" dir="5400000">
              <a:srgbClr val="A9BABF">
                <a:alpha val="30000"/>
              </a:srgbClr>
            </a:outerShdw>
          </a:effectLst>
        </p:spPr>
      </p:sp>
      <p:sp>
        <p:nvSpPr>
          <p:cNvPr id="24" name="Text 22"/>
          <p:cNvSpPr txBox="1"/>
          <p:nvPr/>
        </p:nvSpPr>
        <p:spPr>
          <a:xfrm>
            <a:off x="1005840" y="3703320"/>
            <a:ext cx="10180015" cy="274320"/>
          </a:xfrm>
          <a:prstGeom prst="rect">
            <a:avLst/>
          </a:prstGeom>
          <a:noFill/>
          <a:ln/>
        </p:spPr>
        <p:txBody>
          <a:bodyPr wrap="square" lIns="0" tIns="0" rIns="0" bIns="0" rtlCol="0" anchor="t"/>
          <a:lstStyle/>
          <a:p>
            <a:pPr algn="l" indent="0" marL="0">
              <a:buNone/>
            </a:pPr>
            <a:r>
              <a:rPr lang="en-US" sz="1700" b="1" dirty="0">
                <a:solidFill>
                  <a:srgbClr val="8A5B12"/>
                </a:solidFill>
                <a:latin typeface="Cambria" pitchFamily="34" charset="0"/>
                <a:ea typeface="Cambria" pitchFamily="34" charset="-122"/>
                <a:cs typeface="Cambria" pitchFamily="34" charset="-120"/>
              </a:rPr>
              <a:t>Contoh tokenisasi</a:t>
            </a:r>
            <a:endParaRPr lang="en-US" sz="1700" dirty="0"/>
          </a:p>
        </p:txBody>
      </p:sp>
      <p:sp>
        <p:nvSpPr>
          <p:cNvPr id="25" name="Text 23"/>
          <p:cNvSpPr txBox="1"/>
          <p:nvPr/>
        </p:nvSpPr>
        <p:spPr>
          <a:xfrm>
            <a:off x="1005840" y="4041648"/>
            <a:ext cx="10180015" cy="365760"/>
          </a:xfrm>
          <a:prstGeom prst="rect">
            <a:avLst/>
          </a:prstGeom>
          <a:noFill/>
          <a:ln/>
        </p:spPr>
        <p:txBody>
          <a:bodyPr wrap="square" lIns="0" tIns="0" rIns="0" bIns="0" rtlCol="0" anchor="t"/>
          <a:lstStyle/>
          <a:p>
            <a:pPr algn="l" indent="0" marL="0">
              <a:buNone/>
            </a:pPr>
            <a:r>
              <a:rPr lang="en-US" sz="1500" b="1" dirty="0">
                <a:solidFill>
                  <a:srgbClr val="8A5B12"/>
                </a:solidFill>
                <a:latin typeface="Courier New" pitchFamily="34" charset="0"/>
                <a:ea typeface="Courier New" pitchFamily="34" charset="-122"/>
                <a:cs typeface="Courier New" pitchFamily="34" charset="-120"/>
              </a:rPr>
              <a:t>"Bus terlambat karena hujan"   →   [ bus ,  terlambat ,  karena ,  hujan ]</a:t>
            </a:r>
            <a:endParaRPr lang="en-US" sz="1500" dirty="0"/>
          </a:p>
        </p:txBody>
      </p:sp>
      <p:sp>
        <p:nvSpPr>
          <p:cNvPr id="26" name="Text 24"/>
          <p:cNvSpPr txBox="1"/>
          <p:nvPr/>
        </p:nvSpPr>
        <p:spPr>
          <a:xfrm>
            <a:off x="1005840" y="4526280"/>
            <a:ext cx="10180015" cy="1005840"/>
          </a:xfrm>
          <a:prstGeom prst="rect">
            <a:avLst/>
          </a:prstGeom>
          <a:noFill/>
          <a:ln/>
        </p:spPr>
        <p:txBody>
          <a:bodyPr wrap="square" lIns="0" tIns="0" rIns="0" bIns="0" rtlCol="0" anchor="t"/>
          <a:lstStyle/>
          <a:p>
            <a:pPr algn="l" indent="0" marL="0">
              <a:lnSpc>
                <a:spcPct val="130000"/>
              </a:lnSpc>
              <a:buNone/>
            </a:pPr>
            <a:r>
              <a:rPr lang="en-US" sz="1400" dirty="0">
                <a:solidFill>
                  <a:srgbClr val="8A5B12"/>
                </a:solidFill>
                <a:latin typeface="Calibri" pitchFamily="34" charset="0"/>
                <a:ea typeface="Calibri" pitchFamily="34" charset="-122"/>
                <a:cs typeface="Calibri" pitchFamily="34" charset="-120"/>
              </a:rPr>
              <a:t>Terdengar sepele, tetapi keputusan di sini berdampak besar: apakah huruf besar dibedakan? Apakah tanda baca dibuang? Apakah "terlambat" dan "keterlambatan" dianggap satu kata? Setiap pilihan mengubah kosakata, dan kosakata menentukan seluruh representasi berikutnya.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CARA PERTAMA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One-Hot Encoding dan Bag-of-Words</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94360" y="1170432"/>
            <a:ext cx="11002975" cy="320040"/>
          </a:xfrm>
          <a:prstGeom prst="rect">
            <a:avLst/>
          </a:prstGeom>
          <a:noFill/>
          <a:ln/>
        </p:spPr>
        <p:txBody>
          <a:bodyPr wrap="square" lIns="0" tIns="0" rIns="0" bIns="0" rtlCol="0" anchor="t"/>
          <a:lstStyle/>
          <a:p>
            <a:pPr algn="l" indent="0" marL="0">
              <a:buNone/>
            </a:pPr>
            <a:r>
              <a:rPr lang="en-US" sz="1450" dirty="0">
                <a:solidFill>
                  <a:srgbClr val="13272E"/>
                </a:solidFill>
                <a:latin typeface="Calibri" pitchFamily="34" charset="0"/>
                <a:ea typeface="Calibri" pitchFamily="34" charset="-122"/>
                <a:cs typeface="Calibri" pitchFamily="34" charset="-120"/>
              </a:rPr>
              <a:t>Tiga dokumen pendek, kosakata tujuh kata. Setiap dokumen menjadi satu baris berisi jumlah kemunculan tiap kata.</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1002975" cy="914400"/>
        </p:xfrm>
        <a:graphic>
          <a:graphicData uri="http://schemas.openxmlformats.org/drawingml/2006/table">
            <a:tbl>
              <a:tblPr/>
              <a:tblGrid>
                <a:gridCol w="3867912"/>
                <a:gridCol w="914400"/>
                <a:gridCol w="1371600"/>
                <a:gridCol w="1097280"/>
                <a:gridCol w="1097280"/>
                <a:gridCol w="914400"/>
                <a:gridCol w="914400"/>
                <a:gridCol w="91440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Dokumen</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bus</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terlambat</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karena</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hujan</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tepat</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waktu</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deras</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r>
              <a:tr h="457200">
                <a:tc>
                  <a:txBody>
                    <a:bodyPr/>
                    <a:lstStyle/>
                    <a:p>
                      <a:pPr algn="ctr" indent="0" marL="0">
                        <a:buNone/>
                      </a:pPr>
                      <a:r>
                        <a:rPr lang="en-US" sz="1300" b="1" dirty="0">
                          <a:solidFill>
                            <a:srgbClr val="13272E"/>
                          </a:solidFill>
                          <a:latin typeface="Calibri" pitchFamily="34" charset="0"/>
                          <a:ea typeface="Calibri" pitchFamily="34" charset="-122"/>
                          <a:cs typeface="Calibri" pitchFamily="34" charset="-120"/>
                        </a:rPr>
                        <a:t>D1: bus terlambat karena hujan</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3272E"/>
                          </a:solidFill>
                          <a:latin typeface="Calibri" pitchFamily="34" charset="0"/>
                          <a:ea typeface="Calibri" pitchFamily="34" charset="-122"/>
                          <a:cs typeface="Calibri" pitchFamily="34" charset="-120"/>
                        </a:rPr>
                        <a:t>D2: bus tepat waktu</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r h="457200">
                <a:tc>
                  <a:txBody>
                    <a:bodyPr/>
                    <a:lstStyle/>
                    <a:p>
                      <a:pPr algn="ctr" indent="0" marL="0">
                        <a:buNone/>
                      </a:pPr>
                      <a:r>
                        <a:rPr lang="en-US" sz="1300" b="1" dirty="0">
                          <a:solidFill>
                            <a:srgbClr val="13272E"/>
                          </a:solidFill>
                          <a:latin typeface="Calibri" pitchFamily="34" charset="0"/>
                          <a:ea typeface="Calibri" pitchFamily="34" charset="-122"/>
                          <a:cs typeface="Calibri" pitchFamily="34" charset="-120"/>
                        </a:rPr>
                        <a:t>D3: hujan deras bus terlambat</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3272E"/>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63500" marR="63500" marT="63500" marB="635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bl>
          </a:graphicData>
        </a:graphic>
      </p:graphicFrame>
      <p:sp>
        <p:nvSpPr>
          <p:cNvPr id="7" name="Shape 4"/>
          <p:cNvSpPr/>
          <p:nvPr/>
        </p:nvSpPr>
        <p:spPr>
          <a:xfrm>
            <a:off x="594360" y="3566160"/>
            <a:ext cx="5303520" cy="1417320"/>
          </a:xfrm>
          <a:prstGeom prst="roundRect">
            <a:avLst>
              <a:gd name="adj" fmla="val 5806"/>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8" name="Shape 5"/>
          <p:cNvSpPr/>
          <p:nvPr/>
        </p:nvSpPr>
        <p:spPr>
          <a:xfrm>
            <a:off x="914400" y="3767328"/>
            <a:ext cx="457200" cy="45720"/>
          </a:xfrm>
          <a:prstGeom prst="rect">
            <a:avLst/>
          </a:prstGeom>
          <a:solidFill>
            <a:srgbClr val="1F7A8C"/>
          </a:solidFill>
          <a:ln w="12700">
            <a:solidFill>
              <a:srgbClr val="333333"/>
            </a:solidFill>
            <a:prstDash val="solid"/>
          </a:ln>
        </p:spPr>
      </p:sp>
      <p:sp>
        <p:nvSpPr>
          <p:cNvPr id="9" name="Text 6"/>
          <p:cNvSpPr txBox="1"/>
          <p:nvPr/>
        </p:nvSpPr>
        <p:spPr>
          <a:xfrm>
            <a:off x="914400" y="3913632"/>
            <a:ext cx="4663440" cy="292608"/>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One-Hot Encoding</a:t>
            </a:r>
            <a:endParaRPr lang="en-US" sz="1700" dirty="0"/>
          </a:p>
        </p:txBody>
      </p:sp>
      <p:sp>
        <p:nvSpPr>
          <p:cNvPr id="10" name="Text 7"/>
          <p:cNvSpPr txBox="1"/>
          <p:nvPr/>
        </p:nvSpPr>
        <p:spPr>
          <a:xfrm>
            <a:off x="914400" y="4251960"/>
            <a:ext cx="4663440" cy="640080"/>
          </a:xfrm>
          <a:prstGeom prst="rect">
            <a:avLst/>
          </a:prstGeom>
          <a:noFill/>
          <a:ln/>
        </p:spPr>
        <p:txBody>
          <a:bodyPr wrap="square" lIns="0" tIns="0" rIns="0" bIns="0" rtlCol="0" anchor="t"/>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Satu kata diwakili satu vektor berisi nol semua, kecuali satu angka satu pada posisi kata itu. Dasar dari seluruh cara ini.</a:t>
            </a:r>
            <a:endParaRPr lang="en-US" sz="1300" dirty="0"/>
          </a:p>
        </p:txBody>
      </p:sp>
      <p:sp>
        <p:nvSpPr>
          <p:cNvPr id="11" name="Shape 8"/>
          <p:cNvSpPr/>
          <p:nvPr/>
        </p:nvSpPr>
        <p:spPr>
          <a:xfrm>
            <a:off x="6263640" y="3566160"/>
            <a:ext cx="5303520" cy="1417320"/>
          </a:xfrm>
          <a:prstGeom prst="roundRect">
            <a:avLst>
              <a:gd name="adj" fmla="val 5806"/>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2" name="Shape 9"/>
          <p:cNvSpPr/>
          <p:nvPr/>
        </p:nvSpPr>
        <p:spPr>
          <a:xfrm>
            <a:off x="6583680" y="3767328"/>
            <a:ext cx="457200" cy="45720"/>
          </a:xfrm>
          <a:prstGeom prst="rect">
            <a:avLst/>
          </a:prstGeom>
          <a:solidFill>
            <a:srgbClr val="D9922E"/>
          </a:solidFill>
          <a:ln w="12700">
            <a:solidFill>
              <a:srgbClr val="333333"/>
            </a:solidFill>
            <a:prstDash val="solid"/>
          </a:ln>
        </p:spPr>
      </p:sp>
      <p:sp>
        <p:nvSpPr>
          <p:cNvPr id="13" name="Text 10"/>
          <p:cNvSpPr txBox="1"/>
          <p:nvPr/>
        </p:nvSpPr>
        <p:spPr>
          <a:xfrm>
            <a:off x="6583680" y="3913632"/>
            <a:ext cx="4663440" cy="292608"/>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Bag-of-Words</a:t>
            </a:r>
            <a:endParaRPr lang="en-US" sz="1700" dirty="0"/>
          </a:p>
        </p:txBody>
      </p:sp>
      <p:sp>
        <p:nvSpPr>
          <p:cNvPr id="14" name="Text 11"/>
          <p:cNvSpPr txBox="1"/>
          <p:nvPr/>
        </p:nvSpPr>
        <p:spPr>
          <a:xfrm>
            <a:off x="6583680" y="4251960"/>
            <a:ext cx="4663440" cy="640080"/>
          </a:xfrm>
          <a:prstGeom prst="rect">
            <a:avLst/>
          </a:prstGeom>
          <a:noFill/>
          <a:ln/>
        </p:spPr>
        <p:txBody>
          <a:bodyPr wrap="square" lIns="0" tIns="0" rIns="0" bIns="0" rtlCol="0" anchor="t"/>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Satu dokumen diwakili jumlah kemunculan tiap kata. Disebut "kantong" karena urutan kata sepenuhnya diabaikan.</a:t>
            </a:r>
            <a:endParaRPr lang="en-US" sz="1300" dirty="0"/>
          </a:p>
        </p:txBody>
      </p:sp>
      <p:sp>
        <p:nvSpPr>
          <p:cNvPr id="15" name="Shape 12"/>
          <p:cNvSpPr/>
          <p:nvPr/>
        </p:nvSpPr>
        <p:spPr>
          <a:xfrm>
            <a:off x="594360" y="5166360"/>
            <a:ext cx="11002975" cy="777240"/>
          </a:xfrm>
          <a:prstGeom prst="roundRect">
            <a:avLst>
              <a:gd name="adj" fmla="val 10588"/>
            </a:avLst>
          </a:prstGeom>
          <a:solidFill>
            <a:srgbClr val="FBEAEC"/>
          </a:solidFill>
          <a:ln w="12700">
            <a:solidFill>
              <a:srgbClr val="F1C9CE"/>
            </a:solidFill>
            <a:prstDash val="solid"/>
          </a:ln>
          <a:effectLst>
            <a:outerShdw sx="100000" sy="100000" kx="0" ky="0" algn="bl" rotWithShape="0" blurRad="101600" dist="508" dir="5400000">
              <a:srgbClr val="A9BABF">
                <a:alpha val="30000"/>
              </a:srgbClr>
            </a:outerShdw>
          </a:effectLst>
        </p:spPr>
      </p:sp>
      <p:sp>
        <p:nvSpPr>
          <p:cNvPr id="16" name="Text 13"/>
          <p:cNvSpPr txBox="1"/>
          <p:nvPr/>
        </p:nvSpPr>
        <p:spPr>
          <a:xfrm>
            <a:off x="1005840" y="5349240"/>
            <a:ext cx="10180015" cy="457200"/>
          </a:xfrm>
          <a:prstGeom prst="rect">
            <a:avLst/>
          </a:prstGeom>
          <a:noFill/>
          <a:ln/>
        </p:spPr>
        <p:txBody>
          <a:bodyPr wrap="square" lIns="0" tIns="0" rIns="0" bIns="0" rtlCol="0" anchor="t"/>
          <a:lstStyle/>
          <a:p>
            <a:pPr algn="l" indent="0" marL="0">
              <a:buNone/>
            </a:pPr>
            <a:r>
              <a:rPr lang="en-US" sz="1400" b="1" dirty="0">
                <a:solidFill>
                  <a:srgbClr val="99303C"/>
                </a:solidFill>
                <a:latin typeface="Calibri" pitchFamily="34" charset="0"/>
                <a:ea typeface="Calibri" pitchFamily="34" charset="-122"/>
                <a:cs typeface="Calibri" pitchFamily="34" charset="-120"/>
              </a:rPr>
              <a:t>Akibat langsung dari mengabaikan urutan: "bus terlambat karena hujan" dan "hujan terlambat karena bus" menghasilkan vektor yang persis sama.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374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6FC7D6"/>
                </a:solidFill>
                <a:latin typeface="Calibri" pitchFamily="34" charset="0"/>
                <a:ea typeface="Calibri" pitchFamily="34" charset="-122"/>
                <a:cs typeface="Calibri" pitchFamily="34" charset="-120"/>
              </a:rPr>
              <a:t>DUA PERBAIKAN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N-gram dan TF-IDF</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94360" y="1280160"/>
            <a:ext cx="5303520" cy="3200400"/>
          </a:xfrm>
          <a:prstGeom prst="roundRect">
            <a:avLst>
              <a:gd name="adj" fmla="val 2571"/>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960120" y="1572768"/>
            <a:ext cx="502920" cy="45720"/>
          </a:xfrm>
          <a:prstGeom prst="rect">
            <a:avLst/>
          </a:prstGeom>
          <a:solidFill>
            <a:srgbClr val="6FA45A"/>
          </a:solidFill>
          <a:ln w="12700">
            <a:solidFill>
              <a:srgbClr val="333333"/>
            </a:solidFill>
            <a:prstDash val="solid"/>
          </a:ln>
        </p:spPr>
      </p:sp>
      <p:sp>
        <p:nvSpPr>
          <p:cNvPr id="7" name="Text 5"/>
          <p:cNvSpPr txBox="1"/>
          <p:nvPr/>
        </p:nvSpPr>
        <p:spPr>
          <a:xfrm>
            <a:off x="960120" y="1719072"/>
            <a:ext cx="4572000" cy="365760"/>
          </a:xfrm>
          <a:prstGeom prst="rect">
            <a:avLst/>
          </a:prstGeom>
          <a:noFill/>
          <a:ln/>
        </p:spPr>
        <p:txBody>
          <a:bodyPr wrap="square" lIns="0" tIns="0" rIns="0" bIns="0" rtlCol="0" anchor="t"/>
          <a:lstStyle/>
          <a:p>
            <a:pPr algn="l" indent="0" marL="0">
              <a:buNone/>
            </a:pPr>
            <a:r>
              <a:rPr lang="en-US" sz="2100" b="1" dirty="0">
                <a:solidFill>
                  <a:srgbClr val="6FA45A"/>
                </a:solidFill>
                <a:latin typeface="Cambria" pitchFamily="34" charset="0"/>
                <a:ea typeface="Cambria" pitchFamily="34" charset="-122"/>
                <a:cs typeface="Cambria" pitchFamily="34" charset="-120"/>
              </a:rPr>
              <a:t>N-gram</a:t>
            </a:r>
            <a:endParaRPr lang="en-US" sz="2100" dirty="0"/>
          </a:p>
        </p:txBody>
      </p:sp>
      <p:sp>
        <p:nvSpPr>
          <p:cNvPr id="8" name="Text 6"/>
          <p:cNvSpPr txBox="1"/>
          <p:nvPr/>
        </p:nvSpPr>
        <p:spPr>
          <a:xfrm>
            <a:off x="960120" y="2176272"/>
            <a:ext cx="4572000" cy="777240"/>
          </a:xfrm>
          <a:prstGeom prst="rect">
            <a:avLst/>
          </a:prstGeom>
          <a:noFill/>
          <a:ln/>
        </p:spPr>
        <p:txBody>
          <a:bodyPr wrap="square" lIns="0" tIns="0" rIns="0" bIns="0" rtlCol="0" anchor="t"/>
          <a:lstStyle/>
          <a:p>
            <a:pPr algn="l" indent="0" marL="0">
              <a:lnSpc>
                <a:spcPct val="128000"/>
              </a:lnSpc>
              <a:buNone/>
            </a:pPr>
            <a:r>
              <a:rPr lang="en-US" sz="1350" dirty="0">
                <a:solidFill>
                  <a:srgbClr val="FFFFFF"/>
                </a:solidFill>
                <a:latin typeface="Calibri" pitchFamily="34" charset="0"/>
                <a:ea typeface="Calibri" pitchFamily="34" charset="-122"/>
                <a:cs typeface="Calibri" pitchFamily="34" charset="-120"/>
              </a:rPr>
              <a:t>Menyimpan pasangan atau rangkaian kata yang berdampingan, bukan hanya kata tunggal.</a:t>
            </a:r>
            <a:endParaRPr lang="en-US" sz="1350" dirty="0"/>
          </a:p>
        </p:txBody>
      </p:sp>
      <p:sp>
        <p:nvSpPr>
          <p:cNvPr id="9" name="Shape 7"/>
          <p:cNvSpPr/>
          <p:nvPr/>
        </p:nvSpPr>
        <p:spPr>
          <a:xfrm>
            <a:off x="960120" y="2999232"/>
            <a:ext cx="4572000" cy="777240"/>
          </a:xfrm>
          <a:prstGeom prst="roundRect">
            <a:avLst>
              <a:gd name="adj" fmla="val 10588"/>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10" name="Text 8"/>
          <p:cNvSpPr txBox="1"/>
          <p:nvPr/>
        </p:nvSpPr>
        <p:spPr>
          <a:xfrm>
            <a:off x="1143000" y="3127248"/>
            <a:ext cx="4206240" cy="548640"/>
          </a:xfrm>
          <a:prstGeom prst="rect">
            <a:avLst/>
          </a:prstGeom>
          <a:noFill/>
          <a:ln/>
        </p:spPr>
        <p:txBody>
          <a:bodyPr wrap="square" lIns="0" tIns="0" rIns="0" bIns="0" rtlCol="0" anchor="t"/>
          <a:lstStyle/>
          <a:p>
            <a:pPr algn="l" indent="0" marL="0">
              <a:lnSpc>
                <a:spcPct val="135000"/>
              </a:lnSpc>
              <a:buNone/>
            </a:pPr>
            <a:r>
              <a:rPr lang="en-US" sz="1100" dirty="0">
                <a:solidFill>
                  <a:srgbClr val="6FC7D6"/>
                </a:solidFill>
                <a:latin typeface="Courier New" pitchFamily="34" charset="0"/>
                <a:ea typeface="Courier New" pitchFamily="34" charset="-122"/>
                <a:cs typeface="Courier New" pitchFamily="34" charset="-120"/>
              </a:rPr>
              <a:t>Unigram: bus | terlambat | karena</a:t>
            </a:r>
            <a:endParaRPr lang="en-US" sz="1100" dirty="0"/>
          </a:p>
          <a:p>
            <a:pPr algn="l" indent="0" marL="0">
              <a:lnSpc>
                <a:spcPct val="135000"/>
              </a:lnSpc>
              <a:buNone/>
            </a:pPr>
            <a:r>
              <a:rPr lang="en-US" sz="1100" dirty="0">
                <a:solidFill>
                  <a:srgbClr val="6FC7D6"/>
                </a:solidFill>
                <a:latin typeface="Courier New" pitchFamily="34" charset="0"/>
                <a:ea typeface="Courier New" pitchFamily="34" charset="-122"/>
                <a:cs typeface="Courier New" pitchFamily="34" charset="-120"/>
              </a:rPr>
              <a:t>Bigram: bus terlambat | terlambat karena</a:t>
            </a:r>
            <a:endParaRPr lang="en-US" sz="1100" dirty="0"/>
          </a:p>
        </p:txBody>
      </p:sp>
      <p:sp>
        <p:nvSpPr>
          <p:cNvPr id="11" name="Text 9"/>
          <p:cNvSpPr txBox="1"/>
          <p:nvPr/>
        </p:nvSpPr>
        <p:spPr>
          <a:xfrm>
            <a:off x="960120" y="3886200"/>
            <a:ext cx="4572000" cy="502920"/>
          </a:xfrm>
          <a:prstGeom prst="rect">
            <a:avLst/>
          </a:prstGeom>
          <a:noFill/>
          <a:ln/>
        </p:spPr>
        <p:txBody>
          <a:bodyPr wrap="square" lIns="0" tIns="0" rIns="0" bIns="0" rtlCol="0" anchor="t"/>
          <a:lstStyle/>
          <a:p>
            <a:pPr algn="l" indent="0" marL="0">
              <a:lnSpc>
                <a:spcPct val="120000"/>
              </a:lnSpc>
              <a:buNone/>
            </a:pPr>
            <a:r>
              <a:rPr lang="en-US" sz="1250" i="1" dirty="0">
                <a:solidFill>
                  <a:srgbClr val="B4C7CD"/>
                </a:solidFill>
                <a:latin typeface="Calibri" pitchFamily="34" charset="0"/>
                <a:ea typeface="Calibri" pitchFamily="34" charset="-122"/>
                <a:cs typeface="Calibri" pitchFamily="34" charset="-120"/>
              </a:rPr>
              <a:t>Sebagian urutan terselamatkan, tetapi ukuran kosakata membengkak sangat cepat.</a:t>
            </a:r>
            <a:endParaRPr lang="en-US" sz="1250" dirty="0"/>
          </a:p>
        </p:txBody>
      </p:sp>
      <p:sp>
        <p:nvSpPr>
          <p:cNvPr id="12" name="Shape 10"/>
          <p:cNvSpPr/>
          <p:nvPr/>
        </p:nvSpPr>
        <p:spPr>
          <a:xfrm>
            <a:off x="6263640" y="1280160"/>
            <a:ext cx="5303520" cy="3200400"/>
          </a:xfrm>
          <a:prstGeom prst="roundRect">
            <a:avLst>
              <a:gd name="adj" fmla="val 2571"/>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3" name="Shape 11"/>
          <p:cNvSpPr/>
          <p:nvPr/>
        </p:nvSpPr>
        <p:spPr>
          <a:xfrm>
            <a:off x="6629400" y="1572768"/>
            <a:ext cx="502920" cy="45720"/>
          </a:xfrm>
          <a:prstGeom prst="rect">
            <a:avLst/>
          </a:prstGeom>
          <a:solidFill>
            <a:srgbClr val="D9922E"/>
          </a:solidFill>
          <a:ln w="12700">
            <a:solidFill>
              <a:srgbClr val="333333"/>
            </a:solidFill>
            <a:prstDash val="solid"/>
          </a:ln>
        </p:spPr>
      </p:sp>
      <p:sp>
        <p:nvSpPr>
          <p:cNvPr id="14" name="Text 12"/>
          <p:cNvSpPr txBox="1"/>
          <p:nvPr/>
        </p:nvSpPr>
        <p:spPr>
          <a:xfrm>
            <a:off x="6629400" y="1719072"/>
            <a:ext cx="4572000" cy="365760"/>
          </a:xfrm>
          <a:prstGeom prst="rect">
            <a:avLst/>
          </a:prstGeom>
          <a:noFill/>
          <a:ln/>
        </p:spPr>
        <p:txBody>
          <a:bodyPr wrap="square" lIns="0" tIns="0" rIns="0" bIns="0" rtlCol="0" anchor="t"/>
          <a:lstStyle/>
          <a:p>
            <a:pPr algn="l" indent="0" marL="0">
              <a:buNone/>
            </a:pPr>
            <a:r>
              <a:rPr lang="en-US" sz="2100" b="1" dirty="0">
                <a:solidFill>
                  <a:srgbClr val="D9922E"/>
                </a:solidFill>
                <a:latin typeface="Cambria" pitchFamily="34" charset="0"/>
                <a:ea typeface="Cambria" pitchFamily="34" charset="-122"/>
                <a:cs typeface="Cambria" pitchFamily="34" charset="-120"/>
              </a:rPr>
              <a:t>TF-IDF</a:t>
            </a:r>
            <a:endParaRPr lang="en-US" sz="2100" dirty="0"/>
          </a:p>
        </p:txBody>
      </p:sp>
      <p:sp>
        <p:nvSpPr>
          <p:cNvPr id="15" name="Text 13"/>
          <p:cNvSpPr txBox="1"/>
          <p:nvPr/>
        </p:nvSpPr>
        <p:spPr>
          <a:xfrm>
            <a:off x="6629400" y="2176272"/>
            <a:ext cx="4572000" cy="777240"/>
          </a:xfrm>
          <a:prstGeom prst="rect">
            <a:avLst/>
          </a:prstGeom>
          <a:noFill/>
          <a:ln/>
        </p:spPr>
        <p:txBody>
          <a:bodyPr wrap="square" lIns="0" tIns="0" rIns="0" bIns="0" rtlCol="0" anchor="t"/>
          <a:lstStyle/>
          <a:p>
            <a:pPr algn="l" indent="0" marL="0">
              <a:lnSpc>
                <a:spcPct val="128000"/>
              </a:lnSpc>
              <a:buNone/>
            </a:pPr>
            <a:r>
              <a:rPr lang="en-US" sz="1350" dirty="0">
                <a:solidFill>
                  <a:srgbClr val="FFFFFF"/>
                </a:solidFill>
                <a:latin typeface="Calibri" pitchFamily="34" charset="0"/>
                <a:ea typeface="Calibri" pitchFamily="34" charset="-122"/>
                <a:cs typeface="Calibri" pitchFamily="34" charset="-120"/>
              </a:rPr>
              <a:t>Menimbang tiap kata: sering muncul di satu dokumen menaikkan bobot, sering muncul di semua dokumen menurunkannya.</a:t>
            </a:r>
            <a:endParaRPr lang="en-US" sz="1350" dirty="0"/>
          </a:p>
        </p:txBody>
      </p:sp>
      <p:sp>
        <p:nvSpPr>
          <p:cNvPr id="16" name="Shape 14"/>
          <p:cNvSpPr/>
          <p:nvPr/>
        </p:nvSpPr>
        <p:spPr>
          <a:xfrm>
            <a:off x="6629400" y="2999232"/>
            <a:ext cx="4572000" cy="777240"/>
          </a:xfrm>
          <a:prstGeom prst="roundRect">
            <a:avLst>
              <a:gd name="adj" fmla="val 10588"/>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17" name="Text 15"/>
          <p:cNvSpPr txBox="1"/>
          <p:nvPr/>
        </p:nvSpPr>
        <p:spPr>
          <a:xfrm>
            <a:off x="6812280" y="3127248"/>
            <a:ext cx="4206240" cy="548640"/>
          </a:xfrm>
          <a:prstGeom prst="rect">
            <a:avLst/>
          </a:prstGeom>
          <a:noFill/>
          <a:ln/>
        </p:spPr>
        <p:txBody>
          <a:bodyPr wrap="square" lIns="0" tIns="0" rIns="0" bIns="0" rtlCol="0" anchor="t"/>
          <a:lstStyle/>
          <a:p>
            <a:pPr algn="l" indent="0" marL="0">
              <a:lnSpc>
                <a:spcPct val="135000"/>
              </a:lnSpc>
              <a:buNone/>
            </a:pPr>
            <a:r>
              <a:rPr lang="en-US" sz="1100" dirty="0">
                <a:solidFill>
                  <a:srgbClr val="6FC7D6"/>
                </a:solidFill>
                <a:latin typeface="Courier New" pitchFamily="34" charset="0"/>
                <a:ea typeface="Courier New" pitchFamily="34" charset="-122"/>
                <a:cs typeface="Courier New" pitchFamily="34" charset="-120"/>
              </a:rPr>
              <a:t>TF = jumlah kemunculan di dokumen</a:t>
            </a:r>
            <a:endParaRPr lang="en-US" sz="1100" dirty="0"/>
          </a:p>
          <a:p>
            <a:pPr algn="l" indent="0" marL="0">
              <a:lnSpc>
                <a:spcPct val="135000"/>
              </a:lnSpc>
              <a:buNone/>
            </a:pPr>
            <a:r>
              <a:rPr lang="en-US" sz="1100" dirty="0">
                <a:solidFill>
                  <a:srgbClr val="6FC7D6"/>
                </a:solidFill>
                <a:latin typeface="Courier New" pitchFamily="34" charset="0"/>
                <a:ea typeface="Courier New" pitchFamily="34" charset="-122"/>
                <a:cs typeface="Courier New" pitchFamily="34" charset="-120"/>
              </a:rPr>
              <a:t>IDF = log( N / jumlah dokumen yang memuatnya )</a:t>
            </a:r>
            <a:endParaRPr lang="en-US" sz="1100" dirty="0"/>
          </a:p>
        </p:txBody>
      </p:sp>
      <p:sp>
        <p:nvSpPr>
          <p:cNvPr id="18" name="Text 16"/>
          <p:cNvSpPr txBox="1"/>
          <p:nvPr/>
        </p:nvSpPr>
        <p:spPr>
          <a:xfrm>
            <a:off x="6629400" y="3886200"/>
            <a:ext cx="4572000" cy="502920"/>
          </a:xfrm>
          <a:prstGeom prst="rect">
            <a:avLst/>
          </a:prstGeom>
          <a:noFill/>
          <a:ln/>
        </p:spPr>
        <p:txBody>
          <a:bodyPr wrap="square" lIns="0" tIns="0" rIns="0" bIns="0" rtlCol="0" anchor="t"/>
          <a:lstStyle/>
          <a:p>
            <a:pPr algn="l" indent="0" marL="0">
              <a:lnSpc>
                <a:spcPct val="120000"/>
              </a:lnSpc>
              <a:buNone/>
            </a:pPr>
            <a:r>
              <a:rPr lang="en-US" sz="1250" i="1" dirty="0">
                <a:solidFill>
                  <a:srgbClr val="B4C7CD"/>
                </a:solidFill>
                <a:latin typeface="Calibri" pitchFamily="34" charset="0"/>
                <a:ea typeface="Calibri" pitchFamily="34" charset="-122"/>
                <a:cs typeface="Calibri" pitchFamily="34" charset="-120"/>
              </a:rPr>
              <a:t>Kata yang muncul di semua dokumen memperoleh IDF nol — bobotnya hilang sama sekali.</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4617720"/>
          <a:ext cx="11002975" cy="914400"/>
        </p:xfrm>
        <a:graphic>
          <a:graphicData uri="http://schemas.openxmlformats.org/drawingml/2006/table">
            <a:tbl>
              <a:tblPr/>
              <a:tblGrid>
                <a:gridCol w="1828800"/>
                <a:gridCol w="3017520"/>
                <a:gridCol w="2743200"/>
                <a:gridCol w="341071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Kata</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1B4C5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Muncul di berapa dokumen</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1B4C5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IDF = log(3 / df)</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1B4C5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Tafsiran</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1B4C5B"/>
                    </a:solidFill>
                  </a:tcPr>
                </a:tc>
              </a:tr>
              <a:tr h="384048">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bus</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3 dari 3</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Tidak membedakan apa pun</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terlambat</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2 dari 3</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0,176</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Sedikit membedakan</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r>
              <a:tr h="384048">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deras</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1 dari 3</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0,477</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3272E"/>
                          </a:solidFill>
                          <a:latin typeface="Calibri" pitchFamily="34" charset="0"/>
                          <a:ea typeface="Calibri" pitchFamily="34" charset="-122"/>
                          <a:cs typeface="Calibri" pitchFamily="34" charset="-120"/>
                        </a:rPr>
                        <a:t>Paling khas bagi dokumennya</a:t>
                      </a:r>
                      <a:endParaRPr lang="en-US" sz="1250" dirty="0">
                        <a:latin typeface="Calibri" charset="0"/>
                        <a:ea typeface="Calibri" charset="0"/>
                        <a:cs typeface="Calibri" charset="0"/>
                      </a:endParaRPr>
                    </a:p>
                  </a:txBody>
                  <a:tcPr marL="50800" marR="50800" marT="50800" marB="50800" anchor="ctr">
                    <a:lnL w="12700" cap="flat" cmpd="sng" algn="ctr">
                      <a:solidFill>
                        <a:srgbClr val="C9D5D9"/>
                      </a:solidFill>
                      <a:prstDash val="solid"/>
                      <a:round/>
                      <a:headEnd type="none" w="med" len="med"/>
                      <a:tailEnd type="none" w="med" len="med"/>
                    </a:lnL>
                    <a:lnR w="12700" cap="flat" cmpd="sng" algn="ctr">
                      <a:solidFill>
                        <a:srgbClr val="C9D5D9"/>
                      </a:solidFill>
                      <a:prstDash val="solid"/>
                      <a:round/>
                      <a:headEnd type="none" w="med" len="med"/>
                      <a:tailEnd type="none" w="med" len="med"/>
                    </a:lnR>
                    <a:lnT w="12700" cap="flat" cmpd="sng" algn="ctr">
                      <a:solidFill>
                        <a:srgbClr val="C9D5D9"/>
                      </a:solidFill>
                      <a:prstDash val="solid"/>
                      <a:round/>
                      <a:headEnd type="none" w="med" len="med"/>
                      <a:tailEnd type="none" w="med" len="med"/>
                    </a:lnT>
                    <a:lnB w="12700" cap="flat" cmpd="sng" algn="ctr">
                      <a:solidFill>
                        <a:srgbClr val="C9D5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LATIHAN TERBIMBING 1</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Susun Bag-of-Words dan hitung IDF</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94360" y="1188720"/>
            <a:ext cx="11002975" cy="566928"/>
          </a:xfrm>
          <a:prstGeom prst="roundRect">
            <a:avLst>
              <a:gd name="adj" fmla="val 14516"/>
            </a:avLst>
          </a:prstGeom>
          <a:solidFill>
            <a:srgbClr val="F5EDDD"/>
          </a:solidFill>
          <a:ln w="12700">
            <a:solidFill>
              <a:srgbClr val="E8D5AD"/>
            </a:solidFill>
            <a:prstDash val="solid"/>
          </a:ln>
          <a:effectLst>
            <a:outerShdw sx="100000" sy="100000" kx="0" ky="0" algn="bl" rotWithShape="0" blurRad="101600" dist="508" dir="5400000">
              <a:srgbClr val="A9BABF">
                <a:alpha val="30000"/>
              </a:srgbClr>
            </a:outerShdw>
          </a:effectLst>
        </p:spPr>
      </p:sp>
      <p:sp>
        <p:nvSpPr>
          <p:cNvPr id="6" name="Text 4"/>
          <p:cNvSpPr txBox="1"/>
          <p:nvPr/>
        </p:nvSpPr>
        <p:spPr>
          <a:xfrm>
            <a:off x="960120" y="1307592"/>
            <a:ext cx="10271455" cy="329184"/>
          </a:xfrm>
          <a:prstGeom prst="rect">
            <a:avLst/>
          </a:prstGeom>
          <a:noFill/>
          <a:ln/>
        </p:spPr>
        <p:txBody>
          <a:bodyPr wrap="square" lIns="0" tIns="0" rIns="0" bIns="0" rtlCol="0" anchor="t"/>
          <a:lstStyle/>
          <a:p>
            <a:pPr algn="l" indent="0" marL="0">
              <a:buNone/>
            </a:pPr>
            <a:r>
              <a:rPr lang="en-US" sz="1450" b="1" dirty="0">
                <a:solidFill>
                  <a:srgbClr val="8A5B12"/>
                </a:solidFill>
                <a:latin typeface="Calibri" pitchFamily="34" charset="0"/>
                <a:ea typeface="Calibri" pitchFamily="34" charset="-122"/>
                <a:cs typeface="Calibri" pitchFamily="34" charset="-120"/>
              </a:rPr>
              <a:t>Kerjakan berpasangan · 15 menit · Cukup kertas dan kalkulator sederhana</a:t>
            </a:r>
            <a:endParaRPr lang="en-US" sz="1450" dirty="0"/>
          </a:p>
        </p:txBody>
      </p:sp>
      <p:sp>
        <p:nvSpPr>
          <p:cNvPr id="7" name="Shape 5"/>
          <p:cNvSpPr/>
          <p:nvPr/>
        </p:nvSpPr>
        <p:spPr>
          <a:xfrm>
            <a:off x="594360" y="1874520"/>
            <a:ext cx="5394960" cy="2148840"/>
          </a:xfrm>
          <a:prstGeom prst="roundRect">
            <a:avLst>
              <a:gd name="adj" fmla="val 3830"/>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8" name="Text 6"/>
          <p:cNvSpPr txBox="1"/>
          <p:nvPr/>
        </p:nvSpPr>
        <p:spPr>
          <a:xfrm>
            <a:off x="960120" y="2057400"/>
            <a:ext cx="4663440" cy="27432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Tiga dokumen</a:t>
            </a:r>
            <a:endParaRPr lang="en-US" sz="1700" dirty="0"/>
          </a:p>
        </p:txBody>
      </p:sp>
      <p:sp>
        <p:nvSpPr>
          <p:cNvPr id="9" name="Text 7"/>
          <p:cNvSpPr txBox="1"/>
          <p:nvPr/>
        </p:nvSpPr>
        <p:spPr>
          <a:xfrm>
            <a:off x="960120" y="2395728"/>
            <a:ext cx="4663440" cy="914400"/>
          </a:xfrm>
          <a:prstGeom prst="rect">
            <a:avLst/>
          </a:prstGeom>
          <a:noFill/>
          <a:ln/>
        </p:spPr>
        <p:txBody>
          <a:bodyPr wrap="square" lIns="0" tIns="0" rIns="0" bIns="0" rtlCol="0" anchor="t"/>
          <a:lstStyle/>
          <a:p>
            <a:pPr algn="l" indent="0" marL="0">
              <a:lnSpc>
                <a:spcPct val="140000"/>
              </a:lnSpc>
              <a:buNone/>
            </a:pPr>
            <a:r>
              <a:rPr lang="en-US" sz="1300" dirty="0">
                <a:solidFill>
                  <a:srgbClr val="13272E"/>
                </a:solidFill>
                <a:latin typeface="Courier New" pitchFamily="34" charset="0"/>
                <a:ea typeface="Courier New" pitchFamily="34" charset="-122"/>
                <a:cs typeface="Courier New" pitchFamily="34" charset="-120"/>
              </a:rPr>
              <a:t>D1 :  rute panjang sering terlambat</a:t>
            </a:r>
            <a:endParaRPr lang="en-US" sz="1300" dirty="0"/>
          </a:p>
          <a:p>
            <a:pPr algn="l" indent="0" marL="0">
              <a:lnSpc>
                <a:spcPct val="140000"/>
              </a:lnSpc>
              <a:buNone/>
            </a:pPr>
            <a:r>
              <a:rPr lang="en-US" sz="1300" dirty="0">
                <a:solidFill>
                  <a:srgbClr val="13272E"/>
                </a:solidFill>
                <a:latin typeface="Courier New" pitchFamily="34" charset="0"/>
                <a:ea typeface="Courier New" pitchFamily="34" charset="-122"/>
                <a:cs typeface="Courier New" pitchFamily="34" charset="-120"/>
              </a:rPr>
              <a:t>D2 :  rute pendek jarang terlambat</a:t>
            </a:r>
            <a:endParaRPr lang="en-US" sz="1300" dirty="0"/>
          </a:p>
          <a:p>
            <a:pPr algn="l" indent="0" marL="0">
              <a:lnSpc>
                <a:spcPct val="140000"/>
              </a:lnSpc>
              <a:buNone/>
            </a:pPr>
            <a:r>
              <a:rPr lang="en-US" sz="1300" dirty="0">
                <a:solidFill>
                  <a:srgbClr val="13272E"/>
                </a:solidFill>
                <a:latin typeface="Courier New" pitchFamily="34" charset="0"/>
                <a:ea typeface="Courier New" pitchFamily="34" charset="-122"/>
                <a:cs typeface="Courier New" pitchFamily="34" charset="-120"/>
              </a:rPr>
              <a:t>D3 :  rute panjang jarang penuh</a:t>
            </a:r>
            <a:endParaRPr lang="en-US" sz="1300" dirty="0"/>
          </a:p>
        </p:txBody>
      </p:sp>
      <p:sp>
        <p:nvSpPr>
          <p:cNvPr id="10" name="Text 8"/>
          <p:cNvSpPr txBox="1"/>
          <p:nvPr/>
        </p:nvSpPr>
        <p:spPr>
          <a:xfrm>
            <a:off x="960120" y="3429000"/>
            <a:ext cx="4663440" cy="365760"/>
          </a:xfrm>
          <a:prstGeom prst="rect">
            <a:avLst/>
          </a:prstGeom>
          <a:noFill/>
          <a:ln/>
        </p:spPr>
        <p:txBody>
          <a:bodyPr wrap="square" lIns="0" tIns="0" rIns="0" bIns="0" rtlCol="0" anchor="t"/>
          <a:lstStyle/>
          <a:p>
            <a:pPr algn="l" indent="0" marL="0">
              <a:lnSpc>
                <a:spcPct val="120000"/>
              </a:lnSpc>
              <a:buNone/>
            </a:pPr>
            <a:r>
              <a:rPr lang="en-US" sz="1250" i="1" dirty="0">
                <a:solidFill>
                  <a:srgbClr val="5F7178"/>
                </a:solidFill>
                <a:latin typeface="Calibri" pitchFamily="34" charset="0"/>
                <a:ea typeface="Calibri" pitchFamily="34" charset="-122"/>
                <a:cs typeface="Calibri" pitchFamily="34" charset="-120"/>
              </a:rPr>
              <a:t>Semua huruf sudah dikecilkan dan tanda baca sudah dibuang.</a:t>
            </a:r>
            <a:endParaRPr lang="en-US" sz="1250" dirty="0"/>
          </a:p>
        </p:txBody>
      </p:sp>
      <p:sp>
        <p:nvSpPr>
          <p:cNvPr id="11" name="Shape 9"/>
          <p:cNvSpPr/>
          <p:nvPr/>
        </p:nvSpPr>
        <p:spPr>
          <a:xfrm>
            <a:off x="6400800" y="1874520"/>
            <a:ext cx="5166360" cy="2148840"/>
          </a:xfrm>
          <a:prstGeom prst="roundRect">
            <a:avLst>
              <a:gd name="adj" fmla="val 3830"/>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12" name="Text 10"/>
          <p:cNvSpPr txBox="1"/>
          <p:nvPr/>
        </p:nvSpPr>
        <p:spPr>
          <a:xfrm>
            <a:off x="6720840" y="2057400"/>
            <a:ext cx="4526280" cy="274320"/>
          </a:xfrm>
          <a:prstGeom prst="rect">
            <a:avLst/>
          </a:prstGeom>
          <a:noFill/>
          <a:ln/>
        </p:spPr>
        <p:txBody>
          <a:bodyPr wrap="square" lIns="0" tIns="0" rIns="0" bIns="0" rtlCol="0" anchor="t"/>
          <a:lstStyle/>
          <a:p>
            <a:pPr algn="l" indent="0" marL="0">
              <a:buNone/>
            </a:pPr>
            <a:r>
              <a:rPr lang="en-US" sz="1700" b="1" dirty="0">
                <a:solidFill>
                  <a:srgbClr val="6FC7D6"/>
                </a:solidFill>
                <a:latin typeface="Cambria" pitchFamily="34" charset="0"/>
                <a:ea typeface="Cambria" pitchFamily="34" charset="-122"/>
                <a:cs typeface="Cambria" pitchFamily="34" charset="-120"/>
              </a:rPr>
              <a:t>Yang harus dikerjakan</a:t>
            </a:r>
            <a:endParaRPr lang="en-US" sz="1700" dirty="0"/>
          </a:p>
        </p:txBody>
      </p:sp>
      <p:sp>
        <p:nvSpPr>
          <p:cNvPr id="13" name="Text 11"/>
          <p:cNvSpPr txBox="1"/>
          <p:nvPr/>
        </p:nvSpPr>
        <p:spPr>
          <a:xfrm>
            <a:off x="6720840" y="2423160"/>
            <a:ext cx="4526280" cy="13716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Susun kosakata dari ketiga dokumen</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Buat matriks Bag-of-Words 3 baris</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Hitung IDF untuk setiap kata, N = 3</a:t>
            </a:r>
            <a:endParaRPr lang="en-US" sz="1350" dirty="0"/>
          </a:p>
          <a:p>
            <a:pPr marL="342900" indent="-342900">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Tentukan kata mana yang bobotnya nol</a:t>
            </a:r>
            <a:endParaRPr lang="en-US" sz="1350" dirty="0"/>
          </a:p>
        </p:txBody>
      </p:sp>
      <p:sp>
        <p:nvSpPr>
          <p:cNvPr id="14" name="Shape 12"/>
          <p:cNvSpPr/>
          <p:nvPr/>
        </p:nvSpPr>
        <p:spPr>
          <a:xfrm>
            <a:off x="594360" y="4206240"/>
            <a:ext cx="11002975" cy="1554480"/>
          </a:xfrm>
          <a:prstGeom prst="roundRect">
            <a:avLst>
              <a:gd name="adj" fmla="val 5294"/>
            </a:avLst>
          </a:prstGeom>
          <a:solidFill>
            <a:srgbClr val="FBEAEC"/>
          </a:solidFill>
          <a:ln w="12700">
            <a:solidFill>
              <a:srgbClr val="F1C9CE"/>
            </a:solidFill>
            <a:prstDash val="solid"/>
          </a:ln>
          <a:effectLst>
            <a:outerShdw sx="100000" sy="100000" kx="0" ky="0" algn="bl" rotWithShape="0" blurRad="101600" dist="508" dir="5400000">
              <a:srgbClr val="A9BABF">
                <a:alpha val="30000"/>
              </a:srgbClr>
            </a:outerShdw>
          </a:effectLst>
        </p:spPr>
      </p:sp>
      <p:sp>
        <p:nvSpPr>
          <p:cNvPr id="15" name="Text 13"/>
          <p:cNvSpPr txBox="1"/>
          <p:nvPr/>
        </p:nvSpPr>
        <p:spPr>
          <a:xfrm>
            <a:off x="1005840" y="4389120"/>
            <a:ext cx="10180015" cy="274320"/>
          </a:xfrm>
          <a:prstGeom prst="rect">
            <a:avLst/>
          </a:prstGeom>
          <a:noFill/>
          <a:ln/>
        </p:spPr>
        <p:txBody>
          <a:bodyPr wrap="square" lIns="0" tIns="0" rIns="0" bIns="0" rtlCol="0" anchor="t"/>
          <a:lstStyle/>
          <a:p>
            <a:pPr algn="l" indent="0" marL="0">
              <a:buNone/>
            </a:pPr>
            <a:r>
              <a:rPr lang="en-US" sz="1400" b="1" dirty="0">
                <a:solidFill>
                  <a:srgbClr val="99303C"/>
                </a:solidFill>
                <a:latin typeface="Calibri" pitchFamily="34" charset="0"/>
                <a:ea typeface="Calibri" pitchFamily="34" charset="-122"/>
                <a:cs typeface="Calibri" pitchFamily="34" charset="-120"/>
              </a:rPr>
              <a:t>Pertanyaan lanjutan yang wajib dijawab</a:t>
            </a:r>
            <a:endParaRPr lang="en-US" sz="1400" dirty="0"/>
          </a:p>
        </p:txBody>
      </p:sp>
      <p:sp>
        <p:nvSpPr>
          <p:cNvPr id="16" name="Text 14"/>
          <p:cNvSpPr txBox="1"/>
          <p:nvPr/>
        </p:nvSpPr>
        <p:spPr>
          <a:xfrm>
            <a:off x="1005840" y="4709160"/>
            <a:ext cx="10180015" cy="868680"/>
          </a:xfrm>
          <a:prstGeom prst="rect">
            <a:avLst/>
          </a:prstGeom>
          <a:noFill/>
          <a:ln/>
        </p:spPr>
        <p:txBody>
          <a:bodyPr wrap="square" lIns="0" tIns="0" rIns="0" bIns="0" rtlCol="0" anchor="t"/>
          <a:lstStyle/>
          <a:p>
            <a:pPr algn="l" indent="0" marL="0">
              <a:lnSpc>
                <a:spcPct val="130000"/>
              </a:lnSpc>
              <a:buNone/>
            </a:pPr>
            <a:r>
              <a:rPr lang="en-US" sz="1350" dirty="0">
                <a:solidFill>
                  <a:srgbClr val="99303C"/>
                </a:solidFill>
                <a:latin typeface="Calibri" pitchFamily="34" charset="0"/>
                <a:ea typeface="Calibri" pitchFamily="34" charset="-122"/>
                <a:cs typeface="Calibri" pitchFamily="34" charset="-120"/>
              </a:rPr>
              <a:t>Kata mana yang paling berguna untuk membedakan ketiga dokumen, dan kata mana yang sama sekali tidak berguna? Lalu: apakah representasi ini mampu menangkap bahwa "sering terlambat" dan "jarang terlambat" bermakna berlawanan? Jelaskan alasannya.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BATAS AKHIR</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Mengapa hitungan frekuensi tidak cukup</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280160"/>
            <a:ext cx="5303520" cy="1078992"/>
          </a:xfrm>
          <a:prstGeom prst="roundRect">
            <a:avLst>
              <a:gd name="adj" fmla="val 7627"/>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868680" y="1554480"/>
            <a:ext cx="502920" cy="502920"/>
          </a:xfrm>
          <a:prstGeom prst="ellipse">
            <a:avLst/>
          </a:prstGeom>
          <a:solidFill>
            <a:srgbClr val="D95F6B"/>
          </a:solidFill>
          <a:ln w="12700">
            <a:solidFill>
              <a:srgbClr val="333333"/>
            </a:solidFill>
            <a:prstDash val="solid"/>
          </a:ln>
        </p:spPr>
      </p:sp>
      <p:sp>
        <p:nvSpPr>
          <p:cNvPr id="7" name="Text 5"/>
          <p:cNvSpPr txBox="1"/>
          <p:nvPr/>
        </p:nvSpPr>
        <p:spPr>
          <a:xfrm>
            <a:off x="868680" y="1554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8" name="Text 6"/>
          <p:cNvSpPr txBox="1"/>
          <p:nvPr/>
        </p:nvSpPr>
        <p:spPr>
          <a:xfrm>
            <a:off x="1527048" y="1426464"/>
            <a:ext cx="4114800" cy="320040"/>
          </a:xfrm>
          <a:prstGeom prst="rect">
            <a:avLst/>
          </a:prstGeom>
          <a:noFill/>
          <a:ln/>
        </p:spPr>
        <p:txBody>
          <a:bodyPr wrap="square" lIns="0" tIns="0" rIns="0" bIns="0" rtlCol="0" anchor="t"/>
          <a:lstStyle/>
          <a:p>
            <a:pPr algn="l" indent="0" marL="0">
              <a:buNone/>
            </a:pPr>
            <a:r>
              <a:rPr lang="en-US" sz="1600" b="1" dirty="0">
                <a:solidFill>
                  <a:srgbClr val="0F3743"/>
                </a:solidFill>
                <a:latin typeface="Cambria" pitchFamily="34" charset="0"/>
                <a:ea typeface="Cambria" pitchFamily="34" charset="-122"/>
                <a:cs typeface="Cambria" pitchFamily="34" charset="-120"/>
              </a:rPr>
              <a:t>Urutan hilang</a:t>
            </a:r>
            <a:endParaRPr lang="en-US" sz="1600" dirty="0"/>
          </a:p>
        </p:txBody>
      </p:sp>
      <p:sp>
        <p:nvSpPr>
          <p:cNvPr id="9" name="Text 7"/>
          <p:cNvSpPr txBox="1"/>
          <p:nvPr/>
        </p:nvSpPr>
        <p:spPr>
          <a:xfrm>
            <a:off x="1527048" y="1764792"/>
            <a:ext cx="4114800" cy="502920"/>
          </a:xfrm>
          <a:prstGeom prst="rect">
            <a:avLst/>
          </a:prstGeom>
          <a:noFill/>
          <a:ln/>
        </p:spPr>
        <p:txBody>
          <a:bodyPr wrap="square" lIns="0" tIns="0" rIns="0" bIns="0" rtlCol="0" anchor="t"/>
          <a:lstStyle/>
          <a:p>
            <a:pPr algn="l" indent="0" marL="0">
              <a:lnSpc>
                <a:spcPct val="120000"/>
              </a:lnSpc>
              <a:buNone/>
            </a:pPr>
            <a:r>
              <a:rPr lang="en-US" sz="1250" dirty="0">
                <a:solidFill>
                  <a:srgbClr val="13272E"/>
                </a:solidFill>
                <a:latin typeface="Calibri" pitchFamily="34" charset="0"/>
                <a:ea typeface="Calibri" pitchFamily="34" charset="-122"/>
                <a:cs typeface="Calibri" pitchFamily="34" charset="-120"/>
              </a:rPr>
              <a:t>Bag-of-Words tidak membedakan "bus menabrak pohon" dari "pohon menabrak bus".</a:t>
            </a:r>
            <a:endParaRPr lang="en-US" sz="1250" dirty="0"/>
          </a:p>
        </p:txBody>
      </p:sp>
      <p:sp>
        <p:nvSpPr>
          <p:cNvPr id="10" name="Shape 8"/>
          <p:cNvSpPr/>
          <p:nvPr/>
        </p:nvSpPr>
        <p:spPr>
          <a:xfrm>
            <a:off x="6263640" y="1280160"/>
            <a:ext cx="5303520" cy="1078992"/>
          </a:xfrm>
          <a:prstGeom prst="roundRect">
            <a:avLst>
              <a:gd name="adj" fmla="val 7627"/>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1" name="Shape 9"/>
          <p:cNvSpPr/>
          <p:nvPr/>
        </p:nvSpPr>
        <p:spPr>
          <a:xfrm>
            <a:off x="6537960" y="1554480"/>
            <a:ext cx="502920" cy="502920"/>
          </a:xfrm>
          <a:prstGeom prst="ellipse">
            <a:avLst/>
          </a:prstGeom>
          <a:solidFill>
            <a:srgbClr val="D95F6B"/>
          </a:solidFill>
          <a:ln w="12700">
            <a:solidFill>
              <a:srgbClr val="333333"/>
            </a:solidFill>
            <a:prstDash val="solid"/>
          </a:ln>
        </p:spPr>
      </p:sp>
      <p:sp>
        <p:nvSpPr>
          <p:cNvPr id="12" name="Text 10"/>
          <p:cNvSpPr txBox="1"/>
          <p:nvPr/>
        </p:nvSpPr>
        <p:spPr>
          <a:xfrm>
            <a:off x="6537960" y="1554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3" name="Text 11"/>
          <p:cNvSpPr txBox="1"/>
          <p:nvPr/>
        </p:nvSpPr>
        <p:spPr>
          <a:xfrm>
            <a:off x="7196328" y="1426464"/>
            <a:ext cx="4114800" cy="320040"/>
          </a:xfrm>
          <a:prstGeom prst="rect">
            <a:avLst/>
          </a:prstGeom>
          <a:noFill/>
          <a:ln/>
        </p:spPr>
        <p:txBody>
          <a:bodyPr wrap="square" lIns="0" tIns="0" rIns="0" bIns="0" rtlCol="0" anchor="t"/>
          <a:lstStyle/>
          <a:p>
            <a:pPr algn="l" indent="0" marL="0">
              <a:buNone/>
            </a:pPr>
            <a:r>
              <a:rPr lang="en-US" sz="1600" b="1" dirty="0">
                <a:solidFill>
                  <a:srgbClr val="0F3743"/>
                </a:solidFill>
                <a:latin typeface="Cambria" pitchFamily="34" charset="0"/>
                <a:ea typeface="Cambria" pitchFamily="34" charset="-122"/>
                <a:cs typeface="Cambria" pitchFamily="34" charset="-120"/>
              </a:rPr>
              <a:t>Makna tidak dikenal</a:t>
            </a:r>
            <a:endParaRPr lang="en-US" sz="1600" dirty="0"/>
          </a:p>
        </p:txBody>
      </p:sp>
      <p:sp>
        <p:nvSpPr>
          <p:cNvPr id="14" name="Text 12"/>
          <p:cNvSpPr txBox="1"/>
          <p:nvPr/>
        </p:nvSpPr>
        <p:spPr>
          <a:xfrm>
            <a:off x="7196328" y="1764792"/>
            <a:ext cx="4114800" cy="502920"/>
          </a:xfrm>
          <a:prstGeom prst="rect">
            <a:avLst/>
          </a:prstGeom>
          <a:noFill/>
          <a:ln/>
        </p:spPr>
        <p:txBody>
          <a:bodyPr wrap="square" lIns="0" tIns="0" rIns="0" bIns="0" rtlCol="0" anchor="t"/>
          <a:lstStyle/>
          <a:p>
            <a:pPr algn="l" indent="0" marL="0">
              <a:lnSpc>
                <a:spcPct val="120000"/>
              </a:lnSpc>
              <a:buNone/>
            </a:pPr>
            <a:r>
              <a:rPr lang="en-US" sz="1250" dirty="0">
                <a:solidFill>
                  <a:srgbClr val="13272E"/>
                </a:solidFill>
                <a:latin typeface="Calibri" pitchFamily="34" charset="0"/>
                <a:ea typeface="Calibri" pitchFamily="34" charset="-122"/>
                <a:cs typeface="Calibri" pitchFamily="34" charset="-120"/>
              </a:rPr>
              <a:t>"Mobil" dan "kendaraan" diperlakukan sebagai dua kolom yang sepenuhnya tidak berhubungan.</a:t>
            </a:r>
            <a:endParaRPr lang="en-US" sz="1250" dirty="0"/>
          </a:p>
        </p:txBody>
      </p:sp>
      <p:sp>
        <p:nvSpPr>
          <p:cNvPr id="15" name="Shape 13"/>
          <p:cNvSpPr/>
          <p:nvPr/>
        </p:nvSpPr>
        <p:spPr>
          <a:xfrm>
            <a:off x="594360" y="2514600"/>
            <a:ext cx="5303520" cy="1078992"/>
          </a:xfrm>
          <a:prstGeom prst="roundRect">
            <a:avLst>
              <a:gd name="adj" fmla="val 7627"/>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6" name="Shape 14"/>
          <p:cNvSpPr/>
          <p:nvPr/>
        </p:nvSpPr>
        <p:spPr>
          <a:xfrm>
            <a:off x="868680" y="2788920"/>
            <a:ext cx="502920" cy="502920"/>
          </a:xfrm>
          <a:prstGeom prst="ellipse">
            <a:avLst/>
          </a:prstGeom>
          <a:solidFill>
            <a:srgbClr val="D95F6B"/>
          </a:solidFill>
          <a:ln w="12700">
            <a:solidFill>
              <a:srgbClr val="333333"/>
            </a:solidFill>
            <a:prstDash val="solid"/>
          </a:ln>
        </p:spPr>
      </p:sp>
      <p:sp>
        <p:nvSpPr>
          <p:cNvPr id="17" name="Text 15"/>
          <p:cNvSpPr txBox="1"/>
          <p:nvPr/>
        </p:nvSpPr>
        <p:spPr>
          <a:xfrm>
            <a:off x="868680" y="2788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8" name="Text 16"/>
          <p:cNvSpPr txBox="1"/>
          <p:nvPr/>
        </p:nvSpPr>
        <p:spPr>
          <a:xfrm>
            <a:off x="1527048" y="2660904"/>
            <a:ext cx="4114800" cy="320040"/>
          </a:xfrm>
          <a:prstGeom prst="rect">
            <a:avLst/>
          </a:prstGeom>
          <a:noFill/>
          <a:ln/>
        </p:spPr>
        <p:txBody>
          <a:bodyPr wrap="square" lIns="0" tIns="0" rIns="0" bIns="0" rtlCol="0" anchor="t"/>
          <a:lstStyle/>
          <a:p>
            <a:pPr algn="l" indent="0" marL="0">
              <a:buNone/>
            </a:pPr>
            <a:r>
              <a:rPr lang="en-US" sz="1600" b="1" dirty="0">
                <a:solidFill>
                  <a:srgbClr val="0F3743"/>
                </a:solidFill>
                <a:latin typeface="Cambria" pitchFamily="34" charset="0"/>
                <a:ea typeface="Cambria" pitchFamily="34" charset="-122"/>
                <a:cs typeface="Cambria" pitchFamily="34" charset="-120"/>
              </a:rPr>
              <a:t>Vektor sangat besar dan kosong</a:t>
            </a:r>
            <a:endParaRPr lang="en-US" sz="1600" dirty="0"/>
          </a:p>
        </p:txBody>
      </p:sp>
      <p:sp>
        <p:nvSpPr>
          <p:cNvPr id="19" name="Text 17"/>
          <p:cNvSpPr txBox="1"/>
          <p:nvPr/>
        </p:nvSpPr>
        <p:spPr>
          <a:xfrm>
            <a:off x="1527048" y="2999232"/>
            <a:ext cx="4114800" cy="502920"/>
          </a:xfrm>
          <a:prstGeom prst="rect">
            <a:avLst/>
          </a:prstGeom>
          <a:noFill/>
          <a:ln/>
        </p:spPr>
        <p:txBody>
          <a:bodyPr wrap="square" lIns="0" tIns="0" rIns="0" bIns="0" rtlCol="0" anchor="t"/>
          <a:lstStyle/>
          <a:p>
            <a:pPr algn="l" indent="0" marL="0">
              <a:lnSpc>
                <a:spcPct val="120000"/>
              </a:lnSpc>
              <a:buNone/>
            </a:pPr>
            <a:r>
              <a:rPr lang="en-US" sz="1250" dirty="0">
                <a:solidFill>
                  <a:srgbClr val="13272E"/>
                </a:solidFill>
                <a:latin typeface="Calibri" pitchFamily="34" charset="0"/>
                <a:ea typeface="Calibri" pitchFamily="34" charset="-122"/>
                <a:cs typeface="Calibri" pitchFamily="34" charset="-120"/>
              </a:rPr>
              <a:t>Kosakata 50.000 kata berarti vektor 50.000 kolom yang hampir seluruhnya berisi nol.</a:t>
            </a:r>
            <a:endParaRPr lang="en-US" sz="1250" dirty="0"/>
          </a:p>
        </p:txBody>
      </p:sp>
      <p:sp>
        <p:nvSpPr>
          <p:cNvPr id="20" name="Shape 18"/>
          <p:cNvSpPr/>
          <p:nvPr/>
        </p:nvSpPr>
        <p:spPr>
          <a:xfrm>
            <a:off x="6263640" y="2514600"/>
            <a:ext cx="5303520" cy="1078992"/>
          </a:xfrm>
          <a:prstGeom prst="roundRect">
            <a:avLst>
              <a:gd name="adj" fmla="val 7627"/>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21" name="Shape 19"/>
          <p:cNvSpPr/>
          <p:nvPr/>
        </p:nvSpPr>
        <p:spPr>
          <a:xfrm>
            <a:off x="6537960" y="2788920"/>
            <a:ext cx="502920" cy="502920"/>
          </a:xfrm>
          <a:prstGeom prst="ellipse">
            <a:avLst/>
          </a:prstGeom>
          <a:solidFill>
            <a:srgbClr val="D95F6B"/>
          </a:solidFill>
          <a:ln w="12700">
            <a:solidFill>
              <a:srgbClr val="333333"/>
            </a:solidFill>
            <a:prstDash val="solid"/>
          </a:ln>
        </p:spPr>
      </p:sp>
      <p:sp>
        <p:nvSpPr>
          <p:cNvPr id="22" name="Text 20"/>
          <p:cNvSpPr txBox="1"/>
          <p:nvPr/>
        </p:nvSpPr>
        <p:spPr>
          <a:xfrm>
            <a:off x="6537960" y="27889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23" name="Text 21"/>
          <p:cNvSpPr txBox="1"/>
          <p:nvPr/>
        </p:nvSpPr>
        <p:spPr>
          <a:xfrm>
            <a:off x="7196328" y="2660904"/>
            <a:ext cx="4114800" cy="320040"/>
          </a:xfrm>
          <a:prstGeom prst="rect">
            <a:avLst/>
          </a:prstGeom>
          <a:noFill/>
          <a:ln/>
        </p:spPr>
        <p:txBody>
          <a:bodyPr wrap="square" lIns="0" tIns="0" rIns="0" bIns="0" rtlCol="0" anchor="t"/>
          <a:lstStyle/>
          <a:p>
            <a:pPr algn="l" indent="0" marL="0">
              <a:buNone/>
            </a:pPr>
            <a:r>
              <a:rPr lang="en-US" sz="1600" b="1" dirty="0">
                <a:solidFill>
                  <a:srgbClr val="0F3743"/>
                </a:solidFill>
                <a:latin typeface="Cambria" pitchFamily="34" charset="0"/>
                <a:ea typeface="Cambria" pitchFamily="34" charset="-122"/>
                <a:cs typeface="Cambria" pitchFamily="34" charset="-120"/>
              </a:rPr>
              <a:t>Kata baru tidak tertangani</a:t>
            </a:r>
            <a:endParaRPr lang="en-US" sz="1600" dirty="0"/>
          </a:p>
        </p:txBody>
      </p:sp>
      <p:sp>
        <p:nvSpPr>
          <p:cNvPr id="24" name="Text 22"/>
          <p:cNvSpPr txBox="1"/>
          <p:nvPr/>
        </p:nvSpPr>
        <p:spPr>
          <a:xfrm>
            <a:off x="7196328" y="2999232"/>
            <a:ext cx="4114800" cy="502920"/>
          </a:xfrm>
          <a:prstGeom prst="rect">
            <a:avLst/>
          </a:prstGeom>
          <a:noFill/>
          <a:ln/>
        </p:spPr>
        <p:txBody>
          <a:bodyPr wrap="square" lIns="0" tIns="0" rIns="0" bIns="0" rtlCol="0" anchor="t"/>
          <a:lstStyle/>
          <a:p>
            <a:pPr algn="l" indent="0" marL="0">
              <a:lnSpc>
                <a:spcPct val="120000"/>
              </a:lnSpc>
              <a:buNone/>
            </a:pPr>
            <a:r>
              <a:rPr lang="en-US" sz="1250" dirty="0">
                <a:solidFill>
                  <a:srgbClr val="13272E"/>
                </a:solidFill>
                <a:latin typeface="Calibri" pitchFamily="34" charset="0"/>
                <a:ea typeface="Calibri" pitchFamily="34" charset="-122"/>
                <a:cs typeface="Calibri" pitchFamily="34" charset="-120"/>
              </a:rPr>
              <a:t>Kata yang tidak ada di kosakata saat pelatihan tidak punya tempat sama sekali.</a:t>
            </a:r>
            <a:endParaRPr lang="en-US" sz="1250" dirty="0"/>
          </a:p>
        </p:txBody>
      </p:sp>
      <p:sp>
        <p:nvSpPr>
          <p:cNvPr id="25" name="Shape 23"/>
          <p:cNvSpPr/>
          <p:nvPr/>
        </p:nvSpPr>
        <p:spPr>
          <a:xfrm>
            <a:off x="594360" y="3840480"/>
            <a:ext cx="11002975" cy="1920240"/>
          </a:xfrm>
          <a:prstGeom prst="roundRect">
            <a:avLst>
              <a:gd name="adj" fmla="val 4286"/>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26" name="Text 24"/>
          <p:cNvSpPr txBox="1"/>
          <p:nvPr/>
        </p:nvSpPr>
        <p:spPr>
          <a:xfrm>
            <a:off x="1005840" y="4023360"/>
            <a:ext cx="10180015" cy="292608"/>
          </a:xfrm>
          <a:prstGeom prst="rect">
            <a:avLst/>
          </a:prstGeom>
          <a:noFill/>
          <a:ln/>
        </p:spPr>
        <p:txBody>
          <a:bodyPr wrap="square" lIns="0" tIns="0" rIns="0" bIns="0" rtlCol="0" anchor="t"/>
          <a:lstStyle/>
          <a:p>
            <a:pPr algn="l" indent="0" marL="0">
              <a:buNone/>
            </a:pPr>
            <a:r>
              <a:rPr lang="en-US" sz="1900" b="1" dirty="0">
                <a:solidFill>
                  <a:srgbClr val="6FC7D6"/>
                </a:solidFill>
                <a:latin typeface="Cambria" pitchFamily="34" charset="0"/>
                <a:ea typeface="Cambria" pitchFamily="34" charset="-122"/>
                <a:cs typeface="Cambria" pitchFamily="34" charset="-120"/>
              </a:rPr>
              <a:t>Gagasan word embedding</a:t>
            </a:r>
            <a:endParaRPr lang="en-US" sz="1900" dirty="0"/>
          </a:p>
        </p:txBody>
      </p:sp>
      <p:sp>
        <p:nvSpPr>
          <p:cNvPr id="27" name="Text 25"/>
          <p:cNvSpPr txBox="1"/>
          <p:nvPr/>
        </p:nvSpPr>
        <p:spPr>
          <a:xfrm>
            <a:off x="1005840" y="4389120"/>
            <a:ext cx="10180015" cy="685800"/>
          </a:xfrm>
          <a:prstGeom prst="rect">
            <a:avLst/>
          </a:prstGeom>
          <a:noFill/>
          <a:ln/>
        </p:spPr>
        <p:txBody>
          <a:bodyPr wrap="square" lIns="0" tIns="0" rIns="0" bIns="0" rtlCol="0" anchor="t"/>
          <a:lstStyle/>
          <a:p>
            <a:pPr algn="l" indent="0" marL="0">
              <a:lnSpc>
                <a:spcPct val="130000"/>
              </a:lnSpc>
              <a:buNone/>
            </a:pPr>
            <a:r>
              <a:rPr lang="en-US" sz="1450" dirty="0">
                <a:solidFill>
                  <a:srgbClr val="FFFFFF"/>
                </a:solidFill>
                <a:latin typeface="Calibri" pitchFamily="34" charset="0"/>
                <a:ea typeface="Calibri" pitchFamily="34" charset="-122"/>
                <a:cs typeface="Calibri" pitchFamily="34" charset="-120"/>
              </a:rPr>
              <a:t>Alih-alih memberi tiap kata satu kolom sendiri, berikan setiap kata sebuah vektor pendek — misalnya 300 angka — yang dipelajari dari data. Kata yang muncul dalam konteks serupa akan memperoleh vektor yang berdekatan.</a:t>
            </a:r>
            <a:endParaRPr lang="en-US" sz="1450" dirty="0"/>
          </a:p>
        </p:txBody>
      </p:sp>
      <p:sp>
        <p:nvSpPr>
          <p:cNvPr id="28" name="Text 26"/>
          <p:cNvSpPr txBox="1"/>
          <p:nvPr/>
        </p:nvSpPr>
        <p:spPr>
          <a:xfrm>
            <a:off x="1005840" y="5120640"/>
            <a:ext cx="10180015" cy="548640"/>
          </a:xfrm>
          <a:prstGeom prst="rect">
            <a:avLst/>
          </a:prstGeom>
          <a:noFill/>
          <a:ln/>
        </p:spPr>
        <p:txBody>
          <a:bodyPr wrap="square" lIns="0" tIns="0" rIns="0" bIns="0" rtlCol="0" anchor="t"/>
          <a:lstStyle/>
          <a:p>
            <a:pPr algn="l" indent="0" marL="0">
              <a:lnSpc>
                <a:spcPct val="130000"/>
              </a:lnSpc>
              <a:buNone/>
            </a:pPr>
            <a:r>
              <a:rPr lang="en-US" sz="1450" b="1" dirty="0">
                <a:solidFill>
                  <a:srgbClr val="6FC7D6"/>
                </a:solidFill>
                <a:latin typeface="Calibri" pitchFamily="34" charset="0"/>
                <a:ea typeface="Calibri" pitchFamily="34" charset="-122"/>
                <a:cs typeface="Calibri" pitchFamily="34" charset="-120"/>
              </a:rPr>
              <a:t>Akibatnya, "mobil" dan "kendaraan" tidak lagi sepenuhnya asing satu sama lain. Kemiripan makna menjadi kedekatan jarak — dan jarak adalah sesuatu yang sudah bisa dihitung model sejak pertemuan 11.</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8F72CC"/>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D9922E"/>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BAGIAN 2</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CNN dan RNN</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4C7CD"/>
                </a:solidFill>
                <a:latin typeface="Calibri" pitchFamily="34" charset="0"/>
                <a:ea typeface="Calibri" pitchFamily="34" charset="-122"/>
                <a:cs typeface="Calibri" pitchFamily="34" charset="-120"/>
              </a:rPr>
              <a:t>Arsitektur yang dirancang untuk bentuk data tertentu</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UNTUK CITRA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Convolutional Neural Network</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94360" y="1170432"/>
            <a:ext cx="11002975" cy="365760"/>
          </a:xfrm>
          <a:prstGeom prst="rect">
            <a:avLst/>
          </a:prstGeom>
          <a:noFill/>
          <a:ln/>
        </p:spPr>
        <p:txBody>
          <a:bodyPr wrap="square" lIns="0" tIns="0" rIns="0" bIns="0" rtlCol="0" anchor="t"/>
          <a:lstStyle/>
          <a:p>
            <a:pPr algn="l" indent="0" marL="0">
              <a:buNone/>
            </a:pPr>
            <a:r>
              <a:rPr lang="en-US" sz="1500" dirty="0">
                <a:solidFill>
                  <a:srgbClr val="13272E"/>
                </a:solidFill>
                <a:latin typeface="Calibri" pitchFamily="34" charset="0"/>
                <a:ea typeface="Calibri" pitchFamily="34" charset="-122"/>
                <a:cs typeface="Calibri" pitchFamily="34" charset="-120"/>
              </a:rPr>
              <a:t>Pada citra, yang bermakna bukan nilai satu piksel, melainkan pola di antara piksel yang berdekatan. CNN memanfaatkan hal itu.</a:t>
            </a:r>
            <a:endParaRPr lang="en-US" sz="1500" dirty="0"/>
          </a:p>
        </p:txBody>
      </p:sp>
      <p:sp>
        <p:nvSpPr>
          <p:cNvPr id="6" name="Shape 4"/>
          <p:cNvSpPr/>
          <p:nvPr/>
        </p:nvSpPr>
        <p:spPr>
          <a:xfrm>
            <a:off x="822960" y="2011680"/>
            <a:ext cx="475488" cy="475488"/>
          </a:xfrm>
          <a:prstGeom prst="rect">
            <a:avLst/>
          </a:prstGeom>
          <a:solidFill>
            <a:srgbClr val="FFFFFF"/>
          </a:solidFill>
          <a:ln w="12700">
            <a:solidFill>
              <a:srgbClr val="C6D2D6"/>
            </a:solidFill>
            <a:prstDash val="solid"/>
          </a:ln>
        </p:spPr>
      </p:sp>
      <p:sp>
        <p:nvSpPr>
          <p:cNvPr id="7" name="Text 5"/>
          <p:cNvSpPr txBox="1"/>
          <p:nvPr/>
        </p:nvSpPr>
        <p:spPr>
          <a:xfrm>
            <a:off x="822960"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8" name="Shape 6"/>
          <p:cNvSpPr/>
          <p:nvPr/>
        </p:nvSpPr>
        <p:spPr>
          <a:xfrm>
            <a:off x="1298448" y="2011680"/>
            <a:ext cx="475488" cy="475488"/>
          </a:xfrm>
          <a:prstGeom prst="rect">
            <a:avLst/>
          </a:prstGeom>
          <a:solidFill>
            <a:srgbClr val="FFFFFF"/>
          </a:solidFill>
          <a:ln w="12700">
            <a:solidFill>
              <a:srgbClr val="C6D2D6"/>
            </a:solidFill>
            <a:prstDash val="solid"/>
          </a:ln>
        </p:spPr>
      </p:sp>
      <p:sp>
        <p:nvSpPr>
          <p:cNvPr id="9" name="Text 7"/>
          <p:cNvSpPr txBox="1"/>
          <p:nvPr/>
        </p:nvSpPr>
        <p:spPr>
          <a:xfrm>
            <a:off x="1298448"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10" name="Shape 8"/>
          <p:cNvSpPr/>
          <p:nvPr/>
        </p:nvSpPr>
        <p:spPr>
          <a:xfrm>
            <a:off x="1773936" y="2011680"/>
            <a:ext cx="475488" cy="475488"/>
          </a:xfrm>
          <a:prstGeom prst="rect">
            <a:avLst/>
          </a:prstGeom>
          <a:solidFill>
            <a:srgbClr val="FFFFFF"/>
          </a:solidFill>
          <a:ln w="12700">
            <a:solidFill>
              <a:srgbClr val="C6D2D6"/>
            </a:solidFill>
            <a:prstDash val="solid"/>
          </a:ln>
        </p:spPr>
      </p:sp>
      <p:sp>
        <p:nvSpPr>
          <p:cNvPr id="11" name="Text 9"/>
          <p:cNvSpPr txBox="1"/>
          <p:nvPr/>
        </p:nvSpPr>
        <p:spPr>
          <a:xfrm>
            <a:off x="1773936"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12" name="Shape 10"/>
          <p:cNvSpPr/>
          <p:nvPr/>
        </p:nvSpPr>
        <p:spPr>
          <a:xfrm>
            <a:off x="822960" y="2487168"/>
            <a:ext cx="475488" cy="475488"/>
          </a:xfrm>
          <a:prstGeom prst="rect">
            <a:avLst/>
          </a:prstGeom>
          <a:solidFill>
            <a:srgbClr val="FFFFFF"/>
          </a:solidFill>
          <a:ln w="12700">
            <a:solidFill>
              <a:srgbClr val="C6D2D6"/>
            </a:solidFill>
            <a:prstDash val="solid"/>
          </a:ln>
        </p:spPr>
      </p:sp>
      <p:sp>
        <p:nvSpPr>
          <p:cNvPr id="13" name="Text 11"/>
          <p:cNvSpPr txBox="1"/>
          <p:nvPr/>
        </p:nvSpPr>
        <p:spPr>
          <a:xfrm>
            <a:off x="822960"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14" name="Shape 12"/>
          <p:cNvSpPr/>
          <p:nvPr/>
        </p:nvSpPr>
        <p:spPr>
          <a:xfrm>
            <a:off x="1298448" y="2487168"/>
            <a:ext cx="475488" cy="475488"/>
          </a:xfrm>
          <a:prstGeom prst="rect">
            <a:avLst/>
          </a:prstGeom>
          <a:solidFill>
            <a:srgbClr val="FFFFFF"/>
          </a:solidFill>
          <a:ln w="12700">
            <a:solidFill>
              <a:srgbClr val="C6D2D6"/>
            </a:solidFill>
            <a:prstDash val="solid"/>
          </a:ln>
        </p:spPr>
      </p:sp>
      <p:sp>
        <p:nvSpPr>
          <p:cNvPr id="15" name="Text 13"/>
          <p:cNvSpPr txBox="1"/>
          <p:nvPr/>
        </p:nvSpPr>
        <p:spPr>
          <a:xfrm>
            <a:off x="1298448"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16" name="Shape 14"/>
          <p:cNvSpPr/>
          <p:nvPr/>
        </p:nvSpPr>
        <p:spPr>
          <a:xfrm>
            <a:off x="1773936" y="2487168"/>
            <a:ext cx="475488" cy="475488"/>
          </a:xfrm>
          <a:prstGeom prst="rect">
            <a:avLst/>
          </a:prstGeom>
          <a:solidFill>
            <a:srgbClr val="FFFFFF"/>
          </a:solidFill>
          <a:ln w="12700">
            <a:solidFill>
              <a:srgbClr val="C6D2D6"/>
            </a:solidFill>
            <a:prstDash val="solid"/>
          </a:ln>
        </p:spPr>
      </p:sp>
      <p:sp>
        <p:nvSpPr>
          <p:cNvPr id="17" name="Text 15"/>
          <p:cNvSpPr txBox="1"/>
          <p:nvPr/>
        </p:nvSpPr>
        <p:spPr>
          <a:xfrm>
            <a:off x="1773936"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18" name="Shape 16"/>
          <p:cNvSpPr/>
          <p:nvPr/>
        </p:nvSpPr>
        <p:spPr>
          <a:xfrm>
            <a:off x="822960" y="2962656"/>
            <a:ext cx="475488" cy="475488"/>
          </a:xfrm>
          <a:prstGeom prst="rect">
            <a:avLst/>
          </a:prstGeom>
          <a:solidFill>
            <a:srgbClr val="FFFFFF"/>
          </a:solidFill>
          <a:ln w="12700">
            <a:solidFill>
              <a:srgbClr val="C6D2D6"/>
            </a:solidFill>
            <a:prstDash val="solid"/>
          </a:ln>
        </p:spPr>
      </p:sp>
      <p:sp>
        <p:nvSpPr>
          <p:cNvPr id="19" name="Text 17"/>
          <p:cNvSpPr txBox="1"/>
          <p:nvPr/>
        </p:nvSpPr>
        <p:spPr>
          <a:xfrm>
            <a:off x="822960"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20" name="Shape 18"/>
          <p:cNvSpPr/>
          <p:nvPr/>
        </p:nvSpPr>
        <p:spPr>
          <a:xfrm>
            <a:off x="1298448" y="2962656"/>
            <a:ext cx="475488" cy="475488"/>
          </a:xfrm>
          <a:prstGeom prst="rect">
            <a:avLst/>
          </a:prstGeom>
          <a:solidFill>
            <a:srgbClr val="FFFFFF"/>
          </a:solidFill>
          <a:ln w="12700">
            <a:solidFill>
              <a:srgbClr val="C6D2D6"/>
            </a:solidFill>
            <a:prstDash val="solid"/>
          </a:ln>
        </p:spPr>
      </p:sp>
      <p:sp>
        <p:nvSpPr>
          <p:cNvPr id="21" name="Text 19"/>
          <p:cNvSpPr txBox="1"/>
          <p:nvPr/>
        </p:nvSpPr>
        <p:spPr>
          <a:xfrm>
            <a:off x="1298448"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22" name="Shape 20"/>
          <p:cNvSpPr/>
          <p:nvPr/>
        </p:nvSpPr>
        <p:spPr>
          <a:xfrm>
            <a:off x="1773936" y="2962656"/>
            <a:ext cx="475488" cy="475488"/>
          </a:xfrm>
          <a:prstGeom prst="rect">
            <a:avLst/>
          </a:prstGeom>
          <a:solidFill>
            <a:srgbClr val="FFFFFF"/>
          </a:solidFill>
          <a:ln w="12700">
            <a:solidFill>
              <a:srgbClr val="C6D2D6"/>
            </a:solidFill>
            <a:prstDash val="solid"/>
          </a:ln>
        </p:spPr>
      </p:sp>
      <p:sp>
        <p:nvSpPr>
          <p:cNvPr id="23" name="Text 21"/>
          <p:cNvSpPr txBox="1"/>
          <p:nvPr/>
        </p:nvSpPr>
        <p:spPr>
          <a:xfrm>
            <a:off x="1773936"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24" name="Text 22"/>
          <p:cNvSpPr txBox="1"/>
          <p:nvPr/>
        </p:nvSpPr>
        <p:spPr>
          <a:xfrm>
            <a:off x="548640" y="1664208"/>
            <a:ext cx="1975104" cy="274320"/>
          </a:xfrm>
          <a:prstGeom prst="rect">
            <a:avLst/>
          </a:prstGeom>
          <a:noFill/>
          <a:ln/>
        </p:spPr>
        <p:txBody>
          <a:bodyPr wrap="square" lIns="0" tIns="0" rIns="0" bIns="0" rtlCol="0" anchor="t"/>
          <a:lstStyle/>
          <a:p>
            <a:pPr algn="ctr" indent="0" marL="0">
              <a:buNone/>
            </a:pPr>
            <a:r>
              <a:rPr lang="en-US" sz="1200" b="1" dirty="0">
                <a:solidFill>
                  <a:srgbClr val="0F3743"/>
                </a:solidFill>
                <a:latin typeface="Calibri" pitchFamily="34" charset="0"/>
                <a:ea typeface="Calibri" pitchFamily="34" charset="-122"/>
                <a:cs typeface="Calibri" pitchFamily="34" charset="-120"/>
              </a:rPr>
              <a:t>Bagian citra</a:t>
            </a:r>
            <a:endParaRPr lang="en-US" sz="1200" dirty="0"/>
          </a:p>
        </p:txBody>
      </p:sp>
      <p:sp>
        <p:nvSpPr>
          <p:cNvPr id="25" name="Text 23"/>
          <p:cNvSpPr txBox="1"/>
          <p:nvPr/>
        </p:nvSpPr>
        <p:spPr>
          <a:xfrm>
            <a:off x="2331720" y="2450592"/>
            <a:ext cx="365760" cy="457200"/>
          </a:xfrm>
          <a:prstGeom prst="rect">
            <a:avLst/>
          </a:prstGeom>
          <a:noFill/>
          <a:ln/>
        </p:spPr>
        <p:txBody>
          <a:bodyPr wrap="square" lIns="0" tIns="0" rIns="0" bIns="0" rtlCol="0" anchor="t"/>
          <a:lstStyle/>
          <a:p>
            <a:pPr algn="ctr" indent="0" marL="0">
              <a:buNone/>
            </a:pPr>
            <a:r>
              <a:rPr lang="en-US" sz="2200" b="1" dirty="0">
                <a:solidFill>
                  <a:srgbClr val="5F7178"/>
                </a:solidFill>
                <a:latin typeface="Calibri" pitchFamily="34" charset="0"/>
                <a:ea typeface="Calibri" pitchFamily="34" charset="-122"/>
                <a:cs typeface="Calibri" pitchFamily="34" charset="-120"/>
              </a:rPr>
              <a:t>×</a:t>
            </a:r>
            <a:endParaRPr lang="en-US" sz="2200" dirty="0"/>
          </a:p>
        </p:txBody>
      </p:sp>
      <p:sp>
        <p:nvSpPr>
          <p:cNvPr id="26" name="Shape 24"/>
          <p:cNvSpPr/>
          <p:nvPr/>
        </p:nvSpPr>
        <p:spPr>
          <a:xfrm>
            <a:off x="2743200" y="2011680"/>
            <a:ext cx="475488" cy="475488"/>
          </a:xfrm>
          <a:prstGeom prst="rect">
            <a:avLst/>
          </a:prstGeom>
          <a:solidFill>
            <a:srgbClr val="FBEAEC"/>
          </a:solidFill>
          <a:ln w="12700">
            <a:solidFill>
              <a:srgbClr val="F1C9CE"/>
            </a:solidFill>
            <a:prstDash val="solid"/>
          </a:ln>
        </p:spPr>
      </p:sp>
      <p:sp>
        <p:nvSpPr>
          <p:cNvPr id="27" name="Text 25"/>
          <p:cNvSpPr txBox="1"/>
          <p:nvPr/>
        </p:nvSpPr>
        <p:spPr>
          <a:xfrm>
            <a:off x="2743200"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28" name="Shape 26"/>
          <p:cNvSpPr/>
          <p:nvPr/>
        </p:nvSpPr>
        <p:spPr>
          <a:xfrm>
            <a:off x="3218688" y="2011680"/>
            <a:ext cx="475488" cy="475488"/>
          </a:xfrm>
          <a:prstGeom prst="rect">
            <a:avLst/>
          </a:prstGeom>
          <a:solidFill>
            <a:srgbClr val="FBEAEC"/>
          </a:solidFill>
          <a:ln w="12700">
            <a:solidFill>
              <a:srgbClr val="F1C9CE"/>
            </a:solidFill>
            <a:prstDash val="solid"/>
          </a:ln>
        </p:spPr>
      </p:sp>
      <p:sp>
        <p:nvSpPr>
          <p:cNvPr id="29" name="Text 27"/>
          <p:cNvSpPr txBox="1"/>
          <p:nvPr/>
        </p:nvSpPr>
        <p:spPr>
          <a:xfrm>
            <a:off x="3218688"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30" name="Shape 28"/>
          <p:cNvSpPr/>
          <p:nvPr/>
        </p:nvSpPr>
        <p:spPr>
          <a:xfrm>
            <a:off x="3694176" y="2011680"/>
            <a:ext cx="475488" cy="475488"/>
          </a:xfrm>
          <a:prstGeom prst="rect">
            <a:avLst/>
          </a:prstGeom>
          <a:solidFill>
            <a:srgbClr val="FBEAEC"/>
          </a:solidFill>
          <a:ln w="12700">
            <a:solidFill>
              <a:srgbClr val="F1C9CE"/>
            </a:solidFill>
            <a:prstDash val="solid"/>
          </a:ln>
        </p:spPr>
      </p:sp>
      <p:sp>
        <p:nvSpPr>
          <p:cNvPr id="31" name="Text 29"/>
          <p:cNvSpPr txBox="1"/>
          <p:nvPr/>
        </p:nvSpPr>
        <p:spPr>
          <a:xfrm>
            <a:off x="3694176" y="2011680"/>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32" name="Shape 30"/>
          <p:cNvSpPr/>
          <p:nvPr/>
        </p:nvSpPr>
        <p:spPr>
          <a:xfrm>
            <a:off x="2743200" y="2487168"/>
            <a:ext cx="475488" cy="475488"/>
          </a:xfrm>
          <a:prstGeom prst="rect">
            <a:avLst/>
          </a:prstGeom>
          <a:solidFill>
            <a:srgbClr val="FBEAEC"/>
          </a:solidFill>
          <a:ln w="12700">
            <a:solidFill>
              <a:srgbClr val="F1C9CE"/>
            </a:solidFill>
            <a:prstDash val="solid"/>
          </a:ln>
        </p:spPr>
      </p:sp>
      <p:sp>
        <p:nvSpPr>
          <p:cNvPr id="33" name="Text 31"/>
          <p:cNvSpPr txBox="1"/>
          <p:nvPr/>
        </p:nvSpPr>
        <p:spPr>
          <a:xfrm>
            <a:off x="2743200"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34" name="Shape 32"/>
          <p:cNvSpPr/>
          <p:nvPr/>
        </p:nvSpPr>
        <p:spPr>
          <a:xfrm>
            <a:off x="3218688" y="2487168"/>
            <a:ext cx="475488" cy="475488"/>
          </a:xfrm>
          <a:prstGeom prst="rect">
            <a:avLst/>
          </a:prstGeom>
          <a:solidFill>
            <a:srgbClr val="FBEAEC"/>
          </a:solidFill>
          <a:ln w="12700">
            <a:solidFill>
              <a:srgbClr val="F1C9CE"/>
            </a:solidFill>
            <a:prstDash val="solid"/>
          </a:ln>
        </p:spPr>
      </p:sp>
      <p:sp>
        <p:nvSpPr>
          <p:cNvPr id="35" name="Text 33"/>
          <p:cNvSpPr txBox="1"/>
          <p:nvPr/>
        </p:nvSpPr>
        <p:spPr>
          <a:xfrm>
            <a:off x="3218688"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-4</a:t>
            </a:r>
            <a:endParaRPr lang="en-US" sz="1300" dirty="0"/>
          </a:p>
        </p:txBody>
      </p:sp>
      <p:sp>
        <p:nvSpPr>
          <p:cNvPr id="36" name="Shape 34"/>
          <p:cNvSpPr/>
          <p:nvPr/>
        </p:nvSpPr>
        <p:spPr>
          <a:xfrm>
            <a:off x="3694176" y="2487168"/>
            <a:ext cx="475488" cy="475488"/>
          </a:xfrm>
          <a:prstGeom prst="rect">
            <a:avLst/>
          </a:prstGeom>
          <a:solidFill>
            <a:srgbClr val="FBEAEC"/>
          </a:solidFill>
          <a:ln w="12700">
            <a:solidFill>
              <a:srgbClr val="F1C9CE"/>
            </a:solidFill>
            <a:prstDash val="solid"/>
          </a:ln>
        </p:spPr>
      </p:sp>
      <p:sp>
        <p:nvSpPr>
          <p:cNvPr id="37" name="Text 35"/>
          <p:cNvSpPr txBox="1"/>
          <p:nvPr/>
        </p:nvSpPr>
        <p:spPr>
          <a:xfrm>
            <a:off x="3694176" y="2487168"/>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38" name="Shape 36"/>
          <p:cNvSpPr/>
          <p:nvPr/>
        </p:nvSpPr>
        <p:spPr>
          <a:xfrm>
            <a:off x="2743200" y="2962656"/>
            <a:ext cx="475488" cy="475488"/>
          </a:xfrm>
          <a:prstGeom prst="rect">
            <a:avLst/>
          </a:prstGeom>
          <a:solidFill>
            <a:srgbClr val="FBEAEC"/>
          </a:solidFill>
          <a:ln w="12700">
            <a:solidFill>
              <a:srgbClr val="F1C9CE"/>
            </a:solidFill>
            <a:prstDash val="solid"/>
          </a:ln>
        </p:spPr>
      </p:sp>
      <p:sp>
        <p:nvSpPr>
          <p:cNvPr id="39" name="Text 37"/>
          <p:cNvSpPr txBox="1"/>
          <p:nvPr/>
        </p:nvSpPr>
        <p:spPr>
          <a:xfrm>
            <a:off x="2743200"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40" name="Shape 38"/>
          <p:cNvSpPr/>
          <p:nvPr/>
        </p:nvSpPr>
        <p:spPr>
          <a:xfrm>
            <a:off x="3218688" y="2962656"/>
            <a:ext cx="475488" cy="475488"/>
          </a:xfrm>
          <a:prstGeom prst="rect">
            <a:avLst/>
          </a:prstGeom>
          <a:solidFill>
            <a:srgbClr val="FBEAEC"/>
          </a:solidFill>
          <a:ln w="12700">
            <a:solidFill>
              <a:srgbClr val="F1C9CE"/>
            </a:solidFill>
            <a:prstDash val="solid"/>
          </a:ln>
        </p:spPr>
      </p:sp>
      <p:sp>
        <p:nvSpPr>
          <p:cNvPr id="41" name="Text 39"/>
          <p:cNvSpPr txBox="1"/>
          <p:nvPr/>
        </p:nvSpPr>
        <p:spPr>
          <a:xfrm>
            <a:off x="3218688"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1</a:t>
            </a:r>
            <a:endParaRPr lang="en-US" sz="1300" dirty="0"/>
          </a:p>
        </p:txBody>
      </p:sp>
      <p:sp>
        <p:nvSpPr>
          <p:cNvPr id="42" name="Shape 40"/>
          <p:cNvSpPr/>
          <p:nvPr/>
        </p:nvSpPr>
        <p:spPr>
          <a:xfrm>
            <a:off x="3694176" y="2962656"/>
            <a:ext cx="475488" cy="475488"/>
          </a:xfrm>
          <a:prstGeom prst="rect">
            <a:avLst/>
          </a:prstGeom>
          <a:solidFill>
            <a:srgbClr val="FBEAEC"/>
          </a:solidFill>
          <a:ln w="12700">
            <a:solidFill>
              <a:srgbClr val="F1C9CE"/>
            </a:solidFill>
            <a:prstDash val="solid"/>
          </a:ln>
        </p:spPr>
      </p:sp>
      <p:sp>
        <p:nvSpPr>
          <p:cNvPr id="43" name="Text 41"/>
          <p:cNvSpPr txBox="1"/>
          <p:nvPr/>
        </p:nvSpPr>
        <p:spPr>
          <a:xfrm>
            <a:off x="3694176" y="2962656"/>
            <a:ext cx="475488" cy="475488"/>
          </a:xfrm>
          <a:prstGeom prst="rect">
            <a:avLst/>
          </a:prstGeom>
          <a:noFill/>
          <a:ln/>
        </p:spPr>
        <p:txBody>
          <a:bodyPr wrap="square" lIns="0" tIns="0" rIns="0" bIns="0" rtlCol="0" anchor="ctr"/>
          <a:lstStyle/>
          <a:p>
            <a:pPr algn="ctr" indent="0" marL="0">
              <a:buNone/>
            </a:pPr>
            <a:r>
              <a:rPr lang="en-US" sz="1300" b="1" dirty="0">
                <a:solidFill>
                  <a:srgbClr val="13272E"/>
                </a:solidFill>
                <a:latin typeface="Courier New" pitchFamily="34" charset="0"/>
                <a:ea typeface="Courier New" pitchFamily="34" charset="-122"/>
                <a:cs typeface="Courier New" pitchFamily="34" charset="-120"/>
              </a:rPr>
              <a:t>0</a:t>
            </a:r>
            <a:endParaRPr lang="en-US" sz="1300" dirty="0"/>
          </a:p>
        </p:txBody>
      </p:sp>
      <p:sp>
        <p:nvSpPr>
          <p:cNvPr id="44" name="Text 42"/>
          <p:cNvSpPr txBox="1"/>
          <p:nvPr/>
        </p:nvSpPr>
        <p:spPr>
          <a:xfrm>
            <a:off x="2468880" y="1664208"/>
            <a:ext cx="1975104" cy="274320"/>
          </a:xfrm>
          <a:prstGeom prst="rect">
            <a:avLst/>
          </a:prstGeom>
          <a:noFill/>
          <a:ln/>
        </p:spPr>
        <p:txBody>
          <a:bodyPr wrap="square" lIns="0" tIns="0" rIns="0" bIns="0" rtlCol="0" anchor="t"/>
          <a:lstStyle/>
          <a:p>
            <a:pPr algn="ctr" indent="0" marL="0">
              <a:buNone/>
            </a:pPr>
            <a:r>
              <a:rPr lang="en-US" sz="1200" b="1" dirty="0">
                <a:solidFill>
                  <a:srgbClr val="D95F6B"/>
                </a:solidFill>
                <a:latin typeface="Calibri" pitchFamily="34" charset="0"/>
                <a:ea typeface="Calibri" pitchFamily="34" charset="-122"/>
                <a:cs typeface="Calibri" pitchFamily="34" charset="-120"/>
              </a:rPr>
              <a:t>Filter</a:t>
            </a:r>
            <a:endParaRPr lang="en-US" sz="1200" dirty="0"/>
          </a:p>
        </p:txBody>
      </p:sp>
      <p:sp>
        <p:nvSpPr>
          <p:cNvPr id="45" name="Text 43"/>
          <p:cNvSpPr txBox="1"/>
          <p:nvPr/>
        </p:nvSpPr>
        <p:spPr>
          <a:xfrm>
            <a:off x="4251960" y="2450592"/>
            <a:ext cx="365760" cy="457200"/>
          </a:xfrm>
          <a:prstGeom prst="rect">
            <a:avLst/>
          </a:prstGeom>
          <a:noFill/>
          <a:ln/>
        </p:spPr>
        <p:txBody>
          <a:bodyPr wrap="square" lIns="0" tIns="0" rIns="0" bIns="0" rtlCol="0" anchor="t"/>
          <a:lstStyle/>
          <a:p>
            <a:pPr algn="ctr" indent="0" marL="0">
              <a:buNone/>
            </a:pPr>
            <a:r>
              <a:rPr lang="en-US" sz="2200" b="1" dirty="0">
                <a:solidFill>
                  <a:srgbClr val="5F7178"/>
                </a:solidFill>
                <a:latin typeface="Calibri" pitchFamily="34" charset="0"/>
                <a:ea typeface="Calibri" pitchFamily="34" charset="-122"/>
                <a:cs typeface="Calibri" pitchFamily="34" charset="-120"/>
              </a:rPr>
              <a:t>=</a:t>
            </a:r>
            <a:endParaRPr lang="en-US" sz="2200" dirty="0"/>
          </a:p>
        </p:txBody>
      </p:sp>
      <p:sp>
        <p:nvSpPr>
          <p:cNvPr id="46" name="Shape 44"/>
          <p:cNvSpPr/>
          <p:nvPr/>
        </p:nvSpPr>
        <p:spPr>
          <a:xfrm>
            <a:off x="4709160" y="2487168"/>
            <a:ext cx="475488" cy="475488"/>
          </a:xfrm>
          <a:prstGeom prst="rect">
            <a:avLst/>
          </a:prstGeom>
          <a:solidFill>
            <a:srgbClr val="0F3743"/>
          </a:solidFill>
          <a:ln w="12700">
            <a:solidFill>
              <a:srgbClr val="0F3743"/>
            </a:solidFill>
            <a:prstDash val="solid"/>
          </a:ln>
        </p:spPr>
      </p:sp>
      <p:sp>
        <p:nvSpPr>
          <p:cNvPr id="47" name="Text 45"/>
          <p:cNvSpPr txBox="1"/>
          <p:nvPr/>
        </p:nvSpPr>
        <p:spPr>
          <a:xfrm>
            <a:off x="4709160" y="2487168"/>
            <a:ext cx="475488" cy="475488"/>
          </a:xfrm>
          <a:prstGeom prst="rect">
            <a:avLst/>
          </a:prstGeom>
          <a:noFill/>
          <a:ln/>
        </p:spPr>
        <p:txBody>
          <a:bodyPr wrap="square" lIns="0" tIns="0" rIns="0" bIns="0" rtlCol="0" anchor="ctr"/>
          <a:lstStyle/>
          <a:p>
            <a:pPr algn="ctr" indent="0" marL="0">
              <a:buNone/>
            </a:pPr>
            <a:r>
              <a:rPr lang="en-US" sz="1300" b="1" dirty="0">
                <a:solidFill>
                  <a:srgbClr val="6FC7D6"/>
                </a:solidFill>
                <a:latin typeface="Courier New" pitchFamily="34" charset="0"/>
                <a:ea typeface="Courier New" pitchFamily="34" charset="-122"/>
                <a:cs typeface="Courier New" pitchFamily="34" charset="-120"/>
              </a:rPr>
              <a:t>-4</a:t>
            </a:r>
            <a:endParaRPr lang="en-US" sz="1300" dirty="0"/>
          </a:p>
        </p:txBody>
      </p:sp>
      <p:sp>
        <p:nvSpPr>
          <p:cNvPr id="48" name="Text 46"/>
          <p:cNvSpPr txBox="1"/>
          <p:nvPr/>
        </p:nvSpPr>
        <p:spPr>
          <a:xfrm>
            <a:off x="4434840" y="2139696"/>
            <a:ext cx="1024128" cy="274320"/>
          </a:xfrm>
          <a:prstGeom prst="rect">
            <a:avLst/>
          </a:prstGeom>
          <a:noFill/>
          <a:ln/>
        </p:spPr>
        <p:txBody>
          <a:bodyPr wrap="square" lIns="0" tIns="0" rIns="0" bIns="0" rtlCol="0" anchor="t"/>
          <a:lstStyle/>
          <a:p>
            <a:pPr algn="ctr" indent="0" marL="0">
              <a:buNone/>
            </a:pPr>
            <a:r>
              <a:rPr lang="en-US" sz="1200" b="1" dirty="0">
                <a:solidFill>
                  <a:srgbClr val="1F7A8C"/>
                </a:solidFill>
                <a:latin typeface="Calibri" pitchFamily="34" charset="0"/>
                <a:ea typeface="Calibri" pitchFamily="34" charset="-122"/>
                <a:cs typeface="Calibri" pitchFamily="34" charset="-120"/>
              </a:rPr>
              <a:t>Hasil</a:t>
            </a:r>
            <a:endParaRPr lang="en-US" sz="1200" dirty="0"/>
          </a:p>
        </p:txBody>
      </p:sp>
      <p:sp>
        <p:nvSpPr>
          <p:cNvPr id="49" name="Text 47"/>
          <p:cNvSpPr txBox="1"/>
          <p:nvPr/>
        </p:nvSpPr>
        <p:spPr>
          <a:xfrm>
            <a:off x="822960" y="3703320"/>
            <a:ext cx="4846320" cy="457200"/>
          </a:xfrm>
          <a:prstGeom prst="rect">
            <a:avLst/>
          </a:prstGeom>
          <a:noFill/>
          <a:ln/>
        </p:spPr>
        <p:txBody>
          <a:bodyPr wrap="square" lIns="0" tIns="0" rIns="0" bIns="0" rtlCol="0" anchor="t"/>
          <a:lstStyle/>
          <a:p>
            <a:pPr algn="l" indent="0" marL="0">
              <a:lnSpc>
                <a:spcPct val="120000"/>
              </a:lnSpc>
              <a:buNone/>
            </a:pPr>
            <a:r>
              <a:rPr lang="en-US" sz="1250" i="1" dirty="0">
                <a:solidFill>
                  <a:srgbClr val="5F7178"/>
                </a:solidFill>
                <a:latin typeface="Calibri" pitchFamily="34" charset="0"/>
                <a:ea typeface="Calibri" pitchFamily="34" charset="-122"/>
                <a:cs typeface="Calibri" pitchFamily="34" charset="-120"/>
              </a:rPr>
              <a:t>Kalikan tiap pasang angka yang bertumpang, lalu jumlahkan seluruhnya menjadi satu bilangan.</a:t>
            </a:r>
            <a:endParaRPr lang="en-US" sz="1250" dirty="0"/>
          </a:p>
        </p:txBody>
      </p:sp>
      <p:sp>
        <p:nvSpPr>
          <p:cNvPr id="50" name="Shape 48"/>
          <p:cNvSpPr/>
          <p:nvPr/>
        </p:nvSpPr>
        <p:spPr>
          <a:xfrm>
            <a:off x="6035040" y="1463040"/>
            <a:ext cx="5532120" cy="1298448"/>
          </a:xfrm>
          <a:prstGeom prst="roundRect">
            <a:avLst>
              <a:gd name="adj" fmla="val 6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51" name="Shape 49"/>
          <p:cNvSpPr/>
          <p:nvPr/>
        </p:nvSpPr>
        <p:spPr>
          <a:xfrm>
            <a:off x="6355080" y="1664208"/>
            <a:ext cx="411480" cy="45720"/>
          </a:xfrm>
          <a:prstGeom prst="rect">
            <a:avLst/>
          </a:prstGeom>
          <a:solidFill>
            <a:srgbClr val="D95F6B"/>
          </a:solidFill>
          <a:ln w="12700">
            <a:solidFill>
              <a:srgbClr val="333333"/>
            </a:solidFill>
            <a:prstDash val="solid"/>
          </a:ln>
        </p:spPr>
      </p:sp>
      <p:sp>
        <p:nvSpPr>
          <p:cNvPr id="52" name="Text 50"/>
          <p:cNvSpPr txBox="1"/>
          <p:nvPr/>
        </p:nvSpPr>
        <p:spPr>
          <a:xfrm>
            <a:off x="6355080" y="1792224"/>
            <a:ext cx="4937760" cy="27432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Konvolusi</a:t>
            </a:r>
            <a:endParaRPr lang="en-US" sz="1700" dirty="0"/>
          </a:p>
        </p:txBody>
      </p:sp>
      <p:sp>
        <p:nvSpPr>
          <p:cNvPr id="53" name="Text 51"/>
          <p:cNvSpPr txBox="1"/>
          <p:nvPr/>
        </p:nvSpPr>
        <p:spPr>
          <a:xfrm>
            <a:off x="6355080" y="2084832"/>
            <a:ext cx="4937760" cy="594360"/>
          </a:xfrm>
          <a:prstGeom prst="rect">
            <a:avLst/>
          </a:prstGeom>
          <a:noFill/>
          <a:ln/>
        </p:spPr>
        <p:txBody>
          <a:bodyPr wrap="square" lIns="0" tIns="0" rIns="0" bIns="0" rtlCol="0" anchor="t"/>
          <a:lstStyle/>
          <a:p>
            <a:pPr algn="l" indent="0" marL="0">
              <a:lnSpc>
                <a:spcPct val="122000"/>
              </a:lnSpc>
              <a:buNone/>
            </a:pPr>
            <a:r>
              <a:rPr lang="en-US" sz="1250" dirty="0">
                <a:solidFill>
                  <a:srgbClr val="13272E"/>
                </a:solidFill>
                <a:latin typeface="Calibri" pitchFamily="34" charset="0"/>
                <a:ea typeface="Calibri" pitchFamily="34" charset="-122"/>
                <a:cs typeface="Calibri" pitchFamily="34" charset="-120"/>
              </a:rPr>
              <a:t>Filter kecil digeser ke seluruh bagian citra. Filter yang sama dipakai di mana pun — karena tepi adalah tepi, di sudut mana pun ia berada.</a:t>
            </a:r>
            <a:endParaRPr lang="en-US" sz="1250" dirty="0"/>
          </a:p>
        </p:txBody>
      </p:sp>
      <p:sp>
        <p:nvSpPr>
          <p:cNvPr id="54" name="Shape 52"/>
          <p:cNvSpPr/>
          <p:nvPr/>
        </p:nvSpPr>
        <p:spPr>
          <a:xfrm>
            <a:off x="6035040" y="2926080"/>
            <a:ext cx="5532120" cy="1298448"/>
          </a:xfrm>
          <a:prstGeom prst="roundRect">
            <a:avLst>
              <a:gd name="adj" fmla="val 6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55" name="Shape 53"/>
          <p:cNvSpPr/>
          <p:nvPr/>
        </p:nvSpPr>
        <p:spPr>
          <a:xfrm>
            <a:off x="6355080" y="3127248"/>
            <a:ext cx="411480" cy="45720"/>
          </a:xfrm>
          <a:prstGeom prst="rect">
            <a:avLst/>
          </a:prstGeom>
          <a:solidFill>
            <a:srgbClr val="D95F6B"/>
          </a:solidFill>
          <a:ln w="12700">
            <a:solidFill>
              <a:srgbClr val="333333"/>
            </a:solidFill>
            <a:prstDash val="solid"/>
          </a:ln>
        </p:spPr>
      </p:sp>
      <p:sp>
        <p:nvSpPr>
          <p:cNvPr id="56" name="Text 54"/>
          <p:cNvSpPr txBox="1"/>
          <p:nvPr/>
        </p:nvSpPr>
        <p:spPr>
          <a:xfrm>
            <a:off x="6355080" y="3255264"/>
            <a:ext cx="4937760" cy="27432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Filter</a:t>
            </a:r>
            <a:endParaRPr lang="en-US" sz="1700" dirty="0"/>
          </a:p>
        </p:txBody>
      </p:sp>
      <p:sp>
        <p:nvSpPr>
          <p:cNvPr id="57" name="Text 55"/>
          <p:cNvSpPr txBox="1"/>
          <p:nvPr/>
        </p:nvSpPr>
        <p:spPr>
          <a:xfrm>
            <a:off x="6355080" y="3547872"/>
            <a:ext cx="4937760" cy="594360"/>
          </a:xfrm>
          <a:prstGeom prst="rect">
            <a:avLst/>
          </a:prstGeom>
          <a:noFill/>
          <a:ln/>
        </p:spPr>
        <p:txBody>
          <a:bodyPr wrap="square" lIns="0" tIns="0" rIns="0" bIns="0" rtlCol="0" anchor="t"/>
          <a:lstStyle/>
          <a:p>
            <a:pPr algn="l" indent="0" marL="0">
              <a:lnSpc>
                <a:spcPct val="122000"/>
              </a:lnSpc>
              <a:buNone/>
            </a:pPr>
            <a:r>
              <a:rPr lang="en-US" sz="1250" dirty="0">
                <a:solidFill>
                  <a:srgbClr val="13272E"/>
                </a:solidFill>
                <a:latin typeface="Calibri" pitchFamily="34" charset="0"/>
                <a:ea typeface="Calibri" pitchFamily="34" charset="-122"/>
                <a:cs typeface="Calibri" pitchFamily="34" charset="-120"/>
              </a:rPr>
              <a:t>Isinya tidak ditentukan manusia, melainkan dipelajari model. Lapisan awal menemukan tepi dan warna; lapisan dalam menemukan bentuk dan objek.</a:t>
            </a:r>
            <a:endParaRPr lang="en-US" sz="1250" dirty="0"/>
          </a:p>
        </p:txBody>
      </p:sp>
      <p:sp>
        <p:nvSpPr>
          <p:cNvPr id="58" name="Shape 56"/>
          <p:cNvSpPr/>
          <p:nvPr/>
        </p:nvSpPr>
        <p:spPr>
          <a:xfrm>
            <a:off x="6035040" y="4389120"/>
            <a:ext cx="5532120" cy="1298448"/>
          </a:xfrm>
          <a:prstGeom prst="roundRect">
            <a:avLst>
              <a:gd name="adj" fmla="val 6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59" name="Shape 57"/>
          <p:cNvSpPr/>
          <p:nvPr/>
        </p:nvSpPr>
        <p:spPr>
          <a:xfrm>
            <a:off x="6355080" y="4590288"/>
            <a:ext cx="411480" cy="45720"/>
          </a:xfrm>
          <a:prstGeom prst="rect">
            <a:avLst/>
          </a:prstGeom>
          <a:solidFill>
            <a:srgbClr val="D95F6B"/>
          </a:solidFill>
          <a:ln w="12700">
            <a:solidFill>
              <a:srgbClr val="333333"/>
            </a:solidFill>
            <a:prstDash val="solid"/>
          </a:ln>
        </p:spPr>
      </p:sp>
      <p:sp>
        <p:nvSpPr>
          <p:cNvPr id="60" name="Text 58"/>
          <p:cNvSpPr txBox="1"/>
          <p:nvPr/>
        </p:nvSpPr>
        <p:spPr>
          <a:xfrm>
            <a:off x="6355080" y="4718304"/>
            <a:ext cx="4937760" cy="27432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Pooling</a:t>
            </a:r>
            <a:endParaRPr lang="en-US" sz="1700" dirty="0"/>
          </a:p>
        </p:txBody>
      </p:sp>
      <p:sp>
        <p:nvSpPr>
          <p:cNvPr id="61" name="Text 59"/>
          <p:cNvSpPr txBox="1"/>
          <p:nvPr/>
        </p:nvSpPr>
        <p:spPr>
          <a:xfrm>
            <a:off x="6355080" y="5010912"/>
            <a:ext cx="4937760" cy="594360"/>
          </a:xfrm>
          <a:prstGeom prst="rect">
            <a:avLst/>
          </a:prstGeom>
          <a:noFill/>
          <a:ln/>
        </p:spPr>
        <p:txBody>
          <a:bodyPr wrap="square" lIns="0" tIns="0" rIns="0" bIns="0" rtlCol="0" anchor="t"/>
          <a:lstStyle/>
          <a:p>
            <a:pPr algn="l" indent="0" marL="0">
              <a:lnSpc>
                <a:spcPct val="122000"/>
              </a:lnSpc>
              <a:buNone/>
            </a:pPr>
            <a:r>
              <a:rPr lang="en-US" sz="1250" dirty="0">
                <a:solidFill>
                  <a:srgbClr val="13272E"/>
                </a:solidFill>
                <a:latin typeface="Calibri" pitchFamily="34" charset="0"/>
                <a:ea typeface="Calibri" pitchFamily="34" charset="-122"/>
                <a:cs typeface="Calibri" pitchFamily="34" charset="-120"/>
              </a:rPr>
              <a:t>Meringkas beberapa piksel bertetangga menjadi satu nilai. Ukuran mengecil, dan pergeseran kecil pada objek tidak lagi mengubah hasil.</a:t>
            </a:r>
            <a:endParaRPr lang="en-US" sz="1250" dirty="0"/>
          </a:p>
        </p:txBody>
      </p:sp>
      <p:sp>
        <p:nvSpPr>
          <p:cNvPr id="62" name="Text 60"/>
          <p:cNvSpPr txBox="1"/>
          <p:nvPr/>
        </p:nvSpPr>
        <p:spPr>
          <a:xfrm>
            <a:off x="594360" y="4297680"/>
            <a:ext cx="5120640" cy="822960"/>
          </a:xfrm>
          <a:prstGeom prst="rect">
            <a:avLst/>
          </a:prstGeom>
          <a:noFill/>
          <a:ln/>
        </p:spPr>
        <p:txBody>
          <a:bodyPr wrap="square" lIns="0" tIns="0" rIns="0" bIns="0" rtlCol="0" anchor="t"/>
          <a:lstStyle/>
          <a:p>
            <a:pPr algn="l" indent="0" marL="0">
              <a:lnSpc>
                <a:spcPct val="125000"/>
              </a:lnSpc>
              <a:buNone/>
            </a:pPr>
            <a:r>
              <a:rPr lang="en-US" sz="1250" i="1" dirty="0">
                <a:solidFill>
                  <a:srgbClr val="5F7178"/>
                </a:solidFill>
                <a:latin typeface="Calibri" pitchFamily="34" charset="0"/>
                <a:ea typeface="Calibri" pitchFamily="34" charset="-122"/>
                <a:cs typeface="Calibri" pitchFamily="34" charset="-120"/>
              </a:rPr>
              <a:t>Bandingkan dengan jaringan biasa pertemuan 12: di sana setiap piksel punya bobot sendiri. Citra 200×200 berarti 40.000 bobot hanya untuk satu neuron di lapisan pertama.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374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6FC7D6"/>
                </a:solidFill>
                <a:latin typeface="Calibri" pitchFamily="34" charset="0"/>
                <a:ea typeface="Calibri" pitchFamily="34" charset="-122"/>
                <a:cs typeface="Calibri" pitchFamily="34" charset="-120"/>
              </a:rPr>
              <a:t>UNTUK SEKUENS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Recurrent Neural Network</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94360" y="1188720"/>
            <a:ext cx="11002975" cy="365760"/>
          </a:xfrm>
          <a:prstGeom prst="rect">
            <a:avLst/>
          </a:prstGeom>
          <a:noFill/>
          <a:ln/>
        </p:spPr>
        <p:txBody>
          <a:bodyPr wrap="square" lIns="0" tIns="0" rIns="0" bIns="0" rtlCol="0" anchor="t"/>
          <a:lstStyle/>
          <a:p>
            <a:pPr algn="l" indent="0" marL="0">
              <a:buNone/>
            </a:pPr>
            <a:r>
              <a:rPr lang="en-US" sz="1500" dirty="0">
                <a:solidFill>
                  <a:srgbClr val="C4D3D8"/>
                </a:solidFill>
                <a:latin typeface="Calibri" pitchFamily="34" charset="0"/>
                <a:ea typeface="Calibri" pitchFamily="34" charset="-122"/>
                <a:cs typeface="Calibri" pitchFamily="34" charset="-120"/>
              </a:rPr>
              <a:t>Pada data berurutan — kalimat, catatan keterlambatan harian, sinyal sensor — makna sebuah nilai bergantung pada apa yang mendahuluinya.</a:t>
            </a:r>
            <a:endParaRPr lang="en-US" sz="1500" dirty="0"/>
          </a:p>
        </p:txBody>
      </p:sp>
      <p:sp>
        <p:nvSpPr>
          <p:cNvPr id="6" name="Shape 4"/>
          <p:cNvSpPr/>
          <p:nvPr/>
        </p:nvSpPr>
        <p:spPr>
          <a:xfrm>
            <a:off x="594360" y="1783080"/>
            <a:ext cx="2606040" cy="1234440"/>
          </a:xfrm>
          <a:prstGeom prst="roundRect">
            <a:avLst>
              <a:gd name="adj" fmla="val 666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7" name="Text 5"/>
          <p:cNvSpPr txBox="1"/>
          <p:nvPr/>
        </p:nvSpPr>
        <p:spPr>
          <a:xfrm>
            <a:off x="777240" y="1938528"/>
            <a:ext cx="2240280" cy="256032"/>
          </a:xfrm>
          <a:prstGeom prst="rect">
            <a:avLst/>
          </a:prstGeom>
          <a:noFill/>
          <a:ln/>
        </p:spPr>
        <p:txBody>
          <a:bodyPr wrap="square" lIns="0" tIns="0" rIns="0" bIns="0" rtlCol="0" anchor="t"/>
          <a:lstStyle/>
          <a:p>
            <a:pPr algn="ctr" indent="0" marL="0">
              <a:buNone/>
            </a:pPr>
            <a:r>
              <a:rPr lang="en-US" sz="1150" b="1" dirty="0">
                <a:solidFill>
                  <a:srgbClr val="6FC7D6"/>
                </a:solidFill>
                <a:latin typeface="Calibri" pitchFamily="34" charset="0"/>
                <a:ea typeface="Calibri" pitchFamily="34" charset="-122"/>
                <a:cs typeface="Calibri" pitchFamily="34" charset="-120"/>
              </a:rPr>
              <a:t>t = 1</a:t>
            </a:r>
            <a:endParaRPr lang="en-US" sz="1150" dirty="0"/>
          </a:p>
        </p:txBody>
      </p:sp>
      <p:sp>
        <p:nvSpPr>
          <p:cNvPr id="8" name="Text 6"/>
          <p:cNvSpPr txBox="1"/>
          <p:nvPr/>
        </p:nvSpPr>
        <p:spPr>
          <a:xfrm>
            <a:off x="777240" y="2194560"/>
            <a:ext cx="224028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"bus"</a:t>
            </a:r>
            <a:endParaRPr lang="en-US" sz="1500" dirty="0"/>
          </a:p>
        </p:txBody>
      </p:sp>
      <p:sp>
        <p:nvSpPr>
          <p:cNvPr id="9" name="Text 7"/>
          <p:cNvSpPr txBox="1"/>
          <p:nvPr/>
        </p:nvSpPr>
        <p:spPr>
          <a:xfrm>
            <a:off x="777240" y="2578608"/>
            <a:ext cx="2240280" cy="274320"/>
          </a:xfrm>
          <a:prstGeom prst="rect">
            <a:avLst/>
          </a:prstGeom>
          <a:noFill/>
          <a:ln/>
        </p:spPr>
        <p:txBody>
          <a:bodyPr wrap="square" lIns="0" tIns="0" rIns="0" bIns="0" rtlCol="0" anchor="t"/>
          <a:lstStyle/>
          <a:p>
            <a:pPr algn="ctr" indent="0" marL="0">
              <a:buNone/>
            </a:pPr>
            <a:r>
              <a:rPr lang="en-US" sz="1100" i="1" dirty="0">
                <a:solidFill>
                  <a:srgbClr val="6FA45A"/>
                </a:solidFill>
                <a:latin typeface="Calibri" pitchFamily="34" charset="0"/>
                <a:ea typeface="Calibri" pitchFamily="34" charset="-122"/>
                <a:cs typeface="Calibri" pitchFamily="34" charset="-120"/>
              </a:rPr>
              <a:t>ingatan diperbarui</a:t>
            </a:r>
            <a:endParaRPr lang="en-US" sz="1100" dirty="0"/>
          </a:p>
        </p:txBody>
      </p:sp>
      <p:sp>
        <p:nvSpPr>
          <p:cNvPr id="10" name="Text 8"/>
          <p:cNvSpPr txBox="1"/>
          <p:nvPr/>
        </p:nvSpPr>
        <p:spPr>
          <a:xfrm>
            <a:off x="3218688" y="2194560"/>
            <a:ext cx="219456" cy="457200"/>
          </a:xfrm>
          <a:prstGeom prst="rect">
            <a:avLst/>
          </a:prstGeom>
          <a:noFill/>
          <a:ln/>
        </p:spPr>
        <p:txBody>
          <a:bodyPr wrap="square" lIns="0" tIns="0" rIns="0" bIns="0" rtlCol="0" anchor="ctr"/>
          <a:lstStyle/>
          <a:p>
            <a:pPr algn="ctr" indent="0" marL="0">
              <a:buNone/>
            </a:pPr>
            <a:r>
              <a:rPr lang="en-US" sz="2400" b="1" dirty="0">
                <a:solidFill>
                  <a:srgbClr val="6FA45A"/>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3419856" y="1783080"/>
            <a:ext cx="2606040" cy="1234440"/>
          </a:xfrm>
          <a:prstGeom prst="roundRect">
            <a:avLst>
              <a:gd name="adj" fmla="val 666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2" name="Text 10"/>
          <p:cNvSpPr txBox="1"/>
          <p:nvPr/>
        </p:nvSpPr>
        <p:spPr>
          <a:xfrm>
            <a:off x="3602736" y="1938528"/>
            <a:ext cx="2240280" cy="256032"/>
          </a:xfrm>
          <a:prstGeom prst="rect">
            <a:avLst/>
          </a:prstGeom>
          <a:noFill/>
          <a:ln/>
        </p:spPr>
        <p:txBody>
          <a:bodyPr wrap="square" lIns="0" tIns="0" rIns="0" bIns="0" rtlCol="0" anchor="t"/>
          <a:lstStyle/>
          <a:p>
            <a:pPr algn="ctr" indent="0" marL="0">
              <a:buNone/>
            </a:pPr>
            <a:r>
              <a:rPr lang="en-US" sz="1150" b="1" dirty="0">
                <a:solidFill>
                  <a:srgbClr val="6FC7D6"/>
                </a:solidFill>
                <a:latin typeface="Calibri" pitchFamily="34" charset="0"/>
                <a:ea typeface="Calibri" pitchFamily="34" charset="-122"/>
                <a:cs typeface="Calibri" pitchFamily="34" charset="-120"/>
              </a:rPr>
              <a:t>t = 2</a:t>
            </a:r>
            <a:endParaRPr lang="en-US" sz="1150" dirty="0"/>
          </a:p>
        </p:txBody>
      </p:sp>
      <p:sp>
        <p:nvSpPr>
          <p:cNvPr id="13" name="Text 11"/>
          <p:cNvSpPr txBox="1"/>
          <p:nvPr/>
        </p:nvSpPr>
        <p:spPr>
          <a:xfrm>
            <a:off x="3602736" y="2194560"/>
            <a:ext cx="224028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"sering"</a:t>
            </a:r>
            <a:endParaRPr lang="en-US" sz="1500" dirty="0"/>
          </a:p>
        </p:txBody>
      </p:sp>
      <p:sp>
        <p:nvSpPr>
          <p:cNvPr id="14" name="Text 12"/>
          <p:cNvSpPr txBox="1"/>
          <p:nvPr/>
        </p:nvSpPr>
        <p:spPr>
          <a:xfrm>
            <a:off x="3602736" y="2578608"/>
            <a:ext cx="2240280" cy="274320"/>
          </a:xfrm>
          <a:prstGeom prst="rect">
            <a:avLst/>
          </a:prstGeom>
          <a:noFill/>
          <a:ln/>
        </p:spPr>
        <p:txBody>
          <a:bodyPr wrap="square" lIns="0" tIns="0" rIns="0" bIns="0" rtlCol="0" anchor="t"/>
          <a:lstStyle/>
          <a:p>
            <a:pPr algn="ctr" indent="0" marL="0">
              <a:buNone/>
            </a:pPr>
            <a:r>
              <a:rPr lang="en-US" sz="1100" i="1" dirty="0">
                <a:solidFill>
                  <a:srgbClr val="6FA45A"/>
                </a:solidFill>
                <a:latin typeface="Calibri" pitchFamily="34" charset="0"/>
                <a:ea typeface="Calibri" pitchFamily="34" charset="-122"/>
                <a:cs typeface="Calibri" pitchFamily="34" charset="-120"/>
              </a:rPr>
              <a:t>ingatan diperbarui</a:t>
            </a:r>
            <a:endParaRPr lang="en-US" sz="1100" dirty="0"/>
          </a:p>
        </p:txBody>
      </p:sp>
      <p:sp>
        <p:nvSpPr>
          <p:cNvPr id="15" name="Text 13"/>
          <p:cNvSpPr txBox="1"/>
          <p:nvPr/>
        </p:nvSpPr>
        <p:spPr>
          <a:xfrm>
            <a:off x="6044184" y="2194560"/>
            <a:ext cx="219456" cy="457200"/>
          </a:xfrm>
          <a:prstGeom prst="rect">
            <a:avLst/>
          </a:prstGeom>
          <a:noFill/>
          <a:ln/>
        </p:spPr>
        <p:txBody>
          <a:bodyPr wrap="square" lIns="0" tIns="0" rIns="0" bIns="0" rtlCol="0" anchor="ctr"/>
          <a:lstStyle/>
          <a:p>
            <a:pPr algn="ctr" indent="0" marL="0">
              <a:buNone/>
            </a:pPr>
            <a:r>
              <a:rPr lang="en-US" sz="2400" b="1" dirty="0">
                <a:solidFill>
                  <a:srgbClr val="6FA45A"/>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245352" y="1783080"/>
            <a:ext cx="2606040" cy="1234440"/>
          </a:xfrm>
          <a:prstGeom prst="roundRect">
            <a:avLst>
              <a:gd name="adj" fmla="val 666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7" name="Text 15"/>
          <p:cNvSpPr txBox="1"/>
          <p:nvPr/>
        </p:nvSpPr>
        <p:spPr>
          <a:xfrm>
            <a:off x="6428232" y="1938528"/>
            <a:ext cx="2240280" cy="256032"/>
          </a:xfrm>
          <a:prstGeom prst="rect">
            <a:avLst/>
          </a:prstGeom>
          <a:noFill/>
          <a:ln/>
        </p:spPr>
        <p:txBody>
          <a:bodyPr wrap="square" lIns="0" tIns="0" rIns="0" bIns="0" rtlCol="0" anchor="t"/>
          <a:lstStyle/>
          <a:p>
            <a:pPr algn="ctr" indent="0" marL="0">
              <a:buNone/>
            </a:pPr>
            <a:r>
              <a:rPr lang="en-US" sz="1150" b="1" dirty="0">
                <a:solidFill>
                  <a:srgbClr val="6FC7D6"/>
                </a:solidFill>
                <a:latin typeface="Calibri" pitchFamily="34" charset="0"/>
                <a:ea typeface="Calibri" pitchFamily="34" charset="-122"/>
                <a:cs typeface="Calibri" pitchFamily="34" charset="-120"/>
              </a:rPr>
              <a:t>t = 3</a:t>
            </a:r>
            <a:endParaRPr lang="en-US" sz="1150" dirty="0"/>
          </a:p>
        </p:txBody>
      </p:sp>
      <p:sp>
        <p:nvSpPr>
          <p:cNvPr id="18" name="Text 16"/>
          <p:cNvSpPr txBox="1"/>
          <p:nvPr/>
        </p:nvSpPr>
        <p:spPr>
          <a:xfrm>
            <a:off x="6428232" y="2194560"/>
            <a:ext cx="224028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"sekali"</a:t>
            </a:r>
            <a:endParaRPr lang="en-US" sz="1500" dirty="0"/>
          </a:p>
        </p:txBody>
      </p:sp>
      <p:sp>
        <p:nvSpPr>
          <p:cNvPr id="19" name="Text 17"/>
          <p:cNvSpPr txBox="1"/>
          <p:nvPr/>
        </p:nvSpPr>
        <p:spPr>
          <a:xfrm>
            <a:off x="6428232" y="2578608"/>
            <a:ext cx="2240280" cy="274320"/>
          </a:xfrm>
          <a:prstGeom prst="rect">
            <a:avLst/>
          </a:prstGeom>
          <a:noFill/>
          <a:ln/>
        </p:spPr>
        <p:txBody>
          <a:bodyPr wrap="square" lIns="0" tIns="0" rIns="0" bIns="0" rtlCol="0" anchor="t"/>
          <a:lstStyle/>
          <a:p>
            <a:pPr algn="ctr" indent="0" marL="0">
              <a:buNone/>
            </a:pPr>
            <a:r>
              <a:rPr lang="en-US" sz="1100" i="1" dirty="0">
                <a:solidFill>
                  <a:srgbClr val="6FA45A"/>
                </a:solidFill>
                <a:latin typeface="Calibri" pitchFamily="34" charset="0"/>
                <a:ea typeface="Calibri" pitchFamily="34" charset="-122"/>
                <a:cs typeface="Calibri" pitchFamily="34" charset="-120"/>
              </a:rPr>
              <a:t>ingatan diperbarui</a:t>
            </a:r>
            <a:endParaRPr lang="en-US" sz="1100" dirty="0"/>
          </a:p>
        </p:txBody>
      </p:sp>
      <p:sp>
        <p:nvSpPr>
          <p:cNvPr id="20" name="Text 18"/>
          <p:cNvSpPr txBox="1"/>
          <p:nvPr/>
        </p:nvSpPr>
        <p:spPr>
          <a:xfrm>
            <a:off x="8869680" y="2194560"/>
            <a:ext cx="219456" cy="457200"/>
          </a:xfrm>
          <a:prstGeom prst="rect">
            <a:avLst/>
          </a:prstGeom>
          <a:noFill/>
          <a:ln/>
        </p:spPr>
        <p:txBody>
          <a:bodyPr wrap="square" lIns="0" tIns="0" rIns="0" bIns="0" rtlCol="0" anchor="ctr"/>
          <a:lstStyle/>
          <a:p>
            <a:pPr algn="ctr" indent="0" marL="0">
              <a:buNone/>
            </a:pPr>
            <a:r>
              <a:rPr lang="en-US" sz="2400" b="1" dirty="0">
                <a:solidFill>
                  <a:srgbClr val="6FA45A"/>
                </a:solidFill>
                <a:latin typeface="Calibri" pitchFamily="34" charset="0"/>
                <a:ea typeface="Calibri" pitchFamily="34" charset="-122"/>
                <a:cs typeface="Calibri" pitchFamily="34" charset="-120"/>
              </a:rPr>
              <a:t>›</a:t>
            </a:r>
            <a:endParaRPr lang="en-US" sz="2400" dirty="0"/>
          </a:p>
        </p:txBody>
      </p:sp>
      <p:sp>
        <p:nvSpPr>
          <p:cNvPr id="21" name="Shape 19"/>
          <p:cNvSpPr/>
          <p:nvPr/>
        </p:nvSpPr>
        <p:spPr>
          <a:xfrm>
            <a:off x="9070848" y="1783080"/>
            <a:ext cx="2606040" cy="1234440"/>
          </a:xfrm>
          <a:prstGeom prst="roundRect">
            <a:avLst>
              <a:gd name="adj" fmla="val 666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2" name="Text 20"/>
          <p:cNvSpPr txBox="1"/>
          <p:nvPr/>
        </p:nvSpPr>
        <p:spPr>
          <a:xfrm>
            <a:off x="9253728" y="1938528"/>
            <a:ext cx="2240280" cy="256032"/>
          </a:xfrm>
          <a:prstGeom prst="rect">
            <a:avLst/>
          </a:prstGeom>
          <a:noFill/>
          <a:ln/>
        </p:spPr>
        <p:txBody>
          <a:bodyPr wrap="square" lIns="0" tIns="0" rIns="0" bIns="0" rtlCol="0" anchor="t"/>
          <a:lstStyle/>
          <a:p>
            <a:pPr algn="ctr" indent="0" marL="0">
              <a:buNone/>
            </a:pPr>
            <a:r>
              <a:rPr lang="en-US" sz="1150" b="1" dirty="0">
                <a:solidFill>
                  <a:srgbClr val="6FC7D6"/>
                </a:solidFill>
                <a:latin typeface="Calibri" pitchFamily="34" charset="0"/>
                <a:ea typeface="Calibri" pitchFamily="34" charset="-122"/>
                <a:cs typeface="Calibri" pitchFamily="34" charset="-120"/>
              </a:rPr>
              <a:t>t = 4</a:t>
            </a:r>
            <a:endParaRPr lang="en-US" sz="1150" dirty="0"/>
          </a:p>
        </p:txBody>
      </p:sp>
      <p:sp>
        <p:nvSpPr>
          <p:cNvPr id="23" name="Text 21"/>
          <p:cNvSpPr txBox="1"/>
          <p:nvPr/>
        </p:nvSpPr>
        <p:spPr>
          <a:xfrm>
            <a:off x="9253728" y="2194560"/>
            <a:ext cx="2240280" cy="320040"/>
          </a:xfrm>
          <a:prstGeom prst="rect">
            <a:avLst/>
          </a:prstGeom>
          <a:noFill/>
          <a:ln/>
        </p:spPr>
        <p:txBody>
          <a:bodyPr wrap="square" lIns="0" tIns="0" rIns="0" bIns="0" rtlCol="0" anchor="t"/>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"terlambat"</a:t>
            </a:r>
            <a:endParaRPr lang="en-US" sz="1500" dirty="0"/>
          </a:p>
        </p:txBody>
      </p:sp>
      <p:sp>
        <p:nvSpPr>
          <p:cNvPr id="24" name="Text 22"/>
          <p:cNvSpPr txBox="1"/>
          <p:nvPr/>
        </p:nvSpPr>
        <p:spPr>
          <a:xfrm>
            <a:off x="9253728" y="2578608"/>
            <a:ext cx="2240280" cy="274320"/>
          </a:xfrm>
          <a:prstGeom prst="rect">
            <a:avLst/>
          </a:prstGeom>
          <a:noFill/>
          <a:ln/>
        </p:spPr>
        <p:txBody>
          <a:bodyPr wrap="square" lIns="0" tIns="0" rIns="0" bIns="0" rtlCol="0" anchor="t"/>
          <a:lstStyle/>
          <a:p>
            <a:pPr algn="ctr" indent="0" marL="0">
              <a:buNone/>
            </a:pPr>
            <a:r>
              <a:rPr lang="en-US" sz="1100" i="1" dirty="0">
                <a:solidFill>
                  <a:srgbClr val="6FA45A"/>
                </a:solidFill>
                <a:latin typeface="Calibri" pitchFamily="34" charset="0"/>
                <a:ea typeface="Calibri" pitchFamily="34" charset="-122"/>
                <a:cs typeface="Calibri" pitchFamily="34" charset="-120"/>
              </a:rPr>
              <a:t>ingatan diperbarui</a:t>
            </a:r>
            <a:endParaRPr lang="en-US" sz="1100" dirty="0"/>
          </a:p>
        </p:txBody>
      </p:sp>
      <p:sp>
        <p:nvSpPr>
          <p:cNvPr id="25" name="Shape 23"/>
          <p:cNvSpPr/>
          <p:nvPr/>
        </p:nvSpPr>
        <p:spPr>
          <a:xfrm>
            <a:off x="594360" y="3291840"/>
            <a:ext cx="5303520" cy="1645920"/>
          </a:xfrm>
          <a:prstGeom prst="roundRect">
            <a:avLst>
              <a:gd name="adj" fmla="val 5000"/>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6" name="Shape 24"/>
          <p:cNvSpPr/>
          <p:nvPr/>
        </p:nvSpPr>
        <p:spPr>
          <a:xfrm>
            <a:off x="960120" y="3520440"/>
            <a:ext cx="457200" cy="45720"/>
          </a:xfrm>
          <a:prstGeom prst="rect">
            <a:avLst/>
          </a:prstGeom>
          <a:solidFill>
            <a:srgbClr val="6FA45A"/>
          </a:solidFill>
          <a:ln w="12700">
            <a:solidFill>
              <a:srgbClr val="333333"/>
            </a:solidFill>
            <a:prstDash val="solid"/>
          </a:ln>
        </p:spPr>
      </p:sp>
      <p:sp>
        <p:nvSpPr>
          <p:cNvPr id="27" name="Text 25"/>
          <p:cNvSpPr txBox="1"/>
          <p:nvPr/>
        </p:nvSpPr>
        <p:spPr>
          <a:xfrm>
            <a:off x="960120" y="3657600"/>
            <a:ext cx="4572000" cy="320040"/>
          </a:xfrm>
          <a:prstGeom prst="rect">
            <a:avLst/>
          </a:prstGeom>
          <a:noFill/>
          <a:ln/>
        </p:spPr>
        <p:txBody>
          <a:bodyPr wrap="square" lIns="0" tIns="0" rIns="0" bIns="0" rtlCol="0" anchor="t"/>
          <a:lstStyle/>
          <a:p>
            <a:pPr algn="l" indent="0" marL="0">
              <a:buNone/>
            </a:pPr>
            <a:r>
              <a:rPr lang="en-US" sz="1800" b="1" dirty="0">
                <a:solidFill>
                  <a:srgbClr val="6FA45A"/>
                </a:solidFill>
                <a:latin typeface="Cambria" pitchFamily="34" charset="0"/>
                <a:ea typeface="Cambria" pitchFamily="34" charset="-122"/>
                <a:cs typeface="Cambria" pitchFamily="34" charset="-120"/>
              </a:rPr>
              <a:t>Rekurensi</a:t>
            </a:r>
            <a:endParaRPr lang="en-US" sz="1800" dirty="0"/>
          </a:p>
        </p:txBody>
      </p:sp>
      <p:sp>
        <p:nvSpPr>
          <p:cNvPr id="28" name="Text 26"/>
          <p:cNvSpPr txBox="1"/>
          <p:nvPr/>
        </p:nvSpPr>
        <p:spPr>
          <a:xfrm>
            <a:off x="960120" y="4023360"/>
            <a:ext cx="4572000" cy="822960"/>
          </a:xfrm>
          <a:prstGeom prst="rect">
            <a:avLst/>
          </a:prstGeom>
          <a:noFill/>
          <a:ln/>
        </p:spPr>
        <p:txBody>
          <a:bodyPr wrap="square" lIns="0" tIns="0" rIns="0" bIns="0" rtlCol="0" anchor="t"/>
          <a:lstStyle/>
          <a:p>
            <a:pPr algn="l" indent="0" marL="0">
              <a:lnSpc>
                <a:spcPct val="128000"/>
              </a:lnSpc>
              <a:buNone/>
            </a:pPr>
            <a:r>
              <a:rPr lang="en-US" sz="1350" dirty="0">
                <a:solidFill>
                  <a:srgbClr val="FFFFFF"/>
                </a:solidFill>
                <a:latin typeface="Calibri" pitchFamily="34" charset="0"/>
                <a:ea typeface="Calibri" pitchFamily="34" charset="-122"/>
                <a:cs typeface="Calibri" pitchFamily="34" charset="-120"/>
              </a:rPr>
              <a:t>Keluaran langkah sebelumnya ikut menjadi masukan langkah berikutnya. Jaringan membawa ringkasan dari semua yang sudah dilihat.</a:t>
            </a:r>
            <a:endParaRPr lang="en-US" sz="1350" dirty="0"/>
          </a:p>
        </p:txBody>
      </p:sp>
      <p:sp>
        <p:nvSpPr>
          <p:cNvPr id="29" name="Shape 27"/>
          <p:cNvSpPr/>
          <p:nvPr/>
        </p:nvSpPr>
        <p:spPr>
          <a:xfrm>
            <a:off x="6263640" y="3291840"/>
            <a:ext cx="5303520" cy="1645920"/>
          </a:xfrm>
          <a:prstGeom prst="roundRect">
            <a:avLst>
              <a:gd name="adj" fmla="val 5000"/>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30" name="Shape 28"/>
          <p:cNvSpPr/>
          <p:nvPr/>
        </p:nvSpPr>
        <p:spPr>
          <a:xfrm>
            <a:off x="6629400" y="3520440"/>
            <a:ext cx="457200" cy="45720"/>
          </a:xfrm>
          <a:prstGeom prst="rect">
            <a:avLst/>
          </a:prstGeom>
          <a:solidFill>
            <a:srgbClr val="D95F6B"/>
          </a:solidFill>
          <a:ln w="12700">
            <a:solidFill>
              <a:srgbClr val="333333"/>
            </a:solidFill>
            <a:prstDash val="solid"/>
          </a:ln>
        </p:spPr>
      </p:sp>
      <p:sp>
        <p:nvSpPr>
          <p:cNvPr id="31" name="Text 29"/>
          <p:cNvSpPr txBox="1"/>
          <p:nvPr/>
        </p:nvSpPr>
        <p:spPr>
          <a:xfrm>
            <a:off x="6629400" y="3657600"/>
            <a:ext cx="4572000" cy="320040"/>
          </a:xfrm>
          <a:prstGeom prst="rect">
            <a:avLst/>
          </a:prstGeom>
          <a:noFill/>
          <a:ln/>
        </p:spPr>
        <p:txBody>
          <a:bodyPr wrap="square" lIns="0" tIns="0" rIns="0" bIns="0" rtlCol="0" anchor="t"/>
          <a:lstStyle/>
          <a:p>
            <a:pPr algn="l" indent="0" marL="0">
              <a:buNone/>
            </a:pPr>
            <a:r>
              <a:rPr lang="en-US" sz="1800" b="1" dirty="0">
                <a:solidFill>
                  <a:srgbClr val="D95F6B"/>
                </a:solidFill>
                <a:latin typeface="Cambria" pitchFamily="34" charset="0"/>
                <a:ea typeface="Cambria" pitchFamily="34" charset="-122"/>
                <a:cs typeface="Cambria" pitchFamily="34" charset="-120"/>
              </a:rPr>
              <a:t>Dependensi jangka panjang</a:t>
            </a:r>
            <a:endParaRPr lang="en-US" sz="1800" dirty="0"/>
          </a:p>
        </p:txBody>
      </p:sp>
      <p:sp>
        <p:nvSpPr>
          <p:cNvPr id="32" name="Text 30"/>
          <p:cNvSpPr txBox="1"/>
          <p:nvPr/>
        </p:nvSpPr>
        <p:spPr>
          <a:xfrm>
            <a:off x="6629400" y="4023360"/>
            <a:ext cx="4572000" cy="822960"/>
          </a:xfrm>
          <a:prstGeom prst="rect">
            <a:avLst/>
          </a:prstGeom>
          <a:noFill/>
          <a:ln/>
        </p:spPr>
        <p:txBody>
          <a:bodyPr wrap="square" lIns="0" tIns="0" rIns="0" bIns="0" rtlCol="0" anchor="t"/>
          <a:lstStyle/>
          <a:p>
            <a:pPr algn="l" indent="0" marL="0">
              <a:lnSpc>
                <a:spcPct val="128000"/>
              </a:lnSpc>
              <a:buNone/>
            </a:pPr>
            <a:r>
              <a:rPr lang="en-US" sz="1350" dirty="0">
                <a:solidFill>
                  <a:srgbClr val="FFFFFF"/>
                </a:solidFill>
                <a:latin typeface="Calibri" pitchFamily="34" charset="0"/>
                <a:ea typeface="Calibri" pitchFamily="34" charset="-122"/>
                <a:cs typeface="Calibri" pitchFamily="34" charset="-120"/>
              </a:rPr>
              <a:t>Semakin panjang jarak antara dua kata yang saling berkaitan, semakin kecil gradien yang sampai ke belakang — dan ingatan awal memudar.</a:t>
            </a:r>
            <a:endParaRPr lang="en-US" sz="1350" dirty="0"/>
          </a:p>
        </p:txBody>
      </p:sp>
      <p:sp>
        <p:nvSpPr>
          <p:cNvPr id="33" name="Shape 31"/>
          <p:cNvSpPr/>
          <p:nvPr/>
        </p:nvSpPr>
        <p:spPr>
          <a:xfrm>
            <a:off x="594360" y="5120640"/>
            <a:ext cx="11002975" cy="777240"/>
          </a:xfrm>
          <a:prstGeom prst="roundRect">
            <a:avLst>
              <a:gd name="adj" fmla="val 1058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34" name="Text 32"/>
          <p:cNvSpPr txBox="1"/>
          <p:nvPr/>
        </p:nvSpPr>
        <p:spPr>
          <a:xfrm>
            <a:off x="1005840" y="5303520"/>
            <a:ext cx="10180015" cy="457200"/>
          </a:xfrm>
          <a:prstGeom prst="rect">
            <a:avLst/>
          </a:prstGeom>
          <a:noFill/>
          <a:ln/>
        </p:spPr>
        <p:txBody>
          <a:bodyPr wrap="square" lIns="0" tIns="0" rIns="0" bIns="0" rtlCol="0" anchor="t"/>
          <a:lstStyle/>
          <a:p>
            <a:pPr algn="l" indent="0" marL="0">
              <a:lnSpc>
                <a:spcPct val="120000"/>
              </a:lnSpc>
              <a:buNone/>
            </a:pPr>
            <a:r>
              <a:rPr lang="en-US" sz="1350" dirty="0">
                <a:solidFill>
                  <a:srgbClr val="C4D3D8"/>
                </a:solidFill>
                <a:latin typeface="Calibri" pitchFamily="34" charset="0"/>
                <a:ea typeface="Calibri" pitchFamily="34" charset="-122"/>
                <a:cs typeface="Calibri" pitchFamily="34" charset="-120"/>
              </a:rPr>
              <a:t>LSTM dan GRU adalah perbaikan RNN yang menambahkan gerbang untuk memilih apa yang diingat dan apa yang dilupakan — tetapi masalah dasarnya tidak pernah benar-benar hilang.</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8F72CC"/>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D9922E"/>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BAGIAN 3</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Transformer dan</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Large Language Model</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4C7CD"/>
                </a:solidFill>
                <a:latin typeface="Calibri" pitchFamily="34" charset="0"/>
                <a:ea typeface="Calibri" pitchFamily="34" charset="-122"/>
                <a:cs typeface="Calibri" pitchFamily="34" charset="-120"/>
              </a:rPr>
              <a:t>Ketika urutan tidak lagi harus diproses satu per satu</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GAGASAN INTI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Attention: melihat seluruh kalimat sekaligus</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94360" y="1234440"/>
            <a:ext cx="5577840" cy="1874520"/>
          </a:xfrm>
          <a:prstGeom prst="roundRect">
            <a:avLst>
              <a:gd name="adj" fmla="val 4390"/>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6" name="Text 4"/>
          <p:cNvSpPr txBox="1"/>
          <p:nvPr/>
        </p:nvSpPr>
        <p:spPr>
          <a:xfrm>
            <a:off x="960120" y="1481328"/>
            <a:ext cx="4846320" cy="1371600"/>
          </a:xfrm>
          <a:prstGeom prst="rect">
            <a:avLst/>
          </a:prstGeom>
          <a:noFill/>
          <a:ln/>
        </p:spPr>
        <p:txBody>
          <a:bodyPr wrap="square" lIns="0" tIns="0" rIns="0" bIns="0" rtlCol="0" anchor="t"/>
          <a:lstStyle/>
          <a:p>
            <a:pPr algn="l" indent="0" marL="0">
              <a:lnSpc>
                <a:spcPct val="130000"/>
              </a:lnSpc>
              <a:buNone/>
            </a:pPr>
            <a:r>
              <a:rPr lang="en-US" sz="1450" dirty="0">
                <a:solidFill>
                  <a:srgbClr val="FFFFFF"/>
                </a:solidFill>
                <a:latin typeface="Calibri" pitchFamily="34" charset="0"/>
                <a:ea typeface="Calibri" pitchFamily="34" charset="-122"/>
                <a:cs typeface="Calibri" pitchFamily="34" charset="-120"/>
              </a:rPr>
              <a:t>RNN membaca kata satu per satu dan harus memampatkan semuanya ke dalam satu ingatan. Transformer melihat seluruh kalimat sekaligus, lalu untuk tiap kata menentukan kata lain mana yang paling relevan baginya.</a:t>
            </a:r>
            <a:endParaRPr lang="en-US" sz="1450" dirty="0"/>
          </a:p>
        </p:txBody>
      </p:sp>
      <p:sp>
        <p:nvSpPr>
          <p:cNvPr id="7" name="Shape 5"/>
          <p:cNvSpPr/>
          <p:nvPr/>
        </p:nvSpPr>
        <p:spPr>
          <a:xfrm>
            <a:off x="6537960" y="1234440"/>
            <a:ext cx="5029200" cy="1874520"/>
          </a:xfrm>
          <a:prstGeom prst="roundRect">
            <a:avLst>
              <a:gd name="adj" fmla="val 4390"/>
            </a:avLst>
          </a:prstGeom>
          <a:solidFill>
            <a:srgbClr val="F0EBF9"/>
          </a:solidFill>
          <a:ln w="12700">
            <a:solidFill>
              <a:srgbClr val="D9CDEF"/>
            </a:solidFill>
            <a:prstDash val="solid"/>
          </a:ln>
          <a:effectLst>
            <a:outerShdw sx="100000" sy="100000" kx="0" ky="0" algn="bl" rotWithShape="0" blurRad="101600" dist="508" dir="5400000">
              <a:srgbClr val="A9BABF">
                <a:alpha val="30000"/>
              </a:srgbClr>
            </a:outerShdw>
          </a:effectLst>
        </p:spPr>
      </p:sp>
      <p:sp>
        <p:nvSpPr>
          <p:cNvPr id="8" name="Text 6"/>
          <p:cNvSpPr txBox="1"/>
          <p:nvPr/>
        </p:nvSpPr>
        <p:spPr>
          <a:xfrm>
            <a:off x="6858000" y="1417320"/>
            <a:ext cx="4389120" cy="274320"/>
          </a:xfrm>
          <a:prstGeom prst="rect">
            <a:avLst/>
          </a:prstGeom>
          <a:noFill/>
          <a:ln/>
        </p:spPr>
        <p:txBody>
          <a:bodyPr wrap="square" lIns="0" tIns="0" rIns="0" bIns="0" rtlCol="0" anchor="t"/>
          <a:lstStyle/>
          <a:p>
            <a:pPr algn="l" indent="0" marL="0">
              <a:buNone/>
            </a:pPr>
            <a:r>
              <a:rPr lang="en-US" sz="1600" b="1" dirty="0">
                <a:solidFill>
                  <a:srgbClr val="5A4489"/>
                </a:solidFill>
                <a:latin typeface="Cambria" pitchFamily="34" charset="0"/>
                <a:ea typeface="Cambria" pitchFamily="34" charset="-122"/>
                <a:cs typeface="Cambria" pitchFamily="34" charset="-120"/>
              </a:rPr>
              <a:t>Contoh</a:t>
            </a:r>
            <a:endParaRPr lang="en-US" sz="1600" dirty="0"/>
          </a:p>
        </p:txBody>
      </p:sp>
      <p:sp>
        <p:nvSpPr>
          <p:cNvPr id="9" name="Text 7"/>
          <p:cNvSpPr txBox="1"/>
          <p:nvPr/>
        </p:nvSpPr>
        <p:spPr>
          <a:xfrm>
            <a:off x="6858000" y="1719072"/>
            <a:ext cx="4389120" cy="292608"/>
          </a:xfrm>
          <a:prstGeom prst="rect">
            <a:avLst/>
          </a:prstGeom>
          <a:noFill/>
          <a:ln/>
        </p:spPr>
        <p:txBody>
          <a:bodyPr wrap="square" lIns="0" tIns="0" rIns="0" bIns="0" rtlCol="0" anchor="t"/>
          <a:lstStyle/>
          <a:p>
            <a:pPr algn="l" indent="0" marL="0">
              <a:buNone/>
            </a:pPr>
            <a:r>
              <a:rPr lang="en-US" sz="1300" b="1" dirty="0">
                <a:solidFill>
                  <a:srgbClr val="5A4489"/>
                </a:solidFill>
                <a:latin typeface="Courier New" pitchFamily="34" charset="0"/>
                <a:ea typeface="Courier New" pitchFamily="34" charset="-122"/>
                <a:cs typeface="Courier New" pitchFamily="34" charset="-120"/>
              </a:rPr>
              <a:t>"Bus itu terlambat karena ia mogok"</a:t>
            </a:r>
            <a:endParaRPr lang="en-US" sz="1300" dirty="0"/>
          </a:p>
        </p:txBody>
      </p:sp>
      <p:sp>
        <p:nvSpPr>
          <p:cNvPr id="10" name="Text 8"/>
          <p:cNvSpPr txBox="1"/>
          <p:nvPr/>
        </p:nvSpPr>
        <p:spPr>
          <a:xfrm>
            <a:off x="6858000" y="2103120"/>
            <a:ext cx="4389120" cy="868680"/>
          </a:xfrm>
          <a:prstGeom prst="rect">
            <a:avLst/>
          </a:prstGeom>
          <a:noFill/>
          <a:ln/>
        </p:spPr>
        <p:txBody>
          <a:bodyPr wrap="square" lIns="0" tIns="0" rIns="0" bIns="0" rtlCol="0" anchor="t"/>
          <a:lstStyle/>
          <a:p>
            <a:pPr algn="l" indent="0" marL="0">
              <a:lnSpc>
                <a:spcPct val="128000"/>
              </a:lnSpc>
              <a:buNone/>
            </a:pPr>
            <a:r>
              <a:rPr lang="en-US" sz="1300" dirty="0">
                <a:solidFill>
                  <a:srgbClr val="5A4489"/>
                </a:solidFill>
                <a:latin typeface="Calibri" pitchFamily="34" charset="0"/>
                <a:ea typeface="Calibri" pitchFamily="34" charset="-122"/>
                <a:cs typeface="Calibri" pitchFamily="34" charset="-120"/>
              </a:rPr>
              <a:t>Untuk memahami kata "ia", model harus menoleh jauh ke belakang menuju kata "bus". Attention memungkinkan hal itu dalam satu langkah, bukan melalui rantai ingatan.</a:t>
            </a:r>
            <a:endParaRPr lang="en-US" sz="1300" dirty="0"/>
          </a:p>
        </p:txBody>
      </p:sp>
      <p:sp>
        <p:nvSpPr>
          <p:cNvPr id="11" name="Shape 9"/>
          <p:cNvSpPr/>
          <p:nvPr/>
        </p:nvSpPr>
        <p:spPr>
          <a:xfrm>
            <a:off x="594360" y="3337560"/>
            <a:ext cx="2606040" cy="1874520"/>
          </a:xfrm>
          <a:prstGeom prst="roundRect">
            <a:avLst>
              <a:gd name="adj" fmla="val 4390"/>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2" name="Shape 10"/>
          <p:cNvSpPr/>
          <p:nvPr/>
        </p:nvSpPr>
        <p:spPr>
          <a:xfrm>
            <a:off x="1627632" y="3566160"/>
            <a:ext cx="548640" cy="548640"/>
          </a:xfrm>
          <a:prstGeom prst="ellipse">
            <a:avLst/>
          </a:prstGeom>
          <a:solidFill>
            <a:srgbClr val="D9922E"/>
          </a:solidFill>
          <a:ln w="12700">
            <a:solidFill>
              <a:srgbClr val="333333"/>
            </a:solidFill>
            <a:prstDash val="solid"/>
          </a:ln>
        </p:spPr>
      </p:sp>
      <p:sp>
        <p:nvSpPr>
          <p:cNvPr id="13" name="Text 11"/>
          <p:cNvSpPr txBox="1"/>
          <p:nvPr/>
        </p:nvSpPr>
        <p:spPr>
          <a:xfrm>
            <a:off x="1627632" y="35661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4" name="Text 12"/>
          <p:cNvSpPr txBox="1"/>
          <p:nvPr/>
        </p:nvSpPr>
        <p:spPr>
          <a:xfrm>
            <a:off x="777240" y="4224528"/>
            <a:ext cx="2240280" cy="274320"/>
          </a:xfrm>
          <a:prstGeom prst="rect">
            <a:avLst/>
          </a:prstGeom>
          <a:noFill/>
          <a:ln/>
        </p:spPr>
        <p:txBody>
          <a:bodyPr wrap="square" lIns="0" tIns="0" rIns="0" bIns="0" rtlCol="0" anchor="t"/>
          <a:lstStyle/>
          <a:p>
            <a:pPr algn="ctr" indent="0" marL="0">
              <a:buNone/>
            </a:pPr>
            <a:r>
              <a:rPr lang="en-US" sz="1500" b="1" dirty="0">
                <a:solidFill>
                  <a:srgbClr val="0F3743"/>
                </a:solidFill>
                <a:latin typeface="Cambria" pitchFamily="34" charset="0"/>
                <a:ea typeface="Cambria" pitchFamily="34" charset="-122"/>
                <a:cs typeface="Cambria" pitchFamily="34" charset="-120"/>
              </a:rPr>
              <a:t>Tokenisasi</a:t>
            </a:r>
            <a:endParaRPr lang="en-US" sz="1500" dirty="0"/>
          </a:p>
        </p:txBody>
      </p:sp>
      <p:sp>
        <p:nvSpPr>
          <p:cNvPr id="15" name="Text 13"/>
          <p:cNvSpPr txBox="1"/>
          <p:nvPr/>
        </p:nvSpPr>
        <p:spPr>
          <a:xfrm>
            <a:off x="777240" y="4553712"/>
            <a:ext cx="2240280" cy="594360"/>
          </a:xfrm>
          <a:prstGeom prst="rect">
            <a:avLst/>
          </a:prstGeom>
          <a:noFill/>
          <a:ln/>
        </p:spPr>
        <p:txBody>
          <a:bodyPr wrap="square" lIns="0" tIns="0" rIns="0" bIns="0" rtlCol="0" anchor="t"/>
          <a:lstStyle/>
          <a:p>
            <a:pPr algn="ctr" indent="0" marL="0">
              <a:lnSpc>
                <a:spcPct val="122000"/>
              </a:lnSpc>
              <a:buNone/>
            </a:pPr>
            <a:r>
              <a:rPr lang="en-US" sz="1150" dirty="0">
                <a:solidFill>
                  <a:srgbClr val="13272E"/>
                </a:solidFill>
                <a:latin typeface="Calibri" pitchFamily="34" charset="0"/>
                <a:ea typeface="Calibri" pitchFamily="34" charset="-122"/>
                <a:cs typeface="Calibri" pitchFamily="34" charset="-120"/>
              </a:rPr>
              <a:t>Teks dipecah menjadi token, lalu tiap token diubah menjadi vektor embedding.</a:t>
            </a:r>
            <a:endParaRPr lang="en-US" sz="1150" dirty="0"/>
          </a:p>
        </p:txBody>
      </p:sp>
      <p:sp>
        <p:nvSpPr>
          <p:cNvPr id="16" name="Shape 14"/>
          <p:cNvSpPr/>
          <p:nvPr/>
        </p:nvSpPr>
        <p:spPr>
          <a:xfrm>
            <a:off x="3419856" y="3337560"/>
            <a:ext cx="2606040" cy="1874520"/>
          </a:xfrm>
          <a:prstGeom prst="roundRect">
            <a:avLst>
              <a:gd name="adj" fmla="val 4390"/>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7" name="Shape 15"/>
          <p:cNvSpPr/>
          <p:nvPr/>
        </p:nvSpPr>
        <p:spPr>
          <a:xfrm>
            <a:off x="4453128" y="3566160"/>
            <a:ext cx="548640" cy="548640"/>
          </a:xfrm>
          <a:prstGeom prst="ellipse">
            <a:avLst/>
          </a:prstGeom>
          <a:solidFill>
            <a:srgbClr val="8F72CC"/>
          </a:solidFill>
          <a:ln w="12700">
            <a:solidFill>
              <a:srgbClr val="333333"/>
            </a:solidFill>
            <a:prstDash val="solid"/>
          </a:ln>
        </p:spPr>
      </p:sp>
      <p:sp>
        <p:nvSpPr>
          <p:cNvPr id="18" name="Text 16"/>
          <p:cNvSpPr txBox="1"/>
          <p:nvPr/>
        </p:nvSpPr>
        <p:spPr>
          <a:xfrm>
            <a:off x="4453128" y="35661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9" name="Text 17"/>
          <p:cNvSpPr txBox="1"/>
          <p:nvPr/>
        </p:nvSpPr>
        <p:spPr>
          <a:xfrm>
            <a:off x="3602736" y="4224528"/>
            <a:ext cx="2240280" cy="274320"/>
          </a:xfrm>
          <a:prstGeom prst="rect">
            <a:avLst/>
          </a:prstGeom>
          <a:noFill/>
          <a:ln/>
        </p:spPr>
        <p:txBody>
          <a:bodyPr wrap="square" lIns="0" tIns="0" rIns="0" bIns="0" rtlCol="0" anchor="t"/>
          <a:lstStyle/>
          <a:p>
            <a:pPr algn="ctr" indent="0" marL="0">
              <a:buNone/>
            </a:pPr>
            <a:r>
              <a:rPr lang="en-US" sz="1500" b="1" dirty="0">
                <a:solidFill>
                  <a:srgbClr val="0F3743"/>
                </a:solidFill>
                <a:latin typeface="Cambria" pitchFamily="34" charset="0"/>
                <a:ea typeface="Cambria" pitchFamily="34" charset="-122"/>
                <a:cs typeface="Cambria" pitchFamily="34" charset="-120"/>
              </a:rPr>
              <a:t>Attention</a:t>
            </a:r>
            <a:endParaRPr lang="en-US" sz="1500" dirty="0"/>
          </a:p>
        </p:txBody>
      </p:sp>
      <p:sp>
        <p:nvSpPr>
          <p:cNvPr id="20" name="Text 18"/>
          <p:cNvSpPr txBox="1"/>
          <p:nvPr/>
        </p:nvSpPr>
        <p:spPr>
          <a:xfrm>
            <a:off x="3602736" y="4553712"/>
            <a:ext cx="2240280" cy="594360"/>
          </a:xfrm>
          <a:prstGeom prst="rect">
            <a:avLst/>
          </a:prstGeom>
          <a:noFill/>
          <a:ln/>
        </p:spPr>
        <p:txBody>
          <a:bodyPr wrap="square" lIns="0" tIns="0" rIns="0" bIns="0" rtlCol="0" anchor="t"/>
          <a:lstStyle/>
          <a:p>
            <a:pPr algn="ctr" indent="0" marL="0">
              <a:lnSpc>
                <a:spcPct val="122000"/>
              </a:lnSpc>
              <a:buNone/>
            </a:pPr>
            <a:r>
              <a:rPr lang="en-US" sz="1150" dirty="0">
                <a:solidFill>
                  <a:srgbClr val="13272E"/>
                </a:solidFill>
                <a:latin typeface="Calibri" pitchFamily="34" charset="0"/>
                <a:ea typeface="Calibri" pitchFamily="34" charset="-122"/>
                <a:cs typeface="Calibri" pitchFamily="34" charset="-120"/>
              </a:rPr>
              <a:t>Tiap token menghitung seberapa relevan token lain baginya, lalu menyerap informasinya.</a:t>
            </a:r>
            <a:endParaRPr lang="en-US" sz="1150" dirty="0"/>
          </a:p>
        </p:txBody>
      </p:sp>
      <p:sp>
        <p:nvSpPr>
          <p:cNvPr id="21" name="Shape 19"/>
          <p:cNvSpPr/>
          <p:nvPr/>
        </p:nvSpPr>
        <p:spPr>
          <a:xfrm>
            <a:off x="6245352" y="3337560"/>
            <a:ext cx="2606040" cy="1874520"/>
          </a:xfrm>
          <a:prstGeom prst="roundRect">
            <a:avLst>
              <a:gd name="adj" fmla="val 4390"/>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22" name="Shape 20"/>
          <p:cNvSpPr/>
          <p:nvPr/>
        </p:nvSpPr>
        <p:spPr>
          <a:xfrm>
            <a:off x="7278624" y="3566160"/>
            <a:ext cx="548640" cy="548640"/>
          </a:xfrm>
          <a:prstGeom prst="ellipse">
            <a:avLst/>
          </a:prstGeom>
          <a:solidFill>
            <a:srgbClr val="1F7A8C"/>
          </a:solidFill>
          <a:ln w="12700">
            <a:solidFill>
              <a:srgbClr val="333333"/>
            </a:solidFill>
            <a:prstDash val="solid"/>
          </a:ln>
        </p:spPr>
      </p:sp>
      <p:sp>
        <p:nvSpPr>
          <p:cNvPr id="23" name="Text 21"/>
          <p:cNvSpPr txBox="1"/>
          <p:nvPr/>
        </p:nvSpPr>
        <p:spPr>
          <a:xfrm>
            <a:off x="7278624" y="35661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4" name="Text 22"/>
          <p:cNvSpPr txBox="1"/>
          <p:nvPr/>
        </p:nvSpPr>
        <p:spPr>
          <a:xfrm>
            <a:off x="6428232" y="4224528"/>
            <a:ext cx="2240280" cy="274320"/>
          </a:xfrm>
          <a:prstGeom prst="rect">
            <a:avLst/>
          </a:prstGeom>
          <a:noFill/>
          <a:ln/>
        </p:spPr>
        <p:txBody>
          <a:bodyPr wrap="square" lIns="0" tIns="0" rIns="0" bIns="0" rtlCol="0" anchor="t"/>
          <a:lstStyle/>
          <a:p>
            <a:pPr algn="ctr" indent="0" marL="0">
              <a:buNone/>
            </a:pPr>
            <a:r>
              <a:rPr lang="en-US" sz="1500" b="1" dirty="0">
                <a:solidFill>
                  <a:srgbClr val="0F3743"/>
                </a:solidFill>
                <a:latin typeface="Cambria" pitchFamily="34" charset="0"/>
                <a:ea typeface="Cambria" pitchFamily="34" charset="-122"/>
                <a:cs typeface="Cambria" pitchFamily="34" charset="-120"/>
              </a:rPr>
              <a:t>Pra-pelatihan</a:t>
            </a:r>
            <a:endParaRPr lang="en-US" sz="1500" dirty="0"/>
          </a:p>
        </p:txBody>
      </p:sp>
      <p:sp>
        <p:nvSpPr>
          <p:cNvPr id="25" name="Text 23"/>
          <p:cNvSpPr txBox="1"/>
          <p:nvPr/>
        </p:nvSpPr>
        <p:spPr>
          <a:xfrm>
            <a:off x="6428232" y="4553712"/>
            <a:ext cx="2240280" cy="594360"/>
          </a:xfrm>
          <a:prstGeom prst="rect">
            <a:avLst/>
          </a:prstGeom>
          <a:noFill/>
          <a:ln/>
        </p:spPr>
        <p:txBody>
          <a:bodyPr wrap="square" lIns="0" tIns="0" rIns="0" bIns="0" rtlCol="0" anchor="t"/>
          <a:lstStyle/>
          <a:p>
            <a:pPr algn="ctr" indent="0" marL="0">
              <a:lnSpc>
                <a:spcPct val="122000"/>
              </a:lnSpc>
              <a:buNone/>
            </a:pPr>
            <a:r>
              <a:rPr lang="en-US" sz="1150" dirty="0">
                <a:solidFill>
                  <a:srgbClr val="13272E"/>
                </a:solidFill>
                <a:latin typeface="Calibri" pitchFamily="34" charset="0"/>
                <a:ea typeface="Calibri" pitchFamily="34" charset="-122"/>
                <a:cs typeface="Calibri" pitchFamily="34" charset="-120"/>
              </a:rPr>
              <a:t>Model dilatih menebak token berikutnya pada teks dalam jumlah sangat besar.</a:t>
            </a:r>
            <a:endParaRPr lang="en-US" sz="1150" dirty="0"/>
          </a:p>
        </p:txBody>
      </p:sp>
      <p:sp>
        <p:nvSpPr>
          <p:cNvPr id="26" name="Shape 24"/>
          <p:cNvSpPr/>
          <p:nvPr/>
        </p:nvSpPr>
        <p:spPr>
          <a:xfrm>
            <a:off x="9070848" y="3337560"/>
            <a:ext cx="2606040" cy="1874520"/>
          </a:xfrm>
          <a:prstGeom prst="roundRect">
            <a:avLst>
              <a:gd name="adj" fmla="val 4390"/>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27" name="Shape 25"/>
          <p:cNvSpPr/>
          <p:nvPr/>
        </p:nvSpPr>
        <p:spPr>
          <a:xfrm>
            <a:off x="10104120" y="3566160"/>
            <a:ext cx="548640" cy="548640"/>
          </a:xfrm>
          <a:prstGeom prst="ellipse">
            <a:avLst/>
          </a:prstGeom>
          <a:solidFill>
            <a:srgbClr val="6FA45A"/>
          </a:solidFill>
          <a:ln w="12700">
            <a:solidFill>
              <a:srgbClr val="333333"/>
            </a:solidFill>
            <a:prstDash val="solid"/>
          </a:ln>
        </p:spPr>
      </p:sp>
      <p:sp>
        <p:nvSpPr>
          <p:cNvPr id="28" name="Text 26"/>
          <p:cNvSpPr txBox="1"/>
          <p:nvPr/>
        </p:nvSpPr>
        <p:spPr>
          <a:xfrm>
            <a:off x="10104120" y="35661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9" name="Text 27"/>
          <p:cNvSpPr txBox="1"/>
          <p:nvPr/>
        </p:nvSpPr>
        <p:spPr>
          <a:xfrm>
            <a:off x="9253728" y="4224528"/>
            <a:ext cx="2240280" cy="274320"/>
          </a:xfrm>
          <a:prstGeom prst="rect">
            <a:avLst/>
          </a:prstGeom>
          <a:noFill/>
          <a:ln/>
        </p:spPr>
        <p:txBody>
          <a:bodyPr wrap="square" lIns="0" tIns="0" rIns="0" bIns="0" rtlCol="0" anchor="t"/>
          <a:lstStyle/>
          <a:p>
            <a:pPr algn="ctr" indent="0" marL="0">
              <a:buNone/>
            </a:pPr>
            <a:r>
              <a:rPr lang="en-US" sz="1500" b="1" dirty="0">
                <a:solidFill>
                  <a:srgbClr val="0F3743"/>
                </a:solidFill>
                <a:latin typeface="Cambria" pitchFamily="34" charset="0"/>
                <a:ea typeface="Cambria" pitchFamily="34" charset="-122"/>
                <a:cs typeface="Cambria" pitchFamily="34" charset="-120"/>
              </a:rPr>
              <a:t>Penyesuaian</a:t>
            </a:r>
            <a:endParaRPr lang="en-US" sz="1500" dirty="0"/>
          </a:p>
        </p:txBody>
      </p:sp>
      <p:sp>
        <p:nvSpPr>
          <p:cNvPr id="30" name="Text 28"/>
          <p:cNvSpPr txBox="1"/>
          <p:nvPr/>
        </p:nvSpPr>
        <p:spPr>
          <a:xfrm>
            <a:off x="9253728" y="4553712"/>
            <a:ext cx="2240280" cy="594360"/>
          </a:xfrm>
          <a:prstGeom prst="rect">
            <a:avLst/>
          </a:prstGeom>
          <a:noFill/>
          <a:ln/>
        </p:spPr>
        <p:txBody>
          <a:bodyPr wrap="square" lIns="0" tIns="0" rIns="0" bIns="0" rtlCol="0" anchor="t"/>
          <a:lstStyle/>
          <a:p>
            <a:pPr algn="ctr" indent="0" marL="0">
              <a:lnSpc>
                <a:spcPct val="122000"/>
              </a:lnSpc>
              <a:buNone/>
            </a:pPr>
            <a:r>
              <a:rPr lang="en-US" sz="1150" dirty="0">
                <a:solidFill>
                  <a:srgbClr val="13272E"/>
                </a:solidFill>
                <a:latin typeface="Calibri" pitchFamily="34" charset="0"/>
                <a:ea typeface="Calibri" pitchFamily="34" charset="-122"/>
                <a:cs typeface="Calibri" pitchFamily="34" charset="-120"/>
              </a:rPr>
              <a:t>Model disetel lagi agar mengikuti instruksi dan menjawab dengan cara yang diinginkan.</a:t>
            </a:r>
            <a:endParaRPr lang="en-US" sz="1150" dirty="0"/>
          </a:p>
        </p:txBody>
      </p:sp>
      <p:sp>
        <p:nvSpPr>
          <p:cNvPr id="31" name="Text 29"/>
          <p:cNvSpPr txBox="1"/>
          <p:nvPr/>
        </p:nvSpPr>
        <p:spPr>
          <a:xfrm>
            <a:off x="594360" y="5440680"/>
            <a:ext cx="11002975" cy="365760"/>
          </a:xfrm>
          <a:prstGeom prst="rect">
            <a:avLst/>
          </a:prstGeom>
          <a:noFill/>
          <a:ln/>
        </p:spPr>
        <p:txBody>
          <a:bodyPr wrap="square" lIns="0" tIns="0" rIns="0" bIns="0" rtlCol="0" anchor="t"/>
          <a:lstStyle/>
          <a:p>
            <a:pPr algn="ctr" indent="0" marL="0">
              <a:buNone/>
            </a:pPr>
            <a:r>
              <a:rPr lang="en-US" sz="1450" b="1" dirty="0">
                <a:solidFill>
                  <a:srgbClr val="1F7A8C"/>
                </a:solidFill>
                <a:latin typeface="Calibri" pitchFamily="34" charset="0"/>
                <a:ea typeface="Calibri" pitchFamily="34" charset="-122"/>
                <a:cs typeface="Calibri" pitchFamily="34" charset="-120"/>
              </a:rPr>
              <a:t>Seluruh kemampuan LLM tumbuh dari satu tugas latihan yang sangat sederhana: menebak kata berikutnya, diulang miliaran kali.</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PETA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Arsitektur mana untuk data apa?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2975" cy="914400"/>
        </p:xfrm>
        <a:graphic>
          <a:graphicData uri="http://schemas.openxmlformats.org/drawingml/2006/table">
            <a:tbl>
              <a:tblPr/>
              <a:tblGrid>
                <a:gridCol w="2560320"/>
                <a:gridCol w="3200400"/>
                <a:gridCol w="2560320"/>
                <a:gridCol w="2679192"/>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Bentuk data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Ciri utamanya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Arsitektur yang sesuai</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Alasannya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0F3743"/>
                    </a:solidFill>
                  </a:tcPr>
                </a:tc>
              </a:tr>
              <a:tr h="594360">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Tabel</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Baris saling bebas, kolom bermakna sendiri-sendiri</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Model pohon dan ensemble</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Terbukti unggul, murah, dan lebih mudah dijelaskan</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r h="594360">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Citra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Pola muncul dari piksel yang berdekatan</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CNN</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Konvolusi memanfaatkan kedekatan ruang</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r h="594360">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Sekuens pendek</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Urutan menentukan makna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RNN, LSTM, GRU</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Membawa ingatan dari langkah sebelumnya</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r h="594360">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Teks dan sekuens panjang</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Kaitan bisa berjarak sangat jauh</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Transformer</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c>
                  <a:txBody>
                    <a:bodyPr/>
                    <a:lstStyle/>
                    <a:p>
                      <a:pPr indent="0" marL="0">
                        <a:buNone/>
                      </a:pPr>
                      <a:r>
                        <a:rPr lang="en-US" sz="1300" dirty="0">
                          <a:solidFill>
                            <a:srgbClr val="13272E"/>
                          </a:solidFill>
                          <a:latin typeface="Calibri" pitchFamily="34" charset="0"/>
                          <a:ea typeface="Calibri" pitchFamily="34" charset="-122"/>
                          <a:cs typeface="Calibri" pitchFamily="34" charset="-120"/>
                        </a:rPr>
                        <a:t>Attention menjangkau seluruh urutan sekaligus</a:t>
                      </a:r>
                      <a:endParaRPr lang="en-US" sz="1300" dirty="0">
                        <a:latin typeface="Calibri" charset="0"/>
                        <a:ea typeface="Calibri" charset="0"/>
                        <a:cs typeface="Calibri" charset="0"/>
                      </a:endParaRPr>
                    </a:p>
                  </a:txBody>
                  <a:tcPr marL="76200" marR="76200" marT="76200" marB="76200" anchor="ctr">
                    <a:lnL w="12700" cap="flat" cmpd="sng" algn="ctr">
                      <a:solidFill>
                        <a:srgbClr val="D3DDE0"/>
                      </a:solidFill>
                      <a:prstDash val="solid"/>
                      <a:round/>
                      <a:headEnd type="none" w="med" len="med"/>
                      <a:tailEnd type="none" w="med" len="med"/>
                    </a:lnL>
                    <a:lnR w="12700" cap="flat" cmpd="sng" algn="ctr">
                      <a:solidFill>
                        <a:srgbClr val="D3DDE0"/>
                      </a:solidFill>
                      <a:prstDash val="solid"/>
                      <a:round/>
                      <a:headEnd type="none" w="med" len="med"/>
                      <a:tailEnd type="none" w="med" len="med"/>
                    </a:lnR>
                    <a:lnT w="12700" cap="flat" cmpd="sng" algn="ctr">
                      <a:solidFill>
                        <a:srgbClr val="D3DDE0"/>
                      </a:solidFill>
                      <a:prstDash val="solid"/>
                      <a:round/>
                      <a:headEnd type="none" w="med" len="med"/>
                      <a:tailEnd type="none" w="med" len="med"/>
                    </a:lnT>
                    <a:lnB w="12700" cap="flat" cmpd="sng" algn="ctr">
                      <a:solidFill>
                        <a:srgbClr val="D3DDE0"/>
                      </a:solidFill>
                      <a:prstDash val="solid"/>
                      <a:round/>
                      <a:headEnd type="none" w="med" len="med"/>
                      <a:tailEnd type="none" w="med" len="med"/>
                    </a:lnB>
                    <a:solidFill>
                      <a:srgbClr val="FFFFFF"/>
                    </a:solidFill>
                  </a:tcPr>
                </a:tc>
              </a:tr>
            </a:tbl>
          </a:graphicData>
        </a:graphic>
      </p:graphicFrame>
      <p:sp>
        <p:nvSpPr>
          <p:cNvPr id="6" name="Shape 3"/>
          <p:cNvSpPr/>
          <p:nvPr/>
        </p:nvSpPr>
        <p:spPr>
          <a:xfrm>
            <a:off x="594360" y="4617720"/>
            <a:ext cx="11002975" cy="1143000"/>
          </a:xfrm>
          <a:prstGeom prst="roundRect">
            <a:avLst>
              <a:gd name="adj" fmla="val 7200"/>
            </a:avLst>
          </a:prstGeom>
          <a:solidFill>
            <a:srgbClr val="F5EDDD"/>
          </a:solidFill>
          <a:ln w="12700">
            <a:solidFill>
              <a:srgbClr val="E8D5AD"/>
            </a:solidFill>
            <a:prstDash val="solid"/>
          </a:ln>
          <a:effectLst>
            <a:outerShdw sx="100000" sy="100000" kx="0" ky="0" algn="bl" rotWithShape="0" blurRad="101600" dist="508" dir="5400000">
              <a:srgbClr val="A9BABF">
                <a:alpha val="30000"/>
              </a:srgbClr>
            </a:outerShdw>
          </a:effectLst>
        </p:spPr>
      </p:sp>
      <p:sp>
        <p:nvSpPr>
          <p:cNvPr id="7" name="Text 4"/>
          <p:cNvSpPr txBox="1"/>
          <p:nvPr/>
        </p:nvSpPr>
        <p:spPr>
          <a:xfrm>
            <a:off x="1005840" y="4828032"/>
            <a:ext cx="10180015" cy="731520"/>
          </a:xfrm>
          <a:prstGeom prst="rect">
            <a:avLst/>
          </a:prstGeom>
          <a:noFill/>
          <a:ln/>
        </p:spPr>
        <p:txBody>
          <a:bodyPr wrap="square" lIns="0" tIns="0" rIns="0" bIns="0" rtlCol="0" anchor="t"/>
          <a:lstStyle/>
          <a:p>
            <a:pPr algn="l" indent="0" marL="0">
              <a:lnSpc>
                <a:spcPct val="130000"/>
              </a:lnSpc>
              <a:buNone/>
            </a:pPr>
            <a:r>
              <a:rPr lang="en-US" sz="1450" b="1" dirty="0">
                <a:solidFill>
                  <a:srgbClr val="8A5B12"/>
                </a:solidFill>
                <a:latin typeface="Calibri" pitchFamily="34" charset="0"/>
                <a:ea typeface="Calibri" pitchFamily="34" charset="-122"/>
                <a:cs typeface="Calibri" pitchFamily="34" charset="-120"/>
              </a:rPr>
              <a:t>Baris pertama sengaja ditaruh paling atas. Untuk Studi Kasus Akhir Anda, yang datanya hampir pasti berbentuk tabel, arsitektur yang tepat kemungkinan besar bukan neural network — melainkan model dari pertemuan 10.</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8F72CC"/>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D9922E"/>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BAGIAN 4</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Keterbatasan</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dan Etika LLM</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4C7CD"/>
                </a:solidFill>
                <a:latin typeface="Calibri" pitchFamily="34" charset="0"/>
                <a:ea typeface="Calibri" pitchFamily="34" charset="-122"/>
                <a:cs typeface="Calibri" pitchFamily="34" charset="-120"/>
              </a:rPr>
              <a:t>Yang wajib Anda ketahui sebelum memakainya</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TIGA RISIKO UTAMA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Yang tidak terlihat dari keluarannya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17</a:t>
            </a:r>
            <a:endParaRPr lang="en-US" sz="1000" dirty="0"/>
          </a:p>
        </p:txBody>
      </p:sp>
      <p:sp>
        <p:nvSpPr>
          <p:cNvPr id="5" name="Shape 3"/>
          <p:cNvSpPr/>
          <p:nvPr/>
        </p:nvSpPr>
        <p:spPr>
          <a:xfrm>
            <a:off x="594360" y="1325880"/>
            <a:ext cx="3520440" cy="4023360"/>
          </a:xfrm>
          <a:prstGeom prst="roundRect">
            <a:avLst>
              <a:gd name="adj" fmla="val 2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594360" y="1325880"/>
            <a:ext cx="3520440" cy="658368"/>
          </a:xfrm>
          <a:prstGeom prst="roundRect">
            <a:avLst>
              <a:gd name="adj" fmla="val 12500"/>
            </a:avLst>
          </a:prstGeom>
          <a:solidFill>
            <a:srgbClr val="D95F6B"/>
          </a:solidFill>
          <a:ln w="12700">
            <a:solidFill>
              <a:srgbClr val="333333"/>
            </a:solidFill>
            <a:prstDash val="solid"/>
          </a:ln>
        </p:spPr>
      </p:sp>
      <p:sp>
        <p:nvSpPr>
          <p:cNvPr id="7" name="Text 5"/>
          <p:cNvSpPr txBox="1"/>
          <p:nvPr/>
        </p:nvSpPr>
        <p:spPr>
          <a:xfrm>
            <a:off x="594360" y="1325880"/>
            <a:ext cx="3520440" cy="65836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Halusinasi</a:t>
            </a:r>
            <a:endParaRPr lang="en-US" sz="1900" dirty="0"/>
          </a:p>
        </p:txBody>
      </p:sp>
      <p:sp>
        <p:nvSpPr>
          <p:cNvPr id="8" name="Text 6"/>
          <p:cNvSpPr txBox="1"/>
          <p:nvPr/>
        </p:nvSpPr>
        <p:spPr>
          <a:xfrm>
            <a:off x="914400" y="2176272"/>
            <a:ext cx="2880360" cy="1600200"/>
          </a:xfrm>
          <a:prstGeom prst="rect">
            <a:avLst/>
          </a:prstGeom>
          <a:noFill/>
          <a:ln/>
        </p:spPr>
        <p:txBody>
          <a:bodyPr wrap="square" lIns="0" tIns="0" rIns="0" bIns="0" rtlCol="0" anchor="t"/>
          <a:lstStyle/>
          <a:p>
            <a:pPr algn="l" indent="0" marL="0">
              <a:lnSpc>
                <a:spcPct val="130000"/>
              </a:lnSpc>
              <a:buNone/>
            </a:pPr>
            <a:r>
              <a:rPr lang="en-US" sz="1350" dirty="0">
                <a:solidFill>
                  <a:srgbClr val="13272E"/>
                </a:solidFill>
                <a:latin typeface="Calibri" pitchFamily="34" charset="0"/>
                <a:ea typeface="Calibri" pitchFamily="34" charset="-122"/>
                <a:cs typeface="Calibri" pitchFamily="34" charset="-120"/>
              </a:rPr>
              <a:t>Model menghasilkan pernyataan yang terdengar meyakinkan tetapi tidak benar — lengkap dengan nama, angka, dan rujukan yang tidak pernah ada.</a:t>
            </a:r>
            <a:endParaRPr lang="en-US" sz="1350" dirty="0"/>
          </a:p>
        </p:txBody>
      </p:sp>
      <p:sp>
        <p:nvSpPr>
          <p:cNvPr id="9" name="Shape 7"/>
          <p:cNvSpPr/>
          <p:nvPr/>
        </p:nvSpPr>
        <p:spPr>
          <a:xfrm>
            <a:off x="914400" y="3886200"/>
            <a:ext cx="2880360" cy="18288"/>
          </a:xfrm>
          <a:prstGeom prst="rect">
            <a:avLst/>
          </a:prstGeom>
          <a:solidFill>
            <a:srgbClr val="DBE3E5"/>
          </a:solidFill>
          <a:ln w="12700">
            <a:solidFill>
              <a:srgbClr val="333333"/>
            </a:solidFill>
            <a:prstDash val="solid"/>
          </a:ln>
        </p:spPr>
      </p:sp>
      <p:sp>
        <p:nvSpPr>
          <p:cNvPr id="10" name="Text 8"/>
          <p:cNvSpPr txBox="1"/>
          <p:nvPr/>
        </p:nvSpPr>
        <p:spPr>
          <a:xfrm>
            <a:off x="914400" y="4041648"/>
            <a:ext cx="2880360" cy="1097280"/>
          </a:xfrm>
          <a:prstGeom prst="rect">
            <a:avLst/>
          </a:prstGeom>
          <a:noFill/>
          <a:ln/>
        </p:spPr>
        <p:txBody>
          <a:bodyPr wrap="square" lIns="0" tIns="0" rIns="0" bIns="0" rtlCol="0" anchor="t"/>
          <a:lstStyle/>
          <a:p>
            <a:pPr algn="l" indent="0" marL="0">
              <a:lnSpc>
                <a:spcPct val="125000"/>
              </a:lnSpc>
              <a:buNone/>
            </a:pPr>
            <a:r>
              <a:rPr lang="en-US" sz="1250" i="1" dirty="0">
                <a:solidFill>
                  <a:srgbClr val="D95F6B"/>
                </a:solidFill>
                <a:latin typeface="Calibri" pitchFamily="34" charset="0"/>
                <a:ea typeface="Calibri" pitchFamily="34" charset="-122"/>
                <a:cs typeface="Calibri" pitchFamily="34" charset="-120"/>
              </a:rPr>
              <a:t>Sebabnya: model dilatih menebak kata yang paling mungkin, bukan kata yang paling benar.</a:t>
            </a:r>
            <a:endParaRPr lang="en-US" sz="1250" dirty="0"/>
          </a:p>
        </p:txBody>
      </p:sp>
      <p:sp>
        <p:nvSpPr>
          <p:cNvPr id="11" name="Shape 9"/>
          <p:cNvSpPr/>
          <p:nvPr/>
        </p:nvSpPr>
        <p:spPr>
          <a:xfrm>
            <a:off x="4389120" y="1325880"/>
            <a:ext cx="3520440" cy="4023360"/>
          </a:xfrm>
          <a:prstGeom prst="roundRect">
            <a:avLst>
              <a:gd name="adj" fmla="val 2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2" name="Shape 10"/>
          <p:cNvSpPr/>
          <p:nvPr/>
        </p:nvSpPr>
        <p:spPr>
          <a:xfrm>
            <a:off x="4389120" y="1325880"/>
            <a:ext cx="3520440" cy="658368"/>
          </a:xfrm>
          <a:prstGeom prst="roundRect">
            <a:avLst>
              <a:gd name="adj" fmla="val 12500"/>
            </a:avLst>
          </a:prstGeom>
          <a:solidFill>
            <a:srgbClr val="8F72CC"/>
          </a:solidFill>
          <a:ln w="12700">
            <a:solidFill>
              <a:srgbClr val="333333"/>
            </a:solidFill>
            <a:prstDash val="solid"/>
          </a:ln>
        </p:spPr>
      </p:sp>
      <p:sp>
        <p:nvSpPr>
          <p:cNvPr id="13" name="Text 11"/>
          <p:cNvSpPr txBox="1"/>
          <p:nvPr/>
        </p:nvSpPr>
        <p:spPr>
          <a:xfrm>
            <a:off x="4389120" y="1325880"/>
            <a:ext cx="3520440" cy="65836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Bias</a:t>
            </a:r>
            <a:endParaRPr lang="en-US" sz="1900" dirty="0"/>
          </a:p>
        </p:txBody>
      </p:sp>
      <p:sp>
        <p:nvSpPr>
          <p:cNvPr id="14" name="Text 12"/>
          <p:cNvSpPr txBox="1"/>
          <p:nvPr/>
        </p:nvSpPr>
        <p:spPr>
          <a:xfrm>
            <a:off x="4709160" y="2176272"/>
            <a:ext cx="2880360" cy="1600200"/>
          </a:xfrm>
          <a:prstGeom prst="rect">
            <a:avLst/>
          </a:prstGeom>
          <a:noFill/>
          <a:ln/>
        </p:spPr>
        <p:txBody>
          <a:bodyPr wrap="square" lIns="0" tIns="0" rIns="0" bIns="0" rtlCol="0" anchor="t"/>
          <a:lstStyle/>
          <a:p>
            <a:pPr algn="l" indent="0" marL="0">
              <a:lnSpc>
                <a:spcPct val="130000"/>
              </a:lnSpc>
              <a:buNone/>
            </a:pPr>
            <a:r>
              <a:rPr lang="en-US" sz="1350" dirty="0">
                <a:solidFill>
                  <a:srgbClr val="13272E"/>
                </a:solidFill>
                <a:latin typeface="Calibri" pitchFamily="34" charset="0"/>
                <a:ea typeface="Calibri" pitchFamily="34" charset="-122"/>
                <a:cs typeface="Calibri" pitchFamily="34" charset="-120"/>
              </a:rPr>
              <a:t>Model mewarisi kecondongan yang ada di dalam data pelatihannya, termasuk yang berkaitan dengan gender, suku, dan status sosial.</a:t>
            </a:r>
            <a:endParaRPr lang="en-US" sz="1350" dirty="0"/>
          </a:p>
        </p:txBody>
      </p:sp>
      <p:sp>
        <p:nvSpPr>
          <p:cNvPr id="15" name="Shape 13"/>
          <p:cNvSpPr/>
          <p:nvPr/>
        </p:nvSpPr>
        <p:spPr>
          <a:xfrm>
            <a:off x="4709160" y="3886200"/>
            <a:ext cx="2880360" cy="18288"/>
          </a:xfrm>
          <a:prstGeom prst="rect">
            <a:avLst/>
          </a:prstGeom>
          <a:solidFill>
            <a:srgbClr val="DBE3E5"/>
          </a:solidFill>
          <a:ln w="12700">
            <a:solidFill>
              <a:srgbClr val="333333"/>
            </a:solidFill>
            <a:prstDash val="solid"/>
          </a:ln>
        </p:spPr>
      </p:sp>
      <p:sp>
        <p:nvSpPr>
          <p:cNvPr id="16" name="Text 14"/>
          <p:cNvSpPr txBox="1"/>
          <p:nvPr/>
        </p:nvSpPr>
        <p:spPr>
          <a:xfrm>
            <a:off x="4709160" y="4041648"/>
            <a:ext cx="2880360" cy="1097280"/>
          </a:xfrm>
          <a:prstGeom prst="rect">
            <a:avLst/>
          </a:prstGeom>
          <a:noFill/>
          <a:ln/>
        </p:spPr>
        <p:txBody>
          <a:bodyPr wrap="square" lIns="0" tIns="0" rIns="0" bIns="0" rtlCol="0" anchor="t"/>
          <a:lstStyle/>
          <a:p>
            <a:pPr algn="l" indent="0" marL="0">
              <a:lnSpc>
                <a:spcPct val="125000"/>
              </a:lnSpc>
              <a:buNone/>
            </a:pPr>
            <a:r>
              <a:rPr lang="en-US" sz="1250" i="1" dirty="0">
                <a:solidFill>
                  <a:srgbClr val="8F72CC"/>
                </a:solidFill>
                <a:latin typeface="Calibri" pitchFamily="34" charset="0"/>
                <a:ea typeface="Calibri" pitchFamily="34" charset="-122"/>
                <a:cs typeface="Calibri" pitchFamily="34" charset="-120"/>
              </a:rPr>
              <a:t>Sebabnya: data pelatihan berasal dari teks manusia, dan teks manusia memuat bias manusia.</a:t>
            </a:r>
            <a:endParaRPr lang="en-US" sz="1250" dirty="0"/>
          </a:p>
        </p:txBody>
      </p:sp>
      <p:sp>
        <p:nvSpPr>
          <p:cNvPr id="17" name="Shape 15"/>
          <p:cNvSpPr/>
          <p:nvPr/>
        </p:nvSpPr>
        <p:spPr>
          <a:xfrm>
            <a:off x="8183880" y="1325880"/>
            <a:ext cx="3520440" cy="4023360"/>
          </a:xfrm>
          <a:prstGeom prst="roundRect">
            <a:avLst>
              <a:gd name="adj" fmla="val 2338"/>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8" name="Shape 16"/>
          <p:cNvSpPr/>
          <p:nvPr/>
        </p:nvSpPr>
        <p:spPr>
          <a:xfrm>
            <a:off x="8183880" y="1325880"/>
            <a:ext cx="3520440" cy="658368"/>
          </a:xfrm>
          <a:prstGeom prst="roundRect">
            <a:avLst>
              <a:gd name="adj" fmla="val 12500"/>
            </a:avLst>
          </a:prstGeom>
          <a:solidFill>
            <a:srgbClr val="D9922E"/>
          </a:solidFill>
          <a:ln w="12700">
            <a:solidFill>
              <a:srgbClr val="333333"/>
            </a:solidFill>
            <a:prstDash val="solid"/>
          </a:ln>
        </p:spPr>
      </p:sp>
      <p:sp>
        <p:nvSpPr>
          <p:cNvPr id="19" name="Text 17"/>
          <p:cNvSpPr txBox="1"/>
          <p:nvPr/>
        </p:nvSpPr>
        <p:spPr>
          <a:xfrm>
            <a:off x="8183880" y="1325880"/>
            <a:ext cx="3520440" cy="65836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Jejak data pelatihan</a:t>
            </a:r>
            <a:endParaRPr lang="en-US" sz="1900" dirty="0"/>
          </a:p>
        </p:txBody>
      </p:sp>
      <p:sp>
        <p:nvSpPr>
          <p:cNvPr id="20" name="Text 18"/>
          <p:cNvSpPr txBox="1"/>
          <p:nvPr/>
        </p:nvSpPr>
        <p:spPr>
          <a:xfrm>
            <a:off x="8503920" y="2176272"/>
            <a:ext cx="2880360" cy="1600200"/>
          </a:xfrm>
          <a:prstGeom prst="rect">
            <a:avLst/>
          </a:prstGeom>
          <a:noFill/>
          <a:ln/>
        </p:spPr>
        <p:txBody>
          <a:bodyPr wrap="square" lIns="0" tIns="0" rIns="0" bIns="0" rtlCol="0" anchor="t"/>
          <a:lstStyle/>
          <a:p>
            <a:pPr algn="l" indent="0" marL="0">
              <a:lnSpc>
                <a:spcPct val="130000"/>
              </a:lnSpc>
              <a:buNone/>
            </a:pPr>
            <a:r>
              <a:rPr lang="en-US" sz="1350" dirty="0">
                <a:solidFill>
                  <a:srgbClr val="13272E"/>
                </a:solidFill>
                <a:latin typeface="Calibri" pitchFamily="34" charset="0"/>
                <a:ea typeface="Calibri" pitchFamily="34" charset="-122"/>
                <a:cs typeface="Calibri" pitchFamily="34" charset="-120"/>
              </a:rPr>
              <a:t>Model dapat memuat dan memunculkan kembali potongan data yang seharusnya bersifat pribadi atau berhak cipta.</a:t>
            </a:r>
            <a:endParaRPr lang="en-US" sz="1350" dirty="0"/>
          </a:p>
        </p:txBody>
      </p:sp>
      <p:sp>
        <p:nvSpPr>
          <p:cNvPr id="21" name="Shape 19"/>
          <p:cNvSpPr/>
          <p:nvPr/>
        </p:nvSpPr>
        <p:spPr>
          <a:xfrm>
            <a:off x="8503920" y="3886200"/>
            <a:ext cx="2880360" cy="18288"/>
          </a:xfrm>
          <a:prstGeom prst="rect">
            <a:avLst/>
          </a:prstGeom>
          <a:solidFill>
            <a:srgbClr val="DBE3E5"/>
          </a:solidFill>
          <a:ln w="12700">
            <a:solidFill>
              <a:srgbClr val="333333"/>
            </a:solidFill>
            <a:prstDash val="solid"/>
          </a:ln>
        </p:spPr>
      </p:sp>
      <p:sp>
        <p:nvSpPr>
          <p:cNvPr id="22" name="Text 20"/>
          <p:cNvSpPr txBox="1"/>
          <p:nvPr/>
        </p:nvSpPr>
        <p:spPr>
          <a:xfrm>
            <a:off x="8503920" y="4041648"/>
            <a:ext cx="2880360" cy="1097280"/>
          </a:xfrm>
          <a:prstGeom prst="rect">
            <a:avLst/>
          </a:prstGeom>
          <a:noFill/>
          <a:ln/>
        </p:spPr>
        <p:txBody>
          <a:bodyPr wrap="square" lIns="0" tIns="0" rIns="0" bIns="0" rtlCol="0" anchor="t"/>
          <a:lstStyle/>
          <a:p>
            <a:pPr algn="l" indent="0" marL="0">
              <a:lnSpc>
                <a:spcPct val="125000"/>
              </a:lnSpc>
              <a:buNone/>
            </a:pPr>
            <a:r>
              <a:rPr lang="en-US" sz="1250" i="1" dirty="0">
                <a:solidFill>
                  <a:srgbClr val="D9922E"/>
                </a:solidFill>
                <a:latin typeface="Calibri" pitchFamily="34" charset="0"/>
                <a:ea typeface="Calibri" pitchFamily="34" charset="-122"/>
                <a:cs typeface="Calibri" pitchFamily="34" charset="-120"/>
              </a:rPr>
              <a:t>Sebabnya: model menyerap seluruh teks yang diberikan kepadanya, termasuk yang tidak semestinya.</a:t>
            </a:r>
            <a:endParaRPr lang="en-US" sz="1250" dirty="0"/>
          </a:p>
        </p:txBody>
      </p:sp>
      <p:sp>
        <p:nvSpPr>
          <p:cNvPr id="23" name="Text 21"/>
          <p:cNvSpPr txBox="1"/>
          <p:nvPr/>
        </p:nvSpPr>
        <p:spPr>
          <a:xfrm>
            <a:off x="594360" y="5532120"/>
            <a:ext cx="11002975" cy="411480"/>
          </a:xfrm>
          <a:prstGeom prst="rect">
            <a:avLst/>
          </a:prstGeom>
          <a:noFill/>
          <a:ln/>
        </p:spPr>
        <p:txBody>
          <a:bodyPr wrap="square" lIns="0" tIns="0" rIns="0" bIns="0" rtlCol="0" anchor="t"/>
          <a:lstStyle/>
          <a:p>
            <a:pPr algn="ctr" indent="0" marL="0">
              <a:buNone/>
            </a:pPr>
            <a:r>
              <a:rPr lang="en-US" sz="1450" b="1" dirty="0">
                <a:solidFill>
                  <a:srgbClr val="D95F6B"/>
                </a:solidFill>
                <a:latin typeface="Calibri" pitchFamily="34" charset="0"/>
                <a:ea typeface="Calibri" pitchFamily="34" charset="-122"/>
                <a:cs typeface="Calibri" pitchFamily="34" charset="-120"/>
              </a:rPr>
              <a:t>Ketiganya tidak menimbulkan pesan galat. Keluarannya tetap rapi, lancar, dan meyakinkan — dan justru itulah yang membuatnya berbahaya.</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374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6FC7D6"/>
                </a:solidFill>
                <a:latin typeface="Calibri" pitchFamily="34" charset="0"/>
                <a:ea typeface="Calibri" pitchFamily="34" charset="-122"/>
                <a:cs typeface="Calibri" pitchFamily="34" charset="-120"/>
              </a:rPr>
              <a:t>SIKAP PROFESIONAL</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Enam aturan pakai yang wajib Anda pegang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18</a:t>
            </a:r>
            <a:endParaRPr lang="en-US" sz="1000" dirty="0"/>
          </a:p>
        </p:txBody>
      </p:sp>
      <p:sp>
        <p:nvSpPr>
          <p:cNvPr id="5" name="Shape 3"/>
          <p:cNvSpPr/>
          <p:nvPr/>
        </p:nvSpPr>
        <p:spPr>
          <a:xfrm>
            <a:off x="594360" y="132588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886968" y="1691640"/>
            <a:ext cx="530352" cy="530352"/>
          </a:xfrm>
          <a:prstGeom prst="ellipse">
            <a:avLst/>
          </a:prstGeom>
          <a:solidFill>
            <a:srgbClr val="D9922E"/>
          </a:solidFill>
          <a:ln w="12700">
            <a:solidFill>
              <a:srgbClr val="333333"/>
            </a:solidFill>
            <a:prstDash val="solid"/>
          </a:ln>
        </p:spPr>
      </p:sp>
      <p:sp>
        <p:nvSpPr>
          <p:cNvPr id="7" name="Text 5"/>
          <p:cNvSpPr txBox="1"/>
          <p:nvPr/>
        </p:nvSpPr>
        <p:spPr>
          <a:xfrm>
            <a:off x="886968" y="169164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1554480" y="152704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Verifikasi setiap fakta</a:t>
            </a:r>
            <a:endParaRPr lang="en-US" sz="1600" dirty="0"/>
          </a:p>
        </p:txBody>
      </p:sp>
      <p:sp>
        <p:nvSpPr>
          <p:cNvPr id="9" name="Text 7"/>
          <p:cNvSpPr txBox="1"/>
          <p:nvPr/>
        </p:nvSpPr>
        <p:spPr>
          <a:xfrm>
            <a:off x="1554480" y="194767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Nama, angka, tanggal, dan rujukan harus diperiksa ke sumber aslinya sebelum dipakai.</a:t>
            </a:r>
            <a:endParaRPr lang="en-US" sz="1200" dirty="0"/>
          </a:p>
        </p:txBody>
      </p:sp>
      <p:sp>
        <p:nvSpPr>
          <p:cNvPr id="10" name="Shape 8"/>
          <p:cNvSpPr/>
          <p:nvPr/>
        </p:nvSpPr>
        <p:spPr>
          <a:xfrm>
            <a:off x="6263640" y="132588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1" name="Shape 9"/>
          <p:cNvSpPr/>
          <p:nvPr/>
        </p:nvSpPr>
        <p:spPr>
          <a:xfrm>
            <a:off x="6556248" y="1691640"/>
            <a:ext cx="530352" cy="530352"/>
          </a:xfrm>
          <a:prstGeom prst="ellipse">
            <a:avLst/>
          </a:prstGeom>
          <a:solidFill>
            <a:srgbClr val="8F72CC"/>
          </a:solidFill>
          <a:ln w="12700">
            <a:solidFill>
              <a:srgbClr val="333333"/>
            </a:solidFill>
            <a:prstDash val="solid"/>
          </a:ln>
        </p:spPr>
      </p:sp>
      <p:sp>
        <p:nvSpPr>
          <p:cNvPr id="12" name="Text 10"/>
          <p:cNvSpPr txBox="1"/>
          <p:nvPr/>
        </p:nvSpPr>
        <p:spPr>
          <a:xfrm>
            <a:off x="6556248" y="169164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7223760" y="152704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Jangan masukkan data rahasia</a:t>
            </a:r>
            <a:endParaRPr lang="en-US" sz="1600" dirty="0"/>
          </a:p>
        </p:txBody>
      </p:sp>
      <p:sp>
        <p:nvSpPr>
          <p:cNvPr id="14" name="Text 12"/>
          <p:cNvSpPr txBox="1"/>
          <p:nvPr/>
        </p:nvSpPr>
        <p:spPr>
          <a:xfrm>
            <a:off x="7223760" y="194767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Data pribadi, data klien, dan data internal tidak boleh ditempelkan ke layanan pihak ketiga.</a:t>
            </a:r>
            <a:endParaRPr lang="en-US" sz="1200" dirty="0"/>
          </a:p>
        </p:txBody>
      </p:sp>
      <p:sp>
        <p:nvSpPr>
          <p:cNvPr id="15" name="Shape 13"/>
          <p:cNvSpPr/>
          <p:nvPr/>
        </p:nvSpPr>
        <p:spPr>
          <a:xfrm>
            <a:off x="594360" y="278892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6" name="Shape 14"/>
          <p:cNvSpPr/>
          <p:nvPr/>
        </p:nvSpPr>
        <p:spPr>
          <a:xfrm>
            <a:off x="886968" y="3154680"/>
            <a:ext cx="530352" cy="530352"/>
          </a:xfrm>
          <a:prstGeom prst="ellipse">
            <a:avLst/>
          </a:prstGeom>
          <a:solidFill>
            <a:srgbClr val="1F7A8C"/>
          </a:solidFill>
          <a:ln w="12700">
            <a:solidFill>
              <a:srgbClr val="333333"/>
            </a:solidFill>
            <a:prstDash val="solid"/>
          </a:ln>
        </p:spPr>
      </p:sp>
      <p:sp>
        <p:nvSpPr>
          <p:cNvPr id="17" name="Text 15"/>
          <p:cNvSpPr txBox="1"/>
          <p:nvPr/>
        </p:nvSpPr>
        <p:spPr>
          <a:xfrm>
            <a:off x="886968" y="315468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1554480" y="299008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Nyatakan penggunaannya</a:t>
            </a:r>
            <a:endParaRPr lang="en-US" sz="1600" dirty="0"/>
          </a:p>
        </p:txBody>
      </p:sp>
      <p:sp>
        <p:nvSpPr>
          <p:cNvPr id="19" name="Text 17"/>
          <p:cNvSpPr txBox="1"/>
          <p:nvPr/>
        </p:nvSpPr>
        <p:spPr>
          <a:xfrm>
            <a:off x="1554480" y="341071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Sebutkan bagian mana yang dibantu AI dan bagaimana Anda memverifikasinya.</a:t>
            </a:r>
            <a:endParaRPr lang="en-US" sz="1200" dirty="0"/>
          </a:p>
        </p:txBody>
      </p:sp>
      <p:sp>
        <p:nvSpPr>
          <p:cNvPr id="20" name="Shape 18"/>
          <p:cNvSpPr/>
          <p:nvPr/>
        </p:nvSpPr>
        <p:spPr>
          <a:xfrm>
            <a:off x="6263640" y="278892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1" name="Shape 19"/>
          <p:cNvSpPr/>
          <p:nvPr/>
        </p:nvSpPr>
        <p:spPr>
          <a:xfrm>
            <a:off x="6556248" y="3154680"/>
            <a:ext cx="530352" cy="530352"/>
          </a:xfrm>
          <a:prstGeom prst="ellipse">
            <a:avLst/>
          </a:prstGeom>
          <a:solidFill>
            <a:srgbClr val="D95F6B"/>
          </a:solidFill>
          <a:ln w="12700">
            <a:solidFill>
              <a:srgbClr val="333333"/>
            </a:solidFill>
            <a:prstDash val="solid"/>
          </a:ln>
        </p:spPr>
      </p:sp>
      <p:sp>
        <p:nvSpPr>
          <p:cNvPr id="22" name="Text 20"/>
          <p:cNvSpPr txBox="1"/>
          <p:nvPr/>
        </p:nvSpPr>
        <p:spPr>
          <a:xfrm>
            <a:off x="6556248" y="315468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txBox="1"/>
          <p:nvPr/>
        </p:nvSpPr>
        <p:spPr>
          <a:xfrm>
            <a:off x="7223760" y="299008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Tanggung jawab tetap pada Anda</a:t>
            </a:r>
            <a:endParaRPr lang="en-US" sz="1600" dirty="0"/>
          </a:p>
        </p:txBody>
      </p:sp>
      <p:sp>
        <p:nvSpPr>
          <p:cNvPr id="24" name="Text 22"/>
          <p:cNvSpPr txBox="1"/>
          <p:nvPr/>
        </p:nvSpPr>
        <p:spPr>
          <a:xfrm>
            <a:off x="7223760" y="341071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"Itu keluaran AI" bukan pembelaan yang sah dalam pekerjaan profesional.</a:t>
            </a:r>
            <a:endParaRPr lang="en-US" sz="1200" dirty="0"/>
          </a:p>
        </p:txBody>
      </p:sp>
      <p:sp>
        <p:nvSpPr>
          <p:cNvPr id="25" name="Shape 23"/>
          <p:cNvSpPr/>
          <p:nvPr/>
        </p:nvSpPr>
        <p:spPr>
          <a:xfrm>
            <a:off x="594360" y="425196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6" name="Shape 24"/>
          <p:cNvSpPr/>
          <p:nvPr/>
        </p:nvSpPr>
        <p:spPr>
          <a:xfrm>
            <a:off x="886968" y="4617720"/>
            <a:ext cx="530352" cy="530352"/>
          </a:xfrm>
          <a:prstGeom prst="ellipse">
            <a:avLst/>
          </a:prstGeom>
          <a:solidFill>
            <a:srgbClr val="6FA45A"/>
          </a:solidFill>
          <a:ln w="12700">
            <a:solidFill>
              <a:srgbClr val="333333"/>
            </a:solidFill>
            <a:prstDash val="solid"/>
          </a:ln>
        </p:spPr>
      </p:sp>
      <p:sp>
        <p:nvSpPr>
          <p:cNvPr id="27" name="Text 25"/>
          <p:cNvSpPr txBox="1"/>
          <p:nvPr/>
        </p:nvSpPr>
        <p:spPr>
          <a:xfrm>
            <a:off x="886968" y="461772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28" name="Text 26"/>
          <p:cNvSpPr txBox="1"/>
          <p:nvPr/>
        </p:nvSpPr>
        <p:spPr>
          <a:xfrm>
            <a:off x="1554480" y="445312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Waspadai kelancaran</a:t>
            </a:r>
            <a:endParaRPr lang="en-US" sz="1600" dirty="0"/>
          </a:p>
        </p:txBody>
      </p:sp>
      <p:sp>
        <p:nvSpPr>
          <p:cNvPr id="29" name="Text 27"/>
          <p:cNvSpPr txBox="1"/>
          <p:nvPr/>
        </p:nvSpPr>
        <p:spPr>
          <a:xfrm>
            <a:off x="1554480" y="487375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Kalimat yang rapi bukan tanda kebenaran. Justru keluaran paling meyakinkan yang perlu diperiksa paling teliti.</a:t>
            </a:r>
            <a:endParaRPr lang="en-US" sz="1200" dirty="0"/>
          </a:p>
        </p:txBody>
      </p:sp>
      <p:sp>
        <p:nvSpPr>
          <p:cNvPr id="30" name="Shape 28"/>
          <p:cNvSpPr/>
          <p:nvPr/>
        </p:nvSpPr>
        <p:spPr>
          <a:xfrm>
            <a:off x="6263640" y="4251960"/>
            <a:ext cx="5303520" cy="1298448"/>
          </a:xfrm>
          <a:prstGeom prst="roundRect">
            <a:avLst>
              <a:gd name="adj" fmla="val 6338"/>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31" name="Shape 29"/>
          <p:cNvSpPr/>
          <p:nvPr/>
        </p:nvSpPr>
        <p:spPr>
          <a:xfrm>
            <a:off x="6556248" y="4617720"/>
            <a:ext cx="530352" cy="530352"/>
          </a:xfrm>
          <a:prstGeom prst="ellipse">
            <a:avLst/>
          </a:prstGeom>
          <a:solidFill>
            <a:srgbClr val="D9922E"/>
          </a:solidFill>
          <a:ln w="12700">
            <a:solidFill>
              <a:srgbClr val="333333"/>
            </a:solidFill>
            <a:prstDash val="solid"/>
          </a:ln>
        </p:spPr>
      </p:sp>
      <p:sp>
        <p:nvSpPr>
          <p:cNvPr id="32" name="Text 30"/>
          <p:cNvSpPr txBox="1"/>
          <p:nvPr/>
        </p:nvSpPr>
        <p:spPr>
          <a:xfrm>
            <a:off x="6556248" y="461772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6</a:t>
            </a:r>
            <a:endParaRPr lang="en-US" sz="1700" dirty="0"/>
          </a:p>
        </p:txBody>
      </p:sp>
      <p:sp>
        <p:nvSpPr>
          <p:cNvPr id="33" name="Text 31"/>
          <p:cNvSpPr txBox="1"/>
          <p:nvPr/>
        </p:nvSpPr>
        <p:spPr>
          <a:xfrm>
            <a:off x="7223760" y="4453128"/>
            <a:ext cx="4114800" cy="384048"/>
          </a:xfrm>
          <a:prstGeom prst="rect">
            <a:avLst/>
          </a:prstGeom>
          <a:noFill/>
          <a:ln/>
        </p:spPr>
        <p:txBody>
          <a:bodyPr wrap="square" lIns="0" tIns="0" rIns="0" bIns="0" rtlCol="0" anchor="t"/>
          <a:lstStyle/>
          <a:p>
            <a:pPr algn="l" indent="0" marL="0">
              <a:buNone/>
            </a:pPr>
            <a:r>
              <a:rPr lang="en-US" sz="1600" b="1" dirty="0">
                <a:solidFill>
                  <a:srgbClr val="FFFFFF"/>
                </a:solidFill>
                <a:latin typeface="Cambria" pitchFamily="34" charset="0"/>
                <a:ea typeface="Cambria" pitchFamily="34" charset="-122"/>
                <a:cs typeface="Cambria" pitchFamily="34" charset="-120"/>
              </a:rPr>
              <a:t>Jangan pakai untuk keputusan berdampak besar</a:t>
            </a:r>
            <a:endParaRPr lang="en-US" sz="1600" dirty="0"/>
          </a:p>
        </p:txBody>
      </p:sp>
      <p:sp>
        <p:nvSpPr>
          <p:cNvPr id="34" name="Text 32"/>
          <p:cNvSpPr txBox="1"/>
          <p:nvPr/>
        </p:nvSpPr>
        <p:spPr>
          <a:xfrm>
            <a:off x="7223760" y="4873752"/>
            <a:ext cx="4114800" cy="548640"/>
          </a:xfrm>
          <a:prstGeom prst="rect">
            <a:avLst/>
          </a:prstGeom>
          <a:noFill/>
          <a:ln/>
        </p:spPr>
        <p:txBody>
          <a:bodyPr wrap="square" lIns="0" tIns="0" rIns="0" bIns="0" rtlCol="0" anchor="t"/>
          <a:lstStyle/>
          <a:p>
            <a:pPr algn="l" indent="0" marL="0">
              <a:lnSpc>
                <a:spcPct val="122000"/>
              </a:lnSpc>
              <a:buNone/>
            </a:pPr>
            <a:r>
              <a:rPr lang="en-US" sz="1200" dirty="0">
                <a:solidFill>
                  <a:srgbClr val="B4C7CD"/>
                </a:solidFill>
                <a:latin typeface="Calibri" pitchFamily="34" charset="0"/>
                <a:ea typeface="Calibri" pitchFamily="34" charset="-122"/>
                <a:cs typeface="Calibri" pitchFamily="34" charset="-120"/>
              </a:rPr>
              <a:t>Keputusan yang menyangkut hak, keselamatan, atau nafkah orang tidak boleh diserahkan begitu saja.</a:t>
            </a:r>
            <a:endParaRPr lang="en-US" sz="1200" dirty="0"/>
          </a:p>
        </p:txBody>
      </p:sp>
      <p:sp>
        <p:nvSpPr>
          <p:cNvPr id="35" name="Text 33"/>
          <p:cNvSpPr txBox="1"/>
          <p:nvPr/>
        </p:nvSpPr>
        <p:spPr>
          <a:xfrm>
            <a:off x="594360" y="5806440"/>
            <a:ext cx="11002975" cy="365760"/>
          </a:xfrm>
          <a:prstGeom prst="rect">
            <a:avLst/>
          </a:prstGeom>
          <a:noFill/>
          <a:ln/>
        </p:spPr>
        <p:txBody>
          <a:bodyPr wrap="square" lIns="0" tIns="0" rIns="0" bIns="0" rtlCol="0" anchor="t"/>
          <a:lstStyle/>
          <a:p>
            <a:pPr algn="ctr" indent="0" marL="0">
              <a:buNone/>
            </a:pPr>
            <a:r>
              <a:rPr lang="en-US" sz="1350" i="1" dirty="0">
                <a:solidFill>
                  <a:srgbClr val="6FC7D6"/>
                </a:solidFill>
                <a:latin typeface="Calibri" pitchFamily="34" charset="0"/>
                <a:ea typeface="Calibri" pitchFamily="34" charset="-122"/>
                <a:cs typeface="Calibri" pitchFamily="34" charset="-120"/>
              </a:rPr>
              <a:t>Aturan ini juga berlaku pada Studi Kasus Akhir Anda — lihat Lampiran Pernyataan Penggunaan AI pada dokumen tugas.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DISKUSI KASUS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Empat situasi yang harus Anda nilai</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94360" y="1371600"/>
            <a:ext cx="5303520" cy="1463040"/>
          </a:xfrm>
          <a:prstGeom prst="roundRect">
            <a:avLst>
              <a:gd name="adj" fmla="val 562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914400" y="1810512"/>
            <a:ext cx="566928" cy="566928"/>
          </a:xfrm>
          <a:prstGeom prst="ellipse">
            <a:avLst/>
          </a:prstGeom>
          <a:solidFill>
            <a:srgbClr val="D9922E"/>
          </a:solidFill>
          <a:ln w="12700">
            <a:solidFill>
              <a:srgbClr val="333333"/>
            </a:solidFill>
            <a:prstDash val="solid"/>
          </a:ln>
        </p:spPr>
      </p:sp>
      <p:sp>
        <p:nvSpPr>
          <p:cNvPr id="7" name="Text 5"/>
          <p:cNvSpPr txBox="1"/>
          <p:nvPr/>
        </p:nvSpPr>
        <p:spPr>
          <a:xfrm>
            <a:off x="914400" y="18105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8" name="Text 6"/>
          <p:cNvSpPr txBox="1"/>
          <p:nvPr/>
        </p:nvSpPr>
        <p:spPr>
          <a:xfrm>
            <a:off x="1645920" y="1554480"/>
            <a:ext cx="4023360" cy="1097280"/>
          </a:xfrm>
          <a:prstGeom prst="rect">
            <a:avLst/>
          </a:prstGeom>
          <a:noFill/>
          <a:ln/>
        </p:spPr>
        <p:txBody>
          <a:bodyPr wrap="square" lIns="0" tIns="0" rIns="0" bIns="0" rtlCol="0" anchor="ctr"/>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Seorang mahasiswa menyusun laporan Studi Kasus Akhir dan meminta LLM menuliskan bagian analisis keterbatasan. Hasilnya bagus dan langsung disalin.</a:t>
            </a:r>
            <a:endParaRPr lang="en-US" sz="1300" dirty="0"/>
          </a:p>
        </p:txBody>
      </p:sp>
      <p:sp>
        <p:nvSpPr>
          <p:cNvPr id="9" name="Shape 7"/>
          <p:cNvSpPr/>
          <p:nvPr/>
        </p:nvSpPr>
        <p:spPr>
          <a:xfrm>
            <a:off x="6263640" y="1371600"/>
            <a:ext cx="5303520" cy="1463040"/>
          </a:xfrm>
          <a:prstGeom prst="roundRect">
            <a:avLst>
              <a:gd name="adj" fmla="val 562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0" name="Shape 8"/>
          <p:cNvSpPr/>
          <p:nvPr/>
        </p:nvSpPr>
        <p:spPr>
          <a:xfrm>
            <a:off x="6583680" y="1810512"/>
            <a:ext cx="566928" cy="566928"/>
          </a:xfrm>
          <a:prstGeom prst="ellipse">
            <a:avLst/>
          </a:prstGeom>
          <a:solidFill>
            <a:srgbClr val="D95F6B"/>
          </a:solidFill>
          <a:ln w="12700">
            <a:solidFill>
              <a:srgbClr val="333333"/>
            </a:solidFill>
            <a:prstDash val="solid"/>
          </a:ln>
        </p:spPr>
      </p:sp>
      <p:sp>
        <p:nvSpPr>
          <p:cNvPr id="11" name="Text 9"/>
          <p:cNvSpPr txBox="1"/>
          <p:nvPr/>
        </p:nvSpPr>
        <p:spPr>
          <a:xfrm>
            <a:off x="6583680" y="181051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2" name="Text 10"/>
          <p:cNvSpPr txBox="1"/>
          <p:nvPr/>
        </p:nvSpPr>
        <p:spPr>
          <a:xfrm>
            <a:off x="7315200" y="1554480"/>
            <a:ext cx="4023360" cy="1097280"/>
          </a:xfrm>
          <a:prstGeom prst="rect">
            <a:avLst/>
          </a:prstGeom>
          <a:noFill/>
          <a:ln/>
        </p:spPr>
        <p:txBody>
          <a:bodyPr wrap="square" lIns="0" tIns="0" rIns="0" bIns="0" rtlCol="0" anchor="ctr"/>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Tim menempelkan seluruh basis data penumpang ke layanan LLM daring untuk diminta merangkum polanya.</a:t>
            </a:r>
            <a:endParaRPr lang="en-US" sz="1300" dirty="0"/>
          </a:p>
        </p:txBody>
      </p:sp>
      <p:sp>
        <p:nvSpPr>
          <p:cNvPr id="13" name="Shape 11"/>
          <p:cNvSpPr/>
          <p:nvPr/>
        </p:nvSpPr>
        <p:spPr>
          <a:xfrm>
            <a:off x="594360" y="3063240"/>
            <a:ext cx="5303520" cy="1463040"/>
          </a:xfrm>
          <a:prstGeom prst="roundRect">
            <a:avLst>
              <a:gd name="adj" fmla="val 562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4" name="Shape 12"/>
          <p:cNvSpPr/>
          <p:nvPr/>
        </p:nvSpPr>
        <p:spPr>
          <a:xfrm>
            <a:off x="914400" y="3502152"/>
            <a:ext cx="566928" cy="566928"/>
          </a:xfrm>
          <a:prstGeom prst="ellipse">
            <a:avLst/>
          </a:prstGeom>
          <a:solidFill>
            <a:srgbClr val="8F72CC"/>
          </a:solidFill>
          <a:ln w="12700">
            <a:solidFill>
              <a:srgbClr val="333333"/>
            </a:solidFill>
            <a:prstDash val="solid"/>
          </a:ln>
        </p:spPr>
      </p:sp>
      <p:sp>
        <p:nvSpPr>
          <p:cNvPr id="15" name="Text 13"/>
          <p:cNvSpPr txBox="1"/>
          <p:nvPr/>
        </p:nvSpPr>
        <p:spPr>
          <a:xfrm>
            <a:off x="914400"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
            </a:r>
            <a:endParaRPr lang="en-US" sz="1900" dirty="0"/>
          </a:p>
        </p:txBody>
      </p:sp>
      <p:sp>
        <p:nvSpPr>
          <p:cNvPr id="16" name="Text 14"/>
          <p:cNvSpPr txBox="1"/>
          <p:nvPr/>
        </p:nvSpPr>
        <p:spPr>
          <a:xfrm>
            <a:off x="1645920" y="3246120"/>
            <a:ext cx="4023360" cy="1097280"/>
          </a:xfrm>
          <a:prstGeom prst="rect">
            <a:avLst/>
          </a:prstGeom>
          <a:noFill/>
          <a:ln/>
        </p:spPr>
        <p:txBody>
          <a:bodyPr wrap="square" lIns="0" tIns="0" rIns="0" bIns="0" rtlCol="0" anchor="ctr"/>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LLM menyebut sebuah rujukan penelitian lengkap dengan nama penulis dan tahun. Setelah dicari, penelitian itu tidak ada.</a:t>
            </a:r>
            <a:endParaRPr lang="en-US" sz="1300" dirty="0"/>
          </a:p>
        </p:txBody>
      </p:sp>
      <p:sp>
        <p:nvSpPr>
          <p:cNvPr id="17" name="Shape 15"/>
          <p:cNvSpPr/>
          <p:nvPr/>
        </p:nvSpPr>
        <p:spPr>
          <a:xfrm>
            <a:off x="6263640" y="3063240"/>
            <a:ext cx="5303520" cy="1463040"/>
          </a:xfrm>
          <a:prstGeom prst="roundRect">
            <a:avLst>
              <a:gd name="adj" fmla="val 5625"/>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8" name="Shape 16"/>
          <p:cNvSpPr/>
          <p:nvPr/>
        </p:nvSpPr>
        <p:spPr>
          <a:xfrm>
            <a:off x="6583680" y="3502152"/>
            <a:ext cx="566928" cy="566928"/>
          </a:xfrm>
          <a:prstGeom prst="ellipse">
            <a:avLst/>
          </a:prstGeom>
          <a:solidFill>
            <a:srgbClr val="6FA45A"/>
          </a:solidFill>
          <a:ln w="12700">
            <a:solidFill>
              <a:srgbClr val="333333"/>
            </a:solidFill>
            <a:prstDash val="solid"/>
          </a:ln>
        </p:spPr>
      </p:sp>
      <p:sp>
        <p:nvSpPr>
          <p:cNvPr id="19" name="Text 17"/>
          <p:cNvSpPr txBox="1"/>
          <p:nvPr/>
        </p:nvSpPr>
        <p:spPr>
          <a:xfrm>
            <a:off x="6583680"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a:t>
            </a:r>
            <a:endParaRPr lang="en-US" sz="1900" dirty="0"/>
          </a:p>
        </p:txBody>
      </p:sp>
      <p:sp>
        <p:nvSpPr>
          <p:cNvPr id="20" name="Text 18"/>
          <p:cNvSpPr txBox="1"/>
          <p:nvPr/>
        </p:nvSpPr>
        <p:spPr>
          <a:xfrm>
            <a:off x="7315200" y="3246120"/>
            <a:ext cx="4023360" cy="1097280"/>
          </a:xfrm>
          <a:prstGeom prst="rect">
            <a:avLst/>
          </a:prstGeom>
          <a:noFill/>
          <a:ln/>
        </p:spPr>
        <p:txBody>
          <a:bodyPr wrap="square" lIns="0" tIns="0" rIns="0" bIns="0" rtlCol="0" anchor="ctr"/>
          <a:lstStyle/>
          <a:p>
            <a:pPr algn="l" indent="0" marL="0">
              <a:lnSpc>
                <a:spcPct val="125000"/>
              </a:lnSpc>
              <a:buNone/>
            </a:pPr>
            <a:r>
              <a:rPr lang="en-US" sz="1300" dirty="0">
                <a:solidFill>
                  <a:srgbClr val="13272E"/>
                </a:solidFill>
                <a:latin typeface="Calibri" pitchFamily="34" charset="0"/>
                <a:ea typeface="Calibri" pitchFamily="34" charset="-122"/>
                <a:cs typeface="Calibri" pitchFamily="34" charset="-120"/>
              </a:rPr>
              <a:t>Model penyaring lamaran kerja dibangun di atas LLM. Ia lebih sering meloloskan lamaran dengan pola bahasa tertentu.</a:t>
            </a:r>
            <a:endParaRPr lang="en-US" sz="1300" dirty="0"/>
          </a:p>
        </p:txBody>
      </p:sp>
      <p:sp>
        <p:nvSpPr>
          <p:cNvPr id="21" name="Shape 19"/>
          <p:cNvSpPr/>
          <p:nvPr/>
        </p:nvSpPr>
        <p:spPr>
          <a:xfrm>
            <a:off x="594360" y="4846320"/>
            <a:ext cx="11002975" cy="914400"/>
          </a:xfrm>
          <a:prstGeom prst="roundRect">
            <a:avLst>
              <a:gd name="adj" fmla="val 9000"/>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22" name="Text 20"/>
          <p:cNvSpPr txBox="1"/>
          <p:nvPr/>
        </p:nvSpPr>
        <p:spPr>
          <a:xfrm>
            <a:off x="1005840" y="5047488"/>
            <a:ext cx="10180015" cy="640080"/>
          </a:xfrm>
          <a:prstGeom prst="rect">
            <a:avLst/>
          </a:prstGeom>
          <a:noFill/>
          <a:ln/>
        </p:spPr>
        <p:txBody>
          <a:bodyPr wrap="square" lIns="0" tIns="0" rIns="0" bIns="0" rtlCol="0" anchor="t"/>
          <a:lstStyle/>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Untuk tiap situasi: aturan mana yang dilanggar, apa akibat yang mungkin timbul, dan apa yang seharusnya dilakukan?</a:t>
            </a:r>
            <a:endParaRPr lang="en-US" sz="1450" dirty="0"/>
          </a:p>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Diskusi kelompok 4 orang · 12 menit.</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KEGIATAN KELAS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Presentasi Kilat Algoritma · Sesi 2</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94360" y="1188720"/>
            <a:ext cx="11002975" cy="411480"/>
          </a:xfrm>
          <a:prstGeom prst="rect">
            <a:avLst/>
          </a:prstGeom>
          <a:noFill/>
          <a:ln/>
        </p:spPr>
        <p:txBody>
          <a:bodyPr wrap="square" lIns="0" tIns="0" rIns="0" bIns="0" rtlCol="0" anchor="t"/>
          <a:lstStyle/>
          <a:p>
            <a:pPr algn="l" indent="0" marL="0">
              <a:lnSpc>
                <a:spcPct val="125000"/>
              </a:lnSpc>
              <a:buNone/>
            </a:pPr>
            <a:r>
              <a:rPr lang="en-US" sz="1450" dirty="0">
                <a:solidFill>
                  <a:srgbClr val="13272E"/>
                </a:solidFill>
                <a:latin typeface="Calibri" pitchFamily="34" charset="0"/>
                <a:ea typeface="Calibri" pitchFamily="34" charset="-122"/>
                <a:cs typeface="Calibri" pitchFamily="34" charset="-120"/>
              </a:rPr>
              <a:t>Tiap kelompok memaparkan satu algoritma yang diundi selama 5–7 menit. Rujukan utama: dokumentasi scikit-learn User Guide, ISL [11], dan catatan kuliah CS 189 [10].</a:t>
            </a:r>
            <a:endParaRPr lang="en-US" sz="1450" dirty="0"/>
          </a:p>
        </p:txBody>
      </p:sp>
      <p:sp>
        <p:nvSpPr>
          <p:cNvPr id="6" name="Shape 4"/>
          <p:cNvSpPr/>
          <p:nvPr/>
        </p:nvSpPr>
        <p:spPr>
          <a:xfrm>
            <a:off x="594360" y="1737360"/>
            <a:ext cx="5486400" cy="2377440"/>
          </a:xfrm>
          <a:prstGeom prst="roundRect">
            <a:avLst>
              <a:gd name="adj" fmla="val 3462"/>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7" name="Text 5"/>
          <p:cNvSpPr txBox="1"/>
          <p:nvPr/>
        </p:nvSpPr>
        <p:spPr>
          <a:xfrm>
            <a:off x="960120" y="1920240"/>
            <a:ext cx="4754880" cy="274320"/>
          </a:xfrm>
          <a:prstGeom prst="rect">
            <a:avLst/>
          </a:prstGeom>
          <a:noFill/>
          <a:ln/>
        </p:spPr>
        <p:txBody>
          <a:bodyPr wrap="square" lIns="0" tIns="0" rIns="0" bIns="0" rtlCol="0" anchor="t"/>
          <a:lstStyle/>
          <a:p>
            <a:pPr algn="l" indent="0" marL="0">
              <a:buNone/>
            </a:pPr>
            <a:r>
              <a:rPr lang="en-US" sz="1700" b="1" dirty="0">
                <a:solidFill>
                  <a:srgbClr val="1F7A8C"/>
                </a:solidFill>
                <a:latin typeface="Cambria" pitchFamily="34" charset="0"/>
                <a:ea typeface="Cambria" pitchFamily="34" charset="-122"/>
                <a:cs typeface="Cambria" pitchFamily="34" charset="-120"/>
              </a:rPr>
              <a:t>Daftar topik sesi 2</a:t>
            </a:r>
            <a:endParaRPr lang="en-US" sz="1700" dirty="0"/>
          </a:p>
        </p:txBody>
      </p:sp>
      <p:sp>
        <p:nvSpPr>
          <p:cNvPr id="8" name="Text 6"/>
          <p:cNvSpPr txBox="1"/>
          <p:nvPr/>
        </p:nvSpPr>
        <p:spPr>
          <a:xfrm>
            <a:off x="960120" y="2286000"/>
            <a:ext cx="4754880" cy="173736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K-Means</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Hierarchical Clustering</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Agglomerative Clustering</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HDBSCAN</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Principal Component Analysis (PCA)</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Gaussian Processes</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Isotonic Regression</a:t>
            </a:r>
            <a:endParaRPr lang="en-US" sz="1250" dirty="0"/>
          </a:p>
          <a:p>
            <a:pPr marL="342900" indent="-342900">
              <a:spcAft>
                <a:spcPts val="200"/>
              </a:spcAft>
              <a:buSzPct val="100000"/>
              <a:buChar char="•"/>
            </a:pPr>
            <a:r>
              <a:rPr lang="en-US" sz="1250" dirty="0">
                <a:solidFill>
                  <a:srgbClr val="13272E"/>
                </a:solidFill>
                <a:latin typeface="Calibri" pitchFamily="34" charset="0"/>
                <a:ea typeface="Calibri" pitchFamily="34" charset="-122"/>
                <a:cs typeface="Calibri" pitchFamily="34" charset="-120"/>
              </a:rPr>
              <a:t>Neural Network Models (supervised)</a:t>
            </a:r>
            <a:endParaRPr lang="en-US" sz="1250" dirty="0"/>
          </a:p>
        </p:txBody>
      </p:sp>
      <p:sp>
        <p:nvSpPr>
          <p:cNvPr id="9" name="Shape 7"/>
          <p:cNvSpPr/>
          <p:nvPr/>
        </p:nvSpPr>
        <p:spPr>
          <a:xfrm>
            <a:off x="6537960" y="1737360"/>
            <a:ext cx="5029200" cy="2377440"/>
          </a:xfrm>
          <a:prstGeom prst="roundRect">
            <a:avLst>
              <a:gd name="adj" fmla="val 3462"/>
            </a:avLst>
          </a:prstGeom>
          <a:solidFill>
            <a:srgbClr val="0F3743"/>
          </a:solidFill>
          <a:ln w="12700">
            <a:solidFill>
              <a:srgbClr val="0F3743"/>
            </a:solidFill>
            <a:prstDash val="solid"/>
          </a:ln>
          <a:effectLst>
            <a:outerShdw sx="100000" sy="100000" kx="0" ky="0" algn="bl" rotWithShape="0" blurRad="101600" dist="508" dir="5400000">
              <a:srgbClr val="A9BABF">
                <a:alpha val="30000"/>
              </a:srgbClr>
            </a:outerShdw>
          </a:effectLst>
        </p:spPr>
      </p:sp>
      <p:sp>
        <p:nvSpPr>
          <p:cNvPr id="10" name="Text 8"/>
          <p:cNvSpPr txBox="1"/>
          <p:nvPr/>
        </p:nvSpPr>
        <p:spPr>
          <a:xfrm>
            <a:off x="6858000" y="1920240"/>
            <a:ext cx="4389120" cy="274320"/>
          </a:xfrm>
          <a:prstGeom prst="rect">
            <a:avLst/>
          </a:prstGeom>
          <a:noFill/>
          <a:ln/>
        </p:spPr>
        <p:txBody>
          <a:bodyPr wrap="square" lIns="0" tIns="0" rIns="0" bIns="0" rtlCol="0" anchor="t"/>
          <a:lstStyle/>
          <a:p>
            <a:pPr algn="l" indent="0" marL="0">
              <a:buNone/>
            </a:pPr>
            <a:r>
              <a:rPr lang="en-US" sz="1700" b="1" dirty="0">
                <a:solidFill>
                  <a:srgbClr val="6FC7D6"/>
                </a:solidFill>
                <a:latin typeface="Cambria" pitchFamily="34" charset="0"/>
                <a:ea typeface="Cambria" pitchFamily="34" charset="-122"/>
                <a:cs typeface="Cambria" pitchFamily="34" charset="-120"/>
              </a:rPr>
              <a:t>Struktur yang wajib dipenuhi</a:t>
            </a:r>
            <a:endParaRPr lang="en-US" sz="1700" dirty="0"/>
          </a:p>
        </p:txBody>
      </p:sp>
      <p:sp>
        <p:nvSpPr>
          <p:cNvPr id="11" name="Text 9"/>
          <p:cNvSpPr txBox="1"/>
          <p:nvPr/>
        </p:nvSpPr>
        <p:spPr>
          <a:xfrm>
            <a:off x="6903720" y="2304288"/>
            <a:ext cx="274320" cy="274320"/>
          </a:xfrm>
          <a:prstGeom prst="rect">
            <a:avLst/>
          </a:prstGeom>
          <a:noFill/>
          <a:ln/>
        </p:spPr>
        <p:txBody>
          <a:bodyPr wrap="square" lIns="0" tIns="0" rIns="0" bIns="0" rtlCol="0" anchor="t"/>
          <a:lstStyle/>
          <a:p>
            <a:pPr algn="l" indent="0" marL="0">
              <a:buNone/>
            </a:pPr>
            <a:r>
              <a:rPr lang="en-US" sz="1300" b="1" dirty="0">
                <a:solidFill>
                  <a:srgbClr val="6FC7D6"/>
                </a:solidFill>
                <a:latin typeface="Courier New" pitchFamily="34" charset="0"/>
                <a:ea typeface="Courier New" pitchFamily="34" charset="-122"/>
                <a:cs typeface="Courier New" pitchFamily="34" charset="-120"/>
              </a:rPr>
              <a:t>1</a:t>
            </a:r>
            <a:endParaRPr lang="en-US" sz="1300" dirty="0"/>
          </a:p>
        </p:txBody>
      </p:sp>
      <p:sp>
        <p:nvSpPr>
          <p:cNvPr id="12" name="Text 10"/>
          <p:cNvSpPr txBox="1"/>
          <p:nvPr/>
        </p:nvSpPr>
        <p:spPr>
          <a:xfrm>
            <a:off x="7269480" y="2304288"/>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Prinsip kerja algoritma</a:t>
            </a:r>
            <a:endParaRPr lang="en-US" sz="1350" dirty="0"/>
          </a:p>
        </p:txBody>
      </p:sp>
      <p:sp>
        <p:nvSpPr>
          <p:cNvPr id="13" name="Text 11"/>
          <p:cNvSpPr txBox="1"/>
          <p:nvPr/>
        </p:nvSpPr>
        <p:spPr>
          <a:xfrm>
            <a:off x="6903720" y="2642616"/>
            <a:ext cx="274320" cy="274320"/>
          </a:xfrm>
          <a:prstGeom prst="rect">
            <a:avLst/>
          </a:prstGeom>
          <a:noFill/>
          <a:ln/>
        </p:spPr>
        <p:txBody>
          <a:bodyPr wrap="square" lIns="0" tIns="0" rIns="0" bIns="0" rtlCol="0" anchor="t"/>
          <a:lstStyle/>
          <a:p>
            <a:pPr algn="l" indent="0" marL="0">
              <a:buNone/>
            </a:pPr>
            <a:r>
              <a:rPr lang="en-US" sz="1300" b="1" dirty="0">
                <a:solidFill>
                  <a:srgbClr val="6FC7D6"/>
                </a:solidFill>
                <a:latin typeface="Courier New" pitchFamily="34" charset="0"/>
                <a:ea typeface="Courier New" pitchFamily="34" charset="-122"/>
                <a:cs typeface="Courier New" pitchFamily="34" charset="-120"/>
              </a:rPr>
              <a:t>2</a:t>
            </a:r>
            <a:endParaRPr lang="en-US" sz="1300" dirty="0"/>
          </a:p>
        </p:txBody>
      </p:sp>
      <p:sp>
        <p:nvSpPr>
          <p:cNvPr id="14" name="Text 12"/>
          <p:cNvSpPr txBox="1"/>
          <p:nvPr/>
        </p:nvSpPr>
        <p:spPr>
          <a:xfrm>
            <a:off x="7269480" y="2642616"/>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Asumsi yang mendasarinya</a:t>
            </a:r>
            <a:endParaRPr lang="en-US" sz="1350" dirty="0"/>
          </a:p>
        </p:txBody>
      </p:sp>
      <p:sp>
        <p:nvSpPr>
          <p:cNvPr id="15" name="Text 13"/>
          <p:cNvSpPr txBox="1"/>
          <p:nvPr/>
        </p:nvSpPr>
        <p:spPr>
          <a:xfrm>
            <a:off x="6903720" y="2980944"/>
            <a:ext cx="274320" cy="274320"/>
          </a:xfrm>
          <a:prstGeom prst="rect">
            <a:avLst/>
          </a:prstGeom>
          <a:noFill/>
          <a:ln/>
        </p:spPr>
        <p:txBody>
          <a:bodyPr wrap="square" lIns="0" tIns="0" rIns="0" bIns="0" rtlCol="0" anchor="t"/>
          <a:lstStyle/>
          <a:p>
            <a:pPr algn="l" indent="0" marL="0">
              <a:buNone/>
            </a:pPr>
            <a:r>
              <a:rPr lang="en-US" sz="1300" b="1" dirty="0">
                <a:solidFill>
                  <a:srgbClr val="6FC7D6"/>
                </a:solidFill>
                <a:latin typeface="Courier New" pitchFamily="34" charset="0"/>
                <a:ea typeface="Courier New" pitchFamily="34" charset="-122"/>
                <a:cs typeface="Courier New" pitchFamily="34" charset="-120"/>
              </a:rPr>
              <a:t>3</a:t>
            </a:r>
            <a:endParaRPr lang="en-US" sz="1300" dirty="0"/>
          </a:p>
        </p:txBody>
      </p:sp>
      <p:sp>
        <p:nvSpPr>
          <p:cNvPr id="16" name="Text 14"/>
          <p:cNvSpPr txBox="1"/>
          <p:nvPr/>
        </p:nvSpPr>
        <p:spPr>
          <a:xfrm>
            <a:off x="7269480" y="2980944"/>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Kelebihan dan keterbatasan</a:t>
            </a:r>
            <a:endParaRPr lang="en-US" sz="1350" dirty="0"/>
          </a:p>
        </p:txBody>
      </p:sp>
      <p:sp>
        <p:nvSpPr>
          <p:cNvPr id="17" name="Text 15"/>
          <p:cNvSpPr txBox="1"/>
          <p:nvPr/>
        </p:nvSpPr>
        <p:spPr>
          <a:xfrm>
            <a:off x="6903720" y="3319272"/>
            <a:ext cx="274320" cy="274320"/>
          </a:xfrm>
          <a:prstGeom prst="rect">
            <a:avLst/>
          </a:prstGeom>
          <a:noFill/>
          <a:ln/>
        </p:spPr>
        <p:txBody>
          <a:bodyPr wrap="square" lIns="0" tIns="0" rIns="0" bIns="0" rtlCol="0" anchor="t"/>
          <a:lstStyle/>
          <a:p>
            <a:pPr algn="l" indent="0" marL="0">
              <a:buNone/>
            </a:pPr>
            <a:r>
              <a:rPr lang="en-US" sz="1300" b="1" dirty="0">
                <a:solidFill>
                  <a:srgbClr val="6FC7D6"/>
                </a:solidFill>
                <a:latin typeface="Courier New" pitchFamily="34" charset="0"/>
                <a:ea typeface="Courier New" pitchFamily="34" charset="-122"/>
                <a:cs typeface="Courier New" pitchFamily="34" charset="-120"/>
              </a:rPr>
              <a:t>4</a:t>
            </a:r>
            <a:endParaRPr lang="en-US" sz="1300" dirty="0"/>
          </a:p>
        </p:txBody>
      </p:sp>
      <p:sp>
        <p:nvSpPr>
          <p:cNvPr id="18" name="Text 16"/>
          <p:cNvSpPr txBox="1"/>
          <p:nvPr/>
        </p:nvSpPr>
        <p:spPr>
          <a:xfrm>
            <a:off x="7269480" y="3319272"/>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Kapan tepat digunakan</a:t>
            </a:r>
            <a:endParaRPr lang="en-US" sz="1350" dirty="0"/>
          </a:p>
        </p:txBody>
      </p:sp>
      <p:sp>
        <p:nvSpPr>
          <p:cNvPr id="19" name="Text 17"/>
          <p:cNvSpPr txBox="1"/>
          <p:nvPr/>
        </p:nvSpPr>
        <p:spPr>
          <a:xfrm>
            <a:off x="6903720" y="3657600"/>
            <a:ext cx="274320" cy="274320"/>
          </a:xfrm>
          <a:prstGeom prst="rect">
            <a:avLst/>
          </a:prstGeom>
          <a:noFill/>
          <a:ln/>
        </p:spPr>
        <p:txBody>
          <a:bodyPr wrap="square" lIns="0" tIns="0" rIns="0" bIns="0" rtlCol="0" anchor="t"/>
          <a:lstStyle/>
          <a:p>
            <a:pPr algn="l" indent="0" marL="0">
              <a:buNone/>
            </a:pPr>
            <a:r>
              <a:rPr lang="en-US" sz="1300" b="1" dirty="0">
                <a:solidFill>
                  <a:srgbClr val="6FC7D6"/>
                </a:solidFill>
                <a:latin typeface="Courier New" pitchFamily="34" charset="0"/>
                <a:ea typeface="Courier New" pitchFamily="34" charset="-122"/>
                <a:cs typeface="Courier New" pitchFamily="34" charset="-120"/>
              </a:rPr>
              <a:t>5</a:t>
            </a:r>
            <a:endParaRPr lang="en-US" sz="1300" dirty="0"/>
          </a:p>
        </p:txBody>
      </p:sp>
      <p:sp>
        <p:nvSpPr>
          <p:cNvPr id="20" name="Text 18"/>
          <p:cNvSpPr txBox="1"/>
          <p:nvPr/>
        </p:nvSpPr>
        <p:spPr>
          <a:xfrm>
            <a:off x="7269480" y="3657600"/>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Satu contoh penerapan nyata</a:t>
            </a:r>
            <a:endParaRPr lang="en-US" sz="1350" dirty="0"/>
          </a:p>
        </p:txBody>
      </p:sp>
      <p:sp>
        <p:nvSpPr>
          <p:cNvPr id="21" name="Shape 19"/>
          <p:cNvSpPr/>
          <p:nvPr/>
        </p:nvSpPr>
        <p:spPr>
          <a:xfrm>
            <a:off x="594360" y="4297680"/>
            <a:ext cx="11002975" cy="1463040"/>
          </a:xfrm>
          <a:prstGeom prst="roundRect">
            <a:avLst>
              <a:gd name="adj" fmla="val 5625"/>
            </a:avLst>
          </a:prstGeom>
          <a:solidFill>
            <a:srgbClr val="F0EBF9"/>
          </a:solidFill>
          <a:ln w="12700">
            <a:solidFill>
              <a:srgbClr val="D9CDEF"/>
            </a:solidFill>
            <a:prstDash val="solid"/>
          </a:ln>
          <a:effectLst>
            <a:outerShdw sx="100000" sy="100000" kx="0" ky="0" algn="bl" rotWithShape="0" blurRad="101600" dist="508" dir="5400000">
              <a:srgbClr val="A9BABF">
                <a:alpha val="30000"/>
              </a:srgbClr>
            </a:outerShdw>
          </a:effectLst>
        </p:spPr>
      </p:sp>
      <p:sp>
        <p:nvSpPr>
          <p:cNvPr id="22" name="Text 20"/>
          <p:cNvSpPr txBox="1"/>
          <p:nvPr/>
        </p:nvSpPr>
        <p:spPr>
          <a:xfrm>
            <a:off x="1005840" y="4480560"/>
            <a:ext cx="10180015" cy="292608"/>
          </a:xfrm>
          <a:prstGeom prst="rect">
            <a:avLst/>
          </a:prstGeom>
          <a:noFill/>
          <a:ln/>
        </p:spPr>
        <p:txBody>
          <a:bodyPr wrap="square" lIns="0" tIns="0" rIns="0" bIns="0" rtlCol="0" anchor="t"/>
          <a:lstStyle/>
          <a:p>
            <a:pPr algn="l" indent="0" marL="0">
              <a:buNone/>
            </a:pPr>
            <a:r>
              <a:rPr lang="en-US" sz="1700" b="1" dirty="0">
                <a:solidFill>
                  <a:srgbClr val="5A4489"/>
                </a:solidFill>
                <a:latin typeface="Cambria" pitchFamily="34" charset="0"/>
                <a:ea typeface="Cambria" pitchFamily="34" charset="-122"/>
                <a:cs typeface="Cambria" pitchFamily="34" charset="-120"/>
              </a:rPr>
              <a:t>Tugas Terstruktur 5  ·  Bobot 4%  ·  Mengukur CPMK081 (belajar sepanjang hayat)</a:t>
            </a:r>
            <a:endParaRPr lang="en-US" sz="1700" dirty="0"/>
          </a:p>
        </p:txBody>
      </p:sp>
      <p:sp>
        <p:nvSpPr>
          <p:cNvPr id="23" name="Text 21"/>
          <p:cNvSpPr txBox="1"/>
          <p:nvPr/>
        </p:nvSpPr>
        <p:spPr>
          <a:xfrm>
            <a:off x="1005840" y="4846320"/>
            <a:ext cx="10180015" cy="868680"/>
          </a:xfrm>
          <a:prstGeom prst="rect">
            <a:avLst/>
          </a:prstGeom>
          <a:noFill/>
          <a:ln/>
        </p:spPr>
        <p:txBody>
          <a:bodyPr wrap="square" lIns="0" tIns="0" rIns="0" bIns="0" rtlCol="0" anchor="t"/>
          <a:lstStyle/>
          <a:p>
            <a:pPr algn="l" indent="0" marL="0">
              <a:lnSpc>
                <a:spcPct val="128000"/>
              </a:lnSpc>
              <a:buNone/>
            </a:pPr>
            <a:r>
              <a:rPr lang="en-US" sz="1300" dirty="0">
                <a:solidFill>
                  <a:srgbClr val="5A4489"/>
                </a:solidFill>
                <a:latin typeface="Calibri" pitchFamily="34" charset="0"/>
                <a:ea typeface="Calibri" pitchFamily="34" charset="-122"/>
                <a:cs typeface="Calibri" pitchFamily="34" charset="-120"/>
              </a:rPr>
              <a:t>Selain memaparkan, tiap kelompok menyerahkan laporan telaah mandiri yang memuat: (1) prinsip kerja algoritma dengan bahasa sendiri; (2) sumber primer yang Anda gunakan; (3) rencana belajar mandiri Anda ke depan disertai indikator keberhasilan; dan (4) refleksi jujur tentang kesenjangan pengetahuan yang Anda temukan. Dinilai dengan rubrik belajar mandiri pada Lampiran 3b RPS.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WASPADAI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Empat salah kaprah yang paling sering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594360" y="1325880"/>
            <a:ext cx="11002975" cy="932688"/>
          </a:xfrm>
          <a:prstGeom prst="roundRect">
            <a:avLst>
              <a:gd name="adj" fmla="val 8824"/>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868680" y="1545336"/>
            <a:ext cx="502920" cy="502920"/>
          </a:xfrm>
          <a:prstGeom prst="ellipse">
            <a:avLst/>
          </a:prstGeom>
          <a:solidFill>
            <a:srgbClr val="D95F6B"/>
          </a:solidFill>
          <a:ln w="12700">
            <a:solidFill>
              <a:srgbClr val="333333"/>
            </a:solidFill>
            <a:prstDash val="solid"/>
          </a:ln>
        </p:spPr>
      </p:sp>
      <p:sp>
        <p:nvSpPr>
          <p:cNvPr id="7" name="Text 5"/>
          <p:cNvSpPr txBox="1"/>
          <p:nvPr/>
        </p:nvSpPr>
        <p:spPr>
          <a:xfrm>
            <a:off x="868680" y="1545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txBox="1"/>
          <p:nvPr/>
        </p:nvSpPr>
        <p:spPr>
          <a:xfrm>
            <a:off x="1554480" y="1453896"/>
            <a:ext cx="429768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D95F6B"/>
                </a:solidFill>
                <a:latin typeface="Calibri" pitchFamily="34" charset="0"/>
                <a:ea typeface="Calibri" pitchFamily="34" charset="-122"/>
                <a:cs typeface="Calibri" pitchFamily="34" charset="-120"/>
              </a:rPr>
              <a:t>TF-IDF memahami makna kata</a:t>
            </a:r>
            <a:endParaRPr lang="en-US" sz="1450" dirty="0"/>
          </a:p>
        </p:txBody>
      </p:sp>
      <p:sp>
        <p:nvSpPr>
          <p:cNvPr id="9" name="Text 7"/>
          <p:cNvSpPr txBox="1"/>
          <p:nvPr/>
        </p:nvSpPr>
        <p:spPr>
          <a:xfrm>
            <a:off x="6035040" y="1435608"/>
            <a:ext cx="5486400" cy="731520"/>
          </a:xfrm>
          <a:prstGeom prst="rect">
            <a:avLst/>
          </a:prstGeom>
          <a:noFill/>
          <a:ln/>
        </p:spPr>
        <p:txBody>
          <a:bodyPr wrap="square" lIns="0" tIns="0" rIns="0" bIns="0" rtlCol="0" anchor="ctr"/>
          <a:lstStyle/>
          <a:p>
            <a:pPr algn="l" indent="0" marL="0">
              <a:lnSpc>
                <a:spcPct val="120000"/>
              </a:lnSpc>
              <a:buNone/>
            </a:pPr>
            <a:r>
              <a:rPr lang="en-US" sz="1300" dirty="0">
                <a:solidFill>
                  <a:srgbClr val="13272E"/>
                </a:solidFill>
                <a:latin typeface="Calibri" pitchFamily="34" charset="0"/>
                <a:ea typeface="Calibri" pitchFamily="34" charset="-122"/>
                <a:cs typeface="Calibri" pitchFamily="34" charset="-120"/>
              </a:rPr>
              <a:t>Ia hanya menghitung frekuensi. Kata "murah" dan "mahal" sama asingnya satu sama lain seperti kata mana pun.</a:t>
            </a:r>
            <a:endParaRPr lang="en-US" sz="1300" dirty="0"/>
          </a:p>
        </p:txBody>
      </p:sp>
      <p:sp>
        <p:nvSpPr>
          <p:cNvPr id="10" name="Shape 8"/>
          <p:cNvSpPr/>
          <p:nvPr/>
        </p:nvSpPr>
        <p:spPr>
          <a:xfrm>
            <a:off x="594360" y="2404872"/>
            <a:ext cx="11002975" cy="932688"/>
          </a:xfrm>
          <a:prstGeom prst="roundRect">
            <a:avLst>
              <a:gd name="adj" fmla="val 8824"/>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1" name="Shape 9"/>
          <p:cNvSpPr/>
          <p:nvPr/>
        </p:nvSpPr>
        <p:spPr>
          <a:xfrm>
            <a:off x="868680" y="2624328"/>
            <a:ext cx="502920" cy="502920"/>
          </a:xfrm>
          <a:prstGeom prst="ellipse">
            <a:avLst/>
          </a:prstGeom>
          <a:solidFill>
            <a:srgbClr val="D95F6B"/>
          </a:solidFill>
          <a:ln w="12700">
            <a:solidFill>
              <a:srgbClr val="333333"/>
            </a:solidFill>
            <a:prstDash val="solid"/>
          </a:ln>
        </p:spPr>
      </p:sp>
      <p:sp>
        <p:nvSpPr>
          <p:cNvPr id="12" name="Text 10"/>
          <p:cNvSpPr txBox="1"/>
          <p:nvPr/>
        </p:nvSpPr>
        <p:spPr>
          <a:xfrm>
            <a:off x="868680" y="26243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txBox="1"/>
          <p:nvPr/>
        </p:nvSpPr>
        <p:spPr>
          <a:xfrm>
            <a:off x="1554480" y="2532888"/>
            <a:ext cx="429768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D95F6B"/>
                </a:solidFill>
                <a:latin typeface="Calibri" pitchFamily="34" charset="0"/>
                <a:ea typeface="Calibri" pitchFamily="34" charset="-122"/>
                <a:cs typeface="Calibri" pitchFamily="34" charset="-120"/>
              </a:rPr>
              <a:t>LLM mencari jawaban di suatu basis data</a:t>
            </a:r>
            <a:endParaRPr lang="en-US" sz="1450" dirty="0"/>
          </a:p>
        </p:txBody>
      </p:sp>
      <p:sp>
        <p:nvSpPr>
          <p:cNvPr id="14" name="Text 12"/>
          <p:cNvSpPr txBox="1"/>
          <p:nvPr/>
        </p:nvSpPr>
        <p:spPr>
          <a:xfrm>
            <a:off x="6035040" y="2514600"/>
            <a:ext cx="5486400" cy="731520"/>
          </a:xfrm>
          <a:prstGeom prst="rect">
            <a:avLst/>
          </a:prstGeom>
          <a:noFill/>
          <a:ln/>
        </p:spPr>
        <p:txBody>
          <a:bodyPr wrap="square" lIns="0" tIns="0" rIns="0" bIns="0" rtlCol="0" anchor="ctr"/>
          <a:lstStyle/>
          <a:p>
            <a:pPr algn="l" indent="0" marL="0">
              <a:lnSpc>
                <a:spcPct val="120000"/>
              </a:lnSpc>
              <a:buNone/>
            </a:pPr>
            <a:r>
              <a:rPr lang="en-US" sz="1300" dirty="0">
                <a:solidFill>
                  <a:srgbClr val="13272E"/>
                </a:solidFill>
                <a:latin typeface="Calibri" pitchFamily="34" charset="0"/>
                <a:ea typeface="Calibri" pitchFamily="34" charset="-122"/>
                <a:cs typeface="Calibri" pitchFamily="34" charset="-120"/>
              </a:rPr>
              <a:t>Ia tidak mencari apa pun. Ia menghasilkan token berikutnya yang paling mungkin berdasarkan pola yang dipelajarinya.</a:t>
            </a:r>
            <a:endParaRPr lang="en-US" sz="1300" dirty="0"/>
          </a:p>
        </p:txBody>
      </p:sp>
      <p:sp>
        <p:nvSpPr>
          <p:cNvPr id="15" name="Shape 13"/>
          <p:cNvSpPr/>
          <p:nvPr/>
        </p:nvSpPr>
        <p:spPr>
          <a:xfrm>
            <a:off x="594360" y="3483864"/>
            <a:ext cx="11002975" cy="932688"/>
          </a:xfrm>
          <a:prstGeom prst="roundRect">
            <a:avLst>
              <a:gd name="adj" fmla="val 8824"/>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6" name="Shape 14"/>
          <p:cNvSpPr/>
          <p:nvPr/>
        </p:nvSpPr>
        <p:spPr>
          <a:xfrm>
            <a:off x="868680" y="3703320"/>
            <a:ext cx="502920" cy="502920"/>
          </a:xfrm>
          <a:prstGeom prst="ellipse">
            <a:avLst/>
          </a:prstGeom>
          <a:solidFill>
            <a:srgbClr val="D95F6B"/>
          </a:solidFill>
          <a:ln w="12700">
            <a:solidFill>
              <a:srgbClr val="333333"/>
            </a:solidFill>
            <a:prstDash val="solid"/>
          </a:ln>
        </p:spPr>
      </p:sp>
      <p:sp>
        <p:nvSpPr>
          <p:cNvPr id="17" name="Text 15"/>
          <p:cNvSpPr txBox="1"/>
          <p:nvPr/>
        </p:nvSpPr>
        <p:spPr>
          <a:xfrm>
            <a:off x="868680" y="3703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txBox="1"/>
          <p:nvPr/>
        </p:nvSpPr>
        <p:spPr>
          <a:xfrm>
            <a:off x="1554480" y="3611880"/>
            <a:ext cx="429768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D95F6B"/>
                </a:solidFill>
                <a:latin typeface="Calibri" pitchFamily="34" charset="0"/>
                <a:ea typeface="Calibri" pitchFamily="34" charset="-122"/>
                <a:cs typeface="Calibri" pitchFamily="34" charset="-120"/>
              </a:rPr>
              <a:t>Arsitektur yang lebih baru selalu lebih baik</a:t>
            </a:r>
            <a:endParaRPr lang="en-US" sz="1450" dirty="0"/>
          </a:p>
        </p:txBody>
      </p:sp>
      <p:sp>
        <p:nvSpPr>
          <p:cNvPr id="19" name="Text 17"/>
          <p:cNvSpPr txBox="1"/>
          <p:nvPr/>
        </p:nvSpPr>
        <p:spPr>
          <a:xfrm>
            <a:off x="6035040" y="3593592"/>
            <a:ext cx="5486400" cy="731520"/>
          </a:xfrm>
          <a:prstGeom prst="rect">
            <a:avLst/>
          </a:prstGeom>
          <a:noFill/>
          <a:ln/>
        </p:spPr>
        <p:txBody>
          <a:bodyPr wrap="square" lIns="0" tIns="0" rIns="0" bIns="0" rtlCol="0" anchor="ctr"/>
          <a:lstStyle/>
          <a:p>
            <a:pPr algn="l" indent="0" marL="0">
              <a:lnSpc>
                <a:spcPct val="120000"/>
              </a:lnSpc>
              <a:buNone/>
            </a:pPr>
            <a:r>
              <a:rPr lang="en-US" sz="1300" dirty="0">
                <a:solidFill>
                  <a:srgbClr val="13272E"/>
                </a:solidFill>
                <a:latin typeface="Calibri" pitchFamily="34" charset="0"/>
                <a:ea typeface="Calibri" pitchFamily="34" charset="-122"/>
                <a:cs typeface="Calibri" pitchFamily="34" charset="-120"/>
              </a:rPr>
              <a:t>Untuk data tabel, model pohon dari pertemuan 10 masih lebih unggul, lebih murah, dan lebih mudah dijelaskan.</a:t>
            </a:r>
            <a:endParaRPr lang="en-US" sz="1300" dirty="0"/>
          </a:p>
        </p:txBody>
      </p:sp>
      <p:sp>
        <p:nvSpPr>
          <p:cNvPr id="20" name="Shape 18"/>
          <p:cNvSpPr/>
          <p:nvPr/>
        </p:nvSpPr>
        <p:spPr>
          <a:xfrm>
            <a:off x="594360" y="4562856"/>
            <a:ext cx="11002975" cy="932688"/>
          </a:xfrm>
          <a:prstGeom prst="roundRect">
            <a:avLst>
              <a:gd name="adj" fmla="val 8824"/>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21" name="Shape 19"/>
          <p:cNvSpPr/>
          <p:nvPr/>
        </p:nvSpPr>
        <p:spPr>
          <a:xfrm>
            <a:off x="868680" y="4782312"/>
            <a:ext cx="502920" cy="502920"/>
          </a:xfrm>
          <a:prstGeom prst="ellipse">
            <a:avLst/>
          </a:prstGeom>
          <a:solidFill>
            <a:srgbClr val="D95F6B"/>
          </a:solidFill>
          <a:ln w="12700">
            <a:solidFill>
              <a:srgbClr val="333333"/>
            </a:solidFill>
            <a:prstDash val="solid"/>
          </a:ln>
        </p:spPr>
      </p:sp>
      <p:sp>
        <p:nvSpPr>
          <p:cNvPr id="22" name="Text 20"/>
          <p:cNvSpPr txBox="1"/>
          <p:nvPr/>
        </p:nvSpPr>
        <p:spPr>
          <a:xfrm>
            <a:off x="868680" y="47823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3" name="Text 21"/>
          <p:cNvSpPr txBox="1"/>
          <p:nvPr/>
        </p:nvSpPr>
        <p:spPr>
          <a:xfrm>
            <a:off x="1554480" y="4690872"/>
            <a:ext cx="429768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D95F6B"/>
                </a:solidFill>
                <a:latin typeface="Calibri" pitchFamily="34" charset="0"/>
                <a:ea typeface="Calibri" pitchFamily="34" charset="-122"/>
                <a:cs typeface="Calibri" pitchFamily="34" charset="-120"/>
              </a:rPr>
              <a:t>Keluaran yang lancar berarti keluaran yang benar</a:t>
            </a:r>
            <a:endParaRPr lang="en-US" sz="1450" dirty="0"/>
          </a:p>
        </p:txBody>
      </p:sp>
      <p:sp>
        <p:nvSpPr>
          <p:cNvPr id="24" name="Text 22"/>
          <p:cNvSpPr txBox="1"/>
          <p:nvPr/>
        </p:nvSpPr>
        <p:spPr>
          <a:xfrm>
            <a:off x="6035040" y="4672584"/>
            <a:ext cx="5486400" cy="731520"/>
          </a:xfrm>
          <a:prstGeom prst="rect">
            <a:avLst/>
          </a:prstGeom>
          <a:noFill/>
          <a:ln/>
        </p:spPr>
        <p:txBody>
          <a:bodyPr wrap="square" lIns="0" tIns="0" rIns="0" bIns="0" rtlCol="0" anchor="ctr"/>
          <a:lstStyle/>
          <a:p>
            <a:pPr algn="l" indent="0" marL="0">
              <a:lnSpc>
                <a:spcPct val="120000"/>
              </a:lnSpc>
              <a:buNone/>
            </a:pPr>
            <a:r>
              <a:rPr lang="en-US" sz="1300" dirty="0">
                <a:solidFill>
                  <a:srgbClr val="13272E"/>
                </a:solidFill>
                <a:latin typeface="Calibri" pitchFamily="34" charset="0"/>
                <a:ea typeface="Calibri" pitchFamily="34" charset="-122"/>
                <a:cs typeface="Calibri" pitchFamily="34" charset="-120"/>
              </a:rPr>
              <a:t>Kelancaran adalah hal yang paling dikuasai LLM. Kebenaran adalah hal yang sama sekali berbeda.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3743"/>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6FC7D6"/>
                </a:solidFill>
                <a:latin typeface="Calibri" pitchFamily="34" charset="0"/>
                <a:ea typeface="Calibri" pitchFamily="34" charset="-122"/>
                <a:cs typeface="Calibri" pitchFamily="34" charset="-120"/>
              </a:rPr>
              <a:t>RINGKASAN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Yang perlu Anda bawa pulang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22</a:t>
            </a:r>
            <a:endParaRPr lang="en-US" sz="1000" dirty="0"/>
          </a:p>
        </p:txBody>
      </p:sp>
      <p:sp>
        <p:nvSpPr>
          <p:cNvPr id="5" name="Shape 3"/>
          <p:cNvSpPr/>
          <p:nvPr/>
        </p:nvSpPr>
        <p:spPr>
          <a:xfrm>
            <a:off x="594360" y="137160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914400" y="1664208"/>
            <a:ext cx="457200" cy="41148"/>
          </a:xfrm>
          <a:prstGeom prst="rect">
            <a:avLst/>
          </a:prstGeom>
          <a:solidFill>
            <a:srgbClr val="D9922E"/>
          </a:solidFill>
          <a:ln w="12700">
            <a:solidFill>
              <a:srgbClr val="333333"/>
            </a:solidFill>
            <a:prstDash val="solid"/>
          </a:ln>
        </p:spPr>
      </p:sp>
      <p:sp>
        <p:nvSpPr>
          <p:cNvPr id="7" name="Text 5"/>
          <p:cNvSpPr txBox="1"/>
          <p:nvPr/>
        </p:nvSpPr>
        <p:spPr>
          <a:xfrm>
            <a:off x="914400" y="1810512"/>
            <a:ext cx="2880360" cy="320040"/>
          </a:xfrm>
          <a:prstGeom prst="rect">
            <a:avLst/>
          </a:prstGeom>
          <a:noFill/>
          <a:ln/>
        </p:spPr>
        <p:txBody>
          <a:bodyPr wrap="square" lIns="0" tIns="0" rIns="0" bIns="0" rtlCol="0" anchor="t"/>
          <a:lstStyle/>
          <a:p>
            <a:pPr algn="l" indent="0" marL="0">
              <a:buNone/>
            </a:pPr>
            <a:r>
              <a:rPr lang="en-US" sz="1600" b="1" dirty="0">
                <a:solidFill>
                  <a:srgbClr val="D9922E"/>
                </a:solidFill>
                <a:latin typeface="Cambria" pitchFamily="34" charset="0"/>
                <a:ea typeface="Cambria" pitchFamily="34" charset="-122"/>
                <a:cs typeface="Cambria" pitchFamily="34" charset="-120"/>
              </a:rPr>
              <a:t>Representasi teks</a:t>
            </a:r>
            <a:endParaRPr lang="en-US" sz="1600" dirty="0"/>
          </a:p>
        </p:txBody>
      </p:sp>
      <p:sp>
        <p:nvSpPr>
          <p:cNvPr id="8" name="Text 6"/>
          <p:cNvSpPr txBox="1"/>
          <p:nvPr/>
        </p:nvSpPr>
        <p:spPr>
          <a:xfrm>
            <a:off x="91440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Tokenisasi → kosakata → vektor.</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BoW mengabaikan urutan.</a:t>
            </a:r>
            <a:endParaRPr lang="en-US" sz="1250" dirty="0"/>
          </a:p>
        </p:txBody>
      </p:sp>
      <p:sp>
        <p:nvSpPr>
          <p:cNvPr id="9" name="Shape 7"/>
          <p:cNvSpPr/>
          <p:nvPr/>
        </p:nvSpPr>
        <p:spPr>
          <a:xfrm>
            <a:off x="4389120" y="137160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0" name="Shape 8"/>
          <p:cNvSpPr/>
          <p:nvPr/>
        </p:nvSpPr>
        <p:spPr>
          <a:xfrm>
            <a:off x="4709160" y="1664208"/>
            <a:ext cx="457200" cy="41148"/>
          </a:xfrm>
          <a:prstGeom prst="rect">
            <a:avLst/>
          </a:prstGeom>
          <a:solidFill>
            <a:srgbClr val="D9922E"/>
          </a:solidFill>
          <a:ln w="12700">
            <a:solidFill>
              <a:srgbClr val="333333"/>
            </a:solidFill>
            <a:prstDash val="solid"/>
          </a:ln>
        </p:spPr>
      </p:sp>
      <p:sp>
        <p:nvSpPr>
          <p:cNvPr id="11" name="Text 9"/>
          <p:cNvSpPr txBox="1"/>
          <p:nvPr/>
        </p:nvSpPr>
        <p:spPr>
          <a:xfrm>
            <a:off x="4709160" y="1810512"/>
            <a:ext cx="2880360" cy="320040"/>
          </a:xfrm>
          <a:prstGeom prst="rect">
            <a:avLst/>
          </a:prstGeom>
          <a:noFill/>
          <a:ln/>
        </p:spPr>
        <p:txBody>
          <a:bodyPr wrap="square" lIns="0" tIns="0" rIns="0" bIns="0" rtlCol="0" anchor="t"/>
          <a:lstStyle/>
          <a:p>
            <a:pPr algn="l" indent="0" marL="0">
              <a:buNone/>
            </a:pPr>
            <a:r>
              <a:rPr lang="en-US" sz="1600" b="1" dirty="0">
                <a:solidFill>
                  <a:srgbClr val="D9922E"/>
                </a:solidFill>
                <a:latin typeface="Cambria" pitchFamily="34" charset="0"/>
                <a:ea typeface="Cambria" pitchFamily="34" charset="-122"/>
                <a:cs typeface="Cambria" pitchFamily="34" charset="-120"/>
              </a:rPr>
              <a:t>TF-IDF</a:t>
            </a:r>
            <a:endParaRPr lang="en-US" sz="1600" dirty="0"/>
          </a:p>
        </p:txBody>
      </p:sp>
      <p:sp>
        <p:nvSpPr>
          <p:cNvPr id="12" name="Text 10"/>
          <p:cNvSpPr txBox="1"/>
          <p:nvPr/>
        </p:nvSpPr>
        <p:spPr>
          <a:xfrm>
            <a:off x="470916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Menimbang kekhasan kata.</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Muncul di semua dokumen berarti nol.</a:t>
            </a:r>
            <a:endParaRPr lang="en-US" sz="1250" dirty="0"/>
          </a:p>
        </p:txBody>
      </p:sp>
      <p:sp>
        <p:nvSpPr>
          <p:cNvPr id="13" name="Shape 11"/>
          <p:cNvSpPr/>
          <p:nvPr/>
        </p:nvSpPr>
        <p:spPr>
          <a:xfrm>
            <a:off x="8183880" y="137160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4" name="Shape 12"/>
          <p:cNvSpPr/>
          <p:nvPr/>
        </p:nvSpPr>
        <p:spPr>
          <a:xfrm>
            <a:off x="8503920" y="1664208"/>
            <a:ext cx="457200" cy="41148"/>
          </a:xfrm>
          <a:prstGeom prst="rect">
            <a:avLst/>
          </a:prstGeom>
          <a:solidFill>
            <a:srgbClr val="1F7A8C"/>
          </a:solidFill>
          <a:ln w="12700">
            <a:solidFill>
              <a:srgbClr val="333333"/>
            </a:solidFill>
            <a:prstDash val="solid"/>
          </a:ln>
        </p:spPr>
      </p:sp>
      <p:sp>
        <p:nvSpPr>
          <p:cNvPr id="15" name="Text 13"/>
          <p:cNvSpPr txBox="1"/>
          <p:nvPr/>
        </p:nvSpPr>
        <p:spPr>
          <a:xfrm>
            <a:off x="8503920" y="1810512"/>
            <a:ext cx="2880360" cy="320040"/>
          </a:xfrm>
          <a:prstGeom prst="rect">
            <a:avLst/>
          </a:prstGeom>
          <a:noFill/>
          <a:ln/>
        </p:spPr>
        <p:txBody>
          <a:bodyPr wrap="square" lIns="0" tIns="0" rIns="0" bIns="0" rtlCol="0" anchor="t"/>
          <a:lstStyle/>
          <a:p>
            <a:pPr algn="l" indent="0" marL="0">
              <a:buNone/>
            </a:pPr>
            <a:r>
              <a:rPr lang="en-US" sz="1600" b="1" dirty="0">
                <a:solidFill>
                  <a:srgbClr val="1F7A8C"/>
                </a:solidFill>
                <a:latin typeface="Cambria" pitchFamily="34" charset="0"/>
                <a:ea typeface="Cambria" pitchFamily="34" charset="-122"/>
                <a:cs typeface="Cambria" pitchFamily="34" charset="-120"/>
              </a:rPr>
              <a:t>Embedding</a:t>
            </a:r>
            <a:endParaRPr lang="en-US" sz="1600" dirty="0"/>
          </a:p>
        </p:txBody>
      </p:sp>
      <p:sp>
        <p:nvSpPr>
          <p:cNvPr id="16" name="Text 14"/>
          <p:cNvSpPr txBox="1"/>
          <p:nvPr/>
        </p:nvSpPr>
        <p:spPr>
          <a:xfrm>
            <a:off x="850392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Makna menjadi jarak.</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Kata serupa berdekatan posisinya.</a:t>
            </a:r>
            <a:endParaRPr lang="en-US" sz="1250" dirty="0"/>
          </a:p>
        </p:txBody>
      </p:sp>
      <p:sp>
        <p:nvSpPr>
          <p:cNvPr id="17" name="Shape 15"/>
          <p:cNvSpPr/>
          <p:nvPr/>
        </p:nvSpPr>
        <p:spPr>
          <a:xfrm>
            <a:off x="594360" y="333756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18" name="Shape 16"/>
          <p:cNvSpPr/>
          <p:nvPr/>
        </p:nvSpPr>
        <p:spPr>
          <a:xfrm>
            <a:off x="914400" y="3630168"/>
            <a:ext cx="457200" cy="41148"/>
          </a:xfrm>
          <a:prstGeom prst="rect">
            <a:avLst/>
          </a:prstGeom>
          <a:solidFill>
            <a:srgbClr val="D95F6B"/>
          </a:solidFill>
          <a:ln w="12700">
            <a:solidFill>
              <a:srgbClr val="333333"/>
            </a:solidFill>
            <a:prstDash val="solid"/>
          </a:ln>
        </p:spPr>
      </p:sp>
      <p:sp>
        <p:nvSpPr>
          <p:cNvPr id="19" name="Text 17"/>
          <p:cNvSpPr txBox="1"/>
          <p:nvPr/>
        </p:nvSpPr>
        <p:spPr>
          <a:xfrm>
            <a:off x="914400" y="3776472"/>
            <a:ext cx="2880360" cy="320040"/>
          </a:xfrm>
          <a:prstGeom prst="rect">
            <a:avLst/>
          </a:prstGeom>
          <a:noFill/>
          <a:ln/>
        </p:spPr>
        <p:txBody>
          <a:bodyPr wrap="square" lIns="0" tIns="0" rIns="0" bIns="0" rtlCol="0" anchor="t"/>
          <a:lstStyle/>
          <a:p>
            <a:pPr algn="l" indent="0" marL="0">
              <a:buNone/>
            </a:pPr>
            <a:r>
              <a:rPr lang="en-US" sz="1600" b="1" dirty="0">
                <a:solidFill>
                  <a:srgbClr val="D95F6B"/>
                </a:solidFill>
                <a:latin typeface="Cambria" pitchFamily="34" charset="0"/>
                <a:ea typeface="Cambria" pitchFamily="34" charset="-122"/>
                <a:cs typeface="Cambria" pitchFamily="34" charset="-120"/>
              </a:rPr>
              <a:t>CNN</a:t>
            </a:r>
            <a:endParaRPr lang="en-US" sz="1600" dirty="0"/>
          </a:p>
        </p:txBody>
      </p:sp>
      <p:sp>
        <p:nvSpPr>
          <p:cNvPr id="20" name="Text 18"/>
          <p:cNvSpPr txBox="1"/>
          <p:nvPr/>
        </p:nvSpPr>
        <p:spPr>
          <a:xfrm>
            <a:off x="91440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Memanfaatkan kedekatan ruang.</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Filter yang sama dipakai di mana pun.</a:t>
            </a:r>
            <a:endParaRPr lang="en-US" sz="1250" dirty="0"/>
          </a:p>
        </p:txBody>
      </p:sp>
      <p:sp>
        <p:nvSpPr>
          <p:cNvPr id="21" name="Shape 19"/>
          <p:cNvSpPr/>
          <p:nvPr/>
        </p:nvSpPr>
        <p:spPr>
          <a:xfrm>
            <a:off x="4389120" y="333756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2" name="Shape 20"/>
          <p:cNvSpPr/>
          <p:nvPr/>
        </p:nvSpPr>
        <p:spPr>
          <a:xfrm>
            <a:off x="4709160" y="3630168"/>
            <a:ext cx="457200" cy="41148"/>
          </a:xfrm>
          <a:prstGeom prst="rect">
            <a:avLst/>
          </a:prstGeom>
          <a:solidFill>
            <a:srgbClr val="6FA45A"/>
          </a:solidFill>
          <a:ln w="12700">
            <a:solidFill>
              <a:srgbClr val="333333"/>
            </a:solidFill>
            <a:prstDash val="solid"/>
          </a:ln>
        </p:spPr>
      </p:sp>
      <p:sp>
        <p:nvSpPr>
          <p:cNvPr id="23" name="Text 21"/>
          <p:cNvSpPr txBox="1"/>
          <p:nvPr/>
        </p:nvSpPr>
        <p:spPr>
          <a:xfrm>
            <a:off x="4709160" y="3776472"/>
            <a:ext cx="2880360" cy="320040"/>
          </a:xfrm>
          <a:prstGeom prst="rect">
            <a:avLst/>
          </a:prstGeom>
          <a:noFill/>
          <a:ln/>
        </p:spPr>
        <p:txBody>
          <a:bodyPr wrap="square" lIns="0" tIns="0" rIns="0" bIns="0" rtlCol="0" anchor="t"/>
          <a:lstStyle/>
          <a:p>
            <a:pPr algn="l" indent="0" marL="0">
              <a:buNone/>
            </a:pPr>
            <a:r>
              <a:rPr lang="en-US" sz="1600" b="1" dirty="0">
                <a:solidFill>
                  <a:srgbClr val="6FA45A"/>
                </a:solidFill>
                <a:latin typeface="Cambria" pitchFamily="34" charset="0"/>
                <a:ea typeface="Cambria" pitchFamily="34" charset="-122"/>
                <a:cs typeface="Cambria" pitchFamily="34" charset="-120"/>
              </a:rPr>
              <a:t>RNN dan Transformer</a:t>
            </a:r>
            <a:endParaRPr lang="en-US" sz="1600" dirty="0"/>
          </a:p>
        </p:txBody>
      </p:sp>
      <p:sp>
        <p:nvSpPr>
          <p:cNvPr id="24" name="Text 22"/>
          <p:cNvSpPr txBox="1"/>
          <p:nvPr/>
        </p:nvSpPr>
        <p:spPr>
          <a:xfrm>
            <a:off x="470916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RNN membawa ingatan berantai.</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Attention menjangkau sekaligus.</a:t>
            </a:r>
            <a:endParaRPr lang="en-US" sz="1250" dirty="0"/>
          </a:p>
        </p:txBody>
      </p:sp>
      <p:sp>
        <p:nvSpPr>
          <p:cNvPr id="25" name="Shape 23"/>
          <p:cNvSpPr/>
          <p:nvPr/>
        </p:nvSpPr>
        <p:spPr>
          <a:xfrm>
            <a:off x="8183880" y="3337560"/>
            <a:ext cx="3520440" cy="1737360"/>
          </a:xfrm>
          <a:prstGeom prst="roundRect">
            <a:avLst>
              <a:gd name="adj" fmla="val 4737"/>
            </a:avLst>
          </a:prstGeom>
          <a:solidFill>
            <a:srgbClr val="1B4C5B"/>
          </a:solidFill>
          <a:ln w="12700">
            <a:solidFill>
              <a:srgbClr val="2C6577"/>
            </a:solidFill>
            <a:prstDash val="solid"/>
          </a:ln>
          <a:effectLst>
            <a:outerShdw sx="100000" sy="100000" kx="0" ky="0" algn="bl" rotWithShape="0" blurRad="101600" dist="508" dir="5400000">
              <a:srgbClr val="A9BABF">
                <a:alpha val="30000"/>
              </a:srgbClr>
            </a:outerShdw>
          </a:effectLst>
        </p:spPr>
      </p:sp>
      <p:sp>
        <p:nvSpPr>
          <p:cNvPr id="26" name="Shape 24"/>
          <p:cNvSpPr/>
          <p:nvPr/>
        </p:nvSpPr>
        <p:spPr>
          <a:xfrm>
            <a:off x="8503920" y="3630168"/>
            <a:ext cx="457200" cy="41148"/>
          </a:xfrm>
          <a:prstGeom prst="rect">
            <a:avLst/>
          </a:prstGeom>
          <a:solidFill>
            <a:srgbClr val="8F72CC"/>
          </a:solidFill>
          <a:ln w="12700">
            <a:solidFill>
              <a:srgbClr val="333333"/>
            </a:solidFill>
            <a:prstDash val="solid"/>
          </a:ln>
        </p:spPr>
      </p:sp>
      <p:sp>
        <p:nvSpPr>
          <p:cNvPr id="27" name="Text 25"/>
          <p:cNvSpPr txBox="1"/>
          <p:nvPr/>
        </p:nvSpPr>
        <p:spPr>
          <a:xfrm>
            <a:off x="8503920" y="3776472"/>
            <a:ext cx="2880360" cy="320040"/>
          </a:xfrm>
          <a:prstGeom prst="rect">
            <a:avLst/>
          </a:prstGeom>
          <a:noFill/>
          <a:ln/>
        </p:spPr>
        <p:txBody>
          <a:bodyPr wrap="square" lIns="0" tIns="0" rIns="0" bIns="0" rtlCol="0" anchor="t"/>
          <a:lstStyle/>
          <a:p>
            <a:pPr algn="l" indent="0" marL="0">
              <a:buNone/>
            </a:pPr>
            <a:r>
              <a:rPr lang="en-US" sz="1600" b="1" dirty="0">
                <a:solidFill>
                  <a:srgbClr val="8F72CC"/>
                </a:solidFill>
                <a:latin typeface="Cambria" pitchFamily="34" charset="0"/>
                <a:ea typeface="Cambria" pitchFamily="34" charset="-122"/>
                <a:cs typeface="Cambria" pitchFamily="34" charset="-120"/>
              </a:rPr>
              <a:t>LLM</a:t>
            </a:r>
            <a:endParaRPr lang="en-US" sz="1600" dirty="0"/>
          </a:p>
        </p:txBody>
      </p:sp>
      <p:sp>
        <p:nvSpPr>
          <p:cNvPr id="28" name="Text 26"/>
          <p:cNvSpPr txBox="1"/>
          <p:nvPr/>
        </p:nvSpPr>
        <p:spPr>
          <a:xfrm>
            <a:off x="850392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Menebak token berikutnya.</a:t>
            </a:r>
            <a:endParaRPr lang="en-US" sz="1250" dirty="0"/>
          </a:p>
          <a:p>
            <a:pPr algn="l" indent="0" marL="0">
              <a:lnSpc>
                <a:spcPct val="125000"/>
              </a:lnSpc>
              <a:buNone/>
            </a:pPr>
            <a:r>
              <a:rPr lang="en-US" sz="1250" dirty="0">
                <a:solidFill>
                  <a:srgbClr val="B4C7CD"/>
                </a:solidFill>
                <a:latin typeface="Calibri" pitchFamily="34" charset="0"/>
                <a:ea typeface="Calibri" pitchFamily="34" charset="-122"/>
                <a:cs typeface="Calibri" pitchFamily="34" charset="-120"/>
              </a:rPr>
              <a:t>Lancar bukan berarti benar.</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6"/>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TINDAK LANJUT</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0F3743"/>
                </a:solidFill>
                <a:latin typeface="Cambria" pitchFamily="34" charset="0"/>
                <a:ea typeface="Cambria" pitchFamily="34" charset="-122"/>
                <a:cs typeface="Cambria" pitchFamily="34" charset="-120"/>
              </a:rPr>
              <a:t>Menuju Studi Kasus Akhir</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5F7178"/>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594360" y="1280160"/>
            <a:ext cx="5486400" cy="2011680"/>
          </a:xfrm>
          <a:prstGeom prst="roundRect">
            <a:avLst>
              <a:gd name="adj" fmla="val 4091"/>
            </a:avLst>
          </a:prstGeom>
          <a:solidFill>
            <a:srgbClr val="8F72CC"/>
          </a:solidFill>
          <a:ln w="12700">
            <a:solidFill>
              <a:srgbClr val="8F72CC"/>
            </a:solidFill>
            <a:prstDash val="solid"/>
          </a:ln>
          <a:effectLst>
            <a:outerShdw sx="100000" sy="100000" kx="0" ky="0" algn="bl" rotWithShape="0" blurRad="101600" dist="508" dir="5400000">
              <a:srgbClr val="A9BABF">
                <a:alpha val="30000"/>
              </a:srgbClr>
            </a:outerShdw>
          </a:effectLst>
        </p:spPr>
      </p:sp>
      <p:sp>
        <p:nvSpPr>
          <p:cNvPr id="6" name="Shape 4"/>
          <p:cNvSpPr/>
          <p:nvPr/>
        </p:nvSpPr>
        <p:spPr>
          <a:xfrm>
            <a:off x="914400" y="1536192"/>
            <a:ext cx="530352" cy="530352"/>
          </a:xfrm>
          <a:prstGeom prst="ellipse">
            <a:avLst/>
          </a:prstGeom>
          <a:solidFill>
            <a:srgbClr val="FFFFFF"/>
          </a:solidFill>
          <a:ln w="12700">
            <a:solidFill>
              <a:srgbClr val="333333"/>
            </a:solidFill>
            <a:prstDash val="solid"/>
          </a:ln>
        </p:spPr>
      </p:sp>
      <p:sp>
        <p:nvSpPr>
          <p:cNvPr id="7" name="Text 5"/>
          <p:cNvSpPr txBox="1"/>
          <p:nvPr/>
        </p:nvSpPr>
        <p:spPr>
          <a:xfrm>
            <a:off x="914400" y="1536192"/>
            <a:ext cx="530352" cy="530352"/>
          </a:xfrm>
          <a:prstGeom prst="rect">
            <a:avLst/>
          </a:prstGeom>
          <a:noFill/>
          <a:ln/>
        </p:spPr>
        <p:txBody>
          <a:bodyPr wrap="square" lIns="0" tIns="0" rIns="0" bIns="0" rtlCol="0" anchor="ctr"/>
          <a:lstStyle/>
          <a:p>
            <a:pPr algn="ctr" indent="0" marL="0">
              <a:buNone/>
            </a:pPr>
            <a:r>
              <a:rPr lang="en-US" sz="1300" b="1" dirty="0">
                <a:solidFill>
                  <a:srgbClr val="8F72CC"/>
                </a:solidFill>
                <a:latin typeface="Cambria" pitchFamily="34" charset="0"/>
                <a:ea typeface="Cambria" pitchFamily="34" charset="-122"/>
                <a:cs typeface="Cambria" pitchFamily="34" charset="-120"/>
              </a:rPr>
              <a:t>PT</a:t>
            </a:r>
            <a:endParaRPr lang="en-US" sz="1300" dirty="0"/>
          </a:p>
        </p:txBody>
      </p:sp>
      <p:sp>
        <p:nvSpPr>
          <p:cNvPr id="8" name="Text 6"/>
          <p:cNvSpPr txBox="1"/>
          <p:nvPr/>
        </p:nvSpPr>
        <p:spPr>
          <a:xfrm>
            <a:off x="1600200" y="1591056"/>
            <a:ext cx="4114800" cy="36576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Tugas Terstruktur 5  ·  Bobot 4%</a:t>
            </a:r>
            <a:endParaRPr lang="en-US" sz="1700" dirty="0"/>
          </a:p>
        </p:txBody>
      </p:sp>
      <p:sp>
        <p:nvSpPr>
          <p:cNvPr id="9" name="Text 7"/>
          <p:cNvSpPr txBox="1"/>
          <p:nvPr/>
        </p:nvSpPr>
        <p:spPr>
          <a:xfrm>
            <a:off x="914400" y="2194560"/>
            <a:ext cx="4846320" cy="914400"/>
          </a:xfrm>
          <a:prstGeom prst="rect">
            <a:avLst/>
          </a:prstGeom>
          <a:noFill/>
          <a:ln/>
        </p:spPr>
        <p:txBody>
          <a:bodyPr wrap="square" lIns="0" tIns="0" rIns="0" bIns="0" rtlCol="0" anchor="t"/>
          <a:lstStyle/>
          <a:p>
            <a:pPr algn="l" indent="0" marL="0">
              <a:lnSpc>
                <a:spcPct val="130000"/>
              </a:lnSpc>
              <a:buNone/>
            </a:pPr>
            <a:r>
              <a:rPr lang="en-US" sz="1400" dirty="0">
                <a:solidFill>
                  <a:srgbClr val="F0EBF9"/>
                </a:solidFill>
                <a:latin typeface="Calibri" pitchFamily="34" charset="0"/>
                <a:ea typeface="Calibri" pitchFamily="34" charset="-122"/>
                <a:cs typeface="Calibri" pitchFamily="34" charset="-120"/>
              </a:rPr>
              <a:t>Laporan telaah mandiri algoritma, rencana belajar mandiri, dan refleksi. Dinilai dengan rubrik belajar mandiri (Lampiran 3b RPS).</a:t>
            </a:r>
            <a:endParaRPr lang="en-US" sz="1400" dirty="0"/>
          </a:p>
        </p:txBody>
      </p:sp>
      <p:sp>
        <p:nvSpPr>
          <p:cNvPr id="10" name="Shape 8"/>
          <p:cNvSpPr/>
          <p:nvPr/>
        </p:nvSpPr>
        <p:spPr>
          <a:xfrm>
            <a:off x="6537960" y="1280160"/>
            <a:ext cx="5029200" cy="2011680"/>
          </a:xfrm>
          <a:prstGeom prst="roundRect">
            <a:avLst>
              <a:gd name="adj" fmla="val 4091"/>
            </a:avLst>
          </a:prstGeom>
          <a:solidFill>
            <a:srgbClr val="FFFFFF"/>
          </a:solidFill>
          <a:ln w="12700">
            <a:solidFill>
              <a:srgbClr val="DBE3E5"/>
            </a:solidFill>
            <a:prstDash val="solid"/>
          </a:ln>
          <a:effectLst>
            <a:outerShdw sx="100000" sy="100000" kx="0" ky="0" algn="bl" rotWithShape="0" blurRad="101600" dist="508" dir="5400000">
              <a:srgbClr val="A9BABF">
                <a:alpha val="30000"/>
              </a:srgbClr>
            </a:outerShdw>
          </a:effectLst>
        </p:spPr>
      </p:sp>
      <p:sp>
        <p:nvSpPr>
          <p:cNvPr id="11" name="Shape 9"/>
          <p:cNvSpPr/>
          <p:nvPr/>
        </p:nvSpPr>
        <p:spPr>
          <a:xfrm>
            <a:off x="6858000" y="1536192"/>
            <a:ext cx="530352" cy="530352"/>
          </a:xfrm>
          <a:prstGeom prst="ellipse">
            <a:avLst/>
          </a:prstGeom>
          <a:solidFill>
            <a:srgbClr val="1F7A8C"/>
          </a:solidFill>
          <a:ln w="12700">
            <a:solidFill>
              <a:srgbClr val="333333"/>
            </a:solidFill>
            <a:prstDash val="solid"/>
          </a:ln>
        </p:spPr>
      </p:sp>
      <p:sp>
        <p:nvSpPr>
          <p:cNvPr id="12" name="Text 10"/>
          <p:cNvSpPr txBox="1"/>
          <p:nvPr/>
        </p:nvSpPr>
        <p:spPr>
          <a:xfrm>
            <a:off x="6858000" y="153619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BM</a:t>
            </a:r>
            <a:endParaRPr lang="en-US" sz="1300" dirty="0"/>
          </a:p>
        </p:txBody>
      </p:sp>
      <p:sp>
        <p:nvSpPr>
          <p:cNvPr id="13" name="Text 11"/>
          <p:cNvSpPr txBox="1"/>
          <p:nvPr/>
        </p:nvSpPr>
        <p:spPr>
          <a:xfrm>
            <a:off x="7543800" y="1591056"/>
            <a:ext cx="3794760" cy="365760"/>
          </a:xfrm>
          <a:prstGeom prst="rect">
            <a:avLst/>
          </a:prstGeom>
          <a:noFill/>
          <a:ln/>
        </p:spPr>
        <p:txBody>
          <a:bodyPr wrap="square" lIns="0" tIns="0" rIns="0" bIns="0" rtlCol="0" anchor="t"/>
          <a:lstStyle/>
          <a:p>
            <a:pPr algn="l" indent="0" marL="0">
              <a:buNone/>
            </a:pPr>
            <a:r>
              <a:rPr lang="en-US" sz="1700" b="1" dirty="0">
                <a:solidFill>
                  <a:srgbClr val="0F3743"/>
                </a:solidFill>
                <a:latin typeface="Cambria" pitchFamily="34" charset="0"/>
                <a:ea typeface="Cambria" pitchFamily="34" charset="-122"/>
                <a:cs typeface="Cambria" pitchFamily="34" charset="-120"/>
              </a:rPr>
              <a:t>Belajar Mandiri  ·  180 menit</a:t>
            </a:r>
            <a:endParaRPr lang="en-US" sz="1700" dirty="0"/>
          </a:p>
        </p:txBody>
      </p:sp>
      <p:sp>
        <p:nvSpPr>
          <p:cNvPr id="14" name="Text 12"/>
          <p:cNvSpPr txBox="1"/>
          <p:nvPr/>
        </p:nvSpPr>
        <p:spPr>
          <a:xfrm>
            <a:off x="6858000" y="2194560"/>
            <a:ext cx="4480560" cy="914400"/>
          </a:xfrm>
          <a:prstGeom prst="rect">
            <a:avLst/>
          </a:prstGeom>
          <a:noFill/>
          <a:ln/>
        </p:spPr>
        <p:txBody>
          <a:bodyPr wrap="square" lIns="0" tIns="0" rIns="0" bIns="0" rtlCol="0" anchor="t"/>
          <a:lstStyle/>
          <a:p>
            <a:pPr algn="l" indent="0" marL="0">
              <a:lnSpc>
                <a:spcPct val="130000"/>
              </a:lnSpc>
              <a:buNone/>
            </a:pPr>
            <a:r>
              <a:rPr lang="en-US" sz="1350" dirty="0">
                <a:solidFill>
                  <a:srgbClr val="13272E"/>
                </a:solidFill>
                <a:latin typeface="Calibri" pitchFamily="34" charset="0"/>
                <a:ea typeface="Calibri" pitchFamily="34" charset="-122"/>
                <a:cs typeface="Calibri" pitchFamily="34" charset="-120"/>
              </a:rPr>
              <a:t>Membaca Jurafsky &amp; Martin [7] bab representasi teks dan Transformer, Goodfellow dkk. [4] bab CNN dan RNN, serta Raschka [6].</a:t>
            </a:r>
            <a:endParaRPr lang="en-US" sz="1350" dirty="0"/>
          </a:p>
        </p:txBody>
      </p:sp>
      <p:sp>
        <p:nvSpPr>
          <p:cNvPr id="15" name="Shape 13"/>
          <p:cNvSpPr/>
          <p:nvPr/>
        </p:nvSpPr>
        <p:spPr>
          <a:xfrm>
            <a:off x="594360" y="3520440"/>
            <a:ext cx="11002975" cy="2240280"/>
          </a:xfrm>
          <a:prstGeom prst="roundRect">
            <a:avLst>
              <a:gd name="adj" fmla="val 3673"/>
            </a:avLst>
          </a:prstGeom>
          <a:solidFill>
            <a:srgbClr val="F5EDDD"/>
          </a:solidFill>
          <a:ln w="12700">
            <a:solidFill>
              <a:srgbClr val="E8D5AD"/>
            </a:solidFill>
            <a:prstDash val="solid"/>
          </a:ln>
          <a:effectLst>
            <a:outerShdw sx="100000" sy="100000" kx="0" ky="0" algn="bl" rotWithShape="0" blurRad="101600" dist="508" dir="5400000">
              <a:srgbClr val="A9BABF">
                <a:alpha val="30000"/>
              </a:srgbClr>
            </a:outerShdw>
          </a:effectLst>
        </p:spPr>
      </p:sp>
      <p:sp>
        <p:nvSpPr>
          <p:cNvPr id="16" name="Text 14"/>
          <p:cNvSpPr txBox="1"/>
          <p:nvPr/>
        </p:nvSpPr>
        <p:spPr>
          <a:xfrm>
            <a:off x="1005840" y="3703320"/>
            <a:ext cx="10180015" cy="292608"/>
          </a:xfrm>
          <a:prstGeom prst="rect">
            <a:avLst/>
          </a:prstGeom>
          <a:noFill/>
          <a:ln/>
        </p:spPr>
        <p:txBody>
          <a:bodyPr wrap="square" lIns="0" tIns="0" rIns="0" bIns="0" rtlCol="0" anchor="t"/>
          <a:lstStyle/>
          <a:p>
            <a:pPr algn="l" indent="0" marL="0">
              <a:buNone/>
            </a:pPr>
            <a:r>
              <a:rPr lang="en-US" sz="1900" b="1" dirty="0">
                <a:solidFill>
                  <a:srgbClr val="8A5B12"/>
                </a:solidFill>
                <a:latin typeface="Cambria" pitchFamily="34" charset="0"/>
                <a:ea typeface="Cambria" pitchFamily="34" charset="-122"/>
                <a:cs typeface="Cambria" pitchFamily="34" charset="-120"/>
              </a:rPr>
              <a:t>Pertemuan 14: Studi Kasus Akhir Tahap 1</a:t>
            </a:r>
            <a:endParaRPr lang="en-US" sz="1900" dirty="0"/>
          </a:p>
        </p:txBody>
      </p:sp>
      <p:sp>
        <p:nvSpPr>
          <p:cNvPr id="17" name="Text 15"/>
          <p:cNvSpPr txBox="1"/>
          <p:nvPr/>
        </p:nvSpPr>
        <p:spPr>
          <a:xfrm>
            <a:off x="1005840" y="4069080"/>
            <a:ext cx="10180015"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8A5B12"/>
                </a:solidFill>
                <a:latin typeface="Calibri" pitchFamily="34" charset="0"/>
                <a:ea typeface="Calibri" pitchFamily="34" charset="-122"/>
                <a:cs typeface="Calibri" pitchFamily="34" charset="-120"/>
              </a:rPr>
              <a:t>Bentuk kelompok 3–4 orang dan daftarkan topik — dataset tidak boleh sama antar-kelompok</a:t>
            </a:r>
            <a:endParaRPr lang="en-US" sz="1300" dirty="0"/>
          </a:p>
          <a:p>
            <a:pPr marL="342900" indent="-342900">
              <a:spcAft>
                <a:spcPts val="400"/>
              </a:spcAft>
              <a:buSzPct val="100000"/>
              <a:buChar char="•"/>
            </a:pPr>
            <a:r>
              <a:rPr lang="en-US" sz="1300" dirty="0">
                <a:solidFill>
                  <a:srgbClr val="8A5B12"/>
                </a:solidFill>
                <a:latin typeface="Calibri" pitchFamily="34" charset="0"/>
                <a:ea typeface="Calibri" pitchFamily="34" charset="-122"/>
                <a:cs typeface="Calibri" pitchFamily="34" charset="-120"/>
              </a:rPr>
              <a:t>Utamakan dataset berdomain transportasi berkelanjutan atau layanan publik dari sumber yang dapat diverifikasi</a:t>
            </a:r>
            <a:endParaRPr lang="en-US" sz="1300" dirty="0"/>
          </a:p>
          <a:p>
            <a:pPr marL="342900" indent="-342900">
              <a:spcAft>
                <a:spcPts val="400"/>
              </a:spcAft>
              <a:buSzPct val="100000"/>
              <a:buChar char="•"/>
            </a:pPr>
            <a:r>
              <a:rPr lang="en-US" sz="1300" dirty="0">
                <a:solidFill>
                  <a:srgbClr val="8A5B12"/>
                </a:solidFill>
                <a:latin typeface="Calibri" pitchFamily="34" charset="0"/>
                <a:ea typeface="Calibri" pitchFamily="34" charset="-122"/>
                <a:cs typeface="Calibri" pitchFamily="34" charset="-120"/>
              </a:rPr>
              <a:t>Yang dikumpulkan: dokumen rancangan berisi rumusan masalah, rencana praproses, kandidat model, dan prosedur evaluasi</a:t>
            </a:r>
            <a:endParaRPr lang="en-US" sz="1300" dirty="0"/>
          </a:p>
          <a:p>
            <a:pPr marL="342900" indent="-342900">
              <a:spcAft>
                <a:spcPts val="400"/>
              </a:spcAft>
              <a:buSzPct val="100000"/>
              <a:buChar char="•"/>
            </a:pPr>
            <a:r>
              <a:rPr lang="en-US" sz="1300" dirty="0">
                <a:solidFill>
                  <a:srgbClr val="8A5B12"/>
                </a:solidFill>
                <a:latin typeface="Calibri" pitchFamily="34" charset="0"/>
                <a:ea typeface="Calibri" pitchFamily="34" charset="-122"/>
                <a:cs typeface="Calibri" pitchFamily="34" charset="-120"/>
              </a:rPr>
              <a:t>Ingat pesan slide peta arsitektur: untuk data tabel, kandidat model yang tepat kemungkinan besar bukan neural network</a:t>
            </a:r>
            <a:endParaRPr lang="en-US" sz="1300" dirty="0"/>
          </a:p>
          <a:p>
            <a:pPr marL="342900" indent="-342900">
              <a:spcAft>
                <a:spcPts val="400"/>
              </a:spcAft>
              <a:buSzPct val="100000"/>
              <a:buChar char="•"/>
            </a:pPr>
            <a:r>
              <a:rPr lang="en-US" sz="1300" dirty="0">
                <a:solidFill>
                  <a:srgbClr val="8A5B12"/>
                </a:solidFill>
                <a:latin typeface="Calibri" pitchFamily="34" charset="0"/>
                <a:ea typeface="Calibri" pitchFamily="34" charset="-122"/>
                <a:cs typeface="Calibri" pitchFamily="34" charset="-120"/>
              </a:rPr>
              <a:t>Implementasi kode bersifat opsional dan menjadi nilai tambah, bukan syarat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3743"/>
        </a:solidFill>
      </p:bgPr>
    </p:bg>
    <p:spTree>
      <p:nvGrpSpPr>
        <p:cNvPr id="1" name=""/>
        <p:cNvGrpSpPr/>
        <p:nvPr/>
      </p:nvGrpSpPr>
      <p:grpSpPr>
        <a:xfrm>
          <a:off x="0" y="0"/>
          <a:ext cx="0" cy="0"/>
          <a:chOff x="0" y="0"/>
          <a:chExt cx="0" cy="0"/>
        </a:xfrm>
      </p:grpSpPr>
      <p:sp>
        <p:nvSpPr>
          <p:cNvPr id="2" name="Shape 0"/>
          <p:cNvSpPr/>
          <p:nvPr/>
        </p:nvSpPr>
        <p:spPr>
          <a:xfrm>
            <a:off x="-1645920" y="4206240"/>
            <a:ext cx="4937760" cy="4937760"/>
          </a:xfrm>
          <a:prstGeom prst="ellipse">
            <a:avLst/>
          </a:prstGeom>
          <a:solidFill>
            <a:srgbClr val="8F72CC"/>
          </a:solidFill>
          <a:ln w="12700">
            <a:solidFill>
              <a:srgbClr val="333333"/>
            </a:solidFill>
            <a:prstDash val="solid"/>
          </a:ln>
        </p:spPr>
      </p:sp>
      <p:sp>
        <p:nvSpPr>
          <p:cNvPr id="3" name="Shape 1"/>
          <p:cNvSpPr/>
          <p:nvPr/>
        </p:nvSpPr>
        <p:spPr>
          <a:xfrm>
            <a:off x="10241280" y="-1463040"/>
            <a:ext cx="3840480" cy="3840480"/>
          </a:xfrm>
          <a:prstGeom prst="ellipse">
            <a:avLst/>
          </a:prstGeom>
          <a:solidFill>
            <a:srgbClr val="D9922E"/>
          </a:solidFill>
          <a:ln w="12700">
            <a:solidFill>
              <a:srgbClr val="333333"/>
            </a:solidFill>
            <a:prstDash val="solid"/>
          </a:ln>
        </p:spPr>
      </p:sp>
      <p:sp>
        <p:nvSpPr>
          <p:cNvPr id="4" name="Text 2"/>
          <p:cNvSpPr txBox="1"/>
          <p:nvPr/>
        </p:nvSpPr>
        <p:spPr>
          <a:xfrm>
            <a:off x="594360" y="1737360"/>
            <a:ext cx="8686800" cy="320040"/>
          </a:xfrm>
          <a:prstGeom prst="rect">
            <a:avLst/>
          </a:prstGeom>
          <a:noFill/>
          <a:ln/>
        </p:spPr>
        <p:txBody>
          <a:bodyPr wrap="square" lIns="0" tIns="0" rIns="0" bIns="0" rtlCol="0" anchor="t"/>
          <a:lstStyle/>
          <a:p>
            <a:pPr algn="l" indent="0" marL="0">
              <a:buNone/>
            </a:pPr>
            <a:r>
              <a:rPr lang="en-US" sz="1300" b="1" dirty="0">
                <a:solidFill>
                  <a:srgbClr val="6FC7D6"/>
                </a:solidFill>
                <a:latin typeface="Calibri" pitchFamily="34" charset="0"/>
                <a:ea typeface="Calibri" pitchFamily="34" charset="-122"/>
                <a:cs typeface="Calibri" pitchFamily="34" charset="-120"/>
              </a:rPr>
              <a:t>MATERI KULIAH SELESAI</a:t>
            </a:r>
            <a:endParaRPr lang="en-US" sz="1300" dirty="0"/>
          </a:p>
        </p:txBody>
      </p:sp>
      <p:sp>
        <p:nvSpPr>
          <p:cNvPr id="5" name="Text 3"/>
          <p:cNvSpPr txBox="1"/>
          <p:nvPr/>
        </p:nvSpPr>
        <p:spPr>
          <a:xfrm>
            <a:off x="594360" y="2194560"/>
            <a:ext cx="8686800" cy="1280160"/>
          </a:xfrm>
          <a:prstGeom prst="rect">
            <a:avLst/>
          </a:prstGeom>
          <a:noFill/>
          <a:ln/>
        </p:spPr>
        <p:txBody>
          <a:bodyPr wrap="square" lIns="0" tIns="0" rIns="0" bIns="0" rtlCol="0" anchor="t"/>
          <a:lstStyle/>
          <a:p>
            <a:pPr algn="l" indent="0" marL="0">
              <a:lnSpc>
                <a:spcPct val="115000"/>
              </a:lnSpc>
              <a:buNone/>
            </a:pPr>
            <a:r>
              <a:rPr lang="en-US" sz="3400" b="1" dirty="0">
                <a:solidFill>
                  <a:srgbClr val="FFFFFF"/>
                </a:solidFill>
                <a:latin typeface="Cambria" pitchFamily="34" charset="0"/>
                <a:ea typeface="Cambria" pitchFamily="34" charset="-122"/>
                <a:cs typeface="Cambria" pitchFamily="34" charset="-120"/>
              </a:rPr>
              <a:t>Tiga belas pertemuan,</a:t>
            </a:r>
            <a:endParaRPr lang="en-US" sz="3400" dirty="0"/>
          </a:p>
          <a:p>
            <a:pPr algn="l" indent="0" marL="0">
              <a:lnSpc>
                <a:spcPct val="115000"/>
              </a:lnSpc>
              <a:buNone/>
            </a:pPr>
            <a:r>
              <a:rPr lang="en-US" sz="3400" b="1" dirty="0">
                <a:solidFill>
                  <a:srgbClr val="FFFFFF"/>
                </a:solidFill>
                <a:latin typeface="Cambria" pitchFamily="34" charset="0"/>
                <a:ea typeface="Cambria" pitchFamily="34" charset="-122"/>
                <a:cs typeface="Cambria" pitchFamily="34" charset="-120"/>
              </a:rPr>
              <a:t>satu kemampuan</a:t>
            </a:r>
            <a:endParaRPr lang="en-US" sz="3400" dirty="0"/>
          </a:p>
        </p:txBody>
      </p:sp>
      <p:sp>
        <p:nvSpPr>
          <p:cNvPr id="6" name="Shape 4"/>
          <p:cNvSpPr/>
          <p:nvPr/>
        </p:nvSpPr>
        <p:spPr>
          <a:xfrm>
            <a:off x="594360" y="3703320"/>
            <a:ext cx="1371600" cy="32004"/>
          </a:xfrm>
          <a:prstGeom prst="rect">
            <a:avLst/>
          </a:prstGeom>
          <a:solidFill>
            <a:srgbClr val="6FC7D6"/>
          </a:solidFill>
          <a:ln w="12700">
            <a:solidFill>
              <a:srgbClr val="333333"/>
            </a:solidFill>
            <a:prstDash val="solid"/>
          </a:ln>
        </p:spPr>
      </p:sp>
      <p:sp>
        <p:nvSpPr>
          <p:cNvPr id="7" name="Text 5"/>
          <p:cNvSpPr txBox="1"/>
          <p:nvPr/>
        </p:nvSpPr>
        <p:spPr>
          <a:xfrm>
            <a:off x="594360" y="3977640"/>
            <a:ext cx="8686800" cy="1097280"/>
          </a:xfrm>
          <a:prstGeom prst="rect">
            <a:avLst/>
          </a:prstGeom>
          <a:noFill/>
          <a:ln/>
        </p:spPr>
        <p:txBody>
          <a:bodyPr wrap="square" lIns="0" tIns="0" rIns="0" bIns="0" rtlCol="0" anchor="t"/>
          <a:lstStyle/>
          <a:p>
            <a:pPr algn="l" indent="0" marL="0">
              <a:lnSpc>
                <a:spcPct val="130000"/>
              </a:lnSpc>
              <a:buNone/>
            </a:pPr>
            <a:r>
              <a:rPr lang="en-US" sz="1600" dirty="0">
                <a:solidFill>
                  <a:srgbClr val="B4C7CD"/>
                </a:solidFill>
                <a:latin typeface="Calibri" pitchFamily="34" charset="0"/>
                <a:ea typeface="Calibri" pitchFamily="34" charset="-122"/>
                <a:cs typeface="Calibri" pitchFamily="34" charset="-120"/>
              </a:rPr>
              <a:t>Kita mulai dari satu garis lurus melalui empat titik data, dan berakhir pada model yang</a:t>
            </a:r>
            <a:endParaRPr lang="en-US" sz="1600" dirty="0"/>
          </a:p>
          <a:p>
            <a:pPr algn="l" indent="0" marL="0">
              <a:lnSpc>
                <a:spcPct val="130000"/>
              </a:lnSpc>
              <a:buNone/>
            </a:pPr>
            <a:r>
              <a:rPr lang="en-US" sz="1600" dirty="0">
                <a:solidFill>
                  <a:srgbClr val="B4C7CD"/>
                </a:solidFill>
                <a:latin typeface="Calibri" pitchFamily="34" charset="0"/>
                <a:ea typeface="Calibri" pitchFamily="34" charset="-122"/>
                <a:cs typeface="Calibri" pitchFamily="34" charset="-120"/>
              </a:rPr>
              <a:t>menulis kalimat. Yang menghubungkan keduanya bukan kecanggihan algoritmanya,</a:t>
            </a:r>
            <a:endParaRPr lang="en-US" sz="1600" dirty="0"/>
          </a:p>
          <a:p>
            <a:pPr algn="l" indent="0" marL="0">
              <a:lnSpc>
                <a:spcPct val="130000"/>
              </a:lnSpc>
              <a:buNone/>
            </a:pPr>
            <a:r>
              <a:rPr lang="en-US" sz="1600" dirty="0">
                <a:solidFill>
                  <a:srgbClr val="B4C7CD"/>
                </a:solidFill>
                <a:latin typeface="Calibri" pitchFamily="34" charset="0"/>
                <a:ea typeface="Calibri" pitchFamily="34" charset="-122"/>
                <a:cs typeface="Calibri" pitchFamily="34" charset="-120"/>
              </a:rPr>
              <a:t>melainkan satu kebiasaan: bertanya apakah angka yang kita lihat benar-benar berarti.</a:t>
            </a:r>
            <a:endParaRPr lang="en-US" sz="1600" dirty="0"/>
          </a:p>
        </p:txBody>
      </p:sp>
      <p:sp>
        <p:nvSpPr>
          <p:cNvPr id="8" name="Text 6"/>
          <p:cNvSpPr txBox="1"/>
          <p:nvPr/>
        </p:nvSpPr>
        <p:spPr>
          <a:xfrm>
            <a:off x="594360" y="5349240"/>
            <a:ext cx="8686800" cy="365760"/>
          </a:xfrm>
          <a:prstGeom prst="rect">
            <a:avLst/>
          </a:prstGeom>
          <a:noFill/>
          <a:ln/>
        </p:spPr>
        <p:txBody>
          <a:bodyPr wrap="square" lIns="0" tIns="0" rIns="0" bIns="0" rtlCol="0" anchor="t"/>
          <a:lstStyle/>
          <a:p>
            <a:pPr algn="l" indent="0" marL="0">
              <a:buNone/>
            </a:pPr>
            <a:r>
              <a:rPr lang="en-US" sz="1400" b="1" dirty="0">
                <a:solidFill>
                  <a:srgbClr val="D9922E"/>
                </a:solidFill>
                <a:latin typeface="Calibri" pitchFamily="34" charset="0"/>
                <a:ea typeface="Calibri" pitchFamily="34" charset="-122"/>
                <a:cs typeface="Calibri" pitchFamily="34" charset="-120"/>
              </a:rPr>
              <a:t>Pertemuan 14 dan 15: Studi Kasus Akhir  ·  Pertemuan 16: Presentasi dan Ujian Akhir Semester</a:t>
            </a:r>
            <a:endParaRPr lang="en-US" sz="1400" dirty="0"/>
          </a:p>
        </p:txBody>
      </p:sp>
      <p:sp>
        <p:nvSpPr>
          <p:cNvPr id="9" name="Text 7"/>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7E959D"/>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2026-08-31T22:44:58Z</dcterms:created>
  <dcterms:modified xsi:type="dcterms:W3CDTF">2026-08-31T22:44:58Z</dcterms:modified>
</cp:coreProperties>
</file>