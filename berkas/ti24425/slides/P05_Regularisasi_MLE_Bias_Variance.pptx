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pengamatan</c:v>
                </c:pt>
              </c:strCache>
            </c:strRef>
          </c:tx>
          <c:spPr>
            <a:solidFill>
              <a:srgbClr val="3E3330"/>
            </a:solidFill>
            <a:ln w="38100" cap="flat">
              <a:solidFill>
                <a:srgbClr val="3E33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E3330"/>
              </a:solidFill>
              <a:ln w="9525" cap="flat">
                <a:solidFill>
                  <a:srgbClr val="3E33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2.1</c:v>
                </c:pt>
                <c:pt idx="1">
                  <c:v>3.9</c:v>
                </c:pt>
                <c:pt idx="2">
                  <c:v>5.2</c:v>
                </c:pt>
                <c:pt idx="3">
                  <c:v>5.8</c:v>
                </c:pt>
                <c:pt idx="4">
                  <c:v>7.5</c:v>
                </c:pt>
                <c:pt idx="5">
                  <c:v>7.2</c:v>
                </c:pt>
                <c:pt idx="6">
                  <c:v>8.9</c:v>
                </c:pt>
                <c:pt idx="7">
                  <c:v>9.1</c:v>
                </c:pt>
                <c:pt idx="8">
                  <c:v>10.5</c:v>
                </c:pt>
                <c:pt idx="9">
                  <c:v>10.2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Terlalu sederhana</c:v>
                </c:pt>
              </c:strCache>
            </c:strRef>
          </c:tx>
          <c:spPr>
            <a:solidFill>
              <a:srgbClr val="587D71"/>
            </a:solidFill>
            <a:ln w="38100" cap="flat">
              <a:solidFill>
                <a:srgbClr val="587D7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87D71"/>
              </a:solidFill>
              <a:ln w="9525" cap="flat">
                <a:solidFill>
                  <a:srgbClr val="587D7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Seimbang</c:v>
                </c:pt>
              </c:strCache>
            </c:strRef>
          </c:tx>
          <c:spPr>
            <a:solidFill>
              <a:srgbClr val="C9A227"/>
            </a:solidFill>
            <a:ln w="381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2.5</c:v>
                </c:pt>
                <c:pt idx="1">
                  <c:v>3.4</c:v>
                </c:pt>
                <c:pt idx="2">
                  <c:v>4.3</c:v>
                </c:pt>
                <c:pt idx="3">
                  <c:v>5.2</c:v>
                </c:pt>
                <c:pt idx="4">
                  <c:v>6.1</c:v>
                </c:pt>
                <c:pt idx="5">
                  <c:v>7</c:v>
                </c:pt>
                <c:pt idx="6">
                  <c:v>7.9</c:v>
                </c:pt>
                <c:pt idx="7">
                  <c:v>8.8</c:v>
                </c:pt>
                <c:pt idx="8">
                  <c:v>9.7</c:v>
                </c:pt>
                <c:pt idx="9">
                  <c:v>10.6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A6C6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7A6C66"/>
                    </a:solidFill>
                    <a:latin typeface="Arial"/>
                  </a:rPr>
                  <a:t>Nilai fitur 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C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0D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A6C6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7A6C66"/>
                    </a:solidFill>
                    <a:latin typeface="Arial"/>
                  </a:rPr>
                  <a:t>Nilai target 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C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7A6C6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Galat data latih</c:v>
                </c:pt>
              </c:strCache>
            </c:strRef>
          </c:tx>
          <c:spPr>
            <a:solidFill>
              <a:srgbClr val="587D71"/>
            </a:solidFill>
            <a:ln w="38100" cap="flat">
              <a:solidFill>
                <a:srgbClr val="587D7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87D71"/>
              </a:solidFill>
              <a:ln w="9525" cap="flat">
                <a:solidFill>
                  <a:srgbClr val="587D7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6</c:v>
                </c:pt>
                <c:pt idx="2">
                  <c:v>4</c:v>
                </c:pt>
                <c:pt idx="3">
                  <c:v>2.8</c:v>
                </c:pt>
                <c:pt idx="4">
                  <c:v>2</c:v>
                </c:pt>
                <c:pt idx="5">
                  <c:v>1.5</c:v>
                </c:pt>
                <c:pt idx="6">
                  <c:v>1.1</c:v>
                </c:pt>
                <c:pt idx="7">
                  <c:v>0.8</c:v>
                </c:pt>
                <c:pt idx="8">
                  <c:v>0.6</c:v>
                </c:pt>
                <c:pt idx="9">
                  <c:v>0.4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Galat data validasi</c:v>
                </c:pt>
              </c:strCache>
            </c:strRef>
          </c:tx>
          <c:spPr>
            <a:solidFill>
              <a:srgbClr val="B85042"/>
            </a:solidFill>
            <a:ln w="3810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10.2</c:v>
                </c:pt>
                <c:pt idx="1">
                  <c:v>6.5</c:v>
                </c:pt>
                <c:pt idx="2">
                  <c:v>4.8</c:v>
                </c:pt>
                <c:pt idx="3">
                  <c:v>3.9</c:v>
                </c:pt>
                <c:pt idx="4">
                  <c:v>3.5</c:v>
                </c:pt>
                <c:pt idx="5">
                  <c:v>3.6</c:v>
                </c:pt>
                <c:pt idx="6">
                  <c:v>4.1</c:v>
                </c:pt>
                <c:pt idx="7">
                  <c:v>4.9</c:v>
                </c:pt>
                <c:pt idx="8">
                  <c:v>5.8</c:v>
                </c:pt>
                <c:pt idx="9">
                  <c:v>6.9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A6C6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7A6C66"/>
                    </a:solidFill>
                    <a:latin typeface="Arial"/>
                  </a:rPr>
                  <a:t>Iterasi pelatihan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C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0D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A6C6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7A6C66"/>
                    </a:solidFill>
                    <a:latin typeface="Arial"/>
                  </a:rPr>
                  <a:t>Galat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C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7A6C6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Bias²</c:v>
                </c:pt>
              </c:strCache>
            </c:strRef>
          </c:tx>
          <c:spPr>
            <a:solidFill>
              <a:srgbClr val="587D71"/>
            </a:solidFill>
            <a:ln w="38100" cap="flat">
              <a:solidFill>
                <a:srgbClr val="587D7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87D71"/>
              </a:solidFill>
              <a:ln w="9525" cap="flat">
                <a:solidFill>
                  <a:srgbClr val="587D7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</c:v>
                </c:pt>
                <c:pt idx="1">
                  <c:v>6</c:v>
                </c:pt>
                <c:pt idx="2">
                  <c:v>4</c:v>
                </c:pt>
                <c:pt idx="3">
                  <c:v>2.5</c:v>
                </c:pt>
                <c:pt idx="4">
                  <c:v>1.5</c:v>
                </c:pt>
                <c:pt idx="5">
                  <c:v>1</c:v>
                </c:pt>
                <c:pt idx="6">
                  <c:v>0.7</c:v>
                </c:pt>
                <c:pt idx="7">
                  <c:v>0.5</c:v>
                </c:pt>
                <c:pt idx="8">
                  <c:v>0.4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Variance</c:v>
                </c:pt>
              </c:strCache>
            </c:strRef>
          </c:tx>
          <c:spPr>
            <a:solidFill>
              <a:srgbClr val="B85042"/>
            </a:solidFill>
            <a:ln w="3810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0.3</c:v>
                </c:pt>
                <c:pt idx="1">
                  <c:v>0.5</c:v>
                </c:pt>
                <c:pt idx="2">
                  <c:v>0.8</c:v>
                </c:pt>
                <c:pt idx="3">
                  <c:v>1.2</c:v>
                </c:pt>
                <c:pt idx="4">
                  <c:v>1.8</c:v>
                </c:pt>
                <c:pt idx="5">
                  <c:v>2.8</c:v>
                </c:pt>
                <c:pt idx="6">
                  <c:v>4.2</c:v>
                </c:pt>
                <c:pt idx="7">
                  <c:v>6</c:v>
                </c:pt>
                <c:pt idx="8">
                  <c:v>8.5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Galat total</c:v>
                </c:pt>
              </c:strCache>
            </c:strRef>
          </c:tx>
          <c:spPr>
            <a:solidFill>
              <a:srgbClr val="3E3330"/>
            </a:solidFill>
            <a:ln w="38100" cap="flat">
              <a:solidFill>
                <a:srgbClr val="3E33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E3330"/>
              </a:solidFill>
              <a:ln w="9525" cap="flat">
                <a:solidFill>
                  <a:srgbClr val="3E33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10.3</c:v>
                </c:pt>
                <c:pt idx="1">
                  <c:v>7.5</c:v>
                </c:pt>
                <c:pt idx="2">
                  <c:v>5.8</c:v>
                </c:pt>
                <c:pt idx="3">
                  <c:v>4.7</c:v>
                </c:pt>
                <c:pt idx="4">
                  <c:v>4.3</c:v>
                </c:pt>
                <c:pt idx="5">
                  <c:v>4.8</c:v>
                </c:pt>
                <c:pt idx="6">
                  <c:v>5.9</c:v>
                </c:pt>
                <c:pt idx="7">
                  <c:v>7.5</c:v>
                </c:pt>
                <c:pt idx="8">
                  <c:v>9.9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A6C6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7A6C66"/>
                    </a:solidFill>
                    <a:latin typeface="Arial"/>
                  </a:rPr>
                  <a:t>Kompleksitas model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C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0D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A6C6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7A6C66"/>
                    </a:solidFill>
                    <a:latin typeface="Arial"/>
                  </a:rPr>
                  <a:t>Galat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C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7A6C6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Pertemuan 5 dari 16. Empat bagian, dua latihan terbimbing, satu diskusi kasus. Warna dipakai konsisten sepanjang deck: sage = bias/underfitting, terakota = variance/overfitting.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Kalimat penutup adalah kejutan pedagogisnya. Biarkan mengendap sejenak sebelum lanjut.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Sebutkan sejak awal bahwa ada tugas berbobot. Mahasiswa jadi menyimak dengan tujuan.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 lebih dulu: mana yang terbaik? Banyak yang memilih yang melewati semua titik. Dari situ masuk ke pembahasan overfitting.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kalimat penutup. Ini aturan diagnosis yang akan dipakai di latihan terbimbing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seorang mahasiswa maju menunjuk titik balik pada layar. Sekitar iterasi ke-40.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Kunci: A overfitting berat, kurangi kompleksitas atau tambah regularisasi. B underfitting, tambah kapasitas model. C seimbang, kandidat terbaik. D tampak sangat baik tetapi mencurigakan. Jebakan: perlu dipastikan tidak ada kebocoran data (data leakage) - misalnya praproses dilakukan sebelum pembagian data. Kaitkan ke pertemuan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Dekomposisi ini tidak perlu diturunkan secara matematis di kelas teori. Yang penting mahasiswa paham maknanya.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papan panah adalah cara tercepat menanamkan perbedaan keduanya. Ulangi kalimat penutup.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Butir ketiga penting: data tambahan adalah satu-satunya cara memperbaiki tanpa trade-off. Sayangnya paling mahal.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Kaitkan ke etika pertemuan 1: menjanjikan akurasi 100 persen kepada klien adalah klaim yang tidak jujur.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Analogi: seperti diminta menulis esai sebaik mungkin, tetapi tiap kata tambahan dikenai biaya. Anda jadi memilih kata yang benar-benar perlu.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paling penting: Lasso bisa membuat koefisien tepat nol, Ridge tidak. Itu konsekuensi bentuk penaltinya.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Menghubungkan pola alpha dan lambda membantu mahasiswa membangun kategori mental hyperparameter.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Kunci: (1) Lasso, karena ada koefisien yang menjadi tepat nol - Ridge tidak pernah tepat nol. (2) Warna bus dan nomor armada; masuk akal karena keduanya tidak punya hubungan sebab dengan waktu tempuh. (3) Pada lambda 100 semua koefisien nyaris nol, termasuk jarak rute yang jelas relevan - model berbalik menjadi underfitting.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1 adalah kesalahan implementasi paling sering di dunia nyata. Sebut bahwa ini akan muncul lagi di Studi Kasus Akhir.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momen "aha" pertemuan ini. Beri jeda. Tidak perlu turunan matematisnya di kelas teori.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Kotak kiri adalah jembatan ke pertemuan 6 (logistic regression dan cross-entropy). Sebutkan itu secara eksplisit.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Kunci: A overfitting berat; menambah lapisan justru memperparah - kurangi kompleksitas atau tambah data. B bukan rusak, itu seleksi fitur otomatis Lasso; periksa apakah 18 fitur itu memang tidak relevan. C wajar dan justru diharapkan; yang harus dilihat galat validasi, bukan galat latih. D underfitting; melatih lebih lama tidak menolong, model perlu kapasitas atau fitur lebih baik.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ketiga wajib disebut. Mahasiswa yang sudah dengar istilah bias algoritmik di pertemuan 1 kerap tertukar.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tiap kelompok menyebut satu istilah yang paling sulit. Ulangi dua yang paling banyak disebut.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Tegaskan kriteria penilaian: alasan bernilai 30 persen. Ini melatih indikator 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menghubungkan kembali ke MLE: cross-entropy lahir dari asumsi Bernoulli.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3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852160" cy="58521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291840"/>
            <a:ext cx="4023360" cy="4023360"/>
          </a:xfrm>
          <a:prstGeom prst="ellipse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5120640"/>
            <a:ext cx="1828800" cy="18288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TI24425  ·  PERTEMUAN 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Regularisasi, MLE,</a:t>
            </a:r>
            <a:endParaRPr lang="en-US" sz="4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 Bias-Variance</a:t>
            </a:r>
            <a:endParaRPr lang="en-US" sz="4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94360" y="4343400"/>
            <a:ext cx="137160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4617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5  ·  Mampu menganalisis peran regularisasi dan Maximum Likelihood Estimation,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serta mengevaluasi kondisi underfitting dan overfitting melalui kerangka bias-variance trade-off.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5989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Teknologi Informasi  ·  Politeknik Negeri Madiun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mana kita sekarang?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37360"/>
            <a:ext cx="621792" cy="621792"/>
          </a:xfrm>
          <a:prstGeom prst="ellipse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 &amp; Gradient Descent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 sudah bisa membuat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belajar dari data.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40312E"/>
          </a:solidFill>
          <a:ln w="12700">
            <a:solidFill>
              <a:srgbClr val="40312E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737360"/>
            <a:ext cx="621792" cy="62179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INI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Regularisasi &amp; Bias-Variance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kalau model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terlalu banyak?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03920" y="1737360"/>
            <a:ext cx="621792" cy="621792"/>
          </a:xfrm>
          <a:prstGeom prst="ellipse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BERIKUTNYA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memprediksi angka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memprediksi kelas.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493776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lalu kita puas ketika loss mengecil. Hari ini kita belajar bahwa loss yang terlalu kecil justru pertanda bahaya.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Setelah pertemuan ini Anda mampu…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566928" cy="566928"/>
          </a:xfrm>
          <a:prstGeom prst="ellipse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481328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pengaruh regularisasi L1 (Lasso) dan L2 (Ridge) terhadap koefisien model.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87168"/>
            <a:ext cx="566928" cy="566928"/>
          </a:xfrm>
          <a:prstGeom prst="ellipse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505456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hubungan Maximum Likelihood Estimation dengan fungsi loss yang sudah Anda kenal.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511296"/>
            <a:ext cx="566928" cy="5669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511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29584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Mendiagnosis kondisi underfitting dan overfitting dari kurva pembelajaran dan tabel skor.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535424"/>
            <a:ext cx="566928" cy="5669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35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55371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rekomendasi perbaikan model beserta alasan yang dapat dipertanggungjawabkan.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76072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 03 dan 04 dinilai lewat Tugas Terstruktur 2 (bobot 4%) yang diberikan di akhir pertemuan ini.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03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Ketika Model Belajar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Terlalu Banyak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Underfitting, overfitting, dan cara mengenalinya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PEMBUKA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model, satu data yang sama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28016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280160"/>
            <a:ext cx="3840480" cy="1234440"/>
          </a:xfrm>
          <a:prstGeom prst="roundRect">
            <a:avLst>
              <a:gd name="adj" fmla="val 6667"/>
            </a:avLst>
          </a:prstGeom>
          <a:solidFill>
            <a:srgbClr val="587D71"/>
          </a:solidFill>
          <a:ln w="12700">
            <a:solidFill>
              <a:srgbClr val="587D71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010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Terlalu sederhana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8288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Melewatkan pola yang jelas ada.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pada data latih maupun uji.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26680" y="2651760"/>
            <a:ext cx="3840480" cy="1234440"/>
          </a:xfrm>
          <a:prstGeom prst="roundRect">
            <a:avLst>
              <a:gd name="adj" fmla="val 666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00100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Seimbang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200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3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Menangkap pola, mengabaikan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3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derau. Inilah yang kita cari.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26680" y="4023360"/>
            <a:ext cx="3840480" cy="1234440"/>
          </a:xfrm>
          <a:prstGeom prst="roundRect">
            <a:avLst>
              <a:gd name="adj" fmla="val 6667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001000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Terlalu kompleks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4572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5E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Melewati setiap titik persis —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5E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derau. Loss latih nol.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539496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terlalu kompleks tidak digambar: garisnya akan berimpit sempurna dengan titik data pengamatan.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KEGAGALAN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 dan overfitting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303520" cy="406908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25880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447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7190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terlalu kaku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33172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Galat besar pada data latih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Galat besar pada data uji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galat hampir sama besar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tidak cukup mampu menangkap pola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4663440" cy="18288"/>
          </a:xfrm>
          <a:prstGeom prst="rect">
            <a:avLst/>
          </a:prstGeom>
          <a:solidFill>
            <a:srgbClr val="E5E0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2976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Perbaikan: tambah fitur, naikkan kompleksitas model, kurangi regularisasi, latih lebih lama.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1325880"/>
            <a:ext cx="5303520" cy="406908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325880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14447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17190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terlalu lentur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33172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Galat sangat kecil pada data latih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Galat besar pada data uji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Jurang lebar antara keduanya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menghafal derau, bukan pola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583680" y="4114800"/>
            <a:ext cx="4663440" cy="18288"/>
          </a:xfrm>
          <a:prstGeom prst="rect">
            <a:avLst/>
          </a:prstGeom>
          <a:solidFill>
            <a:srgbClr val="E5E0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42976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Perbaikan: tambah data, kurangi fitur, sederhanakan model, tambah regularisasi, early stopping.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57784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Kuncinya bukan nilai galat itu sendiri, melainkan jurang antara galat latih dan galat uji.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Membaca kurva pembelajaran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28016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280160"/>
            <a:ext cx="3840480" cy="39319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harus dilihat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192024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kurva tinggi dan berdempetan: underfitting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Kurva validasi berbalik naik sementara kurva latih terus turun: overfitting dimulai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balik itulah saat terbaik untuk berhenti melatih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Jurang lebar di ujung kanan: model sudah menghafal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544068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Menghentikan pelatihan tepat di titik balik disebut early stopping — bentuk regularisasi yang paling murah.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TERBIMBING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empat model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11002975" cy="658368"/>
          </a:xfrm>
          <a:prstGeom prst="roundRect">
            <a:avLst>
              <a:gd name="adj" fmla="val 12500"/>
            </a:avLst>
          </a:prstGeom>
          <a:solidFill>
            <a:srgbClr val="EDF0EE"/>
          </a:solidFill>
          <a:ln w="12700">
            <a:solidFill>
              <a:srgbClr val="D2DCD8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426464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E5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berpasangan · 12 menit · Untuk tiap model: sebutkan kondisinya dan satu tindakan perbaikan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03120"/>
          <a:ext cx="1100297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2377440"/>
                <a:gridCol w="2468880"/>
                <a:gridCol w="26791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Galat data latih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Galat data validasi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Kondisi?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Tindakan perbaikan?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470916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BF3DC"/>
          </a:solidFill>
          <a:ln w="12700">
            <a:solidFill>
              <a:srgbClr val="EADCAF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960120" y="493776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jebakan: Model D punya galat paling kecil di kedua kolom. Apakah otomatis berarti D yang terbaik? Apa satu informasi tambahan yang wajib Anda tanyakan sebelum memutuskan?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03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Bias-Variance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sumber kesalahan yang saling tarik-menarik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mana kesalahan datang?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3035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645920"/>
            <a:ext cx="640080" cy="640080"/>
          </a:xfrm>
          <a:prstGeom prst="ellipse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691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karena asumsi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6060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terlalu menyederhanakan kenyataan. Ia konsisten meleset ke arah yang sama, berapa kali pun dilatih ulang.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0120" y="370332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tinggi → underfitting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325880"/>
            <a:ext cx="53035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29400" y="164592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1691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karena kepekaan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6060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terlalu peka pada data latih tertentu. Ganti sedikit datanya, hasilnya berubah drastis.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370332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tinggi → overfitting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737360" y="4709160"/>
            <a:ext cx="8686800" cy="914400"/>
          </a:xfrm>
          <a:prstGeom prst="roundRect">
            <a:avLst>
              <a:gd name="adj" fmla="val 7000"/>
            </a:avLst>
          </a:prstGeom>
          <a:solidFill>
            <a:srgbClr val="40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37360" y="47091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Galat total  =  Bias²  +  Variance  +  Galat tak tereduksi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576072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0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Menurunkan yang satu biasanya menaikkan yang lain — itulah sebabnya disebut trade-off.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03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kemungkinan lemparan panah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54423E"/>
          </a:solidFill>
          <a:ln w="12700">
            <a:solidFill>
              <a:srgbClr val="6A5450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1709928"/>
            <a:ext cx="1143000" cy="11430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2728" y="1984248"/>
            <a:ext cx="594360" cy="594360"/>
          </a:xfrm>
          <a:prstGeom prst="ellipse">
            <a:avLst/>
          </a:prstGeom>
          <a:solidFill>
            <a:srgbClr val="544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15819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rendah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 rendah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2585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panah menumpuk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tepat di pusat sasaran.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807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— jarang tercapai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54423E"/>
          </a:solidFill>
          <a:ln w="12700">
            <a:solidFill>
              <a:srgbClr val="6A5450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47688" y="1709928"/>
            <a:ext cx="1143000" cy="11430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22008" y="1984248"/>
            <a:ext cx="594360" cy="594360"/>
          </a:xfrm>
          <a:prstGeom prst="ellipse">
            <a:avLst/>
          </a:prstGeom>
          <a:solidFill>
            <a:srgbClr val="544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15819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rendah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 tinggi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2585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Panah tersebar luas, tetapi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rata-ratanya di pusat.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2807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347472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54423E"/>
          </a:solidFill>
          <a:ln w="12700">
            <a:solidFill>
              <a:srgbClr val="6A5450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78408" y="3858768"/>
            <a:ext cx="1143000" cy="1143000"/>
          </a:xfrm>
          <a:prstGeom prst="ellipse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2728" y="4133088"/>
            <a:ext cx="594360" cy="594360"/>
          </a:xfrm>
          <a:prstGeom prst="ellipse">
            <a:avLst/>
          </a:prstGeom>
          <a:solidFill>
            <a:srgbClr val="544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77440" y="37307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tinggi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 rendah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2377440" y="44074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Panah menumpuk rapat,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tetapi jauh dari pusat.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4956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347472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54423E"/>
          </a:solidFill>
          <a:ln w="12700">
            <a:solidFill>
              <a:srgbClr val="6A5450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47688" y="3858768"/>
            <a:ext cx="1143000" cy="1143000"/>
          </a:xfrm>
          <a:prstGeom prst="ellipse">
            <a:avLst/>
          </a:prstGeom>
          <a:solidFill>
            <a:srgbClr val="C9A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22008" y="4133088"/>
            <a:ext cx="594360" cy="594360"/>
          </a:xfrm>
          <a:prstGeom prst="ellipse">
            <a:avLst/>
          </a:prstGeom>
          <a:solidFill>
            <a:srgbClr val="544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37307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tinggi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 tinggi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44074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Panah tersebar luas dan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melenceng jauh dari pusat.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4956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9A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Terburuk dari dua dunia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57150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mengukur seberapa jauh dari pusat. Variance mengukur seberapa tersebar.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Titik terbaik ada di tengah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28016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280160"/>
            <a:ext cx="3840480" cy="1874520"/>
          </a:xfrm>
          <a:prstGeom prst="roundRect">
            <a:avLst>
              <a:gd name="adj" fmla="val 439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Titik optimum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18745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A3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saat bias terkecil, bukan pula saat variance terkecil — melainkan saat jumlah keduanya paling kecil.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26680" y="3337560"/>
            <a:ext cx="38404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04672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perlu diingat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3913632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kompleksitas menurunkan bias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kompleksitas menaikkan variance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data menurunkan variance tanpa menaikkan bias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BAWAH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 galat yang tidak bisa dihapus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594360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6916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Galat tak tereduksi berasal dari derau bawaan data itu sendiri — pengukuran yang tidak sempurna, faktor yang tidak terekam, atau keacakan alami.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88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pada kasus kita: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089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Kemacetan mendadak yang tidak tercatat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Cuaca dan perilaku pengemudi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pencatatan waktu di halte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0" y="1371600"/>
            <a:ext cx="4617720" cy="2926080"/>
          </a:xfrm>
          <a:prstGeom prst="roundRect">
            <a:avLst>
              <a:gd name="adj" fmla="val 2813"/>
            </a:avLst>
          </a:prstGeom>
          <a:solidFill>
            <a:srgbClr val="40312E"/>
          </a:solidFill>
          <a:ln w="12700">
            <a:solidFill>
              <a:srgbClr val="40312E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9480" y="16459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Konsekuensi praktis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103120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model yang bisa mencapai galat nol pada data baru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Mengejar galat nol pada data latih justru menghasilkan overfitting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data atau fitur tidak akan menghapus bagian ini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572000"/>
            <a:ext cx="11002975" cy="1005840"/>
          </a:xfrm>
          <a:prstGeom prst="roundRect">
            <a:avLst>
              <a:gd name="adj" fmla="val 8182"/>
            </a:avLst>
          </a:prstGeom>
          <a:solidFill>
            <a:srgbClr val="FBF3DC"/>
          </a:solidFill>
          <a:ln w="12700">
            <a:solidFill>
              <a:srgbClr val="EADCAF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05840" y="480060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6B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yang harus Anda ajukan bukan "seberapa kecil galat bisa saya buat", melainkan "seberapa dekat saya dengan batas bawah yang wajar untuk data ini".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03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Regularisasi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Menghukum kompleksitas secara sengaja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GAGASAN INTI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Menambahkan denda pada fungsi loss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 ini model hanya diminta satu hal: perkecil galat. Regularisasi menambahkan permintaan kedua: dan jangan jadi terlalu rumit.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737360" y="2057400"/>
            <a:ext cx="8686800" cy="1051560"/>
          </a:xfrm>
          <a:prstGeom prst="roundRect">
            <a:avLst>
              <a:gd name="adj" fmla="val 6087"/>
            </a:avLst>
          </a:prstGeom>
          <a:solidFill>
            <a:srgbClr val="40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37360" y="205740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baru  =  Loss data  +  λ · Penalti kompleksitas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94360" y="34290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703320"/>
            <a:ext cx="457200" cy="41148"/>
          </a:xfrm>
          <a:prstGeom prst="rect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031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data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2976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meleset prediksi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kenyataan. Contoh: MSE.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34290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3703320"/>
            <a:ext cx="457200" cy="41148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031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(lambda)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42976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keras kita menghukum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kerumitan. Anda yang menentukan.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83880" y="34290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0" y="3703320"/>
            <a:ext cx="457200" cy="41148"/>
          </a:xfrm>
          <a:prstGeom prst="rect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0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031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Penalti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42976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kerumitan model —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biasanya besarnya koefisien.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534924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40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kini menghadapi dilema: mengecilkan galat menuntut koefisien besar, tetapi koefisien besar dikenai denda.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BENTUK PENALTI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(L2) dan Lasso (L1)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100297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70832"/>
                <a:gridCol w="4343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31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 ·  Regularisasi L2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31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 ·  Regularisasi L1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31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Bentuk penalti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· Σ w²   (jumlah kuadrat bobot)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· Σ |w|   (jumlah nilai mutlak)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Efek pada koefisien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Semua koefisien mengecil,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tetapi tidak pernah tepat nol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Sebagian koefisien menjadi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tepat nol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Kegunaan tambahan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Menstabilkan model saat fitur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saling berkorelasi kuat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Melakukan seleksi fitur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secara otomatis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Dipakai saat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Semua fitur diyakini relevan,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perlu diredam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Diduga banyak fitur yang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sebenarnya tidak berguna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Catatan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Turunannya mulus — mudah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dioptimasi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mulus di titik nol 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butuh metode khusus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" y="539496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menggabungkan keduanya — disebut sekilas di sini, dibahas tuntas pada mata kuliah lanjutan.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KUNCI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Seberapa keras menghukum?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25880"/>
            <a:ext cx="3520440" cy="658368"/>
          </a:xfrm>
          <a:prstGeom prst="roundRect">
            <a:avLst>
              <a:gd name="adj" fmla="val 12500"/>
            </a:avLst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= 0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9456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denda sama sekali. Model bebas menjadi serumit apa pun — kembali ke risiko overfitting.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160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Setara tanpa regularisasi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325880"/>
            <a:ext cx="3520440" cy="658368"/>
          </a:xfrm>
          <a:prstGeom prst="roundRect">
            <a:avLst>
              <a:gd name="adj" fmla="val 12500"/>
            </a:avLst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13258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tepat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19456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Koefisien diredam secukupnya. Model tetap menangkap pola, tetapi berhenti mengejar derau.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4160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Galat validasi minimum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132588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325880"/>
            <a:ext cx="3520440" cy="658368"/>
          </a:xfrm>
          <a:prstGeom prst="roundRect">
            <a:avLst>
              <a:gd name="adj" fmla="val 12500"/>
            </a:avLst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13258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sangat besar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19456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Denda mendominasi. Semua koefisien tertekan mendekati nol dan model nyaris tidak memprediksi apa pun.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4160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Berbalik jadi underfitting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5120640"/>
            <a:ext cx="11002975" cy="777240"/>
          </a:xfrm>
          <a:prstGeom prst="roundRect">
            <a:avLst>
              <a:gd name="adj" fmla="val 10588"/>
            </a:avLst>
          </a:prstGeom>
          <a:solidFill>
            <a:srgbClr val="FBF3DC"/>
          </a:solidFill>
          <a:ln w="12700">
            <a:solidFill>
              <a:srgbClr val="EADCAF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05840" y="5285232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polanya: sama seperti learning rate pada pertemuan lalu, λ adalah hyperparameter — Anda yang menetapkan, bukan model yang mempelajarinya. Cara memilihnya dibahas di pertemuan 9.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TERBIMBING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Membaca efek λ pada koefisien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11002975" cy="658368"/>
          </a:xfrm>
          <a:prstGeom prst="roundRect">
            <a:avLst>
              <a:gd name="adj" fmla="val 12500"/>
            </a:avLst>
          </a:prstGeom>
          <a:solidFill>
            <a:srgbClr val="EDF0EE"/>
          </a:solidFill>
          <a:ln w="12700">
            <a:solidFill>
              <a:srgbClr val="D2DCD8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426464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E5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sendiri, lalu bandingkan dengan teman sebangku · 12 menit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574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model memprediksi waktu tempuh bus dari lima fitur. Berikut koefisien hasil pelatihan pada beberapa nilai λ.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468880"/>
          <a:ext cx="11002975" cy="914400"/>
        </p:xfrm>
        <a:graphic>
          <a:graphicData uri="http://schemas.openxmlformats.org/drawingml/2006/table">
            <a:tbl>
              <a:tblPr/>
              <a:tblGrid>
                <a:gridCol w="2770632"/>
                <a:gridCol w="1645920"/>
                <a:gridCol w="1645920"/>
                <a:gridCol w="1645920"/>
                <a:gridCol w="1645920"/>
                <a:gridCol w="16459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Fitur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= 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= 0,1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= 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= 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= 100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Jarak rute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halte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 sibuk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Warna bus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Nomor armada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507492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40312E"/>
          </a:solidFill>
          <a:ln w="12700">
            <a:solidFill>
              <a:srgbClr val="40312E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005840" y="5257800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 tiga hal:  (1) Jenis regularisasi apa yang dipakai — Ridge atau Lasso? Tunjukkan buktinya dari tabel.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Fitur mana yang menurut model tidak berguna, dan apakah itu masuk akal?  (3) Mengapa λ = 100 berbahaya?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PENTING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hal yang sering terlewat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19072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19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57276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Fitur wajib diskalakan lebih dulu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5544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 menghukum besarnya koefisien. Fitur dengan satuan besar (misalnya rupiah) menghasilkan koefisien kecil, dan sebaliknya. Tanpa penskalaan, denda menjadi tidak adil antar fitur.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11002975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182112"/>
            <a:ext cx="566928" cy="566928"/>
          </a:xfrm>
          <a:prstGeom prst="ellipse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182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03580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Intersep biasanya tidak dihukum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30175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b menggeser seluruh prediksi dan tidak menambah kerumitan bentuk model. Menghukumnya justru memaksa prediksi mendekati nol tanpa alasan.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297680"/>
            <a:ext cx="11002975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645152"/>
            <a:ext cx="566928" cy="566928"/>
          </a:xfrm>
          <a:prstGeom prst="ellipse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645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49884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Regularisasi bukan pengganti data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44805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menahan model agar tidak menghafal, tetapi tidak menciptakan informasi baru. Bila datanya memang kurang, regularisasi hanya menunda masalah.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03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Likelihood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mana fungsi loss itu sebenarnya berasal?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mana yang paling masuk akal?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669280" cy="2514600"/>
          </a:xfrm>
          <a:prstGeom prst="roundRect">
            <a:avLst>
              <a:gd name="adj" fmla="val 3273"/>
            </a:avLst>
          </a:prstGeom>
          <a:solidFill>
            <a:srgbClr val="40312E"/>
          </a:solidFill>
          <a:ln w="12700">
            <a:solidFill>
              <a:srgbClr val="40312E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600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 ini kita memilih MSE begitu saja karena "masuk akal". MLE membalik urutan berpikirnya.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50592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Alih-alih bertanya "seberapa meleset prediksi saya", MLE bertanya: dengan asumsi tertentu tentang data, nilai parameter mana yang membuat data yang saya amati paling mungkin terjadi?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20840" y="1325880"/>
            <a:ext cx="48463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949440" y="13258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7D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1417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Asumsikan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16550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asumsi tentang sebaran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derau, misalnya berdistribusi normal.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20840" y="2167128"/>
            <a:ext cx="48463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49440" y="2167128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7D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258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Hitung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24963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 likelihood: peluang data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teramati untuk suatu nilai parameter.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3008376"/>
            <a:ext cx="48463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49440" y="3008376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7D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30998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Maksimalkan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3337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parameter yang membuat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likelihood paling besar.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023360"/>
            <a:ext cx="11002975" cy="1600200"/>
          </a:xfrm>
          <a:prstGeom prst="roundRect">
            <a:avLst>
              <a:gd name="adj" fmla="val 5143"/>
            </a:avLst>
          </a:prstGeom>
          <a:solidFill>
            <a:srgbClr val="FBF3DC"/>
          </a:solidFill>
          <a:ln w="12700">
            <a:solidFill>
              <a:srgbClr val="EADCAF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05840" y="420624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5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yang mengejutkan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57200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kita mengasumsikan derau berdistribusi normal, memaksimalkan likelihood ternyata setara persis dengan meminimalkan MSE. Fungsi loss yang kita pakai pertemuan lalu bukan pilihan sembarangan — ia punya landasan statistik.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03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Bagaimana semuanya terhubung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54423E"/>
          </a:solidFill>
          <a:ln w="12700">
            <a:solidFill>
              <a:srgbClr val="6A5450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384048" cy="41148"/>
          </a:xfrm>
          <a:prstGeom prst="rect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Asumsi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derau normal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715768" y="2011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66160" y="155448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54423E"/>
          </a:solidFill>
          <a:ln w="12700">
            <a:solidFill>
              <a:srgbClr val="6A5450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94760" y="1828800"/>
            <a:ext cx="384048" cy="41148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2011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Likelihood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687568" y="2011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537960" y="155448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54423E"/>
          </a:solidFill>
          <a:ln w="12700">
            <a:solidFill>
              <a:srgbClr val="6A5450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0" y="1828800"/>
            <a:ext cx="384048" cy="41148"/>
          </a:xfrm>
          <a:prstGeom prst="rect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2011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Minimalkan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659368" y="2011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509760" y="155448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54423E"/>
          </a:solidFill>
          <a:ln w="12700">
            <a:solidFill>
              <a:srgbClr val="6A5450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738360" y="1828800"/>
            <a:ext cx="384048" cy="41148"/>
          </a:xfrm>
          <a:prstGeom prst="rect">
            <a:avLst/>
          </a:prstGeom>
          <a:solidFill>
            <a:srgbClr val="C9A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38360" y="2011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Descent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20040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Asumsi statistik menentukan fungsi loss. Fungsi loss menentukan apa yang dioptimasi. Algoritma optimasi menentukan bagaimana mencapainya.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" y="3840480"/>
            <a:ext cx="5303520" cy="1783080"/>
          </a:xfrm>
          <a:prstGeom prst="roundRect">
            <a:avLst>
              <a:gd name="adj" fmla="val 4615"/>
            </a:avLst>
          </a:prstGeom>
          <a:solidFill>
            <a:srgbClr val="54423E"/>
          </a:solidFill>
          <a:ln w="12700">
            <a:solidFill>
              <a:srgbClr val="6A5450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6012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Kalau asumsinya berubah?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46227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Asumsi derau Laplace menghasilkan MAE, bukan MSE. Asumsi Bernoulli menghasilkan cross-entropy — yang akan kita pakai pertemuan depan untuk klasifikasi.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3840480"/>
            <a:ext cx="5303520" cy="1783080"/>
          </a:xfrm>
          <a:prstGeom prst="roundRect">
            <a:avLst>
              <a:gd name="adj" fmla="val 4615"/>
            </a:avLst>
          </a:prstGeom>
          <a:solidFill>
            <a:srgbClr val="54423E"/>
          </a:solidFill>
          <a:ln w="12700">
            <a:solidFill>
              <a:srgbClr val="6A5450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62940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mana regularisasi masuk?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446227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keyakinan awal tentang nilai parameter. Keyakinan normal menghasilkan Ridge, keyakinan Laplace menghasilkan Lasso. Itulah sudut pandang Bayesian.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KASUS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laporan dari lapangan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530352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55648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609344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99,8% pada data latih, 61% pada data uji. Tim mengusulkan menambah lapisan model.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0352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755648"/>
            <a:ext cx="566928" cy="566928"/>
          </a:xfrm>
          <a:prstGeom prst="ellipse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609344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dengan Lasso menghasilkan 18 dari 20 koefisien bernilai nol. Klien menganggapnya rusak.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2944368"/>
            <a:ext cx="530352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328416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328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18211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regularisasi ditambahkan, galat latih naik dari 0,05 menjadi 0,31. Tim panik.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2944368"/>
            <a:ext cx="530352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3328416"/>
            <a:ext cx="566928" cy="566928"/>
          </a:xfrm>
          <a:prstGeom prst="ellipse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328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18211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Galat latih dan galat uji sama-sama 4,8 dan tidak turun meski model dilatih tiga kali lebih lama.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66344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40312E"/>
          </a:solidFill>
          <a:ln w="12700">
            <a:solidFill>
              <a:srgbClr val="40312E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484632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tiap laporan: apa diagnosis Anda, apakah usulan tim sudah tepat, dan apa satu tindakan pertama yang Anda sarankan?</a:t>
            </a:r>
            <a:endParaRPr lang="en-US" sz="14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 dengan alasan. Diskusi kelompok 4 orang · 15 menit.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WASPADAI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salah kaprah yang paling sering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45336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545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4721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Regularisasi selalu memperbaiki model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453896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Tidak. Pada model yang sudah underfitting, regularisasi justru memperburuk keadaan.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2404872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624328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55117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Galat latih naik berarti gagal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53288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Justru sering pertanda benar. Yang menentukan keberhasilan adalah galat validasi, bukan galat latih.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3483864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6301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tinggi berarti model berat sebelah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61188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di sini istilah statistik, bukan bias sosial. Keduanya penting, tetapi bukan hal yang sama.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4562856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782312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782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7091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berarti harus berkompromi selamanya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4690872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data berkualitas menurunkan variance tanpa menaikkan bias — satu-satunya jalan keluar sejati.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03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perlu Anda bawa pulang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54423E"/>
          </a:solidFill>
          <a:ln w="12700">
            <a:solidFill>
              <a:srgbClr val="6A5450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64208"/>
            <a:ext cx="457200" cy="41148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Galat latih dan uji sama-sama besar.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terlalu kaku.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54423E"/>
          </a:solidFill>
          <a:ln w="12700">
            <a:solidFill>
              <a:srgbClr val="6A5450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664208"/>
            <a:ext cx="457200" cy="41148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Galat latih kecil, galat uji besar.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menghafal derau.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54423E"/>
          </a:solidFill>
          <a:ln w="12700">
            <a:solidFill>
              <a:srgbClr val="6A5450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0" y="1664208"/>
            <a:ext cx="457200" cy="41148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Bias-Variance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Galat = Bias² + Variance + galat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 tereduksi. Optimum ada di tengah.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54423E"/>
          </a:solidFill>
          <a:ln w="12700">
            <a:solidFill>
              <a:srgbClr val="6A5450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630168"/>
            <a:ext cx="457200" cy="41148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Regularisasi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denda kerumitan pada loss.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mengatur seberapa keras.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8912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54423E"/>
          </a:solidFill>
          <a:ln w="12700">
            <a:solidFill>
              <a:srgbClr val="6A5450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630168"/>
            <a:ext cx="457200" cy="41148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0916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vs Lasso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mengecilkan semua koefisien.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dapat membuatnya tepat nol.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8388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54423E"/>
          </a:solidFill>
          <a:ln w="12700">
            <a:solidFill>
              <a:srgbClr val="6A5450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03920" y="3630168"/>
            <a:ext cx="457200" cy="41148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loss berasal dari asumsi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statistik, bukan dipilih sembarangan.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 LANJUT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pertemuan berikutnya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572768"/>
            <a:ext cx="530352" cy="530352"/>
          </a:xfrm>
          <a:prstGeom prst="ellipse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572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Belajar Mandiri  ·  180 menit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Burkov [3] mengenai regularisasi dan bias-variance trade-off, serta ISL [11] Bab 6.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1325880"/>
            <a:ext cx="5029200" cy="1965960"/>
          </a:xfrm>
          <a:prstGeom prst="roundRect">
            <a:avLst>
              <a:gd name="adj" fmla="val 4186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0" y="1572768"/>
            <a:ext cx="530352" cy="530352"/>
          </a:xfrm>
          <a:prstGeom prst="ellipse">
            <a:avLst/>
          </a:prstGeom>
          <a:solidFill>
            <a:srgbClr val="40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1572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16276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03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Terstruktur 2  ·  Bobot 4%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2402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3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diagnosis bias-variance dari kurva pembelajaran yang disediakan, disertai rekomendasi perbaikan beserta alasannya.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520440"/>
            <a:ext cx="11002975" cy="1143000"/>
          </a:xfrm>
          <a:prstGeom prst="roundRect">
            <a:avLst>
              <a:gd name="adj" fmla="val 7200"/>
            </a:avLst>
          </a:prstGeom>
          <a:solidFill>
            <a:srgbClr val="EDF0EE"/>
          </a:solidFill>
          <a:ln w="12700">
            <a:solidFill>
              <a:srgbClr val="D2DCD8"/>
            </a:solidFill>
            <a:prstDash val="solid"/>
          </a:ln>
          <a:effectLst>
            <a:outerShdw sx="100000" sy="100000" kx="0" ky="0" algn="bl" rotWithShape="0" blurRad="101600" dist="508" dir="5400000">
              <a:srgbClr val="BFB5AD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05840" y="370332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5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penilaian tugas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02336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E5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Ketepatan diagnosis (40%)  ·  Kelayakan rekomendasi (30%)  ·  Kekuatan alasan yang diberikan (30%). Rekomendasi tanpa alasan tidak mendapat nilai penuh, sekalipun tindakannya benar.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89204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Bacaan pendukung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16636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Burkov, The Hundred-Page Machine Learning Book  ·  [11] James dkk., An Introduction to Statistical Learning, Bab 6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CS 189/289A, University of California Berkeley — https://eecs189.org/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03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463040"/>
            <a:ext cx="3840480" cy="3840480"/>
          </a:xfrm>
          <a:prstGeom prst="ellipse">
            <a:avLst/>
          </a:prstGeom>
          <a:solidFill>
            <a:srgbClr val="587D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011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BERIKUTNYA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Klasifikasi Linier: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4069080"/>
            <a:ext cx="137160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4343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Sejauh ini kita memprediksi angka. Pertemuan depan kita memprediksi kelas —</a:t>
            </a:r>
            <a:endParaRPr lang="en-US" sz="17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5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asumsi statistik yang berbeda akan melahirkan fungsi loss yang berbeda pula.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2026-08-31T05:04:45Z</dcterms:created>
  <dcterms:modified xsi:type="dcterms:W3CDTF">2026-08-31T05:04:45Z</dcterms:modified>
</cp:coreProperties>
</file>