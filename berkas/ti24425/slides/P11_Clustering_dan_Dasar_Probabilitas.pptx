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52B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2252B"/>
                </a:solidFill>
                <a:latin typeface="Cambria"/>
              </a:rPr>
              <a:t>Elbow method — cari titik siku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E0674F"/>
            </a:solidFill>
            <a:ln w="38100" cap="flat">
              <a:solidFill>
                <a:srgbClr val="E067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674F"/>
              </a:solidFill>
              <a:ln w="9525" cap="flat">
                <a:solidFill>
                  <a:srgbClr val="E067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520</c:v>
                </c:pt>
                <c:pt idx="1">
                  <c:v>210</c:v>
                </c:pt>
                <c:pt idx="2">
                  <c:v>95</c:v>
                </c:pt>
                <c:pt idx="3">
                  <c:v>78</c:v>
                </c:pt>
                <c:pt idx="4">
                  <c:v>66</c:v>
                </c:pt>
                <c:pt idx="5">
                  <c:v>58</c:v>
                </c:pt>
                <c:pt idx="6">
                  <c:v>51</c:v>
                </c:pt>
                <c:pt idx="7">
                  <c:v>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0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078"/>
                    </a:solidFill>
                    <a:latin typeface="Arial"/>
                  </a:rPr>
                  <a:t>Jumlah klaster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EE0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52B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2252B"/>
                </a:solidFill>
                <a:latin typeface="Cambria"/>
              </a:rPr>
              <a:t>Silhouette score — cari nilai tertinggi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2E9A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5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0.52</c:v>
                </c:pt>
                <c:pt idx="1">
                  <c:v>0.68</c:v>
                </c:pt>
                <c:pt idx="2">
                  <c:v>0.55</c:v>
                </c:pt>
                <c:pt idx="3">
                  <c:v>0.48</c:v>
                </c:pt>
                <c:pt idx="4">
                  <c:v>0.42</c:v>
                </c:pt>
                <c:pt idx="5">
                  <c:v>0.38</c:v>
                </c:pt>
                <c:pt idx="6">
                  <c:v>0.33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225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0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078"/>
                    </a:solidFill>
                    <a:latin typeface="Arial"/>
                  </a:rPr>
                  <a:t>Jumlah klaster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DEE0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11 dari 16. Empat bagian, dua latihan terbimbing. Warna dipakai untuk membedakan klaster, bukan sebagai hiasan.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konsekuensi ini sejak awal. Mahasiswa yang terbiasa mengejar akurasi akan kebingungan bila tidak disiapkan.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Indikator 03 sering diremehkan mahasiswa. Tekankan bahwa ini yang paling dinilai dalam diskusi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ini adalah inti pertemuan. Ulangi di ringkasan.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Kasus segmentasi rute akan dipakai sebagai bahan latihan interpretasi profil klaster nanti.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 bahwa yang diminimalkan tetap jumlah kuadrat, sama seperti MSE pertemuan 4. Gagasannya berulang.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k-means++ sebagai cara cerdas memilih tebakan awal, yang kini menjadi pilihan bawaan di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Tanda silang adalah sentroid, lingkaran kecil adalah data. Minta mahasiswa memperhatikan pergerakan sentroid biru dari panel satu ke panel dua.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Iterasi 1 - A dan B ke C1, sisanya ke C2. Sentroid baru C1 = (1; 1,5) dan C2 = (5,25; 4,25). Iterasi 2 - A, B, C ke C1; D, E, F ke C2. Sentroid baru C1 = (1,33; 1,33) dan C2 = (6,33; 5,33). Iterasi 3 keanggotaan tidak berubah sehingga sudah stabil. Untuk pertanyaan lanjutan: hasil akhirnya sama, karena kedua kelompok data terpisah sangat jauh sehingga tebakan awal apa pun akan menuju pemisahan yang sama. Bila data saling tumpang tindih, jawabannya bisa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bahwa inertia selalu turun sangat penting. Tanpa itu, elbow method tampak seperti trik tanpa alasan.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Dalam contoh ini kedua metode sepakat pada k sama dengan 3. Di dunia nyata keduanya sering bertentangan - itulah isi slide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Butir keempat sering mengejutkan mahasiswa. Tekankan bahwa kendala operasional adalah pertimbangan yang sah, bukan kecurangan.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arah: Klaster 1 rute pendek padat perkotaan - tambah frekuensi armada. Klaster 2 rute panjang sepi dengan keterlambatan tinggi - tinjau ulang kelayakan rute atau jadwal. Klaster 3 rute menengah dan paling banyak jumlahnya sehingga dampak perbaikannya paling luas. Petunjuk pemecahan: klaster 3 memuat 79 rute dengan nilai serba menengah, kemungkinan berisi lebih dari satu jenis perilaku.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Menamai ulang konsep yang sudah dipakai membuat mahasiswa merasa materi ini menyatu, bukan tempelan.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menyatukan pertemuan 6, 10, dan 11. Beri jeda agar mahasiswa menangkap hubungannya.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Cukup konseptual. Yang penting mahasiswa paham bahwa keanggotaan tidak harus tegas.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tidak keliru secara teknis, tetapi tidak berguna secara operasional; pilih k sesuai kemampuan penanganan, yaitu tiga. B fitur harus diskalakan lebih dulu; tanpa itu jumlah penumpang mendominasi seluruh perhitungan jarak. C bukan clustering yang berguna melainkan deteksi pencilan; periksa dua rute itu dan pertimbangkan membuang atau menanganinya terpisah. D keliru mendasar - clustering tidak punya label sehingga akurasi tidak dapat dihitung; kemungkinan mereka diam-diam memakai label yang seharusnya tidak 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Butir ketiga langsung terkait kasus B pada diskusi. Butir keempat terkait kasus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menyebutkan satu hal yang paling mengejutkan dari pertemuan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Mengingatkan sesi 2 sejak pertemuan 11 memberi kelompok waktu dua minggu untuk bersiap.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neural network bukan hal yang sama sekali baru: fondasinya tetap loss function dan gradient descent.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120640"/>
            <a:ext cx="1828800" cy="1828800"/>
          </a:xfrm>
          <a:prstGeom prst="ellipse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TI24425  ·  PERTEMUAN 11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dan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Probabilitas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3931920"/>
            <a:ext cx="1371600" cy="32004"/>
          </a:xfrm>
          <a:prstGeom prst="rect">
            <a:avLst/>
          </a:prstGeom>
          <a:solidFill>
            <a:srgbClr val="5FC3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206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10  ·  Mampu menganalisis prinsip clustering dan konsep dasar probabilitas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data science, serta menginterpretasikan hasil pengelompokan data.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 ·  Politeknik Negeri Madiun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Pergeseran besar hari ini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21792" cy="6217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Berbasis Pohon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data punya jawaban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benar untuk dipelajari.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621792" cy="6217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&amp; Probabilitas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dicabut. Model harus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kelompoknya sendiri.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737360"/>
            <a:ext cx="621792" cy="6217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supervised,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model berlapis.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8920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4F1F2"/>
          </a:solidFill>
          <a:ln w="12700">
            <a:solidFill>
              <a:srgbClr val="C2DFE2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05840" y="5102352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pertemuan terakhir selalu punya kunci jawaban. Hari ini kunci itu tidak ada — dan konsekuensinya besar: tidak ada akurasi yang bisa dihitung, dan tidak ada satu jawaban yang benar.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 Anda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66928" cy="566928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iterasi algoritma K-Means secara manual pada data dua dimensi.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566928" cy="566928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0545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cara menentukan jumlah klaster beserta keterbatasan tiap metodenya.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11296"/>
            <a:ext cx="566928" cy="566928"/>
          </a:xfrm>
          <a:prstGeom prst="ellipse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makna praktis pada profil klaster yang dihasilkan, bukan sekadar menyebut angkanya.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535424"/>
            <a:ext cx="566928" cy="566928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537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konsep distribusi, ekspektasi, dan probabilitas bersyarat dalam konteks data science.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03 yang paling menentukan: hasil clustering tidak bernilai apa pun sampai seseorang bisa menjelaskan artinya.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Tanpa Label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tidak ada kunci jawaban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cara belajar dari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3–10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4231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data punya label yang benar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belajar memetakan fitur ke label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diukur dengan akurasi atau galat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jawaban benar untuk dibandingkan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160520"/>
            <a:ext cx="4572000" cy="18288"/>
          </a:xfrm>
          <a:prstGeom prst="rect">
            <a:avLst/>
          </a:prstGeom>
          <a:solidFill>
            <a:srgbClr val="DE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Pertanyaannya: seberapa tepat tebakan saya?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2588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4231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label sama sekali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mencari struktur yang tersembunyi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diukur dari kerapatan dan pemisahan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jawaban benar untuk dibandingkan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4160520"/>
            <a:ext cx="4572000" cy="18288"/>
          </a:xfrm>
          <a:prstGeom prst="rect">
            <a:avLst/>
          </a:prstGeom>
          <a:solidFill>
            <a:srgbClr val="DE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2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Pertanyaannya: pola apa yang ada di sini?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4864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tidak ada jawaban benar, hasil clustering tidak bisa dinyatakan benar atau salah — hanya berguna atau tidak berguna.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KEGUNAAN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pertanyaan yang hanya bisa dijawab tanpa label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502920" cy="45720"/>
          </a:xfrm>
          <a:prstGeom prst="rect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Segmentasi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042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bus mana yang berperilaku mirip, sehingga bisa dikelola dengan kebijakan yang sama?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691640"/>
            <a:ext cx="502920" cy="45720"/>
          </a:xfrm>
          <a:prstGeom prst="rect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anomali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042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mana yang tidak menyerupai kelompok mana pun, dan perlu diperiksa?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794760"/>
            <a:ext cx="502920" cy="45720"/>
          </a:xfrm>
          <a:prstGeom prst="rect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Peringkasan data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4074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meringkas 12.000 catatan menjadi lima profil yang bisa dipresentasikan?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3794760"/>
            <a:ext cx="502920" cy="45720"/>
          </a:xfrm>
          <a:prstGeom prst="rect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8AE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Penemuan awal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4074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apa yang ada di dalam data ini, sebelum kita tahu harus bertanya apa?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7150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bentuk pertanyaannya: semuanya terbuka. Tidak satu pun bisa dijawab dengan satu angka.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pusat, lalu mengelompokkan di sekitarnya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Sentroid dan jarak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bekerja dengan satu gagasan sederhana: setiap klaster diwakili oleh satu titik pusat, dan setiap data menjadi anggota klaster yang pusatnya paling dekat.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37960" y="1280160"/>
            <a:ext cx="50292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12280" y="1426464"/>
            <a:ext cx="384048" cy="45720"/>
          </a:xfrm>
          <a:prstGeom prst="rect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517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Sentroid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14081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pusat klaster. Letaknya adalah rata-rata seluruh anggota klaster itu.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2066544"/>
            <a:ext cx="50292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2212848"/>
            <a:ext cx="384048" cy="45720"/>
          </a:xfrm>
          <a:prstGeom prst="rect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Jarak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Biasanya jarak Euclidean — jarak lurus antara dua titik.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2852928"/>
            <a:ext cx="50292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2999232"/>
            <a:ext cx="384048" cy="45720"/>
          </a:xfrm>
          <a:prstGeom prst="rect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9809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klaster yang diminta. Anda yang menentukan, bukan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42900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2225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4290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FC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√[ (x₁−x₂)² + (y₁−y₂)² ]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94360" y="438912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FBEDE9"/>
          </a:solidFill>
          <a:ln w="12700">
            <a:solidFill>
              <a:srgbClr val="F2CFC6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57200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3C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diminimalkan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91947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B3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kuadrat jarak setiap data ke sentroid klasternya sendiri — disebut inertia atau within-cluster sum of squares. Semakin kecil nilainya, semakin rapat klaster yang terbentuk.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langkah yang diulang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1627632"/>
            <a:ext cx="594360" cy="59436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Tebak awal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Tempatkan k sentroid secara acak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antara data.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21945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9856" y="13716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5696" y="1627632"/>
            <a:ext cx="594360" cy="59436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25696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Tetapkan keanggotaan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data bergabung ke sentroid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paling dekat.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44184" y="21945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45352" y="13716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51192" y="1627632"/>
            <a:ext cx="594360" cy="594360"/>
          </a:xfrm>
          <a:prstGeom prst="ellipse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51192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Pindahkan sentroid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sentroid berpindah ke rata-rata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anggotanya yang baru.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21945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070848" y="13716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76688" y="1627632"/>
            <a:ext cx="594360" cy="59436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76688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Ulangi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langkah 2 sampai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keanggotaan berhenti berubah.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7947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40233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Kapan berhenti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3708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tidak ada satu pun data yang berpindah klaster. Biasanya tercapai dalam belasan iterasi.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37947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709160" y="40233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 tebakan awal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43708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awal yang berbeda dapat menghasilkan pengelompokan akhir yang berbeda pula.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83880" y="37947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503920" y="40233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mengatasinya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503920" y="43708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berkali-kali dengan tebakan awal berbeda, lalu pilih hasil dengan inertia terkecil.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55778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tidak menjamin hasil terbaik — ia menjamin hasil yang stabil. Dua hal yang berbeda.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iterasi menuju kestabilan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824" y="3379280"/>
            <a:ext cx="310896" cy="310896"/>
          </a:xfrm>
          <a:prstGeom prst="ellipse">
            <a:avLst/>
          </a:prstGeom>
          <a:solidFill>
            <a:srgbClr val="E067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1824" y="3379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24787" y="3379280"/>
            <a:ext cx="310896" cy="310896"/>
          </a:xfrm>
          <a:prstGeom prst="ellipse">
            <a:avLst/>
          </a:prstGeom>
          <a:solidFill>
            <a:srgbClr val="2E9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24787" y="3379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23569" y="3329559"/>
            <a:ext cx="164592" cy="1645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3569" y="3083814"/>
            <a:ext cx="164592" cy="1645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0754" y="3329559"/>
            <a:ext cx="164592" cy="1645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9494" y="2346579"/>
            <a:ext cx="164592" cy="1645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6679" y="2346579"/>
            <a:ext cx="164592" cy="1645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9494" y="2100834"/>
            <a:ext cx="164592" cy="16459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11064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Awal: dua sentroid ditebak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141732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9457" y="3133535"/>
            <a:ext cx="310896" cy="310896"/>
          </a:xfrm>
          <a:prstGeom prst="ellipse">
            <a:avLst/>
          </a:prstGeom>
          <a:solidFill>
            <a:srgbClr val="E067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9457" y="31335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2493" y="2457736"/>
            <a:ext cx="310896" cy="310896"/>
          </a:xfrm>
          <a:prstGeom prst="ellipse">
            <a:avLst/>
          </a:prstGeom>
          <a:solidFill>
            <a:srgbClr val="2E9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2493" y="2457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72609" y="3329559"/>
            <a:ext cx="164592" cy="16459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2609" y="3083814"/>
            <a:ext cx="164592" cy="16459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9794" y="3329559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8534" y="2346579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5719" y="2346579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8534" y="2100834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11064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1: keanggotaan ditetapkan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1417320"/>
            <a:ext cx="32461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768" y="3175311"/>
            <a:ext cx="310896" cy="310896"/>
          </a:xfrm>
          <a:prstGeom prst="ellipse">
            <a:avLst/>
          </a:prstGeom>
          <a:solidFill>
            <a:srgbClr val="E067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59768" y="31753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45693" y="2192331"/>
            <a:ext cx="310896" cy="310896"/>
          </a:xfrm>
          <a:prstGeom prst="ellipse">
            <a:avLst/>
          </a:prstGeom>
          <a:solidFill>
            <a:srgbClr val="2E9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45693" y="21923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621649" y="3329559"/>
            <a:ext cx="164592" cy="16459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1649" y="3083814"/>
            <a:ext cx="164592" cy="16459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58834" y="3329559"/>
            <a:ext cx="164592" cy="16459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07574" y="2346579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44759" y="2346579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07574" y="2100834"/>
            <a:ext cx="164592" cy="16459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11064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2: stabil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" y="4343400"/>
            <a:ext cx="11002975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1005840" y="45262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terjadi di setiap panel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484632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pertama: sentroid ditempatkan sembarangan, keduanya berdempetan di pojok kiri bawah — tebakan yang jelas buruk.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kedua: tiap titik bergabung ke sentroid terdekat, lalu kedua sentroid berpindah ke rata-rata anggotanya. Sentroid biru tertarik jauh ke kanan.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ketiga: keanggotaan tidak berubah lagi. Meski tebakan awalnya buruk, dua kelompok yang wajar tetap ditemukan.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Telusuri sendiri dua iterasi K-Means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11002975" cy="594360"/>
          </a:xfrm>
          <a:prstGeom prst="roundRect">
            <a:avLst>
              <a:gd name="adj" fmla="val 13846"/>
            </a:avLst>
          </a:prstGeom>
          <a:solidFill>
            <a:srgbClr val="E4F1F2"/>
          </a:solidFill>
          <a:ln w="12700">
            <a:solidFill>
              <a:srgbClr val="C2DFE2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35024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berpasangan · 18 menit · Cukup kertas berpetak dan kalkulator sederhana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Diketahui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957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rute bus dengan dua ciri (panjang rute dan tingkat keterlambatan), sudah diskalakan: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A(1, 1)    B(1, 2)    C(2, 1)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D(6, 5)    E(7, 5)    F(6, 6)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520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 ·  Sentroid awal:  C₁ = (0,5 ; 0,5)  dan  C₂ = (3 ; 0,5)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2103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harus dikerjakan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450592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jarak tiap titik ke kedua sentroid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keanggotaan berdasarkan jarak terdekat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sentroid baru sebagai rata-rata anggotanya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sekali lagi untuk iterasi kedua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Periksa: apakah keanggotaan masih berubah?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8912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FDF4E0"/>
          </a:solidFill>
          <a:ln w="12700">
            <a:solidFill>
              <a:srgbClr val="F0DDAE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lanjutan yang wajib dijawab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89204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Sentroid awal sengaja ditempatkan berdempetan di pojok yang sama. Apakah hasil akhirnya tetap masuk akal? Sekarang bayangkan sentroid awal ditempatkan di A(1,1) dan B(1,2) — menurut Anda apakah hasil akhirnya akan berbeda? Jelaskan alasannya tanpa menghitung ulang.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Berapa Banyak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Klaster?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yang tidak punya jawaban tunggal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adalah hyperparameter, bukan temuan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tidak menemukan berapa banyak kelompok yang ada di dalam data. Ia hanya membelah data menjadi sebanyak k yang Anda minta — berapa pun angkanya.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A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berhasil membelah data menjadi dua, bahkan bila sebenarnya tidak ada dua kelompok.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A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43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berhasil membelah data menjadi lima, bahkan bila sebenarnya hanya ada dua.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0116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5820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743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k sama dengan jumlah data, setiap titik menjadi klasternya sendiri. Inertia menjadi nol — dan sama sekali tidak berguna.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11002975" cy="1691640"/>
          </a:xfrm>
          <a:prstGeom prst="roundRect">
            <a:avLst>
              <a:gd name="adj" fmla="val 4865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425196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Akibatnya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5902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tidak bisa dipakai begitu saja untuk memilih k, karena ia selalu mengecil setiap kali k dinaikkan. Memilih k yang meminimalkan inertia akan selalu menghasilkan k sebesar jumlah data.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28523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butuh cara lain — dan tidak satu pun dari cara itu memberi jawaban pasti.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ALAT BANTU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 dan silhouette score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463040"/>
          <a:ext cx="5257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461772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" y="4937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52303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titik ketika penurunan inertia mulai melandai. Di sini terjadi pada k = 3: dari 2 ke 3 turun 115, dari 3 ke 4 hanya turun 17.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63640" y="461772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4800600"/>
            <a:ext cx="457200" cy="45720"/>
          </a:xfrm>
          <a:prstGeom prst="rect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4937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 score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52303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seberapa rapat data dengan klasternya sendiri dibanding klaster tetangga. Nilainya −1 sampai 1; makin tinggi makin baik. Di sini k = 3 menang.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Kedua alat itu tidak memberi jawaban pasti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581912"/>
            <a:ext cx="530352" cy="53035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581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14721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Siku sering tidak jelas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45389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 nyata, kurva inertia kerap menurun mulus tanpa titik siku yang bisa ditunjuk. Dua orang dapat menunjuk k yang berbeda pada kurva yang sama.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11002975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86968" y="2752344"/>
            <a:ext cx="530352" cy="530352"/>
          </a:xfrm>
          <a:prstGeom prst="ellipse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752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26426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metode bisa bertentangan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243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menunjuk k = 4, silhouette menunjuk k = 6. Tidak ada aturan yang menentukan mana yang harus dimenangkan.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666744"/>
            <a:ext cx="11002975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" y="3922776"/>
            <a:ext cx="530352" cy="53035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39227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38130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buta terhadap makna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7947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hanya mengukur geometri. Klaster yang paling rapat secara matematis belum tentu klaster yang berguna bagi pengguna.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837176"/>
            <a:ext cx="11002975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093208"/>
            <a:ext cx="530352" cy="530352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5093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81912" y="4983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praktis sering menentukan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496519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Dinas Perhubungan hanya sanggup menjalankan tiga jenis kebijakan, maka k = 3 — berapa pun kata grafiknya.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Beri nama dan makna pada tiga klaster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1002975" cy="566928"/>
          </a:xfrm>
          <a:prstGeom prst="roundRect">
            <a:avLst>
              <a:gd name="adj" fmla="val 14516"/>
            </a:avLst>
          </a:prstGeom>
          <a:solidFill>
            <a:srgbClr val="E4F1F2"/>
          </a:solidFill>
          <a:ln w="12700">
            <a:solidFill>
              <a:srgbClr val="C2DFE2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07592"/>
            <a:ext cx="1027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 4 orang · 15 menit · K-Means dijalankan pada 180 rute bus dengan k = 3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10029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377440"/>
                <a:gridCol w="1737360"/>
                <a:gridCol w="1828800"/>
                <a:gridCol w="112471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Penumpang per hari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 keterlambatan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Panjang rute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Porsi jam sibuk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rute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Klaster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menit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Klaster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A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menit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km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Klaster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menit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km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3977640"/>
            <a:ext cx="11002975" cy="1783080"/>
          </a:xfrm>
          <a:prstGeom prst="roundRect">
            <a:avLst>
              <a:gd name="adj" fmla="val 4615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4160520"/>
            <a:ext cx="10180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harus dihasilkan kelompok Anda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52628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nama yang bermakna untuk tiap klaster — nama yang bisa dipakai dalam rapat, bukan "Klaster 1"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klaster: satu kebijakan konkret yang pantas diterapkan pada rute-rute di dalamnya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mana yang paling mendesak ditangani, dan mengapa? Perhatikan bahwa jumlah rutenya berbeda-beda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Adakah kemungkinan salah satu klaster sebenarnya perlu dipecah lagi? Apa petunjuknya dari tabel ini?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Probabilitas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keanggotaan tegas menuju derajat keyakinan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KOSAKATA DASAR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dan ekspektasi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658368"/>
          </a:xfrm>
          <a:prstGeom prst="roundRect">
            <a:avLst>
              <a:gd name="adj" fmla="val 12500"/>
            </a:avLst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bagaimana nilai-nilai suatu variabel tersebar beserta peluang kemunculannya.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26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normal: menumpuk di tengah, menipis di kedua ujung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Bernoulli: hanya dua hasil, seperti terlambat atau tidak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seragam: semua nilai berpeluang sama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434840"/>
            <a:ext cx="4572000" cy="18288"/>
          </a:xfrm>
          <a:prstGeom prst="rect">
            <a:avLst/>
          </a:prstGeom>
          <a:solidFill>
            <a:srgbClr val="DE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 dan 6: asumsi distribusi menentukan fungsi loss yang dipakai.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25880"/>
            <a:ext cx="5303520" cy="658368"/>
          </a:xfrm>
          <a:prstGeom prst="roundRect">
            <a:avLst>
              <a:gd name="adj" fmla="val 12500"/>
            </a:avLst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3258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Ekspektasi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rata-rata yang diharapkan dalam jangka panjang, ditimbang oleh peluang tiap hasil.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926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nilai yang pasti terjadi pada satu kejadian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dasar bagi rata-rata, sentroid, dan MSE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 sebagai E[X]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4434840"/>
            <a:ext cx="4572000" cy="18288"/>
          </a:xfrm>
          <a:prstGeom prst="rect">
            <a:avLst/>
          </a:prstGeom>
          <a:solidFill>
            <a:srgbClr val="DE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Sentroid K-Means pada dasarnya adalah ekspektasi posisi anggota klaster.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4864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gagasan ini sudah Anda pakai sejak pertemuan 4 — hari ini kita menyebut namanya.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 KUNCI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Probabilitas bersyarat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34640" y="1280160"/>
            <a:ext cx="6492240" cy="868680"/>
          </a:xfrm>
          <a:prstGeom prst="roundRect">
            <a:avLst>
              <a:gd name="adj" fmla="val 7368"/>
            </a:avLst>
          </a:prstGeom>
          <a:solidFill>
            <a:srgbClr val="323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12801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C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| B)  =  P(A ∩ B) / P(B)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2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Dibaca: peluang terjadinya A, dengan syarat kita sudah tahu bahwa B terjadi.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74320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28016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Terlambat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waktu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 sibuk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 jam sibuk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1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743200"/>
            <a:ext cx="4892040" cy="566928"/>
          </a:xfrm>
          <a:prstGeom prst="roundRect">
            <a:avLst>
              <a:gd name="adj" fmla="val 14516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0372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P(terlambat)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A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/ 1.000  =  0,25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78408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mentah, tanpa syarat apa pun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0" y="3401568"/>
            <a:ext cx="4892040" cy="566928"/>
          </a:xfrm>
          <a:prstGeom prst="roundRect">
            <a:avLst>
              <a:gd name="adj" fmla="val 14516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0372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P(terlambat | jam sibuk)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3694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6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/ 300  =  0,60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784080" y="3493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lebih dari dua kali lipat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75120" y="4059936"/>
            <a:ext cx="4892040" cy="566928"/>
          </a:xfrm>
          <a:prstGeom prst="roundRect">
            <a:avLst>
              <a:gd name="adj" fmla="val 14516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90372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P(terlambat | bukan jam sibuk)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4352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/ 700  =  0,10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784080" y="4151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menjadi kurang dari separuhnya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" y="48920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05840" y="5102352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yang sesungguhnya dilakukan setiap model klasifikasi: memperkirakan P(kelas | fitur). Logistic regression pertemuan 6 menghitungnya lewat sigmoid; decision tree pertemuan 10 menghitungnya lewat proporsi di daun.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keanggotaan tegas ke derajat keyakinan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325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keanggotaan tegas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86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data hanya boleh menjadi anggota satu klaster. Tidak ada setengah anggota.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310896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EFF1F3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14300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Rute R-045 → Klaster 1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Selesai. Tidak ada keraguan yang tercatat.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Sederhana, tetapi membuang informasi tentang data yang berada di perbatasan.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30352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258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325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Mixture — derajat keanggotaan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286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data memiliki peluang menjadi anggota tiap klaster, dan seluruhnya berjumlah 1.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3108960"/>
            <a:ext cx="4572000" cy="914400"/>
          </a:xfrm>
          <a:prstGeom prst="roundRect">
            <a:avLst>
              <a:gd name="adj" fmla="val 9000"/>
            </a:avLst>
          </a:prstGeom>
          <a:solidFill>
            <a:srgbClr val="EFF1F3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1228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Rute R-045 → Klaster 1: 0,55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Klaster 2: 0,40  ·  Klaster 3: 0,05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Keraguan model ikut terekam — dan justru data yang ragu inilah yang sering paling menarik.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3035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 tidak dibahas tuntas di sini — ia menjadi salah satu topik Presentasi Kilat Algoritma sesi 2.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situasi yang harus Anda nilai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57276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menjalankan K-Means dengan k = 8 karena silhouette-nya tertinggi. Dinas hanya punya anggaran untuk tiga jenis penanganan.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83080"/>
            <a:ext cx="566928" cy="566928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57276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memuat jumlah penumpang (satuan ribuan) dan keterlambatan (satuan menit). K-Means dijalankan langsung tanpa penskalaan.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410712"/>
            <a:ext cx="566928" cy="566928"/>
          </a:xfrm>
          <a:prstGeom prst="ellipse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200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clustering menempatkan 178 dari 180 rute ke dalam satu klaster, dan dua rute sisanya masing-masing sendirian.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999232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410712"/>
            <a:ext cx="566928" cy="566928"/>
          </a:xfrm>
          <a:prstGeom prst="ellipse">
            <a:avLst/>
          </a:prstGeom>
          <a:solidFill>
            <a:srgbClr val="A8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00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melaporkan bahwa akurasi hasil clustering mereka mencapai 87% dan meminta model dipakai.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75488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956048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situasi: apa masalahnya, dan apa satu tindakan pertama yang Anda sarankan?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 4 orang · 12 menit.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salah kaprah yang paling sering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5389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menemukan kelompok yang sebenarnya ada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43560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membelah data menjadi sebanyak k yang diminta, ada atau tidak ada kelompok itu di kenyataan.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328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clustering bisa dinilai benar atau salah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514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label, tidak ada acuan kebenaran. Yang bisa dinilai hanya kegunaannya bagi pengguna.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118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tidak perlu persiapan data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5935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Justru sangat peka pada skala fitur. Tanpa penskalaan, fitur bersatuan besar akan menguasai perhitungan jarak.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6908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 terbaik ditentukan oleh grafik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67258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hanya memberi usulan. Keputusan akhir menimbang makna klaster dan kemampuan pengguna menindaklanjutinya.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Anda bawa pulang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64208"/>
            <a:ext cx="457200" cy="41148"/>
          </a:xfrm>
          <a:prstGeom prst="rect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label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akurasi. Hasil dinilai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kegunaan, bukan kebenaran.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64208"/>
            <a:ext cx="457200" cy="41148"/>
          </a:xfrm>
          <a:prstGeom prst="rect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keanggotaan, pindahkan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sentroid, ulangi sampai stabil.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64208"/>
            <a:ext cx="457200" cy="41148"/>
          </a:xfrm>
          <a:prstGeom prst="rect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Penskalaan wajib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Euclidean sangat peka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satuan tiap fitur.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0168"/>
            <a:ext cx="457200" cy="41148"/>
          </a:xfrm>
          <a:prstGeom prst="rect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Memilih 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dan silhouette memberi usulan,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jawaban pasti.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30168"/>
            <a:ext cx="457200" cy="41148"/>
          </a:xfrm>
          <a:prstGeom prst="rect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tanpa nama dan tanpa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 tidak bernilai.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32363E"/>
          </a:solidFill>
          <a:ln w="12700">
            <a:solidFill>
              <a:srgbClr val="474C57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630168"/>
            <a:ext cx="457200" cy="41148"/>
          </a:xfrm>
          <a:prstGeom prst="rect">
            <a:avLst/>
          </a:prstGeom>
          <a:solidFill>
            <a:srgbClr val="D9A5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Probabilitas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model klasifikasi pada dasarnya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memperkirakan P(kelas | fitur).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pertemuan berikutnya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72768"/>
            <a:ext cx="530352" cy="530352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Mandiri  ·  180 menit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Géron [1] Bab 9 mengenai unsupervised learning, serta ISL [11] Bab 12.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0292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EE0E4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572768"/>
            <a:ext cx="530352" cy="530352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Penugasan Terstruktur  ·  180 menit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402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soal: penelusuran manual iterasi K-Means dan interpretasi profil klaster. Dibahas bersama di kelas.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4F1F2"/>
          </a:solidFill>
          <a:ln w="12700">
            <a:solidFill>
              <a:srgbClr val="C2DFE2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3767328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ini bersifat formatif — tidak berbobot tersendiri. Kontribusi Anda saat pembahasan di kelas dinilai melalui komponen Aktivitas Partisipatif.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5720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FDF4E0"/>
          </a:solidFill>
          <a:ln w="12700">
            <a:solidFill>
              <a:srgbClr val="F0DDAE"/>
            </a:solidFill>
            <a:prstDash val="solid"/>
          </a:ln>
          <a:effectLst>
            <a:outerShdw sx="100000" sy="100000" kx="0" ky="0" algn="bl" rotWithShape="0" blurRad="101600" dist="508" dir="5400000">
              <a:srgbClr val="B0B4BC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773168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Presentasi Kilat sesi 2 (pertemuan 13): kelompok dengan topik K-Means, Hierarchical Clustering, Agglomerative Clustering, HDBSCAN, dan PCA sudah dapat mulai menyusun bahan sejak sekarang.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669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Bacaan pendukung:  [1] Géron Bab 9  ·  [11] James dkk. Bab 12  ·  [9] CS 189/289A — https://eecs189.org/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2E9A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E067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4069080"/>
            <a:ext cx="1371600" cy="32004"/>
          </a:xfrm>
          <a:prstGeom prst="rect">
            <a:avLst/>
          </a:prstGeom>
          <a:solidFill>
            <a:srgbClr val="5FC3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4343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kembali ke data berlabel, tetapi dengan model yang jauh lebih lentur —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kembali bertemu Gradient Descent yang sudah kita kenal sejak pertemuan 4.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2026-08-31T10:23:30Z</dcterms:created>
  <dcterms:modified xsi:type="dcterms:W3CDTF">2026-08-31T10:23:30Z</dcterms:modified>
</cp:coreProperties>
</file>