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Sigmoid</c:v>
                </c:pt>
              </c:strCache>
            </c:strRef>
          </c:tx>
          <c:spPr>
            <a:solidFill>
              <a:srgbClr val="9BA0B5"/>
            </a:solidFill>
            <a:ln w="38100" cap="flat">
              <a:solidFill>
                <a:srgbClr val="9BA0B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BA0B5"/>
              </a:solidFill>
              <a:ln w="9525" cap="flat">
                <a:solidFill>
                  <a:srgbClr val="9BA0B5"/>
                </a:solidFill>
                <a:prstDash val="solid"/>
                <a:round/>
              </a:ln>
              <a:effectLst/>
            </c:spPr>
          </c:marker>
          <c:cat>
            <c:multiLvlStrRef>
              <c:f>Sheet1!$A$2:$A$10</c:f>
              <c:multiLvlStrCache>
                <c:ptCount val="9"/>
                <c:lvl>
                  <c:pt idx="0">
                    <c:v>-2</c:v>
                  </c:pt>
                  <c:pt idx="1">
                    <c:v>-1,5</c:v>
                  </c:pt>
                  <c:pt idx="2">
                    <c:v>-1</c:v>
                  </c:pt>
                  <c:pt idx="3">
                    <c:v>-0,5</c:v>
                  </c:pt>
                  <c:pt idx="4">
                    <c:v>0</c:v>
                  </c:pt>
                  <c:pt idx="5">
                    <c:v>0,5</c:v>
                  </c:pt>
                  <c:pt idx="6">
                    <c:v>1</c:v>
                  </c:pt>
                  <c:pt idx="7">
                    <c:v>1,5</c:v>
                  </c:pt>
                  <c:pt idx="8">
                    <c:v>2</c:v>
                  </c:pt>
                </c:lvl>
              </c:multiLvlStrCache>
            </c:multiLvlStrRef>
          </c:cat>
          <c:val>
            <c:numRef>
              <c:f>Sheet1!$B$2:$B$10</c:f>
              <c:numCache>
                <c:formatCode>General</c:formatCode>
                <c:ptCount val="9"/>
                <c:pt idx="0">
                  <c:v>0.119</c:v>
                </c:pt>
                <c:pt idx="1">
                  <c:v>0.182</c:v>
                </c:pt>
                <c:pt idx="2">
                  <c:v>0.269</c:v>
                </c:pt>
                <c:pt idx="3">
                  <c:v>0.378</c:v>
                </c:pt>
                <c:pt idx="4">
                  <c:v>0.5</c:v>
                </c:pt>
                <c:pt idx="5">
                  <c:v>0.622</c:v>
                </c:pt>
                <c:pt idx="6">
                  <c:v>0.731</c:v>
                </c:pt>
                <c:pt idx="7">
                  <c:v>0.818</c:v>
                </c:pt>
                <c:pt idx="8">
                  <c:v>0.881</c:v>
                </c:pt>
              </c:numCache>
            </c:numRef>
          </c:val>
          <c:smooth val="0"/>
        </c:ser>
        <c:ser>
          <c:idx val="1"/>
          <c:order val="1"/>
          <c:tx>
            <c:strRef>
              <c:f>Sheet1!$C$1</c:f>
              <c:strCache>
                <c:ptCount val="1"/>
                <c:pt idx="0">
                  <c:v>Tanh</c:v>
                </c:pt>
              </c:strCache>
            </c:strRef>
          </c:tx>
          <c:spPr>
            <a:solidFill>
              <a:srgbClr val="2FA890"/>
            </a:solidFill>
            <a:ln w="38100" cap="flat">
              <a:solidFill>
                <a:srgbClr val="2FA8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A890"/>
              </a:solidFill>
              <a:ln w="9525" cap="flat">
                <a:solidFill>
                  <a:srgbClr val="2FA890"/>
                </a:solidFill>
                <a:prstDash val="solid"/>
                <a:round/>
              </a:ln>
              <a:effectLst/>
            </c:spPr>
          </c:marker>
          <c:cat>
            <c:multiLvlStrRef>
              <c:f>Sheet1!$A$2:$A$10</c:f>
              <c:multiLvlStrCache>
                <c:ptCount val="9"/>
                <c:lvl>
                  <c:pt idx="0">
                    <c:v>-2</c:v>
                  </c:pt>
                  <c:pt idx="1">
                    <c:v>-1,5</c:v>
                  </c:pt>
                  <c:pt idx="2">
                    <c:v>-1</c:v>
                  </c:pt>
                  <c:pt idx="3">
                    <c:v>-0,5</c:v>
                  </c:pt>
                  <c:pt idx="4">
                    <c:v>0</c:v>
                  </c:pt>
                  <c:pt idx="5">
                    <c:v>0,5</c:v>
                  </c:pt>
                  <c:pt idx="6">
                    <c:v>1</c:v>
                  </c:pt>
                  <c:pt idx="7">
                    <c:v>1,5</c:v>
                  </c:pt>
                  <c:pt idx="8">
                    <c:v>2</c:v>
                  </c:pt>
                </c:lvl>
              </c:multiLvlStrCache>
            </c:multiLvlStrRef>
          </c:cat>
          <c:val>
            <c:numRef>
              <c:f>Sheet1!$C$2:$C$10</c:f>
              <c:numCache>
                <c:formatCode>General</c:formatCode>
                <c:ptCount val="9"/>
                <c:pt idx="0">
                  <c:v>-0.964</c:v>
                </c:pt>
                <c:pt idx="1">
                  <c:v>-0.905</c:v>
                </c:pt>
                <c:pt idx="2">
                  <c:v>-0.762</c:v>
                </c:pt>
                <c:pt idx="3">
                  <c:v>-0.462</c:v>
                </c:pt>
                <c:pt idx="4">
                  <c:v>0</c:v>
                </c:pt>
                <c:pt idx="5">
                  <c:v>0.462</c:v>
                </c:pt>
                <c:pt idx="6">
                  <c:v>0.762</c:v>
                </c:pt>
                <c:pt idx="7">
                  <c:v>0.905</c:v>
                </c:pt>
                <c:pt idx="8">
                  <c:v>0.964</c:v>
                </c:pt>
              </c:numCache>
            </c:numRef>
          </c:val>
          <c:smooth val="0"/>
        </c:ser>
        <c:ser>
          <c:idx val="2"/>
          <c:order val="2"/>
          <c:tx>
            <c:strRef>
              <c:f>Sheet1!$D$1</c:f>
              <c:strCache>
                <c:ptCount val="1"/>
                <c:pt idx="0">
                  <c:v>ReLU</c:v>
                </c:pt>
              </c:strCache>
            </c:strRef>
          </c:tx>
          <c:spPr>
            <a:solidFill>
              <a:srgbClr val="7C6BF0"/>
            </a:solidFill>
            <a:ln w="38100" cap="flat">
              <a:solidFill>
                <a:srgbClr val="7C6BF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C6BF0"/>
              </a:solidFill>
              <a:ln w="9525" cap="flat">
                <a:solidFill>
                  <a:srgbClr val="7C6BF0"/>
                </a:solidFill>
                <a:prstDash val="solid"/>
                <a:round/>
              </a:ln>
              <a:effectLst/>
            </c:spPr>
          </c:marker>
          <c:cat>
            <c:multiLvlStrRef>
              <c:f>Sheet1!$A$2:$A$10</c:f>
              <c:multiLvlStrCache>
                <c:ptCount val="9"/>
                <c:lvl>
                  <c:pt idx="0">
                    <c:v>-2</c:v>
                  </c:pt>
                  <c:pt idx="1">
                    <c:v>-1,5</c:v>
                  </c:pt>
                  <c:pt idx="2">
                    <c:v>-1</c:v>
                  </c:pt>
                  <c:pt idx="3">
                    <c:v>-0,5</c:v>
                  </c:pt>
                  <c:pt idx="4">
                    <c:v>0</c:v>
                  </c:pt>
                  <c:pt idx="5">
                    <c:v>0,5</c:v>
                  </c:pt>
                  <c:pt idx="6">
                    <c:v>1</c:v>
                  </c:pt>
                  <c:pt idx="7">
                    <c:v>1,5</c:v>
                  </c:pt>
                  <c:pt idx="8">
                    <c:v>2</c:v>
                  </c:pt>
                </c:lvl>
              </c:multiLvlStrCache>
            </c:multiLvlStrRef>
          </c:cat>
          <c:val>
            <c:numRef>
              <c:f>Sheet1!$D$2:$D$10</c:f>
              <c:numCache>
                <c:formatCode>General</c:formatCode>
                <c:ptCount val="9"/>
                <c:pt idx="0">
                  <c:v>0</c:v>
                </c:pt>
                <c:pt idx="1">
                  <c:v>0</c:v>
                </c:pt>
                <c:pt idx="2">
                  <c:v>0</c:v>
                </c:pt>
                <c:pt idx="3">
                  <c:v>0</c:v>
                </c:pt>
                <c:pt idx="4">
                  <c:v>0</c:v>
                </c:pt>
                <c:pt idx="5">
                  <c:v>0.5</c:v>
                </c:pt>
                <c:pt idx="6">
                  <c:v>1</c:v>
                </c:pt>
                <c:pt idx="7">
                  <c:v>1.5</c:v>
                </c:pt>
                <c:pt idx="8">
                  <c:v>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A6E85"/>
                    </a:solidFill>
                    <a:latin typeface="Arial"/>
                  </a:defRPr>
                </a:pPr>
                <a:r>
                  <a:rPr sz="1100" b="0" i="0" u="none" strike="noStrike">
                    <a:solidFill>
                      <a:srgbClr val="6A6E85"/>
                    </a:solidFill>
                    <a:latin typeface="Arial"/>
                  </a:rPr>
                  <a:t>z  (jumlah berbobot)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A6E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DF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A6E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A6E8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Pertemuan 12 dari 16. Empat bagian, satu latihan terbimbing hitung manual. Warna dipakai per lapisan: mint untuk masukan, violet untuk lapisan tersembunyi, coral untuk keluaran.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pembuka ini penting untuk meredakan kecemasan. Neural network sering dianggap topik yang menakutkan.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 cakupan ini perlu disebut agar mahasiswa tidak mencari-cari turunan matematis yang tidak diujikan.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pesan paling penting di bagian 1. Ulangi dua kali. Mahasiswa yang sudah paham pertemuan 6 sebenarnya sudah paham setengah materi hari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Kaitkan langsung ke bias-variance pertemuan 5. Menambah lapisan menurunkan bias dan menaikkan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Hitung bersama: 2x3 sama dengan 6, ditambah 3x3 sama dengan 9, ditambah 3x1 sama dengan 3, totalnya 18 bobot ditambah 7 bias menjadi 25 parameter. Sebutkan bahwa model bahasa besar punya miliaran.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pertanyaan ujian yang sering muncul. Pastikan mahasiswa bisa menjelaskan dengan kalimat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pada grafik bahwa sigmoid di z sama dengan 2 sudah hampir datar. Kemiringan yang datar berarti gradien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Baris kedua dan ketiga menegaskan bahwa neural network memuat logistic regression dan softmax sebagai kasus khususnya.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kesederhanaannya: hanya perkalian, penjumlahan, dan satu fungsi. Diulang berkali-kali.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kasus A: h1 z = 0,5 + 0,8 - 0,2 = 1,1 sehingga a = 1,1. h2 z = -0,6 + 0,6 + 0,5 = 0,5 sehingga a = 0,5. Keluaran z = 1,2 kali 1,1 dikurangi 0,8 kali 0,5 ditambah 0,1 sama dengan 1,02 sehingga prediksi 0,73. Kunci kasus B: h1 z = -0,5 + 0 - 0,2 = -0,7 sehingga ReLU memberi 0. h2 z = 0,6 + 0 + 0,5 = 1,1 sehingga a = 1,1. Keluaran z = 0 - 0,88 + 0,1 = -0,78 sehingga prediksi 0,31. Pertanyaan lanjutan: neuron bernilai nol tidak menyumbang apa pun pada prediksi. Bila selalu nol, neuron itu mati dan sia-sia - dikenal sebagai dying ReLU, diatasi dengan varian seperti Leaky ReLU atau penyesuaian learning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Pembedaan pada kartu terakhir sering ditanyakan. Backpropagation menghitung gradien; gradient descent memakainya.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Menegaskan kesinambungan: mahasiswa tidak perlu belajar ulang konsep overfitting, hanya menambah dua alat 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Kaitan dropout dengan ensemble pertemuan 10 membantu mahasiswa memahami kenapa teknik seaneh itu bisa bekerja.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A jaringan terlalu besar untuk data sekecil itu; mulai dari satu atau dua lapisan, atau bahkan model linier. B gradien menghilang akibat sigmoid berlapis; ganti lapisan tersembunyi ke ReLU. C keliru mendasar - dropout hanya aktif saat pelatihan dan harus dimatikan saat prediksi, jika tidak keluarannya menjadi acak. D keliru - early stopping harus memakai data validasi, bukan data uji; memakai data uji berarti kebocoran data seperti pertemuan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Butir keempat penting menjelang Studi Kasus Akhir. Banyak mahasiswa ingin memakai neural network untuk data tabel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menyebutkan konsep dari pertemuan sebelumnya yang muncul kembali hari ini. Jawabannya banyak.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Pengingat presentasi kilat sesi 2 penting karena bobotnya 4 persen dan dinilai dengan rubrik belajar mandiri.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keterbatasan jaringan biasa: ia buta terhadap struktur data. Itulah yang diperbaiki CNN dan RNN.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B33"/>
        </a:solidFill>
      </p:bgPr>
    </p:bg>
    <p:spTree>
      <p:nvGrpSpPr>
        <p:cNvPr id="1" name=""/>
        <p:cNvGrpSpPr/>
        <p:nvPr/>
      </p:nvGrpSpPr>
      <p:grpSpPr>
        <a:xfrm>
          <a:off x="0" y="0"/>
          <a:ext cx="0" cy="0"/>
          <a:chOff x="0" y="0"/>
          <a:chExt cx="0" cy="0"/>
        </a:xfrm>
      </p:grpSpPr>
      <p:sp>
        <p:nvSpPr>
          <p:cNvPr id="2" name="Shape 0"/>
          <p:cNvSpPr/>
          <p:nvPr/>
        </p:nvSpPr>
        <p:spPr>
          <a:xfrm>
            <a:off x="8595360" y="-1828800"/>
            <a:ext cx="5852160" cy="5852160"/>
          </a:xfrm>
          <a:prstGeom prst="ellipse">
            <a:avLst/>
          </a:prstGeom>
          <a:solidFill>
            <a:srgbClr val="7C6BF0"/>
          </a:solidFill>
          <a:ln w="12700">
            <a:solidFill>
              <a:srgbClr val="333333"/>
            </a:solidFill>
            <a:prstDash val="solid"/>
          </a:ln>
        </p:spPr>
      </p:sp>
      <p:sp>
        <p:nvSpPr>
          <p:cNvPr id="3" name="Shape 1"/>
          <p:cNvSpPr/>
          <p:nvPr/>
        </p:nvSpPr>
        <p:spPr>
          <a:xfrm>
            <a:off x="9966960" y="3291840"/>
            <a:ext cx="4023360" cy="4023360"/>
          </a:xfrm>
          <a:prstGeom prst="ellipse">
            <a:avLst/>
          </a:prstGeom>
          <a:solidFill>
            <a:srgbClr val="2FA890"/>
          </a:solidFill>
          <a:ln w="12700">
            <a:solidFill>
              <a:srgbClr val="333333"/>
            </a:solidFill>
            <a:prstDash val="solid"/>
          </a:ln>
        </p:spPr>
      </p:sp>
      <p:sp>
        <p:nvSpPr>
          <p:cNvPr id="4" name="Shape 2"/>
          <p:cNvSpPr/>
          <p:nvPr/>
        </p:nvSpPr>
        <p:spPr>
          <a:xfrm>
            <a:off x="11064240" y="5120640"/>
            <a:ext cx="1828800" cy="1828800"/>
          </a:xfrm>
          <a:prstGeom prst="ellipse">
            <a:avLst/>
          </a:prstGeom>
          <a:solidFill>
            <a:srgbClr val="E8703F"/>
          </a:solidFill>
          <a:ln w="12700">
            <a:solidFill>
              <a:srgbClr val="333333"/>
            </a:solidFill>
            <a:prstDash val="solid"/>
          </a:ln>
        </p:spPr>
      </p:sp>
      <p:sp>
        <p:nvSpPr>
          <p:cNvPr id="5" name="Text 3"/>
          <p:cNvSpPr txBox="1"/>
          <p:nvPr/>
        </p:nvSpPr>
        <p:spPr>
          <a:xfrm>
            <a:off x="594360" y="1371600"/>
            <a:ext cx="7680960" cy="320040"/>
          </a:xfrm>
          <a:prstGeom prst="rect">
            <a:avLst/>
          </a:prstGeom>
          <a:noFill/>
          <a:ln/>
        </p:spPr>
        <p:txBody>
          <a:bodyPr wrap="square" lIns="0" tIns="0" rIns="0" bIns="0" rtlCol="0" anchor="t"/>
          <a:lstStyle/>
          <a:p>
            <a:pPr algn="l" indent="0" marL="0">
              <a:buNone/>
            </a:pPr>
            <a:r>
              <a:rPr lang="en-US" sz="1300" b="1" dirty="0">
                <a:solidFill>
                  <a:srgbClr val="5FD9C2"/>
                </a:solidFill>
                <a:latin typeface="Calibri" pitchFamily="34" charset="0"/>
                <a:ea typeface="Calibri" pitchFamily="34" charset="-122"/>
                <a:cs typeface="Calibri" pitchFamily="34" charset="-120"/>
              </a:rPr>
              <a:t>DATA SCIENCE  ·  TI24425  ·  PERTEMUAN 12</a:t>
            </a:r>
            <a:endParaRPr lang="en-US" sz="1300" dirty="0"/>
          </a:p>
        </p:txBody>
      </p:sp>
      <p:sp>
        <p:nvSpPr>
          <p:cNvPr id="6" name="Text 4"/>
          <p:cNvSpPr txBox="1"/>
          <p:nvPr/>
        </p:nvSpPr>
        <p:spPr>
          <a:xfrm>
            <a:off x="594360" y="1920240"/>
            <a:ext cx="7680960" cy="1645920"/>
          </a:xfrm>
          <a:prstGeom prst="rect">
            <a:avLst/>
          </a:prstGeom>
          <a:noFill/>
          <a:ln/>
        </p:spPr>
        <p:txBody>
          <a:bodyPr wrap="square" lIns="0" tIns="0" rIns="0" bIns="0" rtlCol="0" anchor="t"/>
          <a:lstStyle/>
          <a:p>
            <a:pPr algn="l" indent="0" marL="0">
              <a:lnSpc>
                <a:spcPct val="115000"/>
              </a:lnSpc>
              <a:buNone/>
            </a:pPr>
            <a:r>
              <a:rPr lang="en-US" sz="4200" b="1" dirty="0">
                <a:solidFill>
                  <a:srgbClr val="FFFFFF"/>
                </a:solidFill>
                <a:latin typeface="Cambria" pitchFamily="34" charset="0"/>
                <a:ea typeface="Cambria" pitchFamily="34" charset="-122"/>
                <a:cs typeface="Cambria" pitchFamily="34" charset="-120"/>
              </a:rPr>
              <a:t>Arsitektur</a:t>
            </a:r>
            <a:endParaRPr lang="en-US" sz="4200" dirty="0"/>
          </a:p>
          <a:p>
            <a:pPr algn="l" indent="0" marL="0">
              <a:lnSpc>
                <a:spcPct val="115000"/>
              </a:lnSpc>
              <a:buNone/>
            </a:pPr>
            <a:r>
              <a:rPr lang="en-US" sz="4200" b="1" dirty="0">
                <a:solidFill>
                  <a:srgbClr val="FFFFFF"/>
                </a:solidFill>
                <a:latin typeface="Cambria" pitchFamily="34" charset="0"/>
                <a:ea typeface="Cambria" pitchFamily="34" charset="-122"/>
                <a:cs typeface="Cambria" pitchFamily="34" charset="-120"/>
              </a:rPr>
              <a:t>Neural Network</a:t>
            </a:r>
            <a:endParaRPr lang="en-US" sz="4200" dirty="0"/>
          </a:p>
        </p:txBody>
      </p:sp>
      <p:sp>
        <p:nvSpPr>
          <p:cNvPr id="7" name="Shape 5"/>
          <p:cNvSpPr/>
          <p:nvPr/>
        </p:nvSpPr>
        <p:spPr>
          <a:xfrm>
            <a:off x="594360" y="3931920"/>
            <a:ext cx="1371600" cy="32004"/>
          </a:xfrm>
          <a:prstGeom prst="rect">
            <a:avLst/>
          </a:prstGeom>
          <a:solidFill>
            <a:srgbClr val="5FD9C2"/>
          </a:solidFill>
          <a:ln w="12700">
            <a:solidFill>
              <a:srgbClr val="333333"/>
            </a:solidFill>
            <a:prstDash val="solid"/>
          </a:ln>
        </p:spPr>
      </p:sp>
      <p:sp>
        <p:nvSpPr>
          <p:cNvPr id="8" name="Text 6"/>
          <p:cNvSpPr txBox="1"/>
          <p:nvPr/>
        </p:nvSpPr>
        <p:spPr>
          <a:xfrm>
            <a:off x="594360" y="4206240"/>
            <a:ext cx="7680960" cy="822960"/>
          </a:xfrm>
          <a:prstGeom prst="rect">
            <a:avLst/>
          </a:prstGeom>
          <a:noFill/>
          <a:ln/>
        </p:spPr>
        <p:txBody>
          <a:bodyPr wrap="square" lIns="0" tIns="0" rIns="0" bIns="0" rtlCol="0" anchor="t"/>
          <a:lstStyle/>
          <a:p>
            <a:pPr algn="l" indent="0" marL="0">
              <a:lnSpc>
                <a:spcPct val="120000"/>
              </a:lnSpc>
              <a:buNone/>
            </a:pPr>
            <a:r>
              <a:rPr lang="en-US" sz="1400" dirty="0">
                <a:solidFill>
                  <a:srgbClr val="B9BDD0"/>
                </a:solidFill>
                <a:latin typeface="Calibri" pitchFamily="34" charset="0"/>
                <a:ea typeface="Calibri" pitchFamily="34" charset="-122"/>
                <a:cs typeface="Calibri" pitchFamily="34" charset="-120"/>
              </a:rPr>
              <a:t>Sub-CPMK 11  ·  Mampu menganalisis arsitektur Neural Network, fungsi aktivasi,</a:t>
            </a:r>
            <a:endParaRPr lang="en-US" sz="1400" dirty="0"/>
          </a:p>
          <a:p>
            <a:pPr algn="l" indent="0" marL="0">
              <a:lnSpc>
                <a:spcPct val="120000"/>
              </a:lnSpc>
              <a:buNone/>
            </a:pPr>
            <a:r>
              <a:rPr lang="en-US" sz="1400" dirty="0">
                <a:solidFill>
                  <a:srgbClr val="B9BDD0"/>
                </a:solidFill>
                <a:latin typeface="Calibri" pitchFamily="34" charset="0"/>
                <a:ea typeface="Calibri" pitchFamily="34" charset="-122"/>
                <a:cs typeface="Calibri" pitchFamily="34" charset="-120"/>
              </a:rPr>
              <a:t>algoritma backpropagation, dan teknik regularisasi secara konseptual.</a:t>
            </a:r>
            <a:endParaRPr lang="en-US" sz="1400" dirty="0"/>
          </a:p>
        </p:txBody>
      </p:sp>
      <p:sp>
        <p:nvSpPr>
          <p:cNvPr id="9" name="Text 7"/>
          <p:cNvSpPr txBox="1"/>
          <p:nvPr/>
        </p:nvSpPr>
        <p:spPr>
          <a:xfrm>
            <a:off x="594360" y="5989320"/>
            <a:ext cx="7680960" cy="274320"/>
          </a:xfrm>
          <a:prstGeom prst="rect">
            <a:avLst/>
          </a:prstGeom>
          <a:noFill/>
          <a:ln/>
        </p:spPr>
        <p:txBody>
          <a:bodyPr wrap="square" lIns="0" tIns="0" rIns="0" bIns="0" rtlCol="0" anchor="t"/>
          <a:lstStyle/>
          <a:p>
            <a:pPr algn="l" indent="0" marL="0">
              <a:buNone/>
            </a:pPr>
            <a:r>
              <a:rPr lang="en-US" sz="1200" dirty="0">
                <a:solidFill>
                  <a:srgbClr val="7B80A0"/>
                </a:solidFill>
                <a:latin typeface="Calibri" pitchFamily="34" charset="0"/>
                <a:ea typeface="Calibri" pitchFamily="34" charset="-122"/>
                <a:cs typeface="Calibri" pitchFamily="34" charset="-120"/>
              </a:rPr>
              <a:t>Program Studi Teknologi Informasi  ·  Politeknik Negeri Madiun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ORIENTASI</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Di mana kita sekarang?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417320"/>
            <a:ext cx="3520440" cy="3200400"/>
          </a:xfrm>
          <a:prstGeom prst="roundRect">
            <a:avLst>
              <a:gd name="adj" fmla="val 2571"/>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6" name="Shape 4"/>
          <p:cNvSpPr/>
          <p:nvPr/>
        </p:nvSpPr>
        <p:spPr>
          <a:xfrm>
            <a:off x="914400" y="1737360"/>
            <a:ext cx="621792" cy="621792"/>
          </a:xfrm>
          <a:prstGeom prst="ellipse">
            <a:avLst/>
          </a:prstGeom>
          <a:solidFill>
            <a:srgbClr val="9BA0B5"/>
          </a:solidFill>
          <a:ln w="12700">
            <a:solidFill>
              <a:srgbClr val="333333"/>
            </a:solidFill>
            <a:prstDash val="solid"/>
          </a:ln>
        </p:spPr>
      </p:sp>
      <p:sp>
        <p:nvSpPr>
          <p:cNvPr id="7" name="Text 5"/>
          <p:cNvSpPr txBox="1"/>
          <p:nvPr/>
        </p:nvSpPr>
        <p:spPr>
          <a:xfrm>
            <a:off x="914400" y="173736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11</a:t>
            </a:r>
            <a:endParaRPr lang="en-US" sz="2000" dirty="0"/>
          </a:p>
        </p:txBody>
      </p:sp>
      <p:sp>
        <p:nvSpPr>
          <p:cNvPr id="8" name="Text 6"/>
          <p:cNvSpPr txBox="1"/>
          <p:nvPr/>
        </p:nvSpPr>
        <p:spPr>
          <a:xfrm>
            <a:off x="1691640" y="1883664"/>
            <a:ext cx="2194560" cy="320040"/>
          </a:xfrm>
          <a:prstGeom prst="rect">
            <a:avLst/>
          </a:prstGeom>
          <a:noFill/>
          <a:ln/>
        </p:spPr>
        <p:txBody>
          <a:bodyPr wrap="square" lIns="0" tIns="0" rIns="0" bIns="0" rtlCol="0" anchor="t"/>
          <a:lstStyle/>
          <a:p>
            <a:pPr algn="l" indent="0" marL="0">
              <a:buNone/>
            </a:pPr>
            <a:r>
              <a:rPr lang="en-US" sz="1000" b="1" dirty="0">
                <a:solidFill>
                  <a:srgbClr val="6A6E85"/>
                </a:solidFill>
                <a:latin typeface="Calibri" pitchFamily="34" charset="0"/>
                <a:ea typeface="Calibri" pitchFamily="34" charset="-122"/>
                <a:cs typeface="Calibri" pitchFamily="34" charset="-120"/>
              </a:rPr>
              <a:t>SELESAI</a:t>
            </a:r>
            <a:endParaRPr lang="en-US" sz="1000" dirty="0"/>
          </a:p>
        </p:txBody>
      </p:sp>
      <p:sp>
        <p:nvSpPr>
          <p:cNvPr id="9" name="Text 7"/>
          <p:cNvSpPr txBox="1"/>
          <p:nvPr/>
        </p:nvSpPr>
        <p:spPr>
          <a:xfrm>
            <a:off x="914400" y="2560320"/>
            <a:ext cx="2880360" cy="685800"/>
          </a:xfrm>
          <a:prstGeom prst="rect">
            <a:avLst/>
          </a:prstGeom>
          <a:noFill/>
          <a:ln/>
        </p:spPr>
        <p:txBody>
          <a:bodyPr wrap="square" lIns="0" tIns="0" rIns="0" bIns="0" rtlCol="0" anchor="t"/>
          <a:lstStyle/>
          <a:p>
            <a:pPr algn="l" indent="0" marL="0">
              <a:buNone/>
            </a:pPr>
            <a:r>
              <a:rPr lang="en-US" sz="1700" b="1" dirty="0">
                <a:solidFill>
                  <a:srgbClr val="191B33"/>
                </a:solidFill>
                <a:latin typeface="Cambria" pitchFamily="34" charset="0"/>
                <a:ea typeface="Cambria" pitchFamily="34" charset="-122"/>
                <a:cs typeface="Cambria" pitchFamily="34" charset="-120"/>
              </a:rPr>
              <a:t>Clustering &amp; Probabilitas</a:t>
            </a:r>
            <a:endParaRPr lang="en-US" sz="1700" dirty="0"/>
          </a:p>
        </p:txBody>
      </p:sp>
      <p:sp>
        <p:nvSpPr>
          <p:cNvPr id="10" name="Text 8"/>
          <p:cNvSpPr txBox="1"/>
          <p:nvPr/>
        </p:nvSpPr>
        <p:spPr>
          <a:xfrm>
            <a:off x="914400" y="3291840"/>
            <a:ext cx="2880360" cy="1005840"/>
          </a:xfrm>
          <a:prstGeom prst="rect">
            <a:avLst/>
          </a:prstGeom>
          <a:noFill/>
          <a:ln/>
        </p:spPr>
        <p:txBody>
          <a:bodyPr wrap="square" lIns="0" tIns="0" rIns="0" bIns="0" rtlCol="0" anchor="t"/>
          <a:lstStyle/>
          <a:p>
            <a:pPr algn="l" indent="0" marL="0">
              <a:lnSpc>
                <a:spcPct val="125000"/>
              </a:lnSpc>
              <a:buNone/>
            </a:pPr>
            <a:r>
              <a:rPr lang="en-US" sz="1300" dirty="0">
                <a:solidFill>
                  <a:srgbClr val="6A6E85"/>
                </a:solidFill>
                <a:latin typeface="Calibri" pitchFamily="34" charset="0"/>
                <a:ea typeface="Calibri" pitchFamily="34" charset="-122"/>
                <a:cs typeface="Calibri" pitchFamily="34" charset="-120"/>
              </a:rPr>
              <a:t>Data tanpa label. Model</a:t>
            </a:r>
            <a:endParaRPr lang="en-US" sz="1300" dirty="0"/>
          </a:p>
          <a:p>
            <a:pPr algn="l" indent="0" marL="0">
              <a:lnSpc>
                <a:spcPct val="125000"/>
              </a:lnSpc>
              <a:buNone/>
            </a:pPr>
            <a:r>
              <a:rPr lang="en-US" sz="1300" dirty="0">
                <a:solidFill>
                  <a:srgbClr val="6A6E85"/>
                </a:solidFill>
                <a:latin typeface="Calibri" pitchFamily="34" charset="0"/>
                <a:ea typeface="Calibri" pitchFamily="34" charset="-122"/>
                <a:cs typeface="Calibri" pitchFamily="34" charset="-120"/>
              </a:rPr>
              <a:t>mencari kelompoknya sendiri.</a:t>
            </a:r>
            <a:endParaRPr lang="en-US" sz="1300" dirty="0"/>
          </a:p>
        </p:txBody>
      </p:sp>
      <p:sp>
        <p:nvSpPr>
          <p:cNvPr id="11" name="Shape 9"/>
          <p:cNvSpPr/>
          <p:nvPr/>
        </p:nvSpPr>
        <p:spPr>
          <a:xfrm>
            <a:off x="4389120" y="1417320"/>
            <a:ext cx="3520440" cy="3200400"/>
          </a:xfrm>
          <a:prstGeom prst="roundRect">
            <a:avLst>
              <a:gd name="adj" fmla="val 2571"/>
            </a:avLst>
          </a:prstGeom>
          <a:solidFill>
            <a:srgbClr val="191B33"/>
          </a:solidFill>
          <a:ln w="12700">
            <a:solidFill>
              <a:srgbClr val="191B33"/>
            </a:solidFill>
            <a:prstDash val="solid"/>
          </a:ln>
          <a:effectLst>
            <a:outerShdw sx="100000" sy="100000" kx="0" ky="0" algn="bl" rotWithShape="0" blurRad="101600" dist="508" dir="5400000">
              <a:srgbClr val="AEB2C2">
                <a:alpha val="30000"/>
              </a:srgbClr>
            </a:outerShdw>
          </a:effectLst>
        </p:spPr>
      </p:sp>
      <p:sp>
        <p:nvSpPr>
          <p:cNvPr id="12" name="Shape 10"/>
          <p:cNvSpPr/>
          <p:nvPr/>
        </p:nvSpPr>
        <p:spPr>
          <a:xfrm>
            <a:off x="4709160" y="1737360"/>
            <a:ext cx="621792" cy="621792"/>
          </a:xfrm>
          <a:prstGeom prst="ellipse">
            <a:avLst/>
          </a:prstGeom>
          <a:solidFill>
            <a:srgbClr val="7C6BF0"/>
          </a:solidFill>
          <a:ln w="12700">
            <a:solidFill>
              <a:srgbClr val="333333"/>
            </a:solidFill>
            <a:prstDash val="solid"/>
          </a:ln>
        </p:spPr>
      </p:sp>
      <p:sp>
        <p:nvSpPr>
          <p:cNvPr id="13" name="Text 11"/>
          <p:cNvSpPr txBox="1"/>
          <p:nvPr/>
        </p:nvSpPr>
        <p:spPr>
          <a:xfrm>
            <a:off x="4709160" y="173736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12</a:t>
            </a:r>
            <a:endParaRPr lang="en-US" sz="2000" dirty="0"/>
          </a:p>
        </p:txBody>
      </p:sp>
      <p:sp>
        <p:nvSpPr>
          <p:cNvPr id="14" name="Text 12"/>
          <p:cNvSpPr txBox="1"/>
          <p:nvPr/>
        </p:nvSpPr>
        <p:spPr>
          <a:xfrm>
            <a:off x="5486400" y="1883664"/>
            <a:ext cx="2194560" cy="320040"/>
          </a:xfrm>
          <a:prstGeom prst="rect">
            <a:avLst/>
          </a:prstGeom>
          <a:noFill/>
          <a:ln/>
        </p:spPr>
        <p:txBody>
          <a:bodyPr wrap="square" lIns="0" tIns="0" rIns="0" bIns="0" rtlCol="0" anchor="t"/>
          <a:lstStyle/>
          <a:p>
            <a:pPr algn="l" indent="0" marL="0">
              <a:buNone/>
            </a:pPr>
            <a:r>
              <a:rPr lang="en-US" sz="1000" b="1" dirty="0">
                <a:solidFill>
                  <a:srgbClr val="5FD9C2"/>
                </a:solidFill>
                <a:latin typeface="Calibri" pitchFamily="34" charset="0"/>
                <a:ea typeface="Calibri" pitchFamily="34" charset="-122"/>
                <a:cs typeface="Calibri" pitchFamily="34" charset="-120"/>
              </a:rPr>
              <a:t>HARI INI</a:t>
            </a:r>
            <a:endParaRPr lang="en-US" sz="1000" dirty="0"/>
          </a:p>
        </p:txBody>
      </p:sp>
      <p:sp>
        <p:nvSpPr>
          <p:cNvPr id="15" name="Text 13"/>
          <p:cNvSpPr txBox="1"/>
          <p:nvPr/>
        </p:nvSpPr>
        <p:spPr>
          <a:xfrm>
            <a:off x="4709160" y="2560320"/>
            <a:ext cx="2880360" cy="685800"/>
          </a:xfrm>
          <a:prstGeom prst="rect">
            <a:avLst/>
          </a:prstGeom>
          <a:noFill/>
          <a:ln/>
        </p:spPr>
        <p:txBody>
          <a:bodyPr wrap="square" lIns="0" tIns="0" rIns="0" bIns="0" rtlCol="0" anchor="t"/>
          <a:lstStyle/>
          <a:p>
            <a:pPr algn="l" indent="0" marL="0">
              <a:buNone/>
            </a:pPr>
            <a:r>
              <a:rPr lang="en-US" sz="1700" b="1" dirty="0">
                <a:solidFill>
                  <a:srgbClr val="FFFFFF"/>
                </a:solidFill>
                <a:latin typeface="Cambria" pitchFamily="34" charset="0"/>
                <a:ea typeface="Cambria" pitchFamily="34" charset="-122"/>
                <a:cs typeface="Cambria" pitchFamily="34" charset="-120"/>
              </a:rPr>
              <a:t>Neural Network</a:t>
            </a:r>
            <a:endParaRPr lang="en-US" sz="1700" dirty="0"/>
          </a:p>
        </p:txBody>
      </p:sp>
      <p:sp>
        <p:nvSpPr>
          <p:cNvPr id="16" name="Text 14"/>
          <p:cNvSpPr txBox="1"/>
          <p:nvPr/>
        </p:nvSpPr>
        <p:spPr>
          <a:xfrm>
            <a:off x="4709160" y="3291840"/>
            <a:ext cx="2880360" cy="1005840"/>
          </a:xfrm>
          <a:prstGeom prst="rect">
            <a:avLst/>
          </a:prstGeom>
          <a:noFill/>
          <a:ln/>
        </p:spPr>
        <p:txBody>
          <a:bodyPr wrap="square" lIns="0" tIns="0" rIns="0" bIns="0" rtlCol="0" anchor="t"/>
          <a:lstStyle/>
          <a:p>
            <a:pPr algn="l" indent="0" marL="0">
              <a:lnSpc>
                <a:spcPct val="125000"/>
              </a:lnSpc>
              <a:buNone/>
            </a:pPr>
            <a:r>
              <a:rPr lang="en-US" sz="1300" dirty="0">
                <a:solidFill>
                  <a:srgbClr val="B9BDD0"/>
                </a:solidFill>
                <a:latin typeface="Calibri" pitchFamily="34" charset="0"/>
                <a:ea typeface="Calibri" pitchFamily="34" charset="-122"/>
                <a:cs typeface="Calibri" pitchFamily="34" charset="-120"/>
              </a:rPr>
              <a:t>Kembali ke data berlabel,</a:t>
            </a:r>
            <a:endParaRPr lang="en-US" sz="1300" dirty="0"/>
          </a:p>
          <a:p>
            <a:pPr algn="l" indent="0" marL="0">
              <a:lnSpc>
                <a:spcPct val="125000"/>
              </a:lnSpc>
              <a:buNone/>
            </a:pPr>
            <a:r>
              <a:rPr lang="en-US" sz="1300" dirty="0">
                <a:solidFill>
                  <a:srgbClr val="B9BDD0"/>
                </a:solidFill>
                <a:latin typeface="Calibri" pitchFamily="34" charset="0"/>
                <a:ea typeface="Calibri" pitchFamily="34" charset="-122"/>
                <a:cs typeface="Calibri" pitchFamily="34" charset="-120"/>
              </a:rPr>
              <a:t>dengan model jauh lebih lentur.</a:t>
            </a:r>
            <a:endParaRPr lang="en-US" sz="1300" dirty="0"/>
          </a:p>
        </p:txBody>
      </p:sp>
      <p:sp>
        <p:nvSpPr>
          <p:cNvPr id="17" name="Shape 15"/>
          <p:cNvSpPr/>
          <p:nvPr/>
        </p:nvSpPr>
        <p:spPr>
          <a:xfrm>
            <a:off x="8183880" y="1417320"/>
            <a:ext cx="3520440" cy="3200400"/>
          </a:xfrm>
          <a:prstGeom prst="roundRect">
            <a:avLst>
              <a:gd name="adj" fmla="val 2571"/>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8" name="Shape 16"/>
          <p:cNvSpPr/>
          <p:nvPr/>
        </p:nvSpPr>
        <p:spPr>
          <a:xfrm>
            <a:off x="8503920" y="1737360"/>
            <a:ext cx="621792" cy="621792"/>
          </a:xfrm>
          <a:prstGeom prst="ellipse">
            <a:avLst/>
          </a:prstGeom>
          <a:solidFill>
            <a:srgbClr val="9BA0B5"/>
          </a:solidFill>
          <a:ln w="12700">
            <a:solidFill>
              <a:srgbClr val="333333"/>
            </a:solidFill>
            <a:prstDash val="solid"/>
          </a:ln>
        </p:spPr>
      </p:sp>
      <p:sp>
        <p:nvSpPr>
          <p:cNvPr id="19" name="Text 17"/>
          <p:cNvSpPr txBox="1"/>
          <p:nvPr/>
        </p:nvSpPr>
        <p:spPr>
          <a:xfrm>
            <a:off x="8503920" y="173736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13</a:t>
            </a:r>
            <a:endParaRPr lang="en-US" sz="2000" dirty="0"/>
          </a:p>
        </p:txBody>
      </p:sp>
      <p:sp>
        <p:nvSpPr>
          <p:cNvPr id="20" name="Text 18"/>
          <p:cNvSpPr txBox="1"/>
          <p:nvPr/>
        </p:nvSpPr>
        <p:spPr>
          <a:xfrm>
            <a:off x="9281160" y="1883664"/>
            <a:ext cx="2194560" cy="320040"/>
          </a:xfrm>
          <a:prstGeom prst="rect">
            <a:avLst/>
          </a:prstGeom>
          <a:noFill/>
          <a:ln/>
        </p:spPr>
        <p:txBody>
          <a:bodyPr wrap="square" lIns="0" tIns="0" rIns="0" bIns="0" rtlCol="0" anchor="t"/>
          <a:lstStyle/>
          <a:p>
            <a:pPr algn="l" indent="0" marL="0">
              <a:buNone/>
            </a:pPr>
            <a:r>
              <a:rPr lang="en-US" sz="1000" b="1" dirty="0">
                <a:solidFill>
                  <a:srgbClr val="6A6E85"/>
                </a:solidFill>
                <a:latin typeface="Calibri" pitchFamily="34" charset="0"/>
                <a:ea typeface="Calibri" pitchFamily="34" charset="-122"/>
                <a:cs typeface="Calibri" pitchFamily="34" charset="-120"/>
              </a:rPr>
              <a:t>BERIKUTNYA</a:t>
            </a:r>
            <a:endParaRPr lang="en-US" sz="1000" dirty="0"/>
          </a:p>
        </p:txBody>
      </p:sp>
      <p:sp>
        <p:nvSpPr>
          <p:cNvPr id="21" name="Text 19"/>
          <p:cNvSpPr txBox="1"/>
          <p:nvPr/>
        </p:nvSpPr>
        <p:spPr>
          <a:xfrm>
            <a:off x="8503920" y="2560320"/>
            <a:ext cx="2880360" cy="685800"/>
          </a:xfrm>
          <a:prstGeom prst="rect">
            <a:avLst/>
          </a:prstGeom>
          <a:noFill/>
          <a:ln/>
        </p:spPr>
        <p:txBody>
          <a:bodyPr wrap="square" lIns="0" tIns="0" rIns="0" bIns="0" rtlCol="0" anchor="t"/>
          <a:lstStyle/>
          <a:p>
            <a:pPr algn="l" indent="0" marL="0">
              <a:buNone/>
            </a:pPr>
            <a:r>
              <a:rPr lang="en-US" sz="1700" b="1" dirty="0">
                <a:solidFill>
                  <a:srgbClr val="191B33"/>
                </a:solidFill>
                <a:latin typeface="Cambria" pitchFamily="34" charset="0"/>
                <a:ea typeface="Cambria" pitchFamily="34" charset="-122"/>
                <a:cs typeface="Cambria" pitchFamily="34" charset="-120"/>
              </a:rPr>
              <a:t>CNN, RNN, dan LLM</a:t>
            </a:r>
            <a:endParaRPr lang="en-US" sz="1700" dirty="0"/>
          </a:p>
        </p:txBody>
      </p:sp>
      <p:sp>
        <p:nvSpPr>
          <p:cNvPr id="22" name="Text 20"/>
          <p:cNvSpPr txBox="1"/>
          <p:nvPr/>
        </p:nvSpPr>
        <p:spPr>
          <a:xfrm>
            <a:off x="8503920" y="3291840"/>
            <a:ext cx="2880360" cy="1005840"/>
          </a:xfrm>
          <a:prstGeom prst="rect">
            <a:avLst/>
          </a:prstGeom>
          <a:noFill/>
          <a:ln/>
        </p:spPr>
        <p:txBody>
          <a:bodyPr wrap="square" lIns="0" tIns="0" rIns="0" bIns="0" rtlCol="0" anchor="t"/>
          <a:lstStyle/>
          <a:p>
            <a:pPr algn="l" indent="0" marL="0">
              <a:lnSpc>
                <a:spcPct val="125000"/>
              </a:lnSpc>
              <a:buNone/>
            </a:pPr>
            <a:r>
              <a:rPr lang="en-US" sz="1300" dirty="0">
                <a:solidFill>
                  <a:srgbClr val="6A6E85"/>
                </a:solidFill>
                <a:latin typeface="Calibri" pitchFamily="34" charset="0"/>
                <a:ea typeface="Calibri" pitchFamily="34" charset="-122"/>
                <a:cs typeface="Calibri" pitchFamily="34" charset="-120"/>
              </a:rPr>
              <a:t>Arsitektur khusus untuk</a:t>
            </a:r>
            <a:endParaRPr lang="en-US" sz="1300" dirty="0"/>
          </a:p>
          <a:p>
            <a:pPr algn="l" indent="0" marL="0">
              <a:lnSpc>
                <a:spcPct val="125000"/>
              </a:lnSpc>
              <a:buNone/>
            </a:pPr>
            <a:r>
              <a:rPr lang="en-US" sz="1300" dirty="0">
                <a:solidFill>
                  <a:srgbClr val="6A6E85"/>
                </a:solidFill>
                <a:latin typeface="Calibri" pitchFamily="34" charset="0"/>
                <a:ea typeface="Calibri" pitchFamily="34" charset="-122"/>
                <a:cs typeface="Calibri" pitchFamily="34" charset="-120"/>
              </a:rPr>
              <a:t>citra, urutan, dan bahasa.</a:t>
            </a:r>
            <a:endParaRPr lang="en-US" sz="1300" dirty="0"/>
          </a:p>
        </p:txBody>
      </p:sp>
      <p:sp>
        <p:nvSpPr>
          <p:cNvPr id="23" name="Shape 21"/>
          <p:cNvSpPr/>
          <p:nvPr/>
        </p:nvSpPr>
        <p:spPr>
          <a:xfrm>
            <a:off x="594360" y="4892040"/>
            <a:ext cx="11002975" cy="914400"/>
          </a:xfrm>
          <a:prstGeom prst="roundRect">
            <a:avLst>
              <a:gd name="adj" fmla="val 9000"/>
            </a:avLst>
          </a:prstGeom>
          <a:solidFill>
            <a:srgbClr val="E7F5F1"/>
          </a:solidFill>
          <a:ln w="12700">
            <a:solidFill>
              <a:srgbClr val="C3E5DC"/>
            </a:solidFill>
            <a:prstDash val="solid"/>
          </a:ln>
          <a:effectLst>
            <a:outerShdw sx="100000" sy="100000" kx="0" ky="0" algn="bl" rotWithShape="0" blurRad="101600" dist="508" dir="5400000">
              <a:srgbClr val="AEB2C2">
                <a:alpha val="30000"/>
              </a:srgbClr>
            </a:outerShdw>
          </a:effectLst>
        </p:spPr>
      </p:sp>
      <p:sp>
        <p:nvSpPr>
          <p:cNvPr id="24" name="Text 22"/>
          <p:cNvSpPr txBox="1"/>
          <p:nvPr/>
        </p:nvSpPr>
        <p:spPr>
          <a:xfrm>
            <a:off x="1005840" y="5102352"/>
            <a:ext cx="10180015" cy="548640"/>
          </a:xfrm>
          <a:prstGeom prst="rect">
            <a:avLst/>
          </a:prstGeom>
          <a:noFill/>
          <a:ln/>
        </p:spPr>
        <p:txBody>
          <a:bodyPr wrap="square" lIns="0" tIns="0" rIns="0" bIns="0" rtlCol="0" anchor="t"/>
          <a:lstStyle/>
          <a:p>
            <a:pPr algn="l" indent="0" marL="0">
              <a:lnSpc>
                <a:spcPct val="125000"/>
              </a:lnSpc>
              <a:buNone/>
            </a:pPr>
            <a:r>
              <a:rPr lang="en-US" sz="1450" b="1" dirty="0">
                <a:solidFill>
                  <a:srgbClr val="19685A"/>
                </a:solidFill>
                <a:latin typeface="Calibri" pitchFamily="34" charset="0"/>
                <a:ea typeface="Calibri" pitchFamily="34" charset="-122"/>
                <a:cs typeface="Calibri" pitchFamily="34" charset="-120"/>
              </a:rPr>
              <a:t>Kabar baiknya: hampir tidak ada yang benar-benar baru hari ini. Neuron adalah logistic regression, pelatihannya tetap Gradient Descent, dan masalahnya tetap overfitting. Yang berubah hanya jumlah lapisannya.</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CAPAIAN PEMBELAJARAN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Setelah pertemuan ini Anda mampu…</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94360" y="1463040"/>
            <a:ext cx="566928" cy="566928"/>
          </a:xfrm>
          <a:prstGeom prst="ellipse">
            <a:avLst/>
          </a:prstGeom>
          <a:solidFill>
            <a:srgbClr val="2FA890"/>
          </a:solidFill>
          <a:ln w="12700">
            <a:solidFill>
              <a:srgbClr val="333333"/>
            </a:solidFill>
            <a:prstDash val="solid"/>
          </a:ln>
        </p:spPr>
      </p:sp>
      <p:sp>
        <p:nvSpPr>
          <p:cNvPr id="6" name="Text 4"/>
          <p:cNvSpPr txBox="1"/>
          <p:nvPr/>
        </p:nvSpPr>
        <p:spPr>
          <a:xfrm>
            <a:off x="594360" y="146304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7" name="Text 5"/>
          <p:cNvSpPr txBox="1"/>
          <p:nvPr/>
        </p:nvSpPr>
        <p:spPr>
          <a:xfrm>
            <a:off x="1417320" y="1481328"/>
            <a:ext cx="10149840" cy="822960"/>
          </a:xfrm>
          <a:prstGeom prst="rect">
            <a:avLst/>
          </a:prstGeom>
          <a:noFill/>
          <a:ln/>
        </p:spPr>
        <p:txBody>
          <a:bodyPr wrap="square" lIns="0" tIns="0" rIns="0" bIns="0" rtlCol="0" anchor="t"/>
          <a:lstStyle/>
          <a:p>
            <a:pPr algn="l" indent="0" marL="0">
              <a:lnSpc>
                <a:spcPct val="125000"/>
              </a:lnSpc>
              <a:buNone/>
            </a:pPr>
            <a:r>
              <a:rPr lang="en-US" sz="1600" dirty="0">
                <a:solidFill>
                  <a:srgbClr val="1A1C2E"/>
                </a:solidFill>
                <a:latin typeface="Calibri" pitchFamily="34" charset="0"/>
                <a:ea typeface="Calibri" pitchFamily="34" charset="-122"/>
                <a:cs typeface="Calibri" pitchFamily="34" charset="-120"/>
              </a:rPr>
              <a:t>Menghitung forward pass pada jaringan sederhana secara manual.</a:t>
            </a:r>
            <a:endParaRPr lang="en-US" sz="1600" dirty="0"/>
          </a:p>
        </p:txBody>
      </p:sp>
      <p:sp>
        <p:nvSpPr>
          <p:cNvPr id="8" name="Shape 6"/>
          <p:cNvSpPr/>
          <p:nvPr/>
        </p:nvSpPr>
        <p:spPr>
          <a:xfrm>
            <a:off x="594360" y="2487168"/>
            <a:ext cx="566928" cy="566928"/>
          </a:xfrm>
          <a:prstGeom prst="ellipse">
            <a:avLst/>
          </a:prstGeom>
          <a:solidFill>
            <a:srgbClr val="7C6BF0"/>
          </a:solidFill>
          <a:ln w="12700">
            <a:solidFill>
              <a:srgbClr val="333333"/>
            </a:solidFill>
            <a:prstDash val="solid"/>
          </a:ln>
        </p:spPr>
      </p:sp>
      <p:sp>
        <p:nvSpPr>
          <p:cNvPr id="9" name="Text 7"/>
          <p:cNvSpPr txBox="1"/>
          <p:nvPr/>
        </p:nvSpPr>
        <p:spPr>
          <a:xfrm>
            <a:off x="594360" y="248716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0" name="Text 8"/>
          <p:cNvSpPr txBox="1"/>
          <p:nvPr/>
        </p:nvSpPr>
        <p:spPr>
          <a:xfrm>
            <a:off x="1417320" y="2505456"/>
            <a:ext cx="10149840" cy="822960"/>
          </a:xfrm>
          <a:prstGeom prst="rect">
            <a:avLst/>
          </a:prstGeom>
          <a:noFill/>
          <a:ln/>
        </p:spPr>
        <p:txBody>
          <a:bodyPr wrap="square" lIns="0" tIns="0" rIns="0" bIns="0" rtlCol="0" anchor="t"/>
          <a:lstStyle/>
          <a:p>
            <a:pPr algn="l" indent="0" marL="0">
              <a:lnSpc>
                <a:spcPct val="125000"/>
              </a:lnSpc>
              <a:buNone/>
            </a:pPr>
            <a:r>
              <a:rPr lang="en-US" sz="1600" dirty="0">
                <a:solidFill>
                  <a:srgbClr val="1A1C2E"/>
                </a:solidFill>
                <a:latin typeface="Calibri" pitchFamily="34" charset="0"/>
                <a:ea typeface="Calibri" pitchFamily="34" charset="-122"/>
                <a:cs typeface="Calibri" pitchFamily="34" charset="-120"/>
              </a:rPr>
              <a:t>Menjelaskan alur backpropagation dan peran gradien di dalamnya.</a:t>
            </a:r>
            <a:endParaRPr lang="en-US" sz="1600" dirty="0"/>
          </a:p>
        </p:txBody>
      </p:sp>
      <p:sp>
        <p:nvSpPr>
          <p:cNvPr id="11" name="Shape 9"/>
          <p:cNvSpPr/>
          <p:nvPr/>
        </p:nvSpPr>
        <p:spPr>
          <a:xfrm>
            <a:off x="594360" y="3511296"/>
            <a:ext cx="566928" cy="566928"/>
          </a:xfrm>
          <a:prstGeom prst="ellipse">
            <a:avLst/>
          </a:prstGeom>
          <a:solidFill>
            <a:srgbClr val="E8703F"/>
          </a:solidFill>
          <a:ln w="12700">
            <a:solidFill>
              <a:srgbClr val="333333"/>
            </a:solidFill>
            <a:prstDash val="solid"/>
          </a:ln>
        </p:spPr>
      </p:sp>
      <p:sp>
        <p:nvSpPr>
          <p:cNvPr id="12" name="Text 10"/>
          <p:cNvSpPr txBox="1"/>
          <p:nvPr/>
        </p:nvSpPr>
        <p:spPr>
          <a:xfrm>
            <a:off x="594360" y="3511296"/>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13" name="Text 11"/>
          <p:cNvSpPr txBox="1"/>
          <p:nvPr/>
        </p:nvSpPr>
        <p:spPr>
          <a:xfrm>
            <a:off x="1417320" y="3529584"/>
            <a:ext cx="10149840" cy="822960"/>
          </a:xfrm>
          <a:prstGeom prst="rect">
            <a:avLst/>
          </a:prstGeom>
          <a:noFill/>
          <a:ln/>
        </p:spPr>
        <p:txBody>
          <a:bodyPr wrap="square" lIns="0" tIns="0" rIns="0" bIns="0" rtlCol="0" anchor="t"/>
          <a:lstStyle/>
          <a:p>
            <a:pPr algn="l" indent="0" marL="0">
              <a:lnSpc>
                <a:spcPct val="125000"/>
              </a:lnSpc>
              <a:buNone/>
            </a:pPr>
            <a:r>
              <a:rPr lang="en-US" sz="1600" dirty="0">
                <a:solidFill>
                  <a:srgbClr val="1A1C2E"/>
                </a:solidFill>
                <a:latin typeface="Calibri" pitchFamily="34" charset="0"/>
                <a:ea typeface="Calibri" pitchFamily="34" charset="-122"/>
                <a:cs typeface="Calibri" pitchFamily="34" charset="-120"/>
              </a:rPr>
              <a:t>Menjelaskan alasan pemilihan fungsi aktivasi sigmoid, tanh, atau ReLU.</a:t>
            </a:r>
            <a:endParaRPr lang="en-US" sz="1600" dirty="0"/>
          </a:p>
        </p:txBody>
      </p:sp>
      <p:sp>
        <p:nvSpPr>
          <p:cNvPr id="14" name="Shape 12"/>
          <p:cNvSpPr/>
          <p:nvPr/>
        </p:nvSpPr>
        <p:spPr>
          <a:xfrm>
            <a:off x="594360" y="4535424"/>
            <a:ext cx="566928" cy="566928"/>
          </a:xfrm>
          <a:prstGeom prst="ellipse">
            <a:avLst/>
          </a:prstGeom>
          <a:solidFill>
            <a:srgbClr val="7C6BF0"/>
          </a:solidFill>
          <a:ln w="12700">
            <a:solidFill>
              <a:srgbClr val="333333"/>
            </a:solidFill>
            <a:prstDash val="solid"/>
          </a:ln>
        </p:spPr>
      </p:sp>
      <p:sp>
        <p:nvSpPr>
          <p:cNvPr id="15" name="Text 13"/>
          <p:cNvSpPr txBox="1"/>
          <p:nvPr/>
        </p:nvSpPr>
        <p:spPr>
          <a:xfrm>
            <a:off x="594360" y="4535424"/>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16" name="Text 14"/>
          <p:cNvSpPr txBox="1"/>
          <p:nvPr/>
        </p:nvSpPr>
        <p:spPr>
          <a:xfrm>
            <a:off x="1417320" y="4553712"/>
            <a:ext cx="10149840" cy="822960"/>
          </a:xfrm>
          <a:prstGeom prst="rect">
            <a:avLst/>
          </a:prstGeom>
          <a:noFill/>
          <a:ln/>
        </p:spPr>
        <p:txBody>
          <a:bodyPr wrap="square" lIns="0" tIns="0" rIns="0" bIns="0" rtlCol="0" anchor="t"/>
          <a:lstStyle/>
          <a:p>
            <a:pPr algn="l" indent="0" marL="0">
              <a:lnSpc>
                <a:spcPct val="125000"/>
              </a:lnSpc>
              <a:buNone/>
            </a:pPr>
            <a:r>
              <a:rPr lang="en-US" sz="1600" dirty="0">
                <a:solidFill>
                  <a:srgbClr val="1A1C2E"/>
                </a:solidFill>
                <a:latin typeface="Calibri" pitchFamily="34" charset="0"/>
                <a:ea typeface="Calibri" pitchFamily="34" charset="-122"/>
                <a:cs typeface="Calibri" pitchFamily="34" charset="-120"/>
              </a:rPr>
              <a:t>Menjelaskan cara kerja dropout dan early stopping dalam mencegah overfitting.</a:t>
            </a:r>
            <a:endParaRPr lang="en-US" sz="1600" dirty="0"/>
          </a:p>
        </p:txBody>
      </p:sp>
      <p:sp>
        <p:nvSpPr>
          <p:cNvPr id="17" name="Text 15"/>
          <p:cNvSpPr txBox="1"/>
          <p:nvPr/>
        </p:nvSpPr>
        <p:spPr>
          <a:xfrm>
            <a:off x="594360" y="5760720"/>
            <a:ext cx="11002975" cy="365760"/>
          </a:xfrm>
          <a:prstGeom prst="rect">
            <a:avLst/>
          </a:prstGeom>
          <a:noFill/>
          <a:ln/>
        </p:spPr>
        <p:txBody>
          <a:bodyPr wrap="square" lIns="0" tIns="0" rIns="0" bIns="0" rtlCol="0" anchor="t"/>
          <a:lstStyle/>
          <a:p>
            <a:pPr algn="l" indent="0" marL="0">
              <a:buNone/>
            </a:pPr>
            <a:r>
              <a:rPr lang="en-US" sz="1300" i="1" dirty="0">
                <a:solidFill>
                  <a:srgbClr val="6A6E85"/>
                </a:solidFill>
                <a:latin typeface="Calibri" pitchFamily="34" charset="0"/>
                <a:ea typeface="Calibri" pitchFamily="34" charset="-122"/>
                <a:cs typeface="Calibri" pitchFamily="34" charset="-120"/>
              </a:rPr>
              <a:t>Seluruh indikator bersifat konseptual. Tidak ada yang menuntut Anda menulis kode atau menurunkan rumus backpropagation.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91B33"/>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7C6BF0"/>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2FA890"/>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5FD9C2"/>
                </a:solidFill>
                <a:latin typeface="Calibri" pitchFamily="34" charset="0"/>
                <a:ea typeface="Calibri" pitchFamily="34" charset="-122"/>
                <a:cs typeface="Calibri" pitchFamily="34" charset="-120"/>
              </a:rPr>
              <a:t>BAGIAN 1</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Dari Satu Neuron</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ke Jaringan</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9BDD0"/>
                </a:solidFill>
                <a:latin typeface="Calibri" pitchFamily="34" charset="0"/>
                <a:ea typeface="Calibri" pitchFamily="34" charset="-122"/>
                <a:cs typeface="Calibri" pitchFamily="34" charset="-120"/>
              </a:rPr>
              <a:t>Yang sudah Anda kenal, ditumpuk berlapis</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B80A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JEMBATAN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Satu neuron adalah logistic regression</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94360" y="1234440"/>
            <a:ext cx="11002975" cy="320040"/>
          </a:xfrm>
          <a:prstGeom prst="rect">
            <a:avLst/>
          </a:prstGeom>
          <a:noFill/>
          <a:ln/>
        </p:spPr>
        <p:txBody>
          <a:bodyPr wrap="square" lIns="0" tIns="0" rIns="0" bIns="0" rtlCol="0" anchor="t"/>
          <a:lstStyle/>
          <a:p>
            <a:pPr algn="l" indent="0" marL="0">
              <a:buNone/>
            </a:pPr>
            <a:r>
              <a:rPr lang="en-US" sz="1600" dirty="0">
                <a:solidFill>
                  <a:srgbClr val="1A1C2E"/>
                </a:solidFill>
                <a:latin typeface="Calibri" pitchFamily="34" charset="0"/>
                <a:ea typeface="Calibri" pitchFamily="34" charset="-122"/>
                <a:cs typeface="Calibri" pitchFamily="34" charset="-120"/>
              </a:rPr>
              <a:t>Bandingkan dua rumus berikut. Keduanya persis sama — hanya namanya yang berbeda.</a:t>
            </a:r>
            <a:endParaRPr lang="en-US" sz="1600" dirty="0"/>
          </a:p>
        </p:txBody>
      </p:sp>
      <p:sp>
        <p:nvSpPr>
          <p:cNvPr id="6" name="Shape 4"/>
          <p:cNvSpPr/>
          <p:nvPr/>
        </p:nvSpPr>
        <p:spPr>
          <a:xfrm>
            <a:off x="594360" y="1737360"/>
            <a:ext cx="5303520" cy="1691640"/>
          </a:xfrm>
          <a:prstGeom prst="roundRect">
            <a:avLst>
              <a:gd name="adj" fmla="val 4865"/>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7" name="Shape 5"/>
          <p:cNvSpPr/>
          <p:nvPr/>
        </p:nvSpPr>
        <p:spPr>
          <a:xfrm>
            <a:off x="594360" y="1737360"/>
            <a:ext cx="5303520" cy="621792"/>
          </a:xfrm>
          <a:prstGeom prst="roundRect">
            <a:avLst>
              <a:gd name="adj" fmla="val 13235"/>
            </a:avLst>
          </a:prstGeom>
          <a:solidFill>
            <a:srgbClr val="9BA0B5"/>
          </a:solidFill>
          <a:ln w="12700">
            <a:solidFill>
              <a:srgbClr val="333333"/>
            </a:solidFill>
            <a:prstDash val="solid"/>
          </a:ln>
        </p:spPr>
      </p:sp>
      <p:sp>
        <p:nvSpPr>
          <p:cNvPr id="8" name="Text 6"/>
          <p:cNvSpPr txBox="1"/>
          <p:nvPr/>
        </p:nvSpPr>
        <p:spPr>
          <a:xfrm>
            <a:off x="914400" y="1737360"/>
            <a:ext cx="3108960" cy="621792"/>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Logistic Regression</a:t>
            </a:r>
            <a:endParaRPr lang="en-US" sz="1900" dirty="0"/>
          </a:p>
        </p:txBody>
      </p:sp>
      <p:sp>
        <p:nvSpPr>
          <p:cNvPr id="9" name="Text 7"/>
          <p:cNvSpPr txBox="1"/>
          <p:nvPr/>
        </p:nvSpPr>
        <p:spPr>
          <a:xfrm>
            <a:off x="4023360" y="1737360"/>
            <a:ext cx="1554480" cy="621792"/>
          </a:xfrm>
          <a:prstGeom prst="rect">
            <a:avLst/>
          </a:prstGeom>
          <a:noFill/>
          <a:ln/>
        </p:spPr>
        <p:txBody>
          <a:bodyPr wrap="square" lIns="0" tIns="0" rIns="0" bIns="0" rtlCol="0" anchor="ctr"/>
          <a:lstStyle/>
          <a:p>
            <a:pPr algn="r" indent="0" marL="0">
              <a:buNone/>
            </a:pPr>
            <a:r>
              <a:rPr lang="en-US" sz="1200" dirty="0">
                <a:solidFill>
                  <a:srgbClr val="F0F1F5"/>
                </a:solidFill>
                <a:latin typeface="Calibri" pitchFamily="34" charset="0"/>
                <a:ea typeface="Calibri" pitchFamily="34" charset="-122"/>
                <a:cs typeface="Calibri" pitchFamily="34" charset="-120"/>
              </a:rPr>
              <a:t>Pertemuan 6</a:t>
            </a:r>
            <a:endParaRPr lang="en-US" sz="1200" dirty="0"/>
          </a:p>
        </p:txBody>
      </p:sp>
      <p:sp>
        <p:nvSpPr>
          <p:cNvPr id="10" name="Shape 8"/>
          <p:cNvSpPr/>
          <p:nvPr/>
        </p:nvSpPr>
        <p:spPr>
          <a:xfrm>
            <a:off x="960120" y="2514600"/>
            <a:ext cx="4572000" cy="731520"/>
          </a:xfrm>
          <a:prstGeom prst="roundRect">
            <a:avLst>
              <a:gd name="adj" fmla="val 8750"/>
            </a:avLst>
          </a:prstGeom>
          <a:solidFill>
            <a:srgbClr val="191B33"/>
          </a:solidFill>
          <a:ln w="12700">
            <a:solidFill>
              <a:srgbClr val="333333"/>
            </a:solidFill>
            <a:prstDash val="solid"/>
          </a:ln>
        </p:spPr>
      </p:sp>
      <p:sp>
        <p:nvSpPr>
          <p:cNvPr id="11" name="Text 9"/>
          <p:cNvSpPr txBox="1"/>
          <p:nvPr/>
        </p:nvSpPr>
        <p:spPr>
          <a:xfrm>
            <a:off x="960120" y="2514600"/>
            <a:ext cx="4572000" cy="731520"/>
          </a:xfrm>
          <a:prstGeom prst="rect">
            <a:avLst/>
          </a:prstGeom>
          <a:noFill/>
          <a:ln/>
        </p:spPr>
        <p:txBody>
          <a:bodyPr wrap="square" lIns="0" tIns="0" rIns="0" bIns="0" rtlCol="0" anchor="ctr"/>
          <a:lstStyle/>
          <a:p>
            <a:pPr algn="ctr" indent="0" marL="0">
              <a:buNone/>
            </a:pPr>
            <a:r>
              <a:rPr lang="en-US" sz="2100" dirty="0">
                <a:solidFill>
                  <a:srgbClr val="9BA0B5"/>
                </a:solidFill>
                <a:latin typeface="Courier New" pitchFamily="34" charset="0"/>
                <a:ea typeface="Courier New" pitchFamily="34" charset="-122"/>
                <a:cs typeface="Courier New" pitchFamily="34" charset="-120"/>
              </a:rPr>
              <a:t>p = σ( w·x + b )</a:t>
            </a:r>
            <a:endParaRPr lang="en-US" sz="2100" dirty="0"/>
          </a:p>
        </p:txBody>
      </p:sp>
      <p:sp>
        <p:nvSpPr>
          <p:cNvPr id="12" name="Shape 10"/>
          <p:cNvSpPr/>
          <p:nvPr/>
        </p:nvSpPr>
        <p:spPr>
          <a:xfrm>
            <a:off x="6263640" y="1737360"/>
            <a:ext cx="5303520" cy="1691640"/>
          </a:xfrm>
          <a:prstGeom prst="roundRect">
            <a:avLst>
              <a:gd name="adj" fmla="val 4865"/>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3" name="Shape 11"/>
          <p:cNvSpPr/>
          <p:nvPr/>
        </p:nvSpPr>
        <p:spPr>
          <a:xfrm>
            <a:off x="6263640" y="1737360"/>
            <a:ext cx="5303520" cy="621792"/>
          </a:xfrm>
          <a:prstGeom prst="roundRect">
            <a:avLst>
              <a:gd name="adj" fmla="val 13235"/>
            </a:avLst>
          </a:prstGeom>
          <a:solidFill>
            <a:srgbClr val="7C6BF0"/>
          </a:solidFill>
          <a:ln w="12700">
            <a:solidFill>
              <a:srgbClr val="333333"/>
            </a:solidFill>
            <a:prstDash val="solid"/>
          </a:ln>
        </p:spPr>
      </p:sp>
      <p:sp>
        <p:nvSpPr>
          <p:cNvPr id="14" name="Text 12"/>
          <p:cNvSpPr txBox="1"/>
          <p:nvPr/>
        </p:nvSpPr>
        <p:spPr>
          <a:xfrm>
            <a:off x="6583680" y="1737360"/>
            <a:ext cx="3108960" cy="621792"/>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Satu Neuron</a:t>
            </a:r>
            <a:endParaRPr lang="en-US" sz="1900" dirty="0"/>
          </a:p>
        </p:txBody>
      </p:sp>
      <p:sp>
        <p:nvSpPr>
          <p:cNvPr id="15" name="Text 13"/>
          <p:cNvSpPr txBox="1"/>
          <p:nvPr/>
        </p:nvSpPr>
        <p:spPr>
          <a:xfrm>
            <a:off x="9692640" y="1737360"/>
            <a:ext cx="1554480" cy="621792"/>
          </a:xfrm>
          <a:prstGeom prst="rect">
            <a:avLst/>
          </a:prstGeom>
          <a:noFill/>
          <a:ln/>
        </p:spPr>
        <p:txBody>
          <a:bodyPr wrap="square" lIns="0" tIns="0" rIns="0" bIns="0" rtlCol="0" anchor="ctr"/>
          <a:lstStyle/>
          <a:p>
            <a:pPr algn="r" indent="0" marL="0">
              <a:buNone/>
            </a:pPr>
            <a:r>
              <a:rPr lang="en-US" sz="1200" dirty="0">
                <a:solidFill>
                  <a:srgbClr val="F0F1F5"/>
                </a:solidFill>
                <a:latin typeface="Calibri" pitchFamily="34" charset="0"/>
                <a:ea typeface="Calibri" pitchFamily="34" charset="-122"/>
                <a:cs typeface="Calibri" pitchFamily="34" charset="-120"/>
              </a:rPr>
              <a:t>Pertemuan 12</a:t>
            </a:r>
            <a:endParaRPr lang="en-US" sz="1200" dirty="0"/>
          </a:p>
        </p:txBody>
      </p:sp>
      <p:sp>
        <p:nvSpPr>
          <p:cNvPr id="16" name="Shape 14"/>
          <p:cNvSpPr/>
          <p:nvPr/>
        </p:nvSpPr>
        <p:spPr>
          <a:xfrm>
            <a:off x="6629400" y="2514600"/>
            <a:ext cx="4572000" cy="731520"/>
          </a:xfrm>
          <a:prstGeom prst="roundRect">
            <a:avLst>
              <a:gd name="adj" fmla="val 8750"/>
            </a:avLst>
          </a:prstGeom>
          <a:solidFill>
            <a:srgbClr val="191B33"/>
          </a:solidFill>
          <a:ln w="12700">
            <a:solidFill>
              <a:srgbClr val="333333"/>
            </a:solidFill>
            <a:prstDash val="solid"/>
          </a:ln>
        </p:spPr>
      </p:sp>
      <p:sp>
        <p:nvSpPr>
          <p:cNvPr id="17" name="Text 15"/>
          <p:cNvSpPr txBox="1"/>
          <p:nvPr/>
        </p:nvSpPr>
        <p:spPr>
          <a:xfrm>
            <a:off x="6629400" y="2514600"/>
            <a:ext cx="4572000" cy="731520"/>
          </a:xfrm>
          <a:prstGeom prst="rect">
            <a:avLst/>
          </a:prstGeom>
          <a:noFill/>
          <a:ln/>
        </p:spPr>
        <p:txBody>
          <a:bodyPr wrap="square" lIns="0" tIns="0" rIns="0" bIns="0" rtlCol="0" anchor="ctr"/>
          <a:lstStyle/>
          <a:p>
            <a:pPr algn="ctr" indent="0" marL="0">
              <a:buNone/>
            </a:pPr>
            <a:r>
              <a:rPr lang="en-US" sz="2100" dirty="0">
                <a:solidFill>
                  <a:srgbClr val="5FD9C2"/>
                </a:solidFill>
                <a:latin typeface="Courier New" pitchFamily="34" charset="0"/>
                <a:ea typeface="Courier New" pitchFamily="34" charset="-122"/>
                <a:cs typeface="Courier New" pitchFamily="34" charset="-120"/>
              </a:rPr>
              <a:t>a = f( w·x + b )</a:t>
            </a:r>
            <a:endParaRPr lang="en-US" sz="2100" dirty="0"/>
          </a:p>
        </p:txBody>
      </p:sp>
      <p:sp>
        <p:nvSpPr>
          <p:cNvPr id="18" name="Shape 16"/>
          <p:cNvSpPr/>
          <p:nvPr/>
        </p:nvSpPr>
        <p:spPr>
          <a:xfrm>
            <a:off x="594360" y="3657600"/>
            <a:ext cx="3520440" cy="1691640"/>
          </a:xfrm>
          <a:prstGeom prst="roundRect">
            <a:avLst>
              <a:gd name="adj" fmla="val 4865"/>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9" name="Shape 17"/>
          <p:cNvSpPr/>
          <p:nvPr/>
        </p:nvSpPr>
        <p:spPr>
          <a:xfrm>
            <a:off x="868680" y="3886200"/>
            <a:ext cx="411480" cy="45720"/>
          </a:xfrm>
          <a:prstGeom prst="rect">
            <a:avLst/>
          </a:prstGeom>
          <a:solidFill>
            <a:srgbClr val="E8703F"/>
          </a:solidFill>
          <a:ln w="12700">
            <a:solidFill>
              <a:srgbClr val="333333"/>
            </a:solidFill>
            <a:prstDash val="solid"/>
          </a:ln>
        </p:spPr>
      </p:sp>
      <p:sp>
        <p:nvSpPr>
          <p:cNvPr id="20" name="Text 18"/>
          <p:cNvSpPr txBox="1"/>
          <p:nvPr/>
        </p:nvSpPr>
        <p:spPr>
          <a:xfrm>
            <a:off x="868680" y="4041648"/>
            <a:ext cx="2971800" cy="292608"/>
          </a:xfrm>
          <a:prstGeom prst="rect">
            <a:avLst/>
          </a:prstGeom>
          <a:noFill/>
          <a:ln/>
        </p:spPr>
        <p:txBody>
          <a:bodyPr wrap="square" lIns="0" tIns="0" rIns="0" bIns="0" rtlCol="0" anchor="t"/>
          <a:lstStyle/>
          <a:p>
            <a:pPr algn="l" indent="0" marL="0">
              <a:buNone/>
            </a:pPr>
            <a:r>
              <a:rPr lang="en-US" sz="1600" b="1" dirty="0">
                <a:solidFill>
                  <a:srgbClr val="191B33"/>
                </a:solidFill>
                <a:latin typeface="Cambria" pitchFamily="34" charset="0"/>
                <a:ea typeface="Cambria" pitchFamily="34" charset="-122"/>
                <a:cs typeface="Cambria" pitchFamily="34" charset="-120"/>
              </a:rPr>
              <a:t>Perbedaan 1</a:t>
            </a:r>
            <a:endParaRPr lang="en-US" sz="1600" dirty="0"/>
          </a:p>
        </p:txBody>
      </p:sp>
      <p:sp>
        <p:nvSpPr>
          <p:cNvPr id="21" name="Text 19"/>
          <p:cNvSpPr txBox="1"/>
          <p:nvPr/>
        </p:nvSpPr>
        <p:spPr>
          <a:xfrm>
            <a:off x="868680" y="4389120"/>
            <a:ext cx="2971800" cy="868680"/>
          </a:xfrm>
          <a:prstGeom prst="rect">
            <a:avLst/>
          </a:prstGeom>
          <a:noFill/>
          <a:ln/>
        </p:spPr>
        <p:txBody>
          <a:bodyPr wrap="square" lIns="0" tIns="0" rIns="0" bIns="0" rtlCol="0" anchor="t"/>
          <a:lstStyle/>
          <a:p>
            <a:pPr algn="l" indent="0" marL="0">
              <a:lnSpc>
                <a:spcPct val="128000"/>
              </a:lnSpc>
              <a:buNone/>
            </a:pPr>
            <a:r>
              <a:rPr lang="en-US" sz="1300" dirty="0">
                <a:solidFill>
                  <a:srgbClr val="1A1C2E"/>
                </a:solidFill>
                <a:latin typeface="Calibri" pitchFamily="34" charset="0"/>
                <a:ea typeface="Calibri" pitchFamily="34" charset="-122"/>
                <a:cs typeface="Calibri" pitchFamily="34" charset="-120"/>
              </a:rPr>
              <a:t>Fungsi σ diganti f yang bisa berupa aktivasi apa pun, bukan hanya sigmoid.</a:t>
            </a:r>
            <a:endParaRPr lang="en-US" sz="1300" dirty="0"/>
          </a:p>
        </p:txBody>
      </p:sp>
      <p:sp>
        <p:nvSpPr>
          <p:cNvPr id="22" name="Shape 20"/>
          <p:cNvSpPr/>
          <p:nvPr/>
        </p:nvSpPr>
        <p:spPr>
          <a:xfrm>
            <a:off x="4389120" y="3657600"/>
            <a:ext cx="3520440" cy="1691640"/>
          </a:xfrm>
          <a:prstGeom prst="roundRect">
            <a:avLst>
              <a:gd name="adj" fmla="val 4865"/>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23" name="Shape 21"/>
          <p:cNvSpPr/>
          <p:nvPr/>
        </p:nvSpPr>
        <p:spPr>
          <a:xfrm>
            <a:off x="4663440" y="3886200"/>
            <a:ext cx="411480" cy="45720"/>
          </a:xfrm>
          <a:prstGeom prst="rect">
            <a:avLst/>
          </a:prstGeom>
          <a:solidFill>
            <a:srgbClr val="7C6BF0"/>
          </a:solidFill>
          <a:ln w="12700">
            <a:solidFill>
              <a:srgbClr val="333333"/>
            </a:solidFill>
            <a:prstDash val="solid"/>
          </a:ln>
        </p:spPr>
      </p:sp>
      <p:sp>
        <p:nvSpPr>
          <p:cNvPr id="24" name="Text 22"/>
          <p:cNvSpPr txBox="1"/>
          <p:nvPr/>
        </p:nvSpPr>
        <p:spPr>
          <a:xfrm>
            <a:off x="4663440" y="4041648"/>
            <a:ext cx="2971800" cy="292608"/>
          </a:xfrm>
          <a:prstGeom prst="rect">
            <a:avLst/>
          </a:prstGeom>
          <a:noFill/>
          <a:ln/>
        </p:spPr>
        <p:txBody>
          <a:bodyPr wrap="square" lIns="0" tIns="0" rIns="0" bIns="0" rtlCol="0" anchor="t"/>
          <a:lstStyle/>
          <a:p>
            <a:pPr algn="l" indent="0" marL="0">
              <a:buNone/>
            </a:pPr>
            <a:r>
              <a:rPr lang="en-US" sz="1600" b="1" dirty="0">
                <a:solidFill>
                  <a:srgbClr val="191B33"/>
                </a:solidFill>
                <a:latin typeface="Cambria" pitchFamily="34" charset="0"/>
                <a:ea typeface="Cambria" pitchFamily="34" charset="-122"/>
                <a:cs typeface="Cambria" pitchFamily="34" charset="-120"/>
              </a:rPr>
              <a:t>Perbedaan 2</a:t>
            </a:r>
            <a:endParaRPr lang="en-US" sz="1600" dirty="0"/>
          </a:p>
        </p:txBody>
      </p:sp>
      <p:sp>
        <p:nvSpPr>
          <p:cNvPr id="25" name="Text 23"/>
          <p:cNvSpPr txBox="1"/>
          <p:nvPr/>
        </p:nvSpPr>
        <p:spPr>
          <a:xfrm>
            <a:off x="4663440" y="4389120"/>
            <a:ext cx="2971800" cy="868680"/>
          </a:xfrm>
          <a:prstGeom prst="rect">
            <a:avLst/>
          </a:prstGeom>
          <a:noFill/>
          <a:ln/>
        </p:spPr>
        <p:txBody>
          <a:bodyPr wrap="square" lIns="0" tIns="0" rIns="0" bIns="0" rtlCol="0" anchor="t"/>
          <a:lstStyle/>
          <a:p>
            <a:pPr algn="l" indent="0" marL="0">
              <a:lnSpc>
                <a:spcPct val="128000"/>
              </a:lnSpc>
              <a:buNone/>
            </a:pPr>
            <a:r>
              <a:rPr lang="en-US" sz="1300" dirty="0">
                <a:solidFill>
                  <a:srgbClr val="1A1C2E"/>
                </a:solidFill>
                <a:latin typeface="Calibri" pitchFamily="34" charset="0"/>
                <a:ea typeface="Calibri" pitchFamily="34" charset="-122"/>
                <a:cs typeface="Calibri" pitchFamily="34" charset="-120"/>
              </a:rPr>
              <a:t>Keluarannya bukan jawaban akhir, melainkan masukan bagi neuron di lapisan berikutnya.</a:t>
            </a:r>
            <a:endParaRPr lang="en-US" sz="1300" dirty="0"/>
          </a:p>
        </p:txBody>
      </p:sp>
      <p:sp>
        <p:nvSpPr>
          <p:cNvPr id="26" name="Shape 24"/>
          <p:cNvSpPr/>
          <p:nvPr/>
        </p:nvSpPr>
        <p:spPr>
          <a:xfrm>
            <a:off x="8183880" y="3657600"/>
            <a:ext cx="3520440" cy="1691640"/>
          </a:xfrm>
          <a:prstGeom prst="roundRect">
            <a:avLst>
              <a:gd name="adj" fmla="val 4865"/>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27" name="Shape 25"/>
          <p:cNvSpPr/>
          <p:nvPr/>
        </p:nvSpPr>
        <p:spPr>
          <a:xfrm>
            <a:off x="8458200" y="3886200"/>
            <a:ext cx="411480" cy="45720"/>
          </a:xfrm>
          <a:prstGeom prst="rect">
            <a:avLst/>
          </a:prstGeom>
          <a:solidFill>
            <a:srgbClr val="2FA890"/>
          </a:solidFill>
          <a:ln w="12700">
            <a:solidFill>
              <a:srgbClr val="333333"/>
            </a:solidFill>
            <a:prstDash val="solid"/>
          </a:ln>
        </p:spPr>
      </p:sp>
      <p:sp>
        <p:nvSpPr>
          <p:cNvPr id="28" name="Text 26"/>
          <p:cNvSpPr txBox="1"/>
          <p:nvPr/>
        </p:nvSpPr>
        <p:spPr>
          <a:xfrm>
            <a:off x="8458200" y="4041648"/>
            <a:ext cx="2971800" cy="292608"/>
          </a:xfrm>
          <a:prstGeom prst="rect">
            <a:avLst/>
          </a:prstGeom>
          <a:noFill/>
          <a:ln/>
        </p:spPr>
        <p:txBody>
          <a:bodyPr wrap="square" lIns="0" tIns="0" rIns="0" bIns="0" rtlCol="0" anchor="t"/>
          <a:lstStyle/>
          <a:p>
            <a:pPr algn="l" indent="0" marL="0">
              <a:buNone/>
            </a:pPr>
            <a:r>
              <a:rPr lang="en-US" sz="1600" b="1" dirty="0">
                <a:solidFill>
                  <a:srgbClr val="191B33"/>
                </a:solidFill>
                <a:latin typeface="Cambria" pitchFamily="34" charset="0"/>
                <a:ea typeface="Cambria" pitchFamily="34" charset="-122"/>
                <a:cs typeface="Cambria" pitchFamily="34" charset="-120"/>
              </a:rPr>
              <a:t>Yang sama</a:t>
            </a:r>
            <a:endParaRPr lang="en-US" sz="1600" dirty="0"/>
          </a:p>
        </p:txBody>
      </p:sp>
      <p:sp>
        <p:nvSpPr>
          <p:cNvPr id="29" name="Text 27"/>
          <p:cNvSpPr txBox="1"/>
          <p:nvPr/>
        </p:nvSpPr>
        <p:spPr>
          <a:xfrm>
            <a:off x="8458200" y="4389120"/>
            <a:ext cx="2971800" cy="868680"/>
          </a:xfrm>
          <a:prstGeom prst="rect">
            <a:avLst/>
          </a:prstGeom>
          <a:noFill/>
          <a:ln/>
        </p:spPr>
        <p:txBody>
          <a:bodyPr wrap="square" lIns="0" tIns="0" rIns="0" bIns="0" rtlCol="0" anchor="t"/>
          <a:lstStyle/>
          <a:p>
            <a:pPr algn="l" indent="0" marL="0">
              <a:lnSpc>
                <a:spcPct val="128000"/>
              </a:lnSpc>
              <a:buNone/>
            </a:pPr>
            <a:r>
              <a:rPr lang="en-US" sz="1300" dirty="0">
                <a:solidFill>
                  <a:srgbClr val="1A1C2E"/>
                </a:solidFill>
                <a:latin typeface="Calibri" pitchFamily="34" charset="0"/>
                <a:ea typeface="Calibri" pitchFamily="34" charset="-122"/>
                <a:cs typeface="Calibri" pitchFamily="34" charset="-120"/>
              </a:rPr>
              <a:t>Tetap satu jumlah berbobot ditambah bias, lalu dilewatkan sebuah fungsi. Tidak lebih.</a:t>
            </a:r>
            <a:endParaRPr lang="en-US" sz="1300" dirty="0"/>
          </a:p>
        </p:txBody>
      </p:sp>
      <p:sp>
        <p:nvSpPr>
          <p:cNvPr id="30" name="Text 28"/>
          <p:cNvSpPr txBox="1"/>
          <p:nvPr/>
        </p:nvSpPr>
        <p:spPr>
          <a:xfrm>
            <a:off x="594360" y="5577840"/>
            <a:ext cx="11002975" cy="365760"/>
          </a:xfrm>
          <a:prstGeom prst="rect">
            <a:avLst/>
          </a:prstGeom>
          <a:noFill/>
          <a:ln/>
        </p:spPr>
        <p:txBody>
          <a:bodyPr wrap="square" lIns="0" tIns="0" rIns="0" bIns="0" rtlCol="0" anchor="t"/>
          <a:lstStyle/>
          <a:p>
            <a:pPr algn="ctr" indent="0" marL="0">
              <a:buNone/>
            </a:pPr>
            <a:r>
              <a:rPr lang="en-US" sz="1500" b="1" dirty="0">
                <a:solidFill>
                  <a:srgbClr val="7C6BF0"/>
                </a:solidFill>
                <a:latin typeface="Calibri" pitchFamily="34" charset="0"/>
                <a:ea typeface="Calibri" pitchFamily="34" charset="-122"/>
                <a:cs typeface="Calibri" pitchFamily="34" charset="-120"/>
              </a:rPr>
              <a:t>Sebuah jaringan berlapis hanyalah ratusan logistic regression yang saling memberi masukan.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MOTIVASI</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Kenapa satu lapisan tidak cukup</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94360" y="1280160"/>
            <a:ext cx="5577840" cy="2194560"/>
          </a:xfrm>
          <a:prstGeom prst="roundRect">
            <a:avLst>
              <a:gd name="adj" fmla="val 3750"/>
            </a:avLst>
          </a:prstGeom>
          <a:solidFill>
            <a:srgbClr val="191B33"/>
          </a:solidFill>
          <a:ln w="12700">
            <a:solidFill>
              <a:srgbClr val="191B33"/>
            </a:solidFill>
            <a:prstDash val="solid"/>
          </a:ln>
          <a:effectLst>
            <a:outerShdw sx="100000" sy="100000" kx="0" ky="0" algn="bl" rotWithShape="0" blurRad="101600" dist="508" dir="5400000">
              <a:srgbClr val="AEB2C2">
                <a:alpha val="30000"/>
              </a:srgbClr>
            </a:outerShdw>
          </a:effectLst>
        </p:spPr>
      </p:sp>
      <p:sp>
        <p:nvSpPr>
          <p:cNvPr id="6" name="Text 4"/>
          <p:cNvSpPr txBox="1"/>
          <p:nvPr/>
        </p:nvSpPr>
        <p:spPr>
          <a:xfrm>
            <a:off x="960120" y="1554480"/>
            <a:ext cx="4846320" cy="1371600"/>
          </a:xfrm>
          <a:prstGeom prst="rect">
            <a:avLst/>
          </a:prstGeom>
          <a:noFill/>
          <a:ln/>
        </p:spPr>
        <p:txBody>
          <a:bodyPr wrap="square" lIns="0" tIns="0" rIns="0" bIns="0" rtlCol="0" anchor="t"/>
          <a:lstStyle/>
          <a:p>
            <a:pPr algn="l" indent="0" marL="0">
              <a:lnSpc>
                <a:spcPct val="130000"/>
              </a:lnSpc>
              <a:buNone/>
            </a:pPr>
            <a:r>
              <a:rPr lang="en-US" sz="1550" dirty="0">
                <a:solidFill>
                  <a:srgbClr val="FFFFFF"/>
                </a:solidFill>
                <a:latin typeface="Calibri" pitchFamily="34" charset="0"/>
                <a:ea typeface="Calibri" pitchFamily="34" charset="-122"/>
                <a:cs typeface="Calibri" pitchFamily="34" charset="-120"/>
              </a:rPr>
              <a:t>Ingat kesimpulan pertemuan 6: batas keputusan logistic regression selalu berupa garis lurus. Bila kelompok data tidak bisa dipisahkan garis lurus, model itu tidak akan pernah berhasil — berapa lama pun dilatih.</a:t>
            </a:r>
            <a:endParaRPr lang="en-US" sz="1550" dirty="0"/>
          </a:p>
        </p:txBody>
      </p:sp>
      <p:sp>
        <p:nvSpPr>
          <p:cNvPr id="7" name="Text 5"/>
          <p:cNvSpPr txBox="1"/>
          <p:nvPr/>
        </p:nvSpPr>
        <p:spPr>
          <a:xfrm>
            <a:off x="960120" y="2880360"/>
            <a:ext cx="4846320" cy="502920"/>
          </a:xfrm>
          <a:prstGeom prst="rect">
            <a:avLst/>
          </a:prstGeom>
          <a:noFill/>
          <a:ln/>
        </p:spPr>
        <p:txBody>
          <a:bodyPr wrap="square" lIns="0" tIns="0" rIns="0" bIns="0" rtlCol="0" anchor="t"/>
          <a:lstStyle/>
          <a:p>
            <a:pPr algn="l" indent="0" marL="0">
              <a:lnSpc>
                <a:spcPct val="125000"/>
              </a:lnSpc>
              <a:buNone/>
            </a:pPr>
            <a:r>
              <a:rPr lang="en-US" sz="1450" b="1" dirty="0">
                <a:solidFill>
                  <a:srgbClr val="5FD9C2"/>
                </a:solidFill>
                <a:latin typeface="Calibri" pitchFamily="34" charset="0"/>
                <a:ea typeface="Calibri" pitchFamily="34" charset="-122"/>
                <a:cs typeface="Calibri" pitchFamily="34" charset="-120"/>
              </a:rPr>
              <a:t>Menumpuk lapisan memberi model kemampuan membentuk batas keputusan melengkung dan berpatah-patah.</a:t>
            </a:r>
            <a:endParaRPr lang="en-US" sz="1450" dirty="0"/>
          </a:p>
        </p:txBody>
      </p:sp>
      <p:sp>
        <p:nvSpPr>
          <p:cNvPr id="8" name="Shape 6"/>
          <p:cNvSpPr/>
          <p:nvPr/>
        </p:nvSpPr>
        <p:spPr>
          <a:xfrm>
            <a:off x="6537960" y="1280160"/>
            <a:ext cx="5029200" cy="685800"/>
          </a:xfrm>
          <a:prstGeom prst="roundRect">
            <a:avLst>
              <a:gd name="adj" fmla="val 12000"/>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9" name="Shape 7"/>
          <p:cNvSpPr/>
          <p:nvPr/>
        </p:nvSpPr>
        <p:spPr>
          <a:xfrm>
            <a:off x="6812280" y="1417320"/>
            <a:ext cx="384048" cy="45720"/>
          </a:xfrm>
          <a:prstGeom prst="rect">
            <a:avLst/>
          </a:prstGeom>
          <a:solidFill>
            <a:srgbClr val="2FA890"/>
          </a:solidFill>
          <a:ln w="12700">
            <a:solidFill>
              <a:srgbClr val="333333"/>
            </a:solidFill>
            <a:prstDash val="solid"/>
          </a:ln>
        </p:spPr>
      </p:sp>
      <p:sp>
        <p:nvSpPr>
          <p:cNvPr id="10" name="Text 8"/>
          <p:cNvSpPr txBox="1"/>
          <p:nvPr/>
        </p:nvSpPr>
        <p:spPr>
          <a:xfrm>
            <a:off x="6812280" y="1508760"/>
            <a:ext cx="1691640" cy="274320"/>
          </a:xfrm>
          <a:prstGeom prst="rect">
            <a:avLst/>
          </a:prstGeom>
          <a:noFill/>
          <a:ln/>
        </p:spPr>
        <p:txBody>
          <a:bodyPr wrap="square" lIns="0" tIns="0" rIns="0" bIns="0" rtlCol="0" anchor="t"/>
          <a:lstStyle/>
          <a:p>
            <a:pPr algn="l" indent="0" marL="0">
              <a:buNone/>
            </a:pPr>
            <a:r>
              <a:rPr lang="en-US" sz="1350" b="1" dirty="0">
                <a:solidFill>
                  <a:srgbClr val="191B33"/>
                </a:solidFill>
                <a:latin typeface="Calibri" pitchFamily="34" charset="0"/>
                <a:ea typeface="Calibri" pitchFamily="34" charset="-122"/>
                <a:cs typeface="Calibri" pitchFamily="34" charset="-120"/>
              </a:rPr>
              <a:t>Lapisan pertama</a:t>
            </a:r>
            <a:endParaRPr lang="en-US" sz="1350" dirty="0"/>
          </a:p>
        </p:txBody>
      </p:sp>
      <p:sp>
        <p:nvSpPr>
          <p:cNvPr id="11" name="Text 9"/>
          <p:cNvSpPr txBox="1"/>
          <p:nvPr/>
        </p:nvSpPr>
        <p:spPr>
          <a:xfrm>
            <a:off x="8549640" y="1399032"/>
            <a:ext cx="2788920" cy="502920"/>
          </a:xfrm>
          <a:prstGeom prst="rect">
            <a:avLst/>
          </a:prstGeom>
          <a:noFill/>
          <a:ln/>
        </p:spPr>
        <p:txBody>
          <a:bodyPr wrap="square" lIns="0" tIns="0" rIns="0" bIns="0" rtlCol="0" anchor="ctr"/>
          <a:lstStyle/>
          <a:p>
            <a:pPr algn="l" indent="0" marL="0">
              <a:lnSpc>
                <a:spcPct val="115000"/>
              </a:lnSpc>
              <a:buNone/>
            </a:pPr>
            <a:r>
              <a:rPr lang="en-US" sz="1100" dirty="0">
                <a:solidFill>
                  <a:srgbClr val="1A1C2E"/>
                </a:solidFill>
                <a:latin typeface="Calibri" pitchFamily="34" charset="0"/>
                <a:ea typeface="Calibri" pitchFamily="34" charset="-122"/>
                <a:cs typeface="Calibri" pitchFamily="34" charset="-120"/>
              </a:rPr>
              <a:t>Menemukan pola sederhana langsung dari fitur mentah.</a:t>
            </a:r>
            <a:endParaRPr lang="en-US" sz="1100" dirty="0"/>
          </a:p>
        </p:txBody>
      </p:sp>
      <p:sp>
        <p:nvSpPr>
          <p:cNvPr id="12" name="Shape 10"/>
          <p:cNvSpPr/>
          <p:nvPr/>
        </p:nvSpPr>
        <p:spPr>
          <a:xfrm>
            <a:off x="6537960" y="2057400"/>
            <a:ext cx="5029200" cy="685800"/>
          </a:xfrm>
          <a:prstGeom prst="roundRect">
            <a:avLst>
              <a:gd name="adj" fmla="val 12000"/>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3" name="Shape 11"/>
          <p:cNvSpPr/>
          <p:nvPr/>
        </p:nvSpPr>
        <p:spPr>
          <a:xfrm>
            <a:off x="6812280" y="2194560"/>
            <a:ext cx="384048" cy="45720"/>
          </a:xfrm>
          <a:prstGeom prst="rect">
            <a:avLst/>
          </a:prstGeom>
          <a:solidFill>
            <a:srgbClr val="7C6BF0"/>
          </a:solidFill>
          <a:ln w="12700">
            <a:solidFill>
              <a:srgbClr val="333333"/>
            </a:solidFill>
            <a:prstDash val="solid"/>
          </a:ln>
        </p:spPr>
      </p:sp>
      <p:sp>
        <p:nvSpPr>
          <p:cNvPr id="14" name="Text 12"/>
          <p:cNvSpPr txBox="1"/>
          <p:nvPr/>
        </p:nvSpPr>
        <p:spPr>
          <a:xfrm>
            <a:off x="6812280" y="2286000"/>
            <a:ext cx="1691640" cy="274320"/>
          </a:xfrm>
          <a:prstGeom prst="rect">
            <a:avLst/>
          </a:prstGeom>
          <a:noFill/>
          <a:ln/>
        </p:spPr>
        <p:txBody>
          <a:bodyPr wrap="square" lIns="0" tIns="0" rIns="0" bIns="0" rtlCol="0" anchor="t"/>
          <a:lstStyle/>
          <a:p>
            <a:pPr algn="l" indent="0" marL="0">
              <a:buNone/>
            </a:pPr>
            <a:r>
              <a:rPr lang="en-US" sz="1350" b="1" dirty="0">
                <a:solidFill>
                  <a:srgbClr val="191B33"/>
                </a:solidFill>
                <a:latin typeface="Calibri" pitchFamily="34" charset="0"/>
                <a:ea typeface="Calibri" pitchFamily="34" charset="-122"/>
                <a:cs typeface="Calibri" pitchFamily="34" charset="-120"/>
              </a:rPr>
              <a:t>Lapisan tengah</a:t>
            </a:r>
            <a:endParaRPr lang="en-US" sz="1350" dirty="0"/>
          </a:p>
        </p:txBody>
      </p:sp>
      <p:sp>
        <p:nvSpPr>
          <p:cNvPr id="15" name="Text 13"/>
          <p:cNvSpPr txBox="1"/>
          <p:nvPr/>
        </p:nvSpPr>
        <p:spPr>
          <a:xfrm>
            <a:off x="8549640" y="2176272"/>
            <a:ext cx="2788920" cy="502920"/>
          </a:xfrm>
          <a:prstGeom prst="rect">
            <a:avLst/>
          </a:prstGeom>
          <a:noFill/>
          <a:ln/>
        </p:spPr>
        <p:txBody>
          <a:bodyPr wrap="square" lIns="0" tIns="0" rIns="0" bIns="0" rtlCol="0" anchor="ctr"/>
          <a:lstStyle/>
          <a:p>
            <a:pPr algn="l" indent="0" marL="0">
              <a:lnSpc>
                <a:spcPct val="115000"/>
              </a:lnSpc>
              <a:buNone/>
            </a:pPr>
            <a:r>
              <a:rPr lang="en-US" sz="1100" dirty="0">
                <a:solidFill>
                  <a:srgbClr val="1A1C2E"/>
                </a:solidFill>
                <a:latin typeface="Calibri" pitchFamily="34" charset="0"/>
                <a:ea typeface="Calibri" pitchFamily="34" charset="-122"/>
                <a:cs typeface="Calibri" pitchFamily="34" charset="-120"/>
              </a:rPr>
              <a:t>Menggabungkan pola sederhana menjadi pola yang lebih rumit.</a:t>
            </a:r>
            <a:endParaRPr lang="en-US" sz="1100" dirty="0"/>
          </a:p>
        </p:txBody>
      </p:sp>
      <p:sp>
        <p:nvSpPr>
          <p:cNvPr id="16" name="Shape 14"/>
          <p:cNvSpPr/>
          <p:nvPr/>
        </p:nvSpPr>
        <p:spPr>
          <a:xfrm>
            <a:off x="6537960" y="2834640"/>
            <a:ext cx="5029200" cy="685800"/>
          </a:xfrm>
          <a:prstGeom prst="roundRect">
            <a:avLst>
              <a:gd name="adj" fmla="val 12000"/>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7" name="Shape 15"/>
          <p:cNvSpPr/>
          <p:nvPr/>
        </p:nvSpPr>
        <p:spPr>
          <a:xfrm>
            <a:off x="6812280" y="2971800"/>
            <a:ext cx="384048" cy="45720"/>
          </a:xfrm>
          <a:prstGeom prst="rect">
            <a:avLst/>
          </a:prstGeom>
          <a:solidFill>
            <a:srgbClr val="E8703F"/>
          </a:solidFill>
          <a:ln w="12700">
            <a:solidFill>
              <a:srgbClr val="333333"/>
            </a:solidFill>
            <a:prstDash val="solid"/>
          </a:ln>
        </p:spPr>
      </p:sp>
      <p:sp>
        <p:nvSpPr>
          <p:cNvPr id="18" name="Text 16"/>
          <p:cNvSpPr txBox="1"/>
          <p:nvPr/>
        </p:nvSpPr>
        <p:spPr>
          <a:xfrm>
            <a:off x="6812280" y="3063240"/>
            <a:ext cx="1691640" cy="274320"/>
          </a:xfrm>
          <a:prstGeom prst="rect">
            <a:avLst/>
          </a:prstGeom>
          <a:noFill/>
          <a:ln/>
        </p:spPr>
        <p:txBody>
          <a:bodyPr wrap="square" lIns="0" tIns="0" rIns="0" bIns="0" rtlCol="0" anchor="t"/>
          <a:lstStyle/>
          <a:p>
            <a:pPr algn="l" indent="0" marL="0">
              <a:buNone/>
            </a:pPr>
            <a:r>
              <a:rPr lang="en-US" sz="1350" b="1" dirty="0">
                <a:solidFill>
                  <a:srgbClr val="191B33"/>
                </a:solidFill>
                <a:latin typeface="Calibri" pitchFamily="34" charset="0"/>
                <a:ea typeface="Calibri" pitchFamily="34" charset="-122"/>
                <a:cs typeface="Calibri" pitchFamily="34" charset="-120"/>
              </a:rPr>
              <a:t>Lapisan terakhir</a:t>
            </a:r>
            <a:endParaRPr lang="en-US" sz="1350" dirty="0"/>
          </a:p>
        </p:txBody>
      </p:sp>
      <p:sp>
        <p:nvSpPr>
          <p:cNvPr id="19" name="Text 17"/>
          <p:cNvSpPr txBox="1"/>
          <p:nvPr/>
        </p:nvSpPr>
        <p:spPr>
          <a:xfrm>
            <a:off x="8549640" y="2953512"/>
            <a:ext cx="2788920" cy="502920"/>
          </a:xfrm>
          <a:prstGeom prst="rect">
            <a:avLst/>
          </a:prstGeom>
          <a:noFill/>
          <a:ln/>
        </p:spPr>
        <p:txBody>
          <a:bodyPr wrap="square" lIns="0" tIns="0" rIns="0" bIns="0" rtlCol="0" anchor="ctr"/>
          <a:lstStyle/>
          <a:p>
            <a:pPr algn="l" indent="0" marL="0">
              <a:lnSpc>
                <a:spcPct val="115000"/>
              </a:lnSpc>
              <a:buNone/>
            </a:pPr>
            <a:r>
              <a:rPr lang="en-US" sz="1100" dirty="0">
                <a:solidFill>
                  <a:srgbClr val="1A1C2E"/>
                </a:solidFill>
                <a:latin typeface="Calibri" pitchFamily="34" charset="0"/>
                <a:ea typeface="Calibri" pitchFamily="34" charset="-122"/>
                <a:cs typeface="Calibri" pitchFamily="34" charset="-120"/>
              </a:rPr>
              <a:t>Merangkum semuanya menjadi satu keputusan atau nilai.</a:t>
            </a:r>
            <a:endParaRPr lang="en-US" sz="1100" dirty="0"/>
          </a:p>
        </p:txBody>
      </p:sp>
      <p:sp>
        <p:nvSpPr>
          <p:cNvPr id="20" name="Shape 18"/>
          <p:cNvSpPr/>
          <p:nvPr/>
        </p:nvSpPr>
        <p:spPr>
          <a:xfrm>
            <a:off x="6537960" y="3611880"/>
            <a:ext cx="5029200" cy="1691640"/>
          </a:xfrm>
          <a:prstGeom prst="roundRect">
            <a:avLst>
              <a:gd name="adj" fmla="val 4865"/>
            </a:avLst>
          </a:prstGeom>
          <a:solidFill>
            <a:srgbClr val="FDEEE7"/>
          </a:solidFill>
          <a:ln w="12700">
            <a:solidFill>
              <a:srgbClr val="F6D2C1"/>
            </a:solidFill>
            <a:prstDash val="solid"/>
          </a:ln>
          <a:effectLst>
            <a:outerShdw sx="100000" sy="100000" kx="0" ky="0" algn="bl" rotWithShape="0" blurRad="101600" dist="508" dir="5400000">
              <a:srgbClr val="AEB2C2">
                <a:alpha val="30000"/>
              </a:srgbClr>
            </a:outerShdw>
          </a:effectLst>
        </p:spPr>
      </p:sp>
      <p:sp>
        <p:nvSpPr>
          <p:cNvPr id="21" name="Text 19"/>
          <p:cNvSpPr txBox="1"/>
          <p:nvPr/>
        </p:nvSpPr>
        <p:spPr>
          <a:xfrm>
            <a:off x="6858000" y="3794760"/>
            <a:ext cx="4389120" cy="274320"/>
          </a:xfrm>
          <a:prstGeom prst="rect">
            <a:avLst/>
          </a:prstGeom>
          <a:noFill/>
          <a:ln/>
        </p:spPr>
        <p:txBody>
          <a:bodyPr wrap="square" lIns="0" tIns="0" rIns="0" bIns="0" rtlCol="0" anchor="t"/>
          <a:lstStyle/>
          <a:p>
            <a:pPr algn="l" indent="0" marL="0">
              <a:buNone/>
            </a:pPr>
            <a:r>
              <a:rPr lang="en-US" sz="1700" b="1" dirty="0">
                <a:solidFill>
                  <a:srgbClr val="A34A1E"/>
                </a:solidFill>
                <a:latin typeface="Cambria" pitchFamily="34" charset="0"/>
                <a:ea typeface="Cambria" pitchFamily="34" charset="-122"/>
                <a:cs typeface="Cambria" pitchFamily="34" charset="-120"/>
              </a:rPr>
              <a:t>Harga yang dibayar</a:t>
            </a:r>
            <a:endParaRPr lang="en-US" sz="1700" dirty="0"/>
          </a:p>
        </p:txBody>
      </p:sp>
      <p:sp>
        <p:nvSpPr>
          <p:cNvPr id="22" name="Text 20"/>
          <p:cNvSpPr txBox="1"/>
          <p:nvPr/>
        </p:nvSpPr>
        <p:spPr>
          <a:xfrm>
            <a:off x="6858000" y="4114800"/>
            <a:ext cx="4389120" cy="1097280"/>
          </a:xfrm>
          <a:prstGeom prst="rect">
            <a:avLst/>
          </a:prstGeom>
          <a:noFill/>
          <a:ln/>
        </p:spPr>
        <p:txBody>
          <a:bodyPr wrap="square" lIns="0" tIns="0" rIns="0" bIns="0" rtlCol="0" anchor="t"/>
          <a:lstStyle/>
          <a:p>
            <a:pPr algn="l" indent="0" marL="0">
              <a:lnSpc>
                <a:spcPct val="130000"/>
              </a:lnSpc>
              <a:buNone/>
            </a:pPr>
            <a:r>
              <a:rPr lang="en-US" sz="1300" dirty="0">
                <a:solidFill>
                  <a:srgbClr val="A34A1E"/>
                </a:solidFill>
                <a:latin typeface="Calibri" pitchFamily="34" charset="0"/>
                <a:ea typeface="Calibri" pitchFamily="34" charset="-122"/>
                <a:cs typeface="Calibri" pitchFamily="34" charset="-120"/>
              </a:rPr>
              <a:t>Kelenturan itu berarti kemampuan menghafal. Jaringan yang cukup besar dapat menghafal data latih dengan sempurna — dan itulah alasan bagian 4 hari ini seluruhnya tentang menahan overfitting.</a:t>
            </a:r>
            <a:endParaRPr lang="en-US" sz="1300" dirty="0"/>
          </a:p>
        </p:txBody>
      </p:sp>
      <p:sp>
        <p:nvSpPr>
          <p:cNvPr id="23" name="Text 21"/>
          <p:cNvSpPr txBox="1"/>
          <p:nvPr/>
        </p:nvSpPr>
        <p:spPr>
          <a:xfrm>
            <a:off x="594360" y="5532120"/>
            <a:ext cx="11002975" cy="365760"/>
          </a:xfrm>
          <a:prstGeom prst="rect">
            <a:avLst/>
          </a:prstGeom>
          <a:noFill/>
          <a:ln/>
        </p:spPr>
        <p:txBody>
          <a:bodyPr wrap="square" lIns="0" tIns="0" rIns="0" bIns="0" rtlCol="0" anchor="t"/>
          <a:lstStyle/>
          <a:p>
            <a:pPr algn="ctr" indent="0" marL="0">
              <a:buNone/>
            </a:pPr>
            <a:r>
              <a:rPr lang="en-US" sz="1450" i="1" dirty="0">
                <a:solidFill>
                  <a:srgbClr val="6A6E85"/>
                </a:solidFill>
                <a:latin typeface="Calibri" pitchFamily="34" charset="0"/>
                <a:ea typeface="Calibri" pitchFamily="34" charset="-122"/>
                <a:cs typeface="Calibri" pitchFamily="34" charset="-120"/>
              </a:rPr>
              <a:t>Bagi mesin, kelenturan bukan hadiah gratis. Ia selalu dibayar dengan risiko menghafal.</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91B33"/>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5FD9C2"/>
                </a:solidFill>
                <a:latin typeface="Calibri" pitchFamily="34" charset="0"/>
                <a:ea typeface="Calibri" pitchFamily="34" charset="-122"/>
                <a:cs typeface="Calibri" pitchFamily="34" charset="-120"/>
              </a:rPr>
              <a:t>ANATOMI</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Sebuah jaringan berlapis</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B80A0"/>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flipV="1">
            <a:off x="2103120" y="2103120"/>
            <a:ext cx="2468880" cy="502920"/>
          </a:xfrm>
          <a:prstGeom prst="line">
            <a:avLst/>
          </a:prstGeom>
          <a:noFill/>
          <a:ln w="12700">
            <a:solidFill>
              <a:srgbClr val="4A4F78"/>
            </a:solidFill>
            <a:prstDash val="solid"/>
          </a:ln>
        </p:spPr>
      </p:sp>
      <p:sp>
        <p:nvSpPr>
          <p:cNvPr id="6" name="Shape 4"/>
          <p:cNvSpPr/>
          <p:nvPr/>
        </p:nvSpPr>
        <p:spPr>
          <a:xfrm>
            <a:off x="2103120" y="2606040"/>
            <a:ext cx="2468880" cy="457200"/>
          </a:xfrm>
          <a:prstGeom prst="line">
            <a:avLst/>
          </a:prstGeom>
          <a:noFill/>
          <a:ln w="12700">
            <a:solidFill>
              <a:srgbClr val="4A4F78"/>
            </a:solidFill>
            <a:prstDash val="solid"/>
          </a:ln>
        </p:spPr>
      </p:sp>
      <p:sp>
        <p:nvSpPr>
          <p:cNvPr id="7" name="Shape 5"/>
          <p:cNvSpPr/>
          <p:nvPr/>
        </p:nvSpPr>
        <p:spPr>
          <a:xfrm>
            <a:off x="2103120" y="2606040"/>
            <a:ext cx="2468880" cy="1417320"/>
          </a:xfrm>
          <a:prstGeom prst="line">
            <a:avLst/>
          </a:prstGeom>
          <a:noFill/>
          <a:ln w="12700">
            <a:solidFill>
              <a:srgbClr val="4A4F78"/>
            </a:solidFill>
            <a:prstDash val="solid"/>
          </a:ln>
        </p:spPr>
      </p:sp>
      <p:sp>
        <p:nvSpPr>
          <p:cNvPr id="8" name="Shape 6"/>
          <p:cNvSpPr/>
          <p:nvPr/>
        </p:nvSpPr>
        <p:spPr>
          <a:xfrm flipV="1">
            <a:off x="2103120" y="2103120"/>
            <a:ext cx="2468880" cy="1463040"/>
          </a:xfrm>
          <a:prstGeom prst="line">
            <a:avLst/>
          </a:prstGeom>
          <a:noFill/>
          <a:ln w="12700">
            <a:solidFill>
              <a:srgbClr val="4A4F78"/>
            </a:solidFill>
            <a:prstDash val="solid"/>
          </a:ln>
        </p:spPr>
      </p:sp>
      <p:sp>
        <p:nvSpPr>
          <p:cNvPr id="9" name="Shape 7"/>
          <p:cNvSpPr/>
          <p:nvPr/>
        </p:nvSpPr>
        <p:spPr>
          <a:xfrm flipV="1">
            <a:off x="2103120" y="3063240"/>
            <a:ext cx="2468880" cy="502920"/>
          </a:xfrm>
          <a:prstGeom prst="line">
            <a:avLst/>
          </a:prstGeom>
          <a:noFill/>
          <a:ln w="12700">
            <a:solidFill>
              <a:srgbClr val="4A4F78"/>
            </a:solidFill>
            <a:prstDash val="solid"/>
          </a:ln>
        </p:spPr>
      </p:sp>
      <p:sp>
        <p:nvSpPr>
          <p:cNvPr id="10" name="Shape 8"/>
          <p:cNvSpPr/>
          <p:nvPr/>
        </p:nvSpPr>
        <p:spPr>
          <a:xfrm>
            <a:off x="2103120" y="3566160"/>
            <a:ext cx="2468880" cy="457200"/>
          </a:xfrm>
          <a:prstGeom prst="line">
            <a:avLst/>
          </a:prstGeom>
          <a:noFill/>
          <a:ln w="12700">
            <a:solidFill>
              <a:srgbClr val="4A4F78"/>
            </a:solidFill>
            <a:prstDash val="solid"/>
          </a:ln>
        </p:spPr>
      </p:sp>
      <p:sp>
        <p:nvSpPr>
          <p:cNvPr id="11" name="Shape 9"/>
          <p:cNvSpPr/>
          <p:nvPr/>
        </p:nvSpPr>
        <p:spPr>
          <a:xfrm>
            <a:off x="4572000" y="2103120"/>
            <a:ext cx="2468880" cy="914"/>
          </a:xfrm>
          <a:prstGeom prst="line">
            <a:avLst/>
          </a:prstGeom>
          <a:noFill/>
          <a:ln w="12700">
            <a:solidFill>
              <a:srgbClr val="4A4F78"/>
            </a:solidFill>
            <a:prstDash val="solid"/>
          </a:ln>
        </p:spPr>
      </p:sp>
      <p:sp>
        <p:nvSpPr>
          <p:cNvPr id="12" name="Shape 10"/>
          <p:cNvSpPr/>
          <p:nvPr/>
        </p:nvSpPr>
        <p:spPr>
          <a:xfrm>
            <a:off x="4572000" y="2103120"/>
            <a:ext cx="2468880" cy="960120"/>
          </a:xfrm>
          <a:prstGeom prst="line">
            <a:avLst/>
          </a:prstGeom>
          <a:noFill/>
          <a:ln w="12700">
            <a:solidFill>
              <a:srgbClr val="4A4F78"/>
            </a:solidFill>
            <a:prstDash val="solid"/>
          </a:ln>
        </p:spPr>
      </p:sp>
      <p:sp>
        <p:nvSpPr>
          <p:cNvPr id="13" name="Shape 11"/>
          <p:cNvSpPr/>
          <p:nvPr/>
        </p:nvSpPr>
        <p:spPr>
          <a:xfrm>
            <a:off x="4572000" y="2103120"/>
            <a:ext cx="2468880" cy="1920240"/>
          </a:xfrm>
          <a:prstGeom prst="line">
            <a:avLst/>
          </a:prstGeom>
          <a:noFill/>
          <a:ln w="12700">
            <a:solidFill>
              <a:srgbClr val="4A4F78"/>
            </a:solidFill>
            <a:prstDash val="solid"/>
          </a:ln>
        </p:spPr>
      </p:sp>
      <p:sp>
        <p:nvSpPr>
          <p:cNvPr id="14" name="Shape 12"/>
          <p:cNvSpPr/>
          <p:nvPr/>
        </p:nvSpPr>
        <p:spPr>
          <a:xfrm flipV="1">
            <a:off x="4572000" y="2103120"/>
            <a:ext cx="2468880" cy="960120"/>
          </a:xfrm>
          <a:prstGeom prst="line">
            <a:avLst/>
          </a:prstGeom>
          <a:noFill/>
          <a:ln w="12700">
            <a:solidFill>
              <a:srgbClr val="4A4F78"/>
            </a:solidFill>
            <a:prstDash val="solid"/>
          </a:ln>
        </p:spPr>
      </p:sp>
      <p:sp>
        <p:nvSpPr>
          <p:cNvPr id="15" name="Shape 13"/>
          <p:cNvSpPr/>
          <p:nvPr/>
        </p:nvSpPr>
        <p:spPr>
          <a:xfrm>
            <a:off x="4572000" y="3063240"/>
            <a:ext cx="2468880" cy="914"/>
          </a:xfrm>
          <a:prstGeom prst="line">
            <a:avLst/>
          </a:prstGeom>
          <a:noFill/>
          <a:ln w="12700">
            <a:solidFill>
              <a:srgbClr val="4A4F78"/>
            </a:solidFill>
            <a:prstDash val="solid"/>
          </a:ln>
        </p:spPr>
      </p:sp>
      <p:sp>
        <p:nvSpPr>
          <p:cNvPr id="16" name="Shape 14"/>
          <p:cNvSpPr/>
          <p:nvPr/>
        </p:nvSpPr>
        <p:spPr>
          <a:xfrm>
            <a:off x="4572000" y="3063240"/>
            <a:ext cx="2468880" cy="960120"/>
          </a:xfrm>
          <a:prstGeom prst="line">
            <a:avLst/>
          </a:prstGeom>
          <a:noFill/>
          <a:ln w="12700">
            <a:solidFill>
              <a:srgbClr val="4A4F78"/>
            </a:solidFill>
            <a:prstDash val="solid"/>
          </a:ln>
        </p:spPr>
      </p:sp>
      <p:sp>
        <p:nvSpPr>
          <p:cNvPr id="17" name="Shape 15"/>
          <p:cNvSpPr/>
          <p:nvPr/>
        </p:nvSpPr>
        <p:spPr>
          <a:xfrm flipV="1">
            <a:off x="4572000" y="2103120"/>
            <a:ext cx="2468880" cy="1920240"/>
          </a:xfrm>
          <a:prstGeom prst="line">
            <a:avLst/>
          </a:prstGeom>
          <a:noFill/>
          <a:ln w="12700">
            <a:solidFill>
              <a:srgbClr val="4A4F78"/>
            </a:solidFill>
            <a:prstDash val="solid"/>
          </a:ln>
        </p:spPr>
      </p:sp>
      <p:sp>
        <p:nvSpPr>
          <p:cNvPr id="18" name="Shape 16"/>
          <p:cNvSpPr/>
          <p:nvPr/>
        </p:nvSpPr>
        <p:spPr>
          <a:xfrm flipV="1">
            <a:off x="4572000" y="3063240"/>
            <a:ext cx="2468880" cy="960120"/>
          </a:xfrm>
          <a:prstGeom prst="line">
            <a:avLst/>
          </a:prstGeom>
          <a:noFill/>
          <a:ln w="12700">
            <a:solidFill>
              <a:srgbClr val="4A4F78"/>
            </a:solidFill>
            <a:prstDash val="solid"/>
          </a:ln>
        </p:spPr>
      </p:sp>
      <p:sp>
        <p:nvSpPr>
          <p:cNvPr id="19" name="Shape 17"/>
          <p:cNvSpPr/>
          <p:nvPr/>
        </p:nvSpPr>
        <p:spPr>
          <a:xfrm>
            <a:off x="4572000" y="4023360"/>
            <a:ext cx="2468880" cy="914"/>
          </a:xfrm>
          <a:prstGeom prst="line">
            <a:avLst/>
          </a:prstGeom>
          <a:noFill/>
          <a:ln w="12700">
            <a:solidFill>
              <a:srgbClr val="4A4F78"/>
            </a:solidFill>
            <a:prstDash val="solid"/>
          </a:ln>
        </p:spPr>
      </p:sp>
      <p:sp>
        <p:nvSpPr>
          <p:cNvPr id="20" name="Shape 18"/>
          <p:cNvSpPr/>
          <p:nvPr/>
        </p:nvSpPr>
        <p:spPr>
          <a:xfrm>
            <a:off x="7040880" y="2103120"/>
            <a:ext cx="2468880" cy="960120"/>
          </a:xfrm>
          <a:prstGeom prst="line">
            <a:avLst/>
          </a:prstGeom>
          <a:noFill/>
          <a:ln w="12700">
            <a:solidFill>
              <a:srgbClr val="4A4F78"/>
            </a:solidFill>
            <a:prstDash val="solid"/>
          </a:ln>
        </p:spPr>
      </p:sp>
      <p:sp>
        <p:nvSpPr>
          <p:cNvPr id="21" name="Shape 19"/>
          <p:cNvSpPr/>
          <p:nvPr/>
        </p:nvSpPr>
        <p:spPr>
          <a:xfrm>
            <a:off x="7040880" y="3063240"/>
            <a:ext cx="2468880" cy="914"/>
          </a:xfrm>
          <a:prstGeom prst="line">
            <a:avLst/>
          </a:prstGeom>
          <a:noFill/>
          <a:ln w="12700">
            <a:solidFill>
              <a:srgbClr val="4A4F78"/>
            </a:solidFill>
            <a:prstDash val="solid"/>
          </a:ln>
        </p:spPr>
      </p:sp>
      <p:sp>
        <p:nvSpPr>
          <p:cNvPr id="22" name="Shape 20"/>
          <p:cNvSpPr/>
          <p:nvPr/>
        </p:nvSpPr>
        <p:spPr>
          <a:xfrm flipV="1">
            <a:off x="7040880" y="3063240"/>
            <a:ext cx="2468880" cy="960120"/>
          </a:xfrm>
          <a:prstGeom prst="line">
            <a:avLst/>
          </a:prstGeom>
          <a:noFill/>
          <a:ln w="12700">
            <a:solidFill>
              <a:srgbClr val="4A4F78"/>
            </a:solidFill>
            <a:prstDash val="solid"/>
          </a:ln>
        </p:spPr>
      </p:sp>
      <p:sp>
        <p:nvSpPr>
          <p:cNvPr id="23" name="Shape 21"/>
          <p:cNvSpPr/>
          <p:nvPr/>
        </p:nvSpPr>
        <p:spPr>
          <a:xfrm>
            <a:off x="1819656" y="2322576"/>
            <a:ext cx="566928" cy="566928"/>
          </a:xfrm>
          <a:prstGeom prst="ellipse">
            <a:avLst/>
          </a:prstGeom>
          <a:solidFill>
            <a:srgbClr val="2FA890"/>
          </a:solidFill>
          <a:ln w="19050">
            <a:solidFill>
              <a:srgbClr val="FFFFFF"/>
            </a:solidFill>
            <a:prstDash val="solid"/>
          </a:ln>
        </p:spPr>
      </p:sp>
      <p:sp>
        <p:nvSpPr>
          <p:cNvPr id="24" name="Text 22"/>
          <p:cNvSpPr txBox="1"/>
          <p:nvPr/>
        </p:nvSpPr>
        <p:spPr>
          <a:xfrm>
            <a:off x="1819656" y="2322576"/>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x1</a:t>
            </a:r>
            <a:endParaRPr lang="en-US" sz="1100" dirty="0"/>
          </a:p>
        </p:txBody>
      </p:sp>
      <p:sp>
        <p:nvSpPr>
          <p:cNvPr id="25" name="Shape 23"/>
          <p:cNvSpPr/>
          <p:nvPr/>
        </p:nvSpPr>
        <p:spPr>
          <a:xfrm>
            <a:off x="1819656" y="3282696"/>
            <a:ext cx="566928" cy="566928"/>
          </a:xfrm>
          <a:prstGeom prst="ellipse">
            <a:avLst/>
          </a:prstGeom>
          <a:solidFill>
            <a:srgbClr val="2FA890"/>
          </a:solidFill>
          <a:ln w="19050">
            <a:solidFill>
              <a:srgbClr val="FFFFFF"/>
            </a:solidFill>
            <a:prstDash val="solid"/>
          </a:ln>
        </p:spPr>
      </p:sp>
      <p:sp>
        <p:nvSpPr>
          <p:cNvPr id="26" name="Text 24"/>
          <p:cNvSpPr txBox="1"/>
          <p:nvPr/>
        </p:nvSpPr>
        <p:spPr>
          <a:xfrm>
            <a:off x="1819656" y="3282696"/>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x2</a:t>
            </a:r>
            <a:endParaRPr lang="en-US" sz="1100" dirty="0"/>
          </a:p>
        </p:txBody>
      </p:sp>
      <p:sp>
        <p:nvSpPr>
          <p:cNvPr id="27" name="Shape 25"/>
          <p:cNvSpPr/>
          <p:nvPr/>
        </p:nvSpPr>
        <p:spPr>
          <a:xfrm>
            <a:off x="4288536" y="1819656"/>
            <a:ext cx="566928" cy="566928"/>
          </a:xfrm>
          <a:prstGeom prst="ellipse">
            <a:avLst/>
          </a:prstGeom>
          <a:solidFill>
            <a:srgbClr val="7C6BF0"/>
          </a:solidFill>
          <a:ln w="19050">
            <a:solidFill>
              <a:srgbClr val="FFFFFF"/>
            </a:solidFill>
            <a:prstDash val="solid"/>
          </a:ln>
        </p:spPr>
      </p:sp>
      <p:sp>
        <p:nvSpPr>
          <p:cNvPr id="28" name="Shape 26"/>
          <p:cNvSpPr/>
          <p:nvPr/>
        </p:nvSpPr>
        <p:spPr>
          <a:xfrm>
            <a:off x="4288536" y="2779776"/>
            <a:ext cx="566928" cy="566928"/>
          </a:xfrm>
          <a:prstGeom prst="ellipse">
            <a:avLst/>
          </a:prstGeom>
          <a:solidFill>
            <a:srgbClr val="7C6BF0"/>
          </a:solidFill>
          <a:ln w="19050">
            <a:solidFill>
              <a:srgbClr val="FFFFFF"/>
            </a:solidFill>
            <a:prstDash val="solid"/>
          </a:ln>
        </p:spPr>
      </p:sp>
      <p:sp>
        <p:nvSpPr>
          <p:cNvPr id="29" name="Shape 27"/>
          <p:cNvSpPr/>
          <p:nvPr/>
        </p:nvSpPr>
        <p:spPr>
          <a:xfrm>
            <a:off x="4288536" y="3739896"/>
            <a:ext cx="566928" cy="566928"/>
          </a:xfrm>
          <a:prstGeom prst="ellipse">
            <a:avLst/>
          </a:prstGeom>
          <a:solidFill>
            <a:srgbClr val="7C6BF0"/>
          </a:solidFill>
          <a:ln w="19050">
            <a:solidFill>
              <a:srgbClr val="FFFFFF"/>
            </a:solidFill>
            <a:prstDash val="solid"/>
          </a:ln>
        </p:spPr>
      </p:sp>
      <p:sp>
        <p:nvSpPr>
          <p:cNvPr id="30" name="Shape 28"/>
          <p:cNvSpPr/>
          <p:nvPr/>
        </p:nvSpPr>
        <p:spPr>
          <a:xfrm>
            <a:off x="6757416" y="1819656"/>
            <a:ext cx="566928" cy="566928"/>
          </a:xfrm>
          <a:prstGeom prst="ellipse">
            <a:avLst/>
          </a:prstGeom>
          <a:solidFill>
            <a:srgbClr val="7C6BF0"/>
          </a:solidFill>
          <a:ln w="19050">
            <a:solidFill>
              <a:srgbClr val="FFFFFF"/>
            </a:solidFill>
            <a:prstDash val="solid"/>
          </a:ln>
        </p:spPr>
      </p:sp>
      <p:sp>
        <p:nvSpPr>
          <p:cNvPr id="31" name="Shape 29"/>
          <p:cNvSpPr/>
          <p:nvPr/>
        </p:nvSpPr>
        <p:spPr>
          <a:xfrm>
            <a:off x="6757416" y="2779776"/>
            <a:ext cx="566928" cy="566928"/>
          </a:xfrm>
          <a:prstGeom prst="ellipse">
            <a:avLst/>
          </a:prstGeom>
          <a:solidFill>
            <a:srgbClr val="7C6BF0"/>
          </a:solidFill>
          <a:ln w="19050">
            <a:solidFill>
              <a:srgbClr val="FFFFFF"/>
            </a:solidFill>
            <a:prstDash val="solid"/>
          </a:ln>
        </p:spPr>
      </p:sp>
      <p:sp>
        <p:nvSpPr>
          <p:cNvPr id="32" name="Shape 30"/>
          <p:cNvSpPr/>
          <p:nvPr/>
        </p:nvSpPr>
        <p:spPr>
          <a:xfrm>
            <a:off x="6757416" y="3739896"/>
            <a:ext cx="566928" cy="566928"/>
          </a:xfrm>
          <a:prstGeom prst="ellipse">
            <a:avLst/>
          </a:prstGeom>
          <a:solidFill>
            <a:srgbClr val="7C6BF0"/>
          </a:solidFill>
          <a:ln w="19050">
            <a:solidFill>
              <a:srgbClr val="FFFFFF"/>
            </a:solidFill>
            <a:prstDash val="solid"/>
          </a:ln>
        </p:spPr>
      </p:sp>
      <p:sp>
        <p:nvSpPr>
          <p:cNvPr id="33" name="Shape 31"/>
          <p:cNvSpPr/>
          <p:nvPr/>
        </p:nvSpPr>
        <p:spPr>
          <a:xfrm>
            <a:off x="9226296" y="2779776"/>
            <a:ext cx="566928" cy="566928"/>
          </a:xfrm>
          <a:prstGeom prst="ellipse">
            <a:avLst/>
          </a:prstGeom>
          <a:solidFill>
            <a:srgbClr val="E8703F"/>
          </a:solidFill>
          <a:ln w="19050">
            <a:solidFill>
              <a:srgbClr val="FFFFFF"/>
            </a:solidFill>
            <a:prstDash val="solid"/>
          </a:ln>
        </p:spPr>
      </p:sp>
      <p:sp>
        <p:nvSpPr>
          <p:cNvPr id="34" name="Text 32"/>
          <p:cNvSpPr txBox="1"/>
          <p:nvPr/>
        </p:nvSpPr>
        <p:spPr>
          <a:xfrm>
            <a:off x="9226296" y="2779776"/>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a:t>
            </a:r>
            <a:endParaRPr lang="en-US" sz="1100" dirty="0"/>
          </a:p>
        </p:txBody>
      </p:sp>
      <p:sp>
        <p:nvSpPr>
          <p:cNvPr id="35" name="Text 33"/>
          <p:cNvSpPr txBox="1"/>
          <p:nvPr/>
        </p:nvSpPr>
        <p:spPr>
          <a:xfrm>
            <a:off x="1097280" y="1417320"/>
            <a:ext cx="2011680" cy="274320"/>
          </a:xfrm>
          <a:prstGeom prst="rect">
            <a:avLst/>
          </a:prstGeom>
          <a:noFill/>
          <a:ln/>
        </p:spPr>
        <p:txBody>
          <a:bodyPr wrap="square" lIns="0" tIns="0" rIns="0" bIns="0" rtlCol="0" anchor="t"/>
          <a:lstStyle/>
          <a:p>
            <a:pPr algn="ctr" indent="0" marL="0">
              <a:buNone/>
            </a:pPr>
            <a:r>
              <a:rPr lang="en-US" sz="1250" b="1" dirty="0">
                <a:solidFill>
                  <a:srgbClr val="2FA890"/>
                </a:solidFill>
                <a:latin typeface="Calibri" pitchFamily="34" charset="0"/>
                <a:ea typeface="Calibri" pitchFamily="34" charset="-122"/>
                <a:cs typeface="Calibri" pitchFamily="34" charset="-120"/>
              </a:rPr>
              <a:t>Masukan</a:t>
            </a:r>
            <a:endParaRPr lang="en-US" sz="1250" dirty="0"/>
          </a:p>
        </p:txBody>
      </p:sp>
      <p:sp>
        <p:nvSpPr>
          <p:cNvPr id="36" name="Text 34"/>
          <p:cNvSpPr txBox="1"/>
          <p:nvPr/>
        </p:nvSpPr>
        <p:spPr>
          <a:xfrm>
            <a:off x="3566160" y="1417320"/>
            <a:ext cx="2011680" cy="274320"/>
          </a:xfrm>
          <a:prstGeom prst="rect">
            <a:avLst/>
          </a:prstGeom>
          <a:noFill/>
          <a:ln/>
        </p:spPr>
        <p:txBody>
          <a:bodyPr wrap="square" lIns="0" tIns="0" rIns="0" bIns="0" rtlCol="0" anchor="t"/>
          <a:lstStyle/>
          <a:p>
            <a:pPr algn="ctr" indent="0" marL="0">
              <a:buNone/>
            </a:pPr>
            <a:r>
              <a:rPr lang="en-US" sz="1250" b="1" dirty="0">
                <a:solidFill>
                  <a:srgbClr val="7C6BF0"/>
                </a:solidFill>
                <a:latin typeface="Calibri" pitchFamily="34" charset="0"/>
                <a:ea typeface="Calibri" pitchFamily="34" charset="-122"/>
                <a:cs typeface="Calibri" pitchFamily="34" charset="-120"/>
              </a:rPr>
              <a:t>Tersembunyi 1</a:t>
            </a:r>
            <a:endParaRPr lang="en-US" sz="1250" dirty="0"/>
          </a:p>
        </p:txBody>
      </p:sp>
      <p:sp>
        <p:nvSpPr>
          <p:cNvPr id="37" name="Text 35"/>
          <p:cNvSpPr txBox="1"/>
          <p:nvPr/>
        </p:nvSpPr>
        <p:spPr>
          <a:xfrm>
            <a:off x="6035040" y="1417320"/>
            <a:ext cx="2011680" cy="274320"/>
          </a:xfrm>
          <a:prstGeom prst="rect">
            <a:avLst/>
          </a:prstGeom>
          <a:noFill/>
          <a:ln/>
        </p:spPr>
        <p:txBody>
          <a:bodyPr wrap="square" lIns="0" tIns="0" rIns="0" bIns="0" rtlCol="0" anchor="t"/>
          <a:lstStyle/>
          <a:p>
            <a:pPr algn="ctr" indent="0" marL="0">
              <a:buNone/>
            </a:pPr>
            <a:r>
              <a:rPr lang="en-US" sz="1250" b="1" dirty="0">
                <a:solidFill>
                  <a:srgbClr val="7C6BF0"/>
                </a:solidFill>
                <a:latin typeface="Calibri" pitchFamily="34" charset="0"/>
                <a:ea typeface="Calibri" pitchFamily="34" charset="-122"/>
                <a:cs typeface="Calibri" pitchFamily="34" charset="-120"/>
              </a:rPr>
              <a:t>Tersembunyi 2</a:t>
            </a:r>
            <a:endParaRPr lang="en-US" sz="1250" dirty="0"/>
          </a:p>
        </p:txBody>
      </p:sp>
      <p:sp>
        <p:nvSpPr>
          <p:cNvPr id="38" name="Text 36"/>
          <p:cNvSpPr txBox="1"/>
          <p:nvPr/>
        </p:nvSpPr>
        <p:spPr>
          <a:xfrm>
            <a:off x="8503920" y="1417320"/>
            <a:ext cx="2011680" cy="274320"/>
          </a:xfrm>
          <a:prstGeom prst="rect">
            <a:avLst/>
          </a:prstGeom>
          <a:noFill/>
          <a:ln/>
        </p:spPr>
        <p:txBody>
          <a:bodyPr wrap="square" lIns="0" tIns="0" rIns="0" bIns="0" rtlCol="0" anchor="t"/>
          <a:lstStyle/>
          <a:p>
            <a:pPr algn="ctr" indent="0" marL="0">
              <a:buNone/>
            </a:pPr>
            <a:r>
              <a:rPr lang="en-US" sz="1250" b="1" dirty="0">
                <a:solidFill>
                  <a:srgbClr val="E8703F"/>
                </a:solidFill>
                <a:latin typeface="Calibri" pitchFamily="34" charset="0"/>
                <a:ea typeface="Calibri" pitchFamily="34" charset="-122"/>
                <a:cs typeface="Calibri" pitchFamily="34" charset="-120"/>
              </a:rPr>
              <a:t>Keluaran</a:t>
            </a:r>
            <a:endParaRPr lang="en-US" sz="1250" dirty="0"/>
          </a:p>
        </p:txBody>
      </p:sp>
      <p:sp>
        <p:nvSpPr>
          <p:cNvPr id="39" name="Text 37"/>
          <p:cNvSpPr txBox="1"/>
          <p:nvPr/>
        </p:nvSpPr>
        <p:spPr>
          <a:xfrm>
            <a:off x="1097280" y="4572000"/>
            <a:ext cx="2011680" cy="274320"/>
          </a:xfrm>
          <a:prstGeom prst="rect">
            <a:avLst/>
          </a:prstGeom>
          <a:noFill/>
          <a:ln/>
        </p:spPr>
        <p:txBody>
          <a:bodyPr wrap="square" lIns="0" tIns="0" rIns="0" bIns="0" rtlCol="0" anchor="t"/>
          <a:lstStyle/>
          <a:p>
            <a:pPr algn="ctr" indent="0" marL="0">
              <a:buNone/>
            </a:pPr>
            <a:r>
              <a:rPr lang="en-US" sz="1100" dirty="0">
                <a:solidFill>
                  <a:srgbClr val="8A8FA8"/>
                </a:solidFill>
                <a:latin typeface="Calibri" pitchFamily="34" charset="0"/>
                <a:ea typeface="Calibri" pitchFamily="34" charset="-122"/>
                <a:cs typeface="Calibri" pitchFamily="34" charset="-120"/>
              </a:rPr>
              <a:t>2 fitur</a:t>
            </a:r>
            <a:endParaRPr lang="en-US" sz="1100" dirty="0"/>
          </a:p>
        </p:txBody>
      </p:sp>
      <p:sp>
        <p:nvSpPr>
          <p:cNvPr id="40" name="Text 38"/>
          <p:cNvSpPr txBox="1"/>
          <p:nvPr/>
        </p:nvSpPr>
        <p:spPr>
          <a:xfrm>
            <a:off x="3566160" y="4572000"/>
            <a:ext cx="2011680" cy="274320"/>
          </a:xfrm>
          <a:prstGeom prst="rect">
            <a:avLst/>
          </a:prstGeom>
          <a:noFill/>
          <a:ln/>
        </p:spPr>
        <p:txBody>
          <a:bodyPr wrap="square" lIns="0" tIns="0" rIns="0" bIns="0" rtlCol="0" anchor="t"/>
          <a:lstStyle/>
          <a:p>
            <a:pPr algn="ctr" indent="0" marL="0">
              <a:buNone/>
            </a:pPr>
            <a:r>
              <a:rPr lang="en-US" sz="1100" dirty="0">
                <a:solidFill>
                  <a:srgbClr val="8A8FA8"/>
                </a:solidFill>
                <a:latin typeface="Calibri" pitchFamily="34" charset="0"/>
                <a:ea typeface="Calibri" pitchFamily="34" charset="-122"/>
                <a:cs typeface="Calibri" pitchFamily="34" charset="-120"/>
              </a:rPr>
              <a:t>3 neuron</a:t>
            </a:r>
            <a:endParaRPr lang="en-US" sz="1100" dirty="0"/>
          </a:p>
        </p:txBody>
      </p:sp>
      <p:sp>
        <p:nvSpPr>
          <p:cNvPr id="41" name="Text 39"/>
          <p:cNvSpPr txBox="1"/>
          <p:nvPr/>
        </p:nvSpPr>
        <p:spPr>
          <a:xfrm>
            <a:off x="6035040" y="4572000"/>
            <a:ext cx="2011680" cy="274320"/>
          </a:xfrm>
          <a:prstGeom prst="rect">
            <a:avLst/>
          </a:prstGeom>
          <a:noFill/>
          <a:ln/>
        </p:spPr>
        <p:txBody>
          <a:bodyPr wrap="square" lIns="0" tIns="0" rIns="0" bIns="0" rtlCol="0" anchor="t"/>
          <a:lstStyle/>
          <a:p>
            <a:pPr algn="ctr" indent="0" marL="0">
              <a:buNone/>
            </a:pPr>
            <a:r>
              <a:rPr lang="en-US" sz="1100" dirty="0">
                <a:solidFill>
                  <a:srgbClr val="8A8FA8"/>
                </a:solidFill>
                <a:latin typeface="Calibri" pitchFamily="34" charset="0"/>
                <a:ea typeface="Calibri" pitchFamily="34" charset="-122"/>
                <a:cs typeface="Calibri" pitchFamily="34" charset="-120"/>
              </a:rPr>
              <a:t>3 neuron</a:t>
            </a:r>
            <a:endParaRPr lang="en-US" sz="1100" dirty="0"/>
          </a:p>
        </p:txBody>
      </p:sp>
      <p:sp>
        <p:nvSpPr>
          <p:cNvPr id="42" name="Text 40"/>
          <p:cNvSpPr txBox="1"/>
          <p:nvPr/>
        </p:nvSpPr>
        <p:spPr>
          <a:xfrm>
            <a:off x="8503920" y="4572000"/>
            <a:ext cx="2011680" cy="274320"/>
          </a:xfrm>
          <a:prstGeom prst="rect">
            <a:avLst/>
          </a:prstGeom>
          <a:noFill/>
          <a:ln/>
        </p:spPr>
        <p:txBody>
          <a:bodyPr wrap="square" lIns="0" tIns="0" rIns="0" bIns="0" rtlCol="0" anchor="t"/>
          <a:lstStyle/>
          <a:p>
            <a:pPr algn="ctr" indent="0" marL="0">
              <a:buNone/>
            </a:pPr>
            <a:r>
              <a:rPr lang="en-US" sz="1100" dirty="0">
                <a:solidFill>
                  <a:srgbClr val="8A8FA8"/>
                </a:solidFill>
                <a:latin typeface="Calibri" pitchFamily="34" charset="0"/>
                <a:ea typeface="Calibri" pitchFamily="34" charset="-122"/>
                <a:cs typeface="Calibri" pitchFamily="34" charset="-120"/>
              </a:rPr>
              <a:t>1 neuron</a:t>
            </a:r>
            <a:endParaRPr lang="en-US" sz="1100" dirty="0"/>
          </a:p>
        </p:txBody>
      </p:sp>
      <p:sp>
        <p:nvSpPr>
          <p:cNvPr id="43" name="Shape 41"/>
          <p:cNvSpPr/>
          <p:nvPr/>
        </p:nvSpPr>
        <p:spPr>
          <a:xfrm>
            <a:off x="594360" y="5029200"/>
            <a:ext cx="3520440" cy="1234440"/>
          </a:xfrm>
          <a:prstGeom prst="roundRect">
            <a:avLst>
              <a:gd name="adj" fmla="val 6667"/>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44" name="Text 42"/>
          <p:cNvSpPr txBox="1"/>
          <p:nvPr/>
        </p:nvSpPr>
        <p:spPr>
          <a:xfrm>
            <a:off x="868680" y="5193792"/>
            <a:ext cx="2971800" cy="274320"/>
          </a:xfrm>
          <a:prstGeom prst="rect">
            <a:avLst/>
          </a:prstGeom>
          <a:noFill/>
          <a:ln/>
        </p:spPr>
        <p:txBody>
          <a:bodyPr wrap="square" lIns="0" tIns="0" rIns="0" bIns="0" rtlCol="0" anchor="t"/>
          <a:lstStyle/>
          <a:p>
            <a:pPr algn="l" indent="0" marL="0">
              <a:buNone/>
            </a:pPr>
            <a:r>
              <a:rPr lang="en-US" sz="1500" b="1" dirty="0">
                <a:solidFill>
                  <a:srgbClr val="5FD9C2"/>
                </a:solidFill>
                <a:latin typeface="Cambria" pitchFamily="34" charset="0"/>
                <a:ea typeface="Cambria" pitchFamily="34" charset="-122"/>
                <a:cs typeface="Cambria" pitchFamily="34" charset="-120"/>
              </a:rPr>
              <a:t>Sambungan</a:t>
            </a:r>
            <a:endParaRPr lang="en-US" sz="1500" dirty="0"/>
          </a:p>
        </p:txBody>
      </p:sp>
      <p:sp>
        <p:nvSpPr>
          <p:cNvPr id="45" name="Text 43"/>
          <p:cNvSpPr txBox="1"/>
          <p:nvPr/>
        </p:nvSpPr>
        <p:spPr>
          <a:xfrm>
            <a:off x="868680" y="5486400"/>
            <a:ext cx="2971800" cy="640080"/>
          </a:xfrm>
          <a:prstGeom prst="rect">
            <a:avLst/>
          </a:prstGeom>
          <a:noFill/>
          <a:ln/>
        </p:spPr>
        <p:txBody>
          <a:bodyPr wrap="square" lIns="0" tIns="0" rIns="0" bIns="0" rtlCol="0" anchor="t"/>
          <a:lstStyle/>
          <a:p>
            <a:pPr algn="l" indent="0" marL="0">
              <a:lnSpc>
                <a:spcPct val="120000"/>
              </a:lnSpc>
              <a:buNone/>
            </a:pPr>
            <a:r>
              <a:rPr lang="en-US" sz="1150" dirty="0">
                <a:solidFill>
                  <a:srgbClr val="B9BDD0"/>
                </a:solidFill>
                <a:latin typeface="Calibri" pitchFamily="34" charset="0"/>
                <a:ea typeface="Calibri" pitchFamily="34" charset="-122"/>
                <a:cs typeface="Calibri" pitchFamily="34" charset="-120"/>
              </a:rPr>
              <a:t>Setiap garis membawa satu bobot yang dipelajari. Jaringan kecil ini saja sudah punya 18 bobot dan 7 bias.</a:t>
            </a:r>
            <a:endParaRPr lang="en-US" sz="1150" dirty="0"/>
          </a:p>
        </p:txBody>
      </p:sp>
      <p:sp>
        <p:nvSpPr>
          <p:cNvPr id="46" name="Shape 44"/>
          <p:cNvSpPr/>
          <p:nvPr/>
        </p:nvSpPr>
        <p:spPr>
          <a:xfrm>
            <a:off x="4389120" y="5029200"/>
            <a:ext cx="3520440" cy="1234440"/>
          </a:xfrm>
          <a:prstGeom prst="roundRect">
            <a:avLst>
              <a:gd name="adj" fmla="val 6667"/>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47" name="Text 45"/>
          <p:cNvSpPr txBox="1"/>
          <p:nvPr/>
        </p:nvSpPr>
        <p:spPr>
          <a:xfrm>
            <a:off x="4663440" y="5193792"/>
            <a:ext cx="2971800" cy="274320"/>
          </a:xfrm>
          <a:prstGeom prst="rect">
            <a:avLst/>
          </a:prstGeom>
          <a:noFill/>
          <a:ln/>
        </p:spPr>
        <p:txBody>
          <a:bodyPr wrap="square" lIns="0" tIns="0" rIns="0" bIns="0" rtlCol="0" anchor="t"/>
          <a:lstStyle/>
          <a:p>
            <a:pPr algn="l" indent="0" marL="0">
              <a:buNone/>
            </a:pPr>
            <a:r>
              <a:rPr lang="en-US" sz="1500" b="1" dirty="0">
                <a:solidFill>
                  <a:srgbClr val="5FD9C2"/>
                </a:solidFill>
                <a:latin typeface="Cambria" pitchFamily="34" charset="0"/>
                <a:ea typeface="Cambria" pitchFamily="34" charset="-122"/>
                <a:cs typeface="Cambria" pitchFamily="34" charset="-120"/>
              </a:rPr>
              <a:t>Kedalaman</a:t>
            </a:r>
            <a:endParaRPr lang="en-US" sz="1500" dirty="0"/>
          </a:p>
        </p:txBody>
      </p:sp>
      <p:sp>
        <p:nvSpPr>
          <p:cNvPr id="48" name="Text 46"/>
          <p:cNvSpPr txBox="1"/>
          <p:nvPr/>
        </p:nvSpPr>
        <p:spPr>
          <a:xfrm>
            <a:off x="4663440" y="5486400"/>
            <a:ext cx="2971800" cy="640080"/>
          </a:xfrm>
          <a:prstGeom prst="rect">
            <a:avLst/>
          </a:prstGeom>
          <a:noFill/>
          <a:ln/>
        </p:spPr>
        <p:txBody>
          <a:bodyPr wrap="square" lIns="0" tIns="0" rIns="0" bIns="0" rtlCol="0" anchor="t"/>
          <a:lstStyle/>
          <a:p>
            <a:pPr algn="l" indent="0" marL="0">
              <a:lnSpc>
                <a:spcPct val="120000"/>
              </a:lnSpc>
              <a:buNone/>
            </a:pPr>
            <a:r>
              <a:rPr lang="en-US" sz="1150" dirty="0">
                <a:solidFill>
                  <a:srgbClr val="B9BDD0"/>
                </a:solidFill>
                <a:latin typeface="Calibri" pitchFamily="34" charset="0"/>
                <a:ea typeface="Calibri" pitchFamily="34" charset="-122"/>
                <a:cs typeface="Calibri" pitchFamily="34" charset="-120"/>
              </a:rPr>
              <a:t>Jumlah lapisan tersembunyi. Semakin dalam, semakin rumit pola yang dapat ditangkap.</a:t>
            </a:r>
            <a:endParaRPr lang="en-US" sz="1150" dirty="0"/>
          </a:p>
        </p:txBody>
      </p:sp>
      <p:sp>
        <p:nvSpPr>
          <p:cNvPr id="49" name="Shape 47"/>
          <p:cNvSpPr/>
          <p:nvPr/>
        </p:nvSpPr>
        <p:spPr>
          <a:xfrm>
            <a:off x="8183880" y="5029200"/>
            <a:ext cx="3520440" cy="1234440"/>
          </a:xfrm>
          <a:prstGeom prst="roundRect">
            <a:avLst>
              <a:gd name="adj" fmla="val 6667"/>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50" name="Text 48"/>
          <p:cNvSpPr txBox="1"/>
          <p:nvPr/>
        </p:nvSpPr>
        <p:spPr>
          <a:xfrm>
            <a:off x="8458200" y="5193792"/>
            <a:ext cx="2971800" cy="274320"/>
          </a:xfrm>
          <a:prstGeom prst="rect">
            <a:avLst/>
          </a:prstGeom>
          <a:noFill/>
          <a:ln/>
        </p:spPr>
        <p:txBody>
          <a:bodyPr wrap="square" lIns="0" tIns="0" rIns="0" bIns="0" rtlCol="0" anchor="t"/>
          <a:lstStyle/>
          <a:p>
            <a:pPr algn="l" indent="0" marL="0">
              <a:buNone/>
            </a:pPr>
            <a:r>
              <a:rPr lang="en-US" sz="1500" b="1" dirty="0">
                <a:solidFill>
                  <a:srgbClr val="5FD9C2"/>
                </a:solidFill>
                <a:latin typeface="Cambria" pitchFamily="34" charset="0"/>
                <a:ea typeface="Cambria" pitchFamily="34" charset="-122"/>
                <a:cs typeface="Cambria" pitchFamily="34" charset="-120"/>
              </a:rPr>
              <a:t>Lebar</a:t>
            </a:r>
            <a:endParaRPr lang="en-US" sz="1500" dirty="0"/>
          </a:p>
        </p:txBody>
      </p:sp>
      <p:sp>
        <p:nvSpPr>
          <p:cNvPr id="51" name="Text 49"/>
          <p:cNvSpPr txBox="1"/>
          <p:nvPr/>
        </p:nvSpPr>
        <p:spPr>
          <a:xfrm>
            <a:off x="8458200" y="5486400"/>
            <a:ext cx="2971800" cy="640080"/>
          </a:xfrm>
          <a:prstGeom prst="rect">
            <a:avLst/>
          </a:prstGeom>
          <a:noFill/>
          <a:ln/>
        </p:spPr>
        <p:txBody>
          <a:bodyPr wrap="square" lIns="0" tIns="0" rIns="0" bIns="0" rtlCol="0" anchor="t"/>
          <a:lstStyle/>
          <a:p>
            <a:pPr algn="l" indent="0" marL="0">
              <a:lnSpc>
                <a:spcPct val="120000"/>
              </a:lnSpc>
              <a:buNone/>
            </a:pPr>
            <a:r>
              <a:rPr lang="en-US" sz="1150" dirty="0">
                <a:solidFill>
                  <a:srgbClr val="B9BDD0"/>
                </a:solidFill>
                <a:latin typeface="Calibri" pitchFamily="34" charset="0"/>
                <a:ea typeface="Calibri" pitchFamily="34" charset="-122"/>
                <a:cs typeface="Calibri" pitchFamily="34" charset="-120"/>
              </a:rPr>
              <a:t>Jumlah neuron per lapisan. Keduanya adalah hyperparameter yang Anda tentukan.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91B33"/>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7C6BF0"/>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2FA890"/>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5FD9C2"/>
                </a:solidFill>
                <a:latin typeface="Calibri" pitchFamily="34" charset="0"/>
                <a:ea typeface="Calibri" pitchFamily="34" charset="-122"/>
                <a:cs typeface="Calibri" pitchFamily="34" charset="-120"/>
              </a:rPr>
              <a:t>BAGIAN 2</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Fungsi Aktivasi</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9BDD0"/>
                </a:solidFill>
                <a:latin typeface="Calibri" pitchFamily="34" charset="0"/>
                <a:ea typeface="Calibri" pitchFamily="34" charset="-122"/>
                <a:cs typeface="Calibri" pitchFamily="34" charset="-120"/>
              </a:rPr>
              <a:t>Satu-satunya bagian yang membuat kedalaman berarti</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B80A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ALASAN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Tanpa aktivasi, kedalaman tidak ada gunanya</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94360" y="1280160"/>
            <a:ext cx="11002975" cy="1371600"/>
          </a:xfrm>
          <a:prstGeom prst="roundRect">
            <a:avLst>
              <a:gd name="adj" fmla="val 6000"/>
            </a:avLst>
          </a:prstGeom>
          <a:solidFill>
            <a:srgbClr val="FDEEE7"/>
          </a:solidFill>
          <a:ln w="12700">
            <a:solidFill>
              <a:srgbClr val="F6D2C1"/>
            </a:solidFill>
            <a:prstDash val="solid"/>
          </a:ln>
          <a:effectLst>
            <a:outerShdw sx="100000" sy="100000" kx="0" ky="0" algn="bl" rotWithShape="0" blurRad="101600" dist="508" dir="5400000">
              <a:srgbClr val="AEB2C2">
                <a:alpha val="30000"/>
              </a:srgbClr>
            </a:outerShdw>
          </a:effectLst>
        </p:spPr>
      </p:sp>
      <p:sp>
        <p:nvSpPr>
          <p:cNvPr id="6" name="Text 4"/>
          <p:cNvSpPr txBox="1"/>
          <p:nvPr/>
        </p:nvSpPr>
        <p:spPr>
          <a:xfrm>
            <a:off x="1005840" y="1481328"/>
            <a:ext cx="10180015" cy="1005840"/>
          </a:xfrm>
          <a:prstGeom prst="rect">
            <a:avLst/>
          </a:prstGeom>
          <a:noFill/>
          <a:ln/>
        </p:spPr>
        <p:txBody>
          <a:bodyPr wrap="square" lIns="0" tIns="0" rIns="0" bIns="0" rtlCol="0" anchor="t"/>
          <a:lstStyle/>
          <a:p>
            <a:pPr algn="l" indent="0" marL="0">
              <a:lnSpc>
                <a:spcPct val="130000"/>
              </a:lnSpc>
              <a:buNone/>
            </a:pPr>
            <a:r>
              <a:rPr lang="en-US" sz="1550" b="1" dirty="0">
                <a:solidFill>
                  <a:srgbClr val="A34A1E"/>
                </a:solidFill>
                <a:latin typeface="Calibri" pitchFamily="34" charset="0"/>
                <a:ea typeface="Calibri" pitchFamily="34" charset="-122"/>
                <a:cs typeface="Calibri" pitchFamily="34" charset="-120"/>
              </a:rPr>
              <a:t>Bayangkan sebuah jaringan sepuluh lapis tanpa fungsi aktivasi — setiap neuron hanya menghitung w·x + b lalu meneruskannya apa adanya. Gabungan sepuluh operasi linier tetaplah satu operasi linier. Jaringan sepuluh lapis itu persis sama kemampuannya dengan satu lapis.</a:t>
            </a:r>
            <a:endParaRPr lang="en-US" sz="1550" dirty="0"/>
          </a:p>
        </p:txBody>
      </p:sp>
      <p:sp>
        <p:nvSpPr>
          <p:cNvPr id="7" name="Shape 5"/>
          <p:cNvSpPr/>
          <p:nvPr/>
        </p:nvSpPr>
        <p:spPr>
          <a:xfrm>
            <a:off x="594360" y="2834640"/>
            <a:ext cx="5303520" cy="2514600"/>
          </a:xfrm>
          <a:prstGeom prst="roundRect">
            <a:avLst>
              <a:gd name="adj" fmla="val 3273"/>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8" name="Shape 6"/>
          <p:cNvSpPr/>
          <p:nvPr/>
        </p:nvSpPr>
        <p:spPr>
          <a:xfrm>
            <a:off x="594360" y="2834640"/>
            <a:ext cx="5303520" cy="640080"/>
          </a:xfrm>
          <a:prstGeom prst="roundRect">
            <a:avLst>
              <a:gd name="adj" fmla="val 12857"/>
            </a:avLst>
          </a:prstGeom>
          <a:solidFill>
            <a:srgbClr val="9BA0B5"/>
          </a:solidFill>
          <a:ln w="12700">
            <a:solidFill>
              <a:srgbClr val="333333"/>
            </a:solidFill>
            <a:prstDash val="solid"/>
          </a:ln>
        </p:spPr>
      </p:sp>
      <p:sp>
        <p:nvSpPr>
          <p:cNvPr id="9" name="Text 7"/>
          <p:cNvSpPr txBox="1"/>
          <p:nvPr/>
        </p:nvSpPr>
        <p:spPr>
          <a:xfrm>
            <a:off x="594360" y="2834640"/>
            <a:ext cx="530352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Tanpa aktivasi</a:t>
            </a:r>
            <a:endParaRPr lang="en-US" sz="1900" dirty="0"/>
          </a:p>
        </p:txBody>
      </p:sp>
      <p:sp>
        <p:nvSpPr>
          <p:cNvPr id="10" name="Text 8"/>
          <p:cNvSpPr txBox="1"/>
          <p:nvPr/>
        </p:nvSpPr>
        <p:spPr>
          <a:xfrm>
            <a:off x="1005840" y="3657600"/>
            <a:ext cx="4572000" cy="868680"/>
          </a:xfrm>
          <a:prstGeom prst="rect">
            <a:avLst/>
          </a:prstGeom>
          <a:noFill/>
          <a:ln/>
        </p:spPr>
        <p:txBody>
          <a:bodyPr wrap="square" lIns="0" tIns="0" rIns="0" bIns="0" rtlCol="0" anchor="t"/>
          <a:lstStyle/>
          <a:p>
            <a:pPr algn="l" indent="0" marL="0">
              <a:lnSpc>
                <a:spcPct val="135000"/>
              </a:lnSpc>
              <a:buNone/>
            </a:pPr>
            <a:r>
              <a:rPr lang="en-US" sz="1300" dirty="0">
                <a:solidFill>
                  <a:srgbClr val="191B33"/>
                </a:solidFill>
                <a:latin typeface="Courier New" pitchFamily="34" charset="0"/>
                <a:ea typeface="Courier New" pitchFamily="34" charset="-122"/>
                <a:cs typeface="Courier New" pitchFamily="34" charset="-120"/>
              </a:rPr>
              <a:t>Lapis 1 → linier</a:t>
            </a:r>
            <a:endParaRPr lang="en-US" sz="1300" dirty="0"/>
          </a:p>
          <a:p>
            <a:pPr algn="l" indent="0" marL="0">
              <a:lnSpc>
                <a:spcPct val="135000"/>
              </a:lnSpc>
              <a:buNone/>
            </a:pPr>
            <a:r>
              <a:rPr lang="en-US" sz="1300" dirty="0">
                <a:solidFill>
                  <a:srgbClr val="191B33"/>
                </a:solidFill>
                <a:latin typeface="Courier New" pitchFamily="34" charset="0"/>
                <a:ea typeface="Courier New" pitchFamily="34" charset="-122"/>
                <a:cs typeface="Courier New" pitchFamily="34" charset="-120"/>
              </a:rPr>
              <a:t>Lapis 2 → linier</a:t>
            </a:r>
            <a:endParaRPr lang="en-US" sz="1300" dirty="0"/>
          </a:p>
          <a:p>
            <a:pPr algn="l" indent="0" marL="0">
              <a:lnSpc>
                <a:spcPct val="135000"/>
              </a:lnSpc>
              <a:buNone/>
            </a:pPr>
            <a:r>
              <a:rPr lang="en-US" sz="1300" dirty="0">
                <a:solidFill>
                  <a:srgbClr val="191B33"/>
                </a:solidFill>
                <a:latin typeface="Courier New" pitchFamily="34" charset="0"/>
                <a:ea typeface="Courier New" pitchFamily="34" charset="-122"/>
                <a:cs typeface="Courier New" pitchFamily="34" charset="-120"/>
              </a:rPr>
              <a:t>Lapis 10 → tetap linier</a:t>
            </a:r>
            <a:endParaRPr lang="en-US" sz="1300" dirty="0"/>
          </a:p>
        </p:txBody>
      </p:sp>
      <p:sp>
        <p:nvSpPr>
          <p:cNvPr id="11" name="Text 9"/>
          <p:cNvSpPr txBox="1"/>
          <p:nvPr/>
        </p:nvSpPr>
        <p:spPr>
          <a:xfrm>
            <a:off x="1005840" y="4617720"/>
            <a:ext cx="4572000" cy="640080"/>
          </a:xfrm>
          <a:prstGeom prst="rect">
            <a:avLst/>
          </a:prstGeom>
          <a:noFill/>
          <a:ln/>
        </p:spPr>
        <p:txBody>
          <a:bodyPr wrap="square" lIns="0" tIns="0" rIns="0" bIns="0" rtlCol="0" anchor="t"/>
          <a:lstStyle/>
          <a:p>
            <a:pPr algn="l" indent="0" marL="0">
              <a:lnSpc>
                <a:spcPct val="125000"/>
              </a:lnSpc>
              <a:buNone/>
            </a:pPr>
            <a:r>
              <a:rPr lang="en-US" sz="1350" dirty="0">
                <a:solidFill>
                  <a:srgbClr val="1A1C2E"/>
                </a:solidFill>
                <a:latin typeface="Calibri" pitchFamily="34" charset="0"/>
                <a:ea typeface="Calibri" pitchFamily="34" charset="-122"/>
                <a:cs typeface="Calibri" pitchFamily="34" charset="-120"/>
              </a:rPr>
              <a:t>Batas keputusan tetap garis lurus. Menambah lapisan hanya membuang waktu komputasi.</a:t>
            </a:r>
            <a:endParaRPr lang="en-US" sz="1350" dirty="0"/>
          </a:p>
        </p:txBody>
      </p:sp>
      <p:sp>
        <p:nvSpPr>
          <p:cNvPr id="12" name="Shape 10"/>
          <p:cNvSpPr/>
          <p:nvPr/>
        </p:nvSpPr>
        <p:spPr>
          <a:xfrm>
            <a:off x="6263640" y="2834640"/>
            <a:ext cx="5303520" cy="2514600"/>
          </a:xfrm>
          <a:prstGeom prst="roundRect">
            <a:avLst>
              <a:gd name="adj" fmla="val 3273"/>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3" name="Shape 11"/>
          <p:cNvSpPr/>
          <p:nvPr/>
        </p:nvSpPr>
        <p:spPr>
          <a:xfrm>
            <a:off x="6263640" y="2834640"/>
            <a:ext cx="5303520" cy="640080"/>
          </a:xfrm>
          <a:prstGeom prst="roundRect">
            <a:avLst>
              <a:gd name="adj" fmla="val 12857"/>
            </a:avLst>
          </a:prstGeom>
          <a:solidFill>
            <a:srgbClr val="7C6BF0"/>
          </a:solidFill>
          <a:ln w="12700">
            <a:solidFill>
              <a:srgbClr val="333333"/>
            </a:solidFill>
            <a:prstDash val="solid"/>
          </a:ln>
        </p:spPr>
      </p:sp>
      <p:sp>
        <p:nvSpPr>
          <p:cNvPr id="14" name="Text 12"/>
          <p:cNvSpPr txBox="1"/>
          <p:nvPr/>
        </p:nvSpPr>
        <p:spPr>
          <a:xfrm>
            <a:off x="6263640" y="2834640"/>
            <a:ext cx="530352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Dengan aktivasi</a:t>
            </a:r>
            <a:endParaRPr lang="en-US" sz="1900" dirty="0"/>
          </a:p>
        </p:txBody>
      </p:sp>
      <p:sp>
        <p:nvSpPr>
          <p:cNvPr id="15" name="Text 13"/>
          <p:cNvSpPr txBox="1"/>
          <p:nvPr/>
        </p:nvSpPr>
        <p:spPr>
          <a:xfrm>
            <a:off x="6675120" y="3657600"/>
            <a:ext cx="4572000" cy="868680"/>
          </a:xfrm>
          <a:prstGeom prst="rect">
            <a:avLst/>
          </a:prstGeom>
          <a:noFill/>
          <a:ln/>
        </p:spPr>
        <p:txBody>
          <a:bodyPr wrap="square" lIns="0" tIns="0" rIns="0" bIns="0" rtlCol="0" anchor="t"/>
          <a:lstStyle/>
          <a:p>
            <a:pPr algn="l" indent="0" marL="0">
              <a:lnSpc>
                <a:spcPct val="135000"/>
              </a:lnSpc>
              <a:buNone/>
            </a:pPr>
            <a:r>
              <a:rPr lang="en-US" sz="1300" dirty="0">
                <a:solidFill>
                  <a:srgbClr val="191B33"/>
                </a:solidFill>
                <a:latin typeface="Courier New" pitchFamily="34" charset="0"/>
                <a:ea typeface="Courier New" pitchFamily="34" charset="-122"/>
                <a:cs typeface="Courier New" pitchFamily="34" charset="-120"/>
              </a:rPr>
              <a:t>Lapis 1 → linier lalu ditekuk</a:t>
            </a:r>
            <a:endParaRPr lang="en-US" sz="1300" dirty="0"/>
          </a:p>
          <a:p>
            <a:pPr algn="l" indent="0" marL="0">
              <a:lnSpc>
                <a:spcPct val="135000"/>
              </a:lnSpc>
              <a:buNone/>
            </a:pPr>
            <a:r>
              <a:rPr lang="en-US" sz="1300" dirty="0">
                <a:solidFill>
                  <a:srgbClr val="191B33"/>
                </a:solidFill>
                <a:latin typeface="Courier New" pitchFamily="34" charset="0"/>
                <a:ea typeface="Courier New" pitchFamily="34" charset="-122"/>
                <a:cs typeface="Courier New" pitchFamily="34" charset="-120"/>
              </a:rPr>
              <a:t>Lapis 2 → ditekuk lagi</a:t>
            </a:r>
            <a:endParaRPr lang="en-US" sz="1300" dirty="0"/>
          </a:p>
          <a:p>
            <a:pPr algn="l" indent="0" marL="0">
              <a:lnSpc>
                <a:spcPct val="135000"/>
              </a:lnSpc>
              <a:buNone/>
            </a:pPr>
            <a:r>
              <a:rPr lang="en-US" sz="1300" dirty="0">
                <a:solidFill>
                  <a:srgbClr val="191B33"/>
                </a:solidFill>
                <a:latin typeface="Courier New" pitchFamily="34" charset="0"/>
                <a:ea typeface="Courier New" pitchFamily="34" charset="-122"/>
                <a:cs typeface="Courier New" pitchFamily="34" charset="-120"/>
              </a:rPr>
              <a:t>Lapis 10 → bentuk sangat rumit</a:t>
            </a:r>
            <a:endParaRPr lang="en-US" sz="1300" dirty="0"/>
          </a:p>
        </p:txBody>
      </p:sp>
      <p:sp>
        <p:nvSpPr>
          <p:cNvPr id="16" name="Text 14"/>
          <p:cNvSpPr txBox="1"/>
          <p:nvPr/>
        </p:nvSpPr>
        <p:spPr>
          <a:xfrm>
            <a:off x="6675120" y="4617720"/>
            <a:ext cx="4572000" cy="640080"/>
          </a:xfrm>
          <a:prstGeom prst="rect">
            <a:avLst/>
          </a:prstGeom>
          <a:noFill/>
          <a:ln/>
        </p:spPr>
        <p:txBody>
          <a:bodyPr wrap="square" lIns="0" tIns="0" rIns="0" bIns="0" rtlCol="0" anchor="t"/>
          <a:lstStyle/>
          <a:p>
            <a:pPr algn="l" indent="0" marL="0">
              <a:lnSpc>
                <a:spcPct val="125000"/>
              </a:lnSpc>
              <a:buNone/>
            </a:pPr>
            <a:r>
              <a:rPr lang="en-US" sz="1350" dirty="0">
                <a:solidFill>
                  <a:srgbClr val="1A1C2E"/>
                </a:solidFill>
                <a:latin typeface="Calibri" pitchFamily="34" charset="0"/>
                <a:ea typeface="Calibri" pitchFamily="34" charset="-122"/>
                <a:cs typeface="Calibri" pitchFamily="34" charset="-120"/>
              </a:rPr>
              <a:t>Setiap tekukan menambah kemampuan membentuk batas keputusan yang melengkung.</a:t>
            </a:r>
            <a:endParaRPr lang="en-US" sz="1350" dirty="0"/>
          </a:p>
        </p:txBody>
      </p:sp>
      <p:sp>
        <p:nvSpPr>
          <p:cNvPr id="17" name="Text 15"/>
          <p:cNvSpPr txBox="1"/>
          <p:nvPr/>
        </p:nvSpPr>
        <p:spPr>
          <a:xfrm>
            <a:off x="594360" y="5532120"/>
            <a:ext cx="11002975" cy="365760"/>
          </a:xfrm>
          <a:prstGeom prst="rect">
            <a:avLst/>
          </a:prstGeom>
          <a:noFill/>
          <a:ln/>
        </p:spPr>
        <p:txBody>
          <a:bodyPr wrap="square" lIns="0" tIns="0" rIns="0" bIns="0" rtlCol="0" anchor="t"/>
          <a:lstStyle/>
          <a:p>
            <a:pPr algn="ctr" indent="0" marL="0">
              <a:buNone/>
            </a:pPr>
            <a:r>
              <a:rPr lang="en-US" sz="1500" b="1" dirty="0">
                <a:solidFill>
                  <a:srgbClr val="7C6BF0"/>
                </a:solidFill>
                <a:latin typeface="Calibri" pitchFamily="34" charset="0"/>
                <a:ea typeface="Calibri" pitchFamily="34" charset="-122"/>
                <a:cs typeface="Calibri" pitchFamily="34" charset="-120"/>
              </a:rPr>
              <a:t>Fungsi aktivasi bukan penyempurna. Ia satu-satunya alasan jaringan berlapis punya arti.</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TIGA PILIHAN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Sigmoid, tanh, dan ReLU</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10</a:t>
            </a:r>
            <a:endParaRPr lang="en-US" sz="1000" dirty="0"/>
          </a:p>
        </p:txBody>
      </p:sp>
      <p:graphicFrame>
        <p:nvGraphicFramePr>
          <p:cNvPr id="5" name="Chart 0" descr=""/>
          <p:cNvGraphicFramePr/>
          <p:nvPr/>
        </p:nvGraphicFramePr>
        <p:xfrm>
          <a:off x="594360" y="1325880"/>
          <a:ext cx="5760720" cy="3291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720840" y="1325880"/>
            <a:ext cx="4846320" cy="1005840"/>
          </a:xfrm>
          <a:prstGeom prst="roundRect">
            <a:avLst>
              <a:gd name="adj" fmla="val 8182"/>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7" name="Shape 4"/>
          <p:cNvSpPr/>
          <p:nvPr/>
        </p:nvSpPr>
        <p:spPr>
          <a:xfrm>
            <a:off x="6995160" y="1490472"/>
            <a:ext cx="411480" cy="45720"/>
          </a:xfrm>
          <a:prstGeom prst="rect">
            <a:avLst/>
          </a:prstGeom>
          <a:solidFill>
            <a:srgbClr val="9BA0B5"/>
          </a:solidFill>
          <a:ln w="12700">
            <a:solidFill>
              <a:srgbClr val="333333"/>
            </a:solidFill>
            <a:prstDash val="solid"/>
          </a:ln>
        </p:spPr>
      </p:sp>
      <p:sp>
        <p:nvSpPr>
          <p:cNvPr id="8" name="Text 5"/>
          <p:cNvSpPr txBox="1"/>
          <p:nvPr/>
        </p:nvSpPr>
        <p:spPr>
          <a:xfrm>
            <a:off x="6995160" y="1600200"/>
            <a:ext cx="1828800" cy="274320"/>
          </a:xfrm>
          <a:prstGeom prst="rect">
            <a:avLst/>
          </a:prstGeom>
          <a:noFill/>
          <a:ln/>
        </p:spPr>
        <p:txBody>
          <a:bodyPr wrap="square" lIns="0" tIns="0" rIns="0" bIns="0" rtlCol="0" anchor="t"/>
          <a:lstStyle/>
          <a:p>
            <a:pPr algn="l" indent="0" marL="0">
              <a:buNone/>
            </a:pPr>
            <a:r>
              <a:rPr lang="en-US" sz="1700" b="1" dirty="0">
                <a:solidFill>
                  <a:srgbClr val="191B33"/>
                </a:solidFill>
                <a:latin typeface="Cambria" pitchFamily="34" charset="0"/>
                <a:ea typeface="Cambria" pitchFamily="34" charset="-122"/>
                <a:cs typeface="Cambria" pitchFamily="34" charset="-120"/>
              </a:rPr>
              <a:t>Sigmoid</a:t>
            </a:r>
            <a:endParaRPr lang="en-US" sz="1700" dirty="0"/>
          </a:p>
        </p:txBody>
      </p:sp>
      <p:sp>
        <p:nvSpPr>
          <p:cNvPr id="9" name="Text 6"/>
          <p:cNvSpPr txBox="1"/>
          <p:nvPr/>
        </p:nvSpPr>
        <p:spPr>
          <a:xfrm>
            <a:off x="8869680" y="1618488"/>
            <a:ext cx="2468880" cy="256032"/>
          </a:xfrm>
          <a:prstGeom prst="rect">
            <a:avLst/>
          </a:prstGeom>
          <a:noFill/>
          <a:ln/>
        </p:spPr>
        <p:txBody>
          <a:bodyPr wrap="square" lIns="0" tIns="0" rIns="0" bIns="0" rtlCol="0" anchor="t"/>
          <a:lstStyle/>
          <a:p>
            <a:pPr algn="r" indent="0" marL="0">
              <a:buNone/>
            </a:pPr>
            <a:r>
              <a:rPr lang="en-US" sz="1150" dirty="0">
                <a:solidFill>
                  <a:srgbClr val="9BA0B5"/>
                </a:solidFill>
                <a:latin typeface="Courier New" pitchFamily="34" charset="0"/>
                <a:ea typeface="Courier New" pitchFamily="34" charset="-122"/>
                <a:cs typeface="Courier New" pitchFamily="34" charset="-120"/>
              </a:rPr>
              <a:t>0 sampai 1</a:t>
            </a:r>
            <a:endParaRPr lang="en-US" sz="1150" dirty="0"/>
          </a:p>
        </p:txBody>
      </p:sp>
      <p:sp>
        <p:nvSpPr>
          <p:cNvPr id="10" name="Text 7"/>
          <p:cNvSpPr txBox="1"/>
          <p:nvPr/>
        </p:nvSpPr>
        <p:spPr>
          <a:xfrm>
            <a:off x="6995160" y="1911096"/>
            <a:ext cx="4297680" cy="365760"/>
          </a:xfrm>
          <a:prstGeom prst="rect">
            <a:avLst/>
          </a:prstGeom>
          <a:noFill/>
          <a:ln/>
        </p:spPr>
        <p:txBody>
          <a:bodyPr wrap="square" lIns="0" tIns="0" rIns="0" bIns="0" rtlCol="0" anchor="t"/>
          <a:lstStyle/>
          <a:p>
            <a:pPr algn="l" indent="0" marL="0">
              <a:lnSpc>
                <a:spcPct val="115000"/>
              </a:lnSpc>
              <a:buNone/>
            </a:pPr>
            <a:r>
              <a:rPr lang="en-US" sz="1200" dirty="0">
                <a:solidFill>
                  <a:srgbClr val="1A1C2E"/>
                </a:solidFill>
                <a:latin typeface="Calibri" pitchFamily="34" charset="0"/>
                <a:ea typeface="Calibri" pitchFamily="34" charset="-122"/>
                <a:cs typeface="Calibri" pitchFamily="34" charset="-120"/>
              </a:rPr>
              <a:t>Menjenuh di kedua ujung — gradien nyaris nol sehingga pelatihan macet.</a:t>
            </a:r>
            <a:endParaRPr lang="en-US" sz="1200" dirty="0"/>
          </a:p>
        </p:txBody>
      </p:sp>
      <p:sp>
        <p:nvSpPr>
          <p:cNvPr id="11" name="Shape 8"/>
          <p:cNvSpPr/>
          <p:nvPr/>
        </p:nvSpPr>
        <p:spPr>
          <a:xfrm>
            <a:off x="6720840" y="2459736"/>
            <a:ext cx="4846320" cy="1005840"/>
          </a:xfrm>
          <a:prstGeom prst="roundRect">
            <a:avLst>
              <a:gd name="adj" fmla="val 8182"/>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2" name="Shape 9"/>
          <p:cNvSpPr/>
          <p:nvPr/>
        </p:nvSpPr>
        <p:spPr>
          <a:xfrm>
            <a:off x="6995160" y="2624328"/>
            <a:ext cx="411480" cy="45720"/>
          </a:xfrm>
          <a:prstGeom prst="rect">
            <a:avLst/>
          </a:prstGeom>
          <a:solidFill>
            <a:srgbClr val="2FA890"/>
          </a:solidFill>
          <a:ln w="12700">
            <a:solidFill>
              <a:srgbClr val="333333"/>
            </a:solidFill>
            <a:prstDash val="solid"/>
          </a:ln>
        </p:spPr>
      </p:sp>
      <p:sp>
        <p:nvSpPr>
          <p:cNvPr id="13" name="Text 10"/>
          <p:cNvSpPr txBox="1"/>
          <p:nvPr/>
        </p:nvSpPr>
        <p:spPr>
          <a:xfrm>
            <a:off x="6995160" y="2734056"/>
            <a:ext cx="1828800" cy="274320"/>
          </a:xfrm>
          <a:prstGeom prst="rect">
            <a:avLst/>
          </a:prstGeom>
          <a:noFill/>
          <a:ln/>
        </p:spPr>
        <p:txBody>
          <a:bodyPr wrap="square" lIns="0" tIns="0" rIns="0" bIns="0" rtlCol="0" anchor="t"/>
          <a:lstStyle/>
          <a:p>
            <a:pPr algn="l" indent="0" marL="0">
              <a:buNone/>
            </a:pPr>
            <a:r>
              <a:rPr lang="en-US" sz="1700" b="1" dirty="0">
                <a:solidFill>
                  <a:srgbClr val="191B33"/>
                </a:solidFill>
                <a:latin typeface="Cambria" pitchFamily="34" charset="0"/>
                <a:ea typeface="Cambria" pitchFamily="34" charset="-122"/>
                <a:cs typeface="Cambria" pitchFamily="34" charset="-120"/>
              </a:rPr>
              <a:t>Tanh</a:t>
            </a:r>
            <a:endParaRPr lang="en-US" sz="1700" dirty="0"/>
          </a:p>
        </p:txBody>
      </p:sp>
      <p:sp>
        <p:nvSpPr>
          <p:cNvPr id="14" name="Text 11"/>
          <p:cNvSpPr txBox="1"/>
          <p:nvPr/>
        </p:nvSpPr>
        <p:spPr>
          <a:xfrm>
            <a:off x="8869680" y="2752344"/>
            <a:ext cx="2468880" cy="256032"/>
          </a:xfrm>
          <a:prstGeom prst="rect">
            <a:avLst/>
          </a:prstGeom>
          <a:noFill/>
          <a:ln/>
        </p:spPr>
        <p:txBody>
          <a:bodyPr wrap="square" lIns="0" tIns="0" rIns="0" bIns="0" rtlCol="0" anchor="t"/>
          <a:lstStyle/>
          <a:p>
            <a:pPr algn="r" indent="0" marL="0">
              <a:buNone/>
            </a:pPr>
            <a:r>
              <a:rPr lang="en-US" sz="1150" dirty="0">
                <a:solidFill>
                  <a:srgbClr val="2FA890"/>
                </a:solidFill>
                <a:latin typeface="Courier New" pitchFamily="34" charset="0"/>
                <a:ea typeface="Courier New" pitchFamily="34" charset="-122"/>
                <a:cs typeface="Courier New" pitchFamily="34" charset="-120"/>
              </a:rPr>
              <a:t>−1 sampai 1</a:t>
            </a:r>
            <a:endParaRPr lang="en-US" sz="1150" dirty="0"/>
          </a:p>
        </p:txBody>
      </p:sp>
      <p:sp>
        <p:nvSpPr>
          <p:cNvPr id="15" name="Text 12"/>
          <p:cNvSpPr txBox="1"/>
          <p:nvPr/>
        </p:nvSpPr>
        <p:spPr>
          <a:xfrm>
            <a:off x="6995160" y="3044952"/>
            <a:ext cx="4297680" cy="365760"/>
          </a:xfrm>
          <a:prstGeom prst="rect">
            <a:avLst/>
          </a:prstGeom>
          <a:noFill/>
          <a:ln/>
        </p:spPr>
        <p:txBody>
          <a:bodyPr wrap="square" lIns="0" tIns="0" rIns="0" bIns="0" rtlCol="0" anchor="t"/>
          <a:lstStyle/>
          <a:p>
            <a:pPr algn="l" indent="0" marL="0">
              <a:lnSpc>
                <a:spcPct val="115000"/>
              </a:lnSpc>
              <a:buNone/>
            </a:pPr>
            <a:r>
              <a:rPr lang="en-US" sz="1200" dirty="0">
                <a:solidFill>
                  <a:srgbClr val="1A1C2E"/>
                </a:solidFill>
                <a:latin typeface="Calibri" pitchFamily="34" charset="0"/>
                <a:ea typeface="Calibri" pitchFamily="34" charset="-122"/>
                <a:cs typeface="Calibri" pitchFamily="34" charset="-120"/>
              </a:rPr>
              <a:t>Berpusat di nol sehingga lebih cepat dari sigmoid, tetapi tetap menjenuh.</a:t>
            </a:r>
            <a:endParaRPr lang="en-US" sz="1200" dirty="0"/>
          </a:p>
        </p:txBody>
      </p:sp>
      <p:sp>
        <p:nvSpPr>
          <p:cNvPr id="16" name="Shape 13"/>
          <p:cNvSpPr/>
          <p:nvPr/>
        </p:nvSpPr>
        <p:spPr>
          <a:xfrm>
            <a:off x="6720840" y="3593592"/>
            <a:ext cx="4846320" cy="1005840"/>
          </a:xfrm>
          <a:prstGeom prst="roundRect">
            <a:avLst>
              <a:gd name="adj" fmla="val 8182"/>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7" name="Shape 14"/>
          <p:cNvSpPr/>
          <p:nvPr/>
        </p:nvSpPr>
        <p:spPr>
          <a:xfrm>
            <a:off x="6995160" y="3758184"/>
            <a:ext cx="411480" cy="45720"/>
          </a:xfrm>
          <a:prstGeom prst="rect">
            <a:avLst/>
          </a:prstGeom>
          <a:solidFill>
            <a:srgbClr val="7C6BF0"/>
          </a:solidFill>
          <a:ln w="12700">
            <a:solidFill>
              <a:srgbClr val="333333"/>
            </a:solidFill>
            <a:prstDash val="solid"/>
          </a:ln>
        </p:spPr>
      </p:sp>
      <p:sp>
        <p:nvSpPr>
          <p:cNvPr id="18" name="Text 15"/>
          <p:cNvSpPr txBox="1"/>
          <p:nvPr/>
        </p:nvSpPr>
        <p:spPr>
          <a:xfrm>
            <a:off x="6995160" y="3867912"/>
            <a:ext cx="1828800" cy="274320"/>
          </a:xfrm>
          <a:prstGeom prst="rect">
            <a:avLst/>
          </a:prstGeom>
          <a:noFill/>
          <a:ln/>
        </p:spPr>
        <p:txBody>
          <a:bodyPr wrap="square" lIns="0" tIns="0" rIns="0" bIns="0" rtlCol="0" anchor="t"/>
          <a:lstStyle/>
          <a:p>
            <a:pPr algn="l" indent="0" marL="0">
              <a:buNone/>
            </a:pPr>
            <a:r>
              <a:rPr lang="en-US" sz="1700" b="1" dirty="0">
                <a:solidFill>
                  <a:srgbClr val="191B33"/>
                </a:solidFill>
                <a:latin typeface="Cambria" pitchFamily="34" charset="0"/>
                <a:ea typeface="Cambria" pitchFamily="34" charset="-122"/>
                <a:cs typeface="Cambria" pitchFamily="34" charset="-120"/>
              </a:rPr>
              <a:t>ReLU</a:t>
            </a:r>
            <a:endParaRPr lang="en-US" sz="1700" dirty="0"/>
          </a:p>
        </p:txBody>
      </p:sp>
      <p:sp>
        <p:nvSpPr>
          <p:cNvPr id="19" name="Text 16"/>
          <p:cNvSpPr txBox="1"/>
          <p:nvPr/>
        </p:nvSpPr>
        <p:spPr>
          <a:xfrm>
            <a:off x="8869680" y="3886200"/>
            <a:ext cx="2468880" cy="256032"/>
          </a:xfrm>
          <a:prstGeom prst="rect">
            <a:avLst/>
          </a:prstGeom>
          <a:noFill/>
          <a:ln/>
        </p:spPr>
        <p:txBody>
          <a:bodyPr wrap="square" lIns="0" tIns="0" rIns="0" bIns="0" rtlCol="0" anchor="t"/>
          <a:lstStyle/>
          <a:p>
            <a:pPr algn="r" indent="0" marL="0">
              <a:buNone/>
            </a:pPr>
            <a:r>
              <a:rPr lang="en-US" sz="1150" dirty="0">
                <a:solidFill>
                  <a:srgbClr val="7C6BF0"/>
                </a:solidFill>
                <a:latin typeface="Courier New" pitchFamily="34" charset="0"/>
                <a:ea typeface="Courier New" pitchFamily="34" charset="-122"/>
                <a:cs typeface="Courier New" pitchFamily="34" charset="-120"/>
              </a:rPr>
              <a:t>0 sampai tak terhingga</a:t>
            </a:r>
            <a:endParaRPr lang="en-US" sz="1150" dirty="0"/>
          </a:p>
        </p:txBody>
      </p:sp>
      <p:sp>
        <p:nvSpPr>
          <p:cNvPr id="20" name="Text 17"/>
          <p:cNvSpPr txBox="1"/>
          <p:nvPr/>
        </p:nvSpPr>
        <p:spPr>
          <a:xfrm>
            <a:off x="6995160" y="4178808"/>
            <a:ext cx="4297680" cy="365760"/>
          </a:xfrm>
          <a:prstGeom prst="rect">
            <a:avLst/>
          </a:prstGeom>
          <a:noFill/>
          <a:ln/>
        </p:spPr>
        <p:txBody>
          <a:bodyPr wrap="square" lIns="0" tIns="0" rIns="0" bIns="0" rtlCol="0" anchor="t"/>
          <a:lstStyle/>
          <a:p>
            <a:pPr algn="l" indent="0" marL="0">
              <a:lnSpc>
                <a:spcPct val="115000"/>
              </a:lnSpc>
              <a:buNone/>
            </a:pPr>
            <a:r>
              <a:rPr lang="en-US" sz="1200" dirty="0">
                <a:solidFill>
                  <a:srgbClr val="1A1C2E"/>
                </a:solidFill>
                <a:latin typeface="Calibri" pitchFamily="34" charset="0"/>
                <a:ea typeface="Calibri" pitchFamily="34" charset="-122"/>
                <a:cs typeface="Calibri" pitchFamily="34" charset="-120"/>
              </a:rPr>
              <a:t>Tidak menjenuh di sisi positif. Murah dihitung dan menjadi pilihan bawaan.</a:t>
            </a:r>
            <a:endParaRPr lang="en-US" sz="1200" dirty="0"/>
          </a:p>
        </p:txBody>
      </p:sp>
      <p:sp>
        <p:nvSpPr>
          <p:cNvPr id="21" name="Shape 18"/>
          <p:cNvSpPr/>
          <p:nvPr/>
        </p:nvSpPr>
        <p:spPr>
          <a:xfrm>
            <a:off x="594360" y="4892040"/>
            <a:ext cx="11002975" cy="960120"/>
          </a:xfrm>
          <a:prstGeom prst="roundRect">
            <a:avLst>
              <a:gd name="adj" fmla="val 8571"/>
            </a:avLst>
          </a:prstGeom>
          <a:solidFill>
            <a:srgbClr val="F0EDFC"/>
          </a:solidFill>
          <a:ln w="12700">
            <a:solidFill>
              <a:srgbClr val="D9D2F7"/>
            </a:solidFill>
            <a:prstDash val="solid"/>
          </a:ln>
          <a:effectLst>
            <a:outerShdw sx="100000" sy="100000" kx="0" ky="0" algn="bl" rotWithShape="0" blurRad="101600" dist="508" dir="5400000">
              <a:srgbClr val="AEB2C2">
                <a:alpha val="30000"/>
              </a:srgbClr>
            </a:outerShdw>
          </a:effectLst>
        </p:spPr>
      </p:sp>
      <p:sp>
        <p:nvSpPr>
          <p:cNvPr id="22" name="Text 19"/>
          <p:cNvSpPr txBox="1"/>
          <p:nvPr/>
        </p:nvSpPr>
        <p:spPr>
          <a:xfrm>
            <a:off x="1005840" y="5074920"/>
            <a:ext cx="10180015" cy="640080"/>
          </a:xfrm>
          <a:prstGeom prst="rect">
            <a:avLst/>
          </a:prstGeom>
          <a:noFill/>
          <a:ln/>
        </p:spPr>
        <p:txBody>
          <a:bodyPr wrap="square" lIns="0" tIns="0" rIns="0" bIns="0" rtlCol="0" anchor="t"/>
          <a:lstStyle/>
          <a:p>
            <a:pPr algn="l" indent="0" marL="0">
              <a:lnSpc>
                <a:spcPct val="130000"/>
              </a:lnSpc>
              <a:buNone/>
            </a:pPr>
            <a:r>
              <a:rPr lang="en-US" sz="1350" dirty="0">
                <a:solidFill>
                  <a:srgbClr val="4A3B8C"/>
                </a:solidFill>
                <a:latin typeface="Calibri" pitchFamily="34" charset="0"/>
                <a:ea typeface="Calibri" pitchFamily="34" charset="-122"/>
                <a:cs typeface="Calibri" pitchFamily="34" charset="-120"/>
              </a:rPr>
              <a:t>Masalah gradien menghilang: pada sigmoid dan tanh, nilai z yang besar membuat gradien mendekati nol. Karena backpropagation mengalikan gradien antar-lapisan, jaringan dalam praktis berhenti belajar. ReLU tidak punya masalah itu di sisi positif — itulah alasan utama ia menggantikan keduanya.</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91B33"/>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5FD9C2"/>
                </a:solidFill>
                <a:latin typeface="Calibri" pitchFamily="34" charset="0"/>
                <a:ea typeface="Calibri" pitchFamily="34" charset="-122"/>
                <a:cs typeface="Calibri" pitchFamily="34" charset="-120"/>
              </a:rPr>
              <a:t>PANDUAN PRAKTIS</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Aktivasi mana untuk lapisan mana?</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B80A0"/>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94360" y="1371600"/>
            <a:ext cx="11002975" cy="1024128"/>
          </a:xfrm>
          <a:prstGeom prst="roundRect">
            <a:avLst>
              <a:gd name="adj" fmla="val 8036"/>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6" name="Text 4"/>
          <p:cNvSpPr txBox="1"/>
          <p:nvPr/>
        </p:nvSpPr>
        <p:spPr>
          <a:xfrm>
            <a:off x="960120" y="1517904"/>
            <a:ext cx="3291840" cy="731520"/>
          </a:xfrm>
          <a:prstGeom prst="rect">
            <a:avLst/>
          </a:prstGeom>
          <a:noFill/>
          <a:ln/>
        </p:spPr>
        <p:txBody>
          <a:bodyPr wrap="square" lIns="0" tIns="0" rIns="0" bIns="0" rtlCol="0" anchor="ctr"/>
          <a:lstStyle/>
          <a:p>
            <a:pPr algn="l" indent="0" marL="0">
              <a:lnSpc>
                <a:spcPct val="115000"/>
              </a:lnSpc>
              <a:buNone/>
            </a:pPr>
            <a:r>
              <a:rPr lang="en-US" sz="1450" b="1" dirty="0">
                <a:solidFill>
                  <a:srgbClr val="FFFFFF"/>
                </a:solidFill>
                <a:latin typeface="Calibri" pitchFamily="34" charset="0"/>
                <a:ea typeface="Calibri" pitchFamily="34" charset="-122"/>
                <a:cs typeface="Calibri" pitchFamily="34" charset="-120"/>
              </a:rPr>
              <a:t>Lapisan tersembunyi</a:t>
            </a:r>
            <a:endParaRPr lang="en-US" sz="1450" dirty="0"/>
          </a:p>
        </p:txBody>
      </p:sp>
      <p:sp>
        <p:nvSpPr>
          <p:cNvPr id="7" name="Shape 5"/>
          <p:cNvSpPr/>
          <p:nvPr/>
        </p:nvSpPr>
        <p:spPr>
          <a:xfrm>
            <a:off x="4434840" y="1627632"/>
            <a:ext cx="1920240" cy="502920"/>
          </a:xfrm>
          <a:prstGeom prst="roundRect">
            <a:avLst>
              <a:gd name="adj" fmla="val 10909"/>
            </a:avLst>
          </a:prstGeom>
          <a:solidFill>
            <a:srgbClr val="7C6BF0"/>
          </a:solidFill>
          <a:ln w="12700">
            <a:solidFill>
              <a:srgbClr val="333333"/>
            </a:solidFill>
            <a:prstDash val="solid"/>
          </a:ln>
        </p:spPr>
      </p:sp>
      <p:sp>
        <p:nvSpPr>
          <p:cNvPr id="8" name="Text 6"/>
          <p:cNvSpPr txBox="1"/>
          <p:nvPr/>
        </p:nvSpPr>
        <p:spPr>
          <a:xfrm>
            <a:off x="4434840" y="1627632"/>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ReLU</a:t>
            </a:r>
            <a:endParaRPr lang="en-US" sz="1400" dirty="0"/>
          </a:p>
        </p:txBody>
      </p:sp>
      <p:sp>
        <p:nvSpPr>
          <p:cNvPr id="9" name="Text 7"/>
          <p:cNvSpPr txBox="1"/>
          <p:nvPr/>
        </p:nvSpPr>
        <p:spPr>
          <a:xfrm>
            <a:off x="6629400" y="1499616"/>
            <a:ext cx="4892040" cy="777240"/>
          </a:xfrm>
          <a:prstGeom prst="rect">
            <a:avLst/>
          </a:prstGeom>
          <a:noFill/>
          <a:ln/>
        </p:spPr>
        <p:txBody>
          <a:bodyPr wrap="square" lIns="0" tIns="0" rIns="0" bIns="0" rtlCol="0" anchor="ctr"/>
          <a:lstStyle/>
          <a:p>
            <a:pPr algn="l" indent="0" marL="0">
              <a:lnSpc>
                <a:spcPct val="122000"/>
              </a:lnSpc>
              <a:buNone/>
            </a:pPr>
            <a:r>
              <a:rPr lang="en-US" sz="1300" dirty="0">
                <a:solidFill>
                  <a:srgbClr val="B9BDD0"/>
                </a:solidFill>
                <a:latin typeface="Calibri" pitchFamily="34" charset="0"/>
                <a:ea typeface="Calibri" pitchFamily="34" charset="-122"/>
                <a:cs typeface="Calibri" pitchFamily="34" charset="-120"/>
              </a:rPr>
              <a:t>Pilihan bawaan untuk hampir semua kasus. Cepat, sederhana, dan bekerja baik.</a:t>
            </a:r>
            <a:endParaRPr lang="en-US" sz="1300" dirty="0"/>
          </a:p>
        </p:txBody>
      </p:sp>
      <p:sp>
        <p:nvSpPr>
          <p:cNvPr id="10" name="Shape 8"/>
          <p:cNvSpPr/>
          <p:nvPr/>
        </p:nvSpPr>
        <p:spPr>
          <a:xfrm>
            <a:off x="594360" y="2542032"/>
            <a:ext cx="11002975" cy="1024128"/>
          </a:xfrm>
          <a:prstGeom prst="roundRect">
            <a:avLst>
              <a:gd name="adj" fmla="val 8036"/>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11" name="Text 9"/>
          <p:cNvSpPr txBox="1"/>
          <p:nvPr/>
        </p:nvSpPr>
        <p:spPr>
          <a:xfrm>
            <a:off x="960120" y="2688336"/>
            <a:ext cx="3291840" cy="731520"/>
          </a:xfrm>
          <a:prstGeom prst="rect">
            <a:avLst/>
          </a:prstGeom>
          <a:noFill/>
          <a:ln/>
        </p:spPr>
        <p:txBody>
          <a:bodyPr wrap="square" lIns="0" tIns="0" rIns="0" bIns="0" rtlCol="0" anchor="ctr"/>
          <a:lstStyle/>
          <a:p>
            <a:pPr algn="l" indent="0" marL="0">
              <a:lnSpc>
                <a:spcPct val="115000"/>
              </a:lnSpc>
              <a:buNone/>
            </a:pPr>
            <a:r>
              <a:rPr lang="en-US" sz="1450" b="1" dirty="0">
                <a:solidFill>
                  <a:srgbClr val="FFFFFF"/>
                </a:solidFill>
                <a:latin typeface="Calibri" pitchFamily="34" charset="0"/>
                <a:ea typeface="Calibri" pitchFamily="34" charset="-122"/>
                <a:cs typeface="Calibri" pitchFamily="34" charset="-120"/>
              </a:rPr>
              <a:t>Keluaran · klasifikasi biner</a:t>
            </a:r>
            <a:endParaRPr lang="en-US" sz="1450" dirty="0"/>
          </a:p>
        </p:txBody>
      </p:sp>
      <p:sp>
        <p:nvSpPr>
          <p:cNvPr id="12" name="Shape 10"/>
          <p:cNvSpPr/>
          <p:nvPr/>
        </p:nvSpPr>
        <p:spPr>
          <a:xfrm>
            <a:off x="4434840" y="2798064"/>
            <a:ext cx="1920240" cy="502920"/>
          </a:xfrm>
          <a:prstGeom prst="roundRect">
            <a:avLst>
              <a:gd name="adj" fmla="val 10909"/>
            </a:avLst>
          </a:prstGeom>
          <a:solidFill>
            <a:srgbClr val="2FA890"/>
          </a:solidFill>
          <a:ln w="12700">
            <a:solidFill>
              <a:srgbClr val="333333"/>
            </a:solidFill>
            <a:prstDash val="solid"/>
          </a:ln>
        </p:spPr>
      </p:sp>
      <p:sp>
        <p:nvSpPr>
          <p:cNvPr id="13" name="Text 11"/>
          <p:cNvSpPr txBox="1"/>
          <p:nvPr/>
        </p:nvSpPr>
        <p:spPr>
          <a:xfrm>
            <a:off x="4434840" y="2798064"/>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Sigmoid</a:t>
            </a:r>
            <a:endParaRPr lang="en-US" sz="1400" dirty="0"/>
          </a:p>
        </p:txBody>
      </p:sp>
      <p:sp>
        <p:nvSpPr>
          <p:cNvPr id="14" name="Text 12"/>
          <p:cNvSpPr txBox="1"/>
          <p:nvPr/>
        </p:nvSpPr>
        <p:spPr>
          <a:xfrm>
            <a:off x="6629400" y="2670048"/>
            <a:ext cx="4892040" cy="777240"/>
          </a:xfrm>
          <a:prstGeom prst="rect">
            <a:avLst/>
          </a:prstGeom>
          <a:noFill/>
          <a:ln/>
        </p:spPr>
        <p:txBody>
          <a:bodyPr wrap="square" lIns="0" tIns="0" rIns="0" bIns="0" rtlCol="0" anchor="ctr"/>
          <a:lstStyle/>
          <a:p>
            <a:pPr algn="l" indent="0" marL="0">
              <a:lnSpc>
                <a:spcPct val="122000"/>
              </a:lnSpc>
              <a:buNone/>
            </a:pPr>
            <a:r>
              <a:rPr lang="en-US" sz="1300" dirty="0">
                <a:solidFill>
                  <a:srgbClr val="B9BDD0"/>
                </a:solidFill>
                <a:latin typeface="Calibri" pitchFamily="34" charset="0"/>
                <a:ea typeface="Calibri" pitchFamily="34" charset="-122"/>
                <a:cs typeface="Calibri" pitchFamily="34" charset="-120"/>
              </a:rPr>
              <a:t>Menghasilkan satu probabilitas antara 0 dan 1 — persis seperti pertemuan 6.</a:t>
            </a:r>
            <a:endParaRPr lang="en-US" sz="1300" dirty="0"/>
          </a:p>
        </p:txBody>
      </p:sp>
      <p:sp>
        <p:nvSpPr>
          <p:cNvPr id="15" name="Shape 13"/>
          <p:cNvSpPr/>
          <p:nvPr/>
        </p:nvSpPr>
        <p:spPr>
          <a:xfrm>
            <a:off x="594360" y="3712464"/>
            <a:ext cx="11002975" cy="1024128"/>
          </a:xfrm>
          <a:prstGeom prst="roundRect">
            <a:avLst>
              <a:gd name="adj" fmla="val 8036"/>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16" name="Text 14"/>
          <p:cNvSpPr txBox="1"/>
          <p:nvPr/>
        </p:nvSpPr>
        <p:spPr>
          <a:xfrm>
            <a:off x="960120" y="3858768"/>
            <a:ext cx="3291840" cy="731520"/>
          </a:xfrm>
          <a:prstGeom prst="rect">
            <a:avLst/>
          </a:prstGeom>
          <a:noFill/>
          <a:ln/>
        </p:spPr>
        <p:txBody>
          <a:bodyPr wrap="square" lIns="0" tIns="0" rIns="0" bIns="0" rtlCol="0" anchor="ctr"/>
          <a:lstStyle/>
          <a:p>
            <a:pPr algn="l" indent="0" marL="0">
              <a:lnSpc>
                <a:spcPct val="115000"/>
              </a:lnSpc>
              <a:buNone/>
            </a:pPr>
            <a:r>
              <a:rPr lang="en-US" sz="1450" b="1" dirty="0">
                <a:solidFill>
                  <a:srgbClr val="FFFFFF"/>
                </a:solidFill>
                <a:latin typeface="Calibri" pitchFamily="34" charset="0"/>
                <a:ea typeface="Calibri" pitchFamily="34" charset="-122"/>
                <a:cs typeface="Calibri" pitchFamily="34" charset="-120"/>
              </a:rPr>
              <a:t>Keluaran · multi-kelas</a:t>
            </a:r>
            <a:endParaRPr lang="en-US" sz="1450" dirty="0"/>
          </a:p>
        </p:txBody>
      </p:sp>
      <p:sp>
        <p:nvSpPr>
          <p:cNvPr id="17" name="Shape 15"/>
          <p:cNvSpPr/>
          <p:nvPr/>
        </p:nvSpPr>
        <p:spPr>
          <a:xfrm>
            <a:off x="4434840" y="3968496"/>
            <a:ext cx="1920240" cy="502920"/>
          </a:xfrm>
          <a:prstGeom prst="roundRect">
            <a:avLst>
              <a:gd name="adj" fmla="val 10909"/>
            </a:avLst>
          </a:prstGeom>
          <a:solidFill>
            <a:srgbClr val="2FA890"/>
          </a:solidFill>
          <a:ln w="12700">
            <a:solidFill>
              <a:srgbClr val="333333"/>
            </a:solidFill>
            <a:prstDash val="solid"/>
          </a:ln>
        </p:spPr>
      </p:sp>
      <p:sp>
        <p:nvSpPr>
          <p:cNvPr id="18" name="Text 16"/>
          <p:cNvSpPr txBox="1"/>
          <p:nvPr/>
        </p:nvSpPr>
        <p:spPr>
          <a:xfrm>
            <a:off x="4434840" y="3968496"/>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Softmax</a:t>
            </a:r>
            <a:endParaRPr lang="en-US" sz="1400" dirty="0"/>
          </a:p>
        </p:txBody>
      </p:sp>
      <p:sp>
        <p:nvSpPr>
          <p:cNvPr id="19" name="Text 17"/>
          <p:cNvSpPr txBox="1"/>
          <p:nvPr/>
        </p:nvSpPr>
        <p:spPr>
          <a:xfrm>
            <a:off x="6629400" y="3840480"/>
            <a:ext cx="4892040" cy="777240"/>
          </a:xfrm>
          <a:prstGeom prst="rect">
            <a:avLst/>
          </a:prstGeom>
          <a:noFill/>
          <a:ln/>
        </p:spPr>
        <p:txBody>
          <a:bodyPr wrap="square" lIns="0" tIns="0" rIns="0" bIns="0" rtlCol="0" anchor="ctr"/>
          <a:lstStyle/>
          <a:p>
            <a:pPr algn="l" indent="0" marL="0">
              <a:lnSpc>
                <a:spcPct val="122000"/>
              </a:lnSpc>
              <a:buNone/>
            </a:pPr>
            <a:r>
              <a:rPr lang="en-US" sz="1300" dirty="0">
                <a:solidFill>
                  <a:srgbClr val="B9BDD0"/>
                </a:solidFill>
                <a:latin typeface="Calibri" pitchFamily="34" charset="0"/>
                <a:ea typeface="Calibri" pitchFamily="34" charset="-122"/>
                <a:cs typeface="Calibri" pitchFamily="34" charset="-120"/>
              </a:rPr>
              <a:t>Menghasilkan probabilitas tiap kelas yang berjumlah 1 — persis seperti pertemuan 7.</a:t>
            </a:r>
            <a:endParaRPr lang="en-US" sz="1300" dirty="0"/>
          </a:p>
        </p:txBody>
      </p:sp>
      <p:sp>
        <p:nvSpPr>
          <p:cNvPr id="20" name="Shape 18"/>
          <p:cNvSpPr/>
          <p:nvPr/>
        </p:nvSpPr>
        <p:spPr>
          <a:xfrm>
            <a:off x="594360" y="4882896"/>
            <a:ext cx="11002975" cy="1024128"/>
          </a:xfrm>
          <a:prstGeom prst="roundRect">
            <a:avLst>
              <a:gd name="adj" fmla="val 8036"/>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21" name="Text 19"/>
          <p:cNvSpPr txBox="1"/>
          <p:nvPr/>
        </p:nvSpPr>
        <p:spPr>
          <a:xfrm>
            <a:off x="960120" y="5029200"/>
            <a:ext cx="3291840" cy="731520"/>
          </a:xfrm>
          <a:prstGeom prst="rect">
            <a:avLst/>
          </a:prstGeom>
          <a:noFill/>
          <a:ln/>
        </p:spPr>
        <p:txBody>
          <a:bodyPr wrap="square" lIns="0" tIns="0" rIns="0" bIns="0" rtlCol="0" anchor="ctr"/>
          <a:lstStyle/>
          <a:p>
            <a:pPr algn="l" indent="0" marL="0">
              <a:lnSpc>
                <a:spcPct val="115000"/>
              </a:lnSpc>
              <a:buNone/>
            </a:pPr>
            <a:r>
              <a:rPr lang="en-US" sz="1450" b="1" dirty="0">
                <a:solidFill>
                  <a:srgbClr val="FFFFFF"/>
                </a:solidFill>
                <a:latin typeface="Calibri" pitchFamily="34" charset="0"/>
                <a:ea typeface="Calibri" pitchFamily="34" charset="-122"/>
                <a:cs typeface="Calibri" pitchFamily="34" charset="-120"/>
              </a:rPr>
              <a:t>Keluaran · regresi</a:t>
            </a:r>
            <a:endParaRPr lang="en-US" sz="1450" dirty="0"/>
          </a:p>
        </p:txBody>
      </p:sp>
      <p:sp>
        <p:nvSpPr>
          <p:cNvPr id="22" name="Shape 20"/>
          <p:cNvSpPr/>
          <p:nvPr/>
        </p:nvSpPr>
        <p:spPr>
          <a:xfrm>
            <a:off x="4434840" y="5138928"/>
            <a:ext cx="1920240" cy="502920"/>
          </a:xfrm>
          <a:prstGeom prst="roundRect">
            <a:avLst>
              <a:gd name="adj" fmla="val 10909"/>
            </a:avLst>
          </a:prstGeom>
          <a:solidFill>
            <a:srgbClr val="E8703F"/>
          </a:solidFill>
          <a:ln w="12700">
            <a:solidFill>
              <a:srgbClr val="333333"/>
            </a:solidFill>
            <a:prstDash val="solid"/>
          </a:ln>
        </p:spPr>
      </p:sp>
      <p:sp>
        <p:nvSpPr>
          <p:cNvPr id="23" name="Text 21"/>
          <p:cNvSpPr txBox="1"/>
          <p:nvPr/>
        </p:nvSpPr>
        <p:spPr>
          <a:xfrm>
            <a:off x="4434840" y="5138928"/>
            <a:ext cx="19202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Tanpa aktivasi</a:t>
            </a:r>
            <a:endParaRPr lang="en-US" sz="1400" dirty="0"/>
          </a:p>
        </p:txBody>
      </p:sp>
      <p:sp>
        <p:nvSpPr>
          <p:cNvPr id="24" name="Text 22"/>
          <p:cNvSpPr txBox="1"/>
          <p:nvPr/>
        </p:nvSpPr>
        <p:spPr>
          <a:xfrm>
            <a:off x="6629400" y="5010912"/>
            <a:ext cx="4892040" cy="777240"/>
          </a:xfrm>
          <a:prstGeom prst="rect">
            <a:avLst/>
          </a:prstGeom>
          <a:noFill/>
          <a:ln/>
        </p:spPr>
        <p:txBody>
          <a:bodyPr wrap="square" lIns="0" tIns="0" rIns="0" bIns="0" rtlCol="0" anchor="ctr"/>
          <a:lstStyle/>
          <a:p>
            <a:pPr algn="l" indent="0" marL="0">
              <a:lnSpc>
                <a:spcPct val="122000"/>
              </a:lnSpc>
              <a:buNone/>
            </a:pPr>
            <a:r>
              <a:rPr lang="en-US" sz="1300" dirty="0">
                <a:solidFill>
                  <a:srgbClr val="B9BDD0"/>
                </a:solidFill>
                <a:latin typeface="Calibri" pitchFamily="34" charset="0"/>
                <a:ea typeface="Calibri" pitchFamily="34" charset="-122"/>
                <a:cs typeface="Calibri" pitchFamily="34" charset="-120"/>
              </a:rPr>
              <a:t>Keluarannya harus bebas bernilai berapa pun, jadi tidak perlu ditekuk sama sekali.</a:t>
            </a:r>
            <a:endParaRPr lang="en-US" sz="1300" dirty="0"/>
          </a:p>
        </p:txBody>
      </p:sp>
      <p:sp>
        <p:nvSpPr>
          <p:cNvPr id="25" name="Text 23"/>
          <p:cNvSpPr txBox="1"/>
          <p:nvPr/>
        </p:nvSpPr>
        <p:spPr>
          <a:xfrm>
            <a:off x="594360" y="5806440"/>
            <a:ext cx="11002975" cy="365760"/>
          </a:xfrm>
          <a:prstGeom prst="rect">
            <a:avLst/>
          </a:prstGeom>
          <a:noFill/>
          <a:ln/>
        </p:spPr>
        <p:txBody>
          <a:bodyPr wrap="square" lIns="0" tIns="0" rIns="0" bIns="0" rtlCol="0" anchor="t"/>
          <a:lstStyle/>
          <a:p>
            <a:pPr algn="ctr" indent="0" marL="0">
              <a:buNone/>
            </a:pPr>
            <a:r>
              <a:rPr lang="en-US" sz="1400" i="1" dirty="0">
                <a:solidFill>
                  <a:srgbClr val="5FD9C2"/>
                </a:solidFill>
                <a:latin typeface="Calibri" pitchFamily="34" charset="0"/>
                <a:ea typeface="Calibri" pitchFamily="34" charset="-122"/>
                <a:cs typeface="Calibri" pitchFamily="34" charset="-120"/>
              </a:rPr>
              <a:t>Perhatikan tiga baris terakhir: aktivasi keluaran ditentukan oleh jenis masalah, bukan oleh selera.</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91B33"/>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7C6BF0"/>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2FA890"/>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5FD9C2"/>
                </a:solidFill>
                <a:latin typeface="Calibri" pitchFamily="34" charset="0"/>
                <a:ea typeface="Calibri" pitchFamily="34" charset="-122"/>
                <a:cs typeface="Calibri" pitchFamily="34" charset="-120"/>
              </a:rPr>
              <a:t>BAGIAN 3</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Maju dan Mundur</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9BDD0"/>
                </a:solidFill>
                <a:latin typeface="Calibri" pitchFamily="34" charset="0"/>
                <a:ea typeface="Calibri" pitchFamily="34" charset="-122"/>
                <a:cs typeface="Calibri" pitchFamily="34" charset="-120"/>
              </a:rPr>
              <a:t>Forward pass dan backpropagation</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B80A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ALUR MAJU</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Forward pass: dari fitur ke prediksi</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1828800" y="2286000"/>
            <a:ext cx="3017520" cy="914"/>
          </a:xfrm>
          <a:prstGeom prst="line">
            <a:avLst/>
          </a:prstGeom>
          <a:noFill/>
          <a:ln w="19050">
            <a:solidFill>
              <a:srgbClr val="C7CAD8"/>
            </a:solidFill>
            <a:prstDash val="solid"/>
          </a:ln>
        </p:spPr>
      </p:sp>
      <p:sp>
        <p:nvSpPr>
          <p:cNvPr id="6" name="Shape 4"/>
          <p:cNvSpPr/>
          <p:nvPr/>
        </p:nvSpPr>
        <p:spPr>
          <a:xfrm>
            <a:off x="1828800" y="2286000"/>
            <a:ext cx="3017520" cy="1097280"/>
          </a:xfrm>
          <a:prstGeom prst="line">
            <a:avLst/>
          </a:prstGeom>
          <a:noFill/>
          <a:ln w="19050">
            <a:solidFill>
              <a:srgbClr val="C7CAD8"/>
            </a:solidFill>
            <a:prstDash val="solid"/>
          </a:ln>
        </p:spPr>
      </p:sp>
      <p:sp>
        <p:nvSpPr>
          <p:cNvPr id="7" name="Shape 5"/>
          <p:cNvSpPr/>
          <p:nvPr/>
        </p:nvSpPr>
        <p:spPr>
          <a:xfrm flipV="1">
            <a:off x="1828800" y="2286000"/>
            <a:ext cx="3017520" cy="1097280"/>
          </a:xfrm>
          <a:prstGeom prst="line">
            <a:avLst/>
          </a:prstGeom>
          <a:noFill/>
          <a:ln w="19050">
            <a:solidFill>
              <a:srgbClr val="C7CAD8"/>
            </a:solidFill>
            <a:prstDash val="solid"/>
          </a:ln>
        </p:spPr>
      </p:sp>
      <p:sp>
        <p:nvSpPr>
          <p:cNvPr id="8" name="Shape 6"/>
          <p:cNvSpPr/>
          <p:nvPr/>
        </p:nvSpPr>
        <p:spPr>
          <a:xfrm>
            <a:off x="1828800" y="3383280"/>
            <a:ext cx="3017520" cy="914"/>
          </a:xfrm>
          <a:prstGeom prst="line">
            <a:avLst/>
          </a:prstGeom>
          <a:noFill/>
          <a:ln w="19050">
            <a:solidFill>
              <a:srgbClr val="C7CAD8"/>
            </a:solidFill>
            <a:prstDash val="solid"/>
          </a:ln>
        </p:spPr>
      </p:sp>
      <p:sp>
        <p:nvSpPr>
          <p:cNvPr id="9" name="Shape 7"/>
          <p:cNvSpPr/>
          <p:nvPr/>
        </p:nvSpPr>
        <p:spPr>
          <a:xfrm>
            <a:off x="4846320" y="2286000"/>
            <a:ext cx="3017520" cy="548640"/>
          </a:xfrm>
          <a:prstGeom prst="line">
            <a:avLst/>
          </a:prstGeom>
          <a:noFill/>
          <a:ln w="19050">
            <a:solidFill>
              <a:srgbClr val="C7CAD8"/>
            </a:solidFill>
            <a:prstDash val="solid"/>
          </a:ln>
        </p:spPr>
      </p:sp>
      <p:sp>
        <p:nvSpPr>
          <p:cNvPr id="10" name="Shape 8"/>
          <p:cNvSpPr/>
          <p:nvPr/>
        </p:nvSpPr>
        <p:spPr>
          <a:xfrm flipV="1">
            <a:off x="4846320" y="2834640"/>
            <a:ext cx="3017520" cy="548640"/>
          </a:xfrm>
          <a:prstGeom prst="line">
            <a:avLst/>
          </a:prstGeom>
          <a:noFill/>
          <a:ln w="19050">
            <a:solidFill>
              <a:srgbClr val="C7CAD8"/>
            </a:solidFill>
            <a:prstDash val="solid"/>
          </a:ln>
        </p:spPr>
      </p:sp>
      <p:sp>
        <p:nvSpPr>
          <p:cNvPr id="11" name="Shape 9"/>
          <p:cNvSpPr/>
          <p:nvPr/>
        </p:nvSpPr>
        <p:spPr>
          <a:xfrm>
            <a:off x="1517904" y="1975104"/>
            <a:ext cx="621792" cy="621792"/>
          </a:xfrm>
          <a:prstGeom prst="ellipse">
            <a:avLst/>
          </a:prstGeom>
          <a:solidFill>
            <a:srgbClr val="2FA890"/>
          </a:solidFill>
          <a:ln w="19050">
            <a:solidFill>
              <a:srgbClr val="FFFFFF"/>
            </a:solidFill>
            <a:prstDash val="solid"/>
          </a:ln>
        </p:spPr>
      </p:sp>
      <p:sp>
        <p:nvSpPr>
          <p:cNvPr id="12" name="Text 10"/>
          <p:cNvSpPr txBox="1"/>
          <p:nvPr/>
        </p:nvSpPr>
        <p:spPr>
          <a:xfrm>
            <a:off x="1517904" y="1975104"/>
            <a:ext cx="621792"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x1</a:t>
            </a:r>
            <a:endParaRPr lang="en-US" sz="1100" dirty="0"/>
          </a:p>
        </p:txBody>
      </p:sp>
      <p:sp>
        <p:nvSpPr>
          <p:cNvPr id="13" name="Shape 11"/>
          <p:cNvSpPr/>
          <p:nvPr/>
        </p:nvSpPr>
        <p:spPr>
          <a:xfrm>
            <a:off x="1517904" y="3072384"/>
            <a:ext cx="621792" cy="621792"/>
          </a:xfrm>
          <a:prstGeom prst="ellipse">
            <a:avLst/>
          </a:prstGeom>
          <a:solidFill>
            <a:srgbClr val="2FA890"/>
          </a:solidFill>
          <a:ln w="19050">
            <a:solidFill>
              <a:srgbClr val="FFFFFF"/>
            </a:solidFill>
            <a:prstDash val="solid"/>
          </a:ln>
        </p:spPr>
      </p:sp>
      <p:sp>
        <p:nvSpPr>
          <p:cNvPr id="14" name="Text 12"/>
          <p:cNvSpPr txBox="1"/>
          <p:nvPr/>
        </p:nvSpPr>
        <p:spPr>
          <a:xfrm>
            <a:off x="1517904" y="3072384"/>
            <a:ext cx="621792"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x2</a:t>
            </a:r>
            <a:endParaRPr lang="en-US" sz="1100" dirty="0"/>
          </a:p>
        </p:txBody>
      </p:sp>
      <p:sp>
        <p:nvSpPr>
          <p:cNvPr id="15" name="Shape 13"/>
          <p:cNvSpPr/>
          <p:nvPr/>
        </p:nvSpPr>
        <p:spPr>
          <a:xfrm>
            <a:off x="4535424" y="1975104"/>
            <a:ext cx="621792" cy="621792"/>
          </a:xfrm>
          <a:prstGeom prst="ellipse">
            <a:avLst/>
          </a:prstGeom>
          <a:solidFill>
            <a:srgbClr val="7C6BF0"/>
          </a:solidFill>
          <a:ln w="19050">
            <a:solidFill>
              <a:srgbClr val="FFFFFF"/>
            </a:solidFill>
            <a:prstDash val="solid"/>
          </a:ln>
        </p:spPr>
      </p:sp>
      <p:sp>
        <p:nvSpPr>
          <p:cNvPr id="16" name="Text 14"/>
          <p:cNvSpPr txBox="1"/>
          <p:nvPr/>
        </p:nvSpPr>
        <p:spPr>
          <a:xfrm>
            <a:off x="4535424" y="1975104"/>
            <a:ext cx="621792"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h1</a:t>
            </a:r>
            <a:endParaRPr lang="en-US" sz="1100" dirty="0"/>
          </a:p>
        </p:txBody>
      </p:sp>
      <p:sp>
        <p:nvSpPr>
          <p:cNvPr id="17" name="Shape 15"/>
          <p:cNvSpPr/>
          <p:nvPr/>
        </p:nvSpPr>
        <p:spPr>
          <a:xfrm>
            <a:off x="4535424" y="3072384"/>
            <a:ext cx="621792" cy="621792"/>
          </a:xfrm>
          <a:prstGeom prst="ellipse">
            <a:avLst/>
          </a:prstGeom>
          <a:solidFill>
            <a:srgbClr val="7C6BF0"/>
          </a:solidFill>
          <a:ln w="19050">
            <a:solidFill>
              <a:srgbClr val="FFFFFF"/>
            </a:solidFill>
            <a:prstDash val="solid"/>
          </a:ln>
        </p:spPr>
      </p:sp>
      <p:sp>
        <p:nvSpPr>
          <p:cNvPr id="18" name="Text 16"/>
          <p:cNvSpPr txBox="1"/>
          <p:nvPr/>
        </p:nvSpPr>
        <p:spPr>
          <a:xfrm>
            <a:off x="4535424" y="3072384"/>
            <a:ext cx="621792"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h2</a:t>
            </a:r>
            <a:endParaRPr lang="en-US" sz="1100" dirty="0"/>
          </a:p>
        </p:txBody>
      </p:sp>
      <p:sp>
        <p:nvSpPr>
          <p:cNvPr id="19" name="Shape 17"/>
          <p:cNvSpPr/>
          <p:nvPr/>
        </p:nvSpPr>
        <p:spPr>
          <a:xfrm>
            <a:off x="7552944" y="2523744"/>
            <a:ext cx="621792" cy="621792"/>
          </a:xfrm>
          <a:prstGeom prst="ellipse">
            <a:avLst/>
          </a:prstGeom>
          <a:solidFill>
            <a:srgbClr val="E8703F"/>
          </a:solidFill>
          <a:ln w="19050">
            <a:solidFill>
              <a:srgbClr val="FFFFFF"/>
            </a:solidFill>
            <a:prstDash val="solid"/>
          </a:ln>
        </p:spPr>
      </p:sp>
      <p:sp>
        <p:nvSpPr>
          <p:cNvPr id="20" name="Text 18"/>
          <p:cNvSpPr txBox="1"/>
          <p:nvPr/>
        </p:nvSpPr>
        <p:spPr>
          <a:xfrm>
            <a:off x="7552944" y="2523744"/>
            <a:ext cx="621792"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a:t>
            </a:r>
            <a:endParaRPr lang="en-US" sz="1100" dirty="0"/>
          </a:p>
        </p:txBody>
      </p:sp>
      <p:sp>
        <p:nvSpPr>
          <p:cNvPr id="21" name="Text 19"/>
          <p:cNvSpPr txBox="1"/>
          <p:nvPr/>
        </p:nvSpPr>
        <p:spPr>
          <a:xfrm>
            <a:off x="1005840" y="1600200"/>
            <a:ext cx="1645920" cy="274320"/>
          </a:xfrm>
          <a:prstGeom prst="rect">
            <a:avLst/>
          </a:prstGeom>
          <a:noFill/>
          <a:ln/>
        </p:spPr>
        <p:txBody>
          <a:bodyPr wrap="square" lIns="0" tIns="0" rIns="0" bIns="0" rtlCol="0" anchor="t"/>
          <a:lstStyle/>
          <a:p>
            <a:pPr algn="ctr" indent="0" marL="0">
              <a:buNone/>
            </a:pPr>
            <a:r>
              <a:rPr lang="en-US" sz="1250" b="1" dirty="0">
                <a:solidFill>
                  <a:srgbClr val="2FA890"/>
                </a:solidFill>
                <a:latin typeface="Calibri" pitchFamily="34" charset="0"/>
                <a:ea typeface="Calibri" pitchFamily="34" charset="-122"/>
                <a:cs typeface="Calibri" pitchFamily="34" charset="-120"/>
              </a:rPr>
              <a:t>Masukan</a:t>
            </a:r>
            <a:endParaRPr lang="en-US" sz="1250" dirty="0"/>
          </a:p>
        </p:txBody>
      </p:sp>
      <p:sp>
        <p:nvSpPr>
          <p:cNvPr id="22" name="Text 20"/>
          <p:cNvSpPr txBox="1"/>
          <p:nvPr/>
        </p:nvSpPr>
        <p:spPr>
          <a:xfrm>
            <a:off x="4023360" y="1600200"/>
            <a:ext cx="1645920" cy="274320"/>
          </a:xfrm>
          <a:prstGeom prst="rect">
            <a:avLst/>
          </a:prstGeom>
          <a:noFill/>
          <a:ln/>
        </p:spPr>
        <p:txBody>
          <a:bodyPr wrap="square" lIns="0" tIns="0" rIns="0" bIns="0" rtlCol="0" anchor="t"/>
          <a:lstStyle/>
          <a:p>
            <a:pPr algn="ctr" indent="0" marL="0">
              <a:buNone/>
            </a:pPr>
            <a:r>
              <a:rPr lang="en-US" sz="1250" b="1" dirty="0">
                <a:solidFill>
                  <a:srgbClr val="7C6BF0"/>
                </a:solidFill>
                <a:latin typeface="Calibri" pitchFamily="34" charset="0"/>
                <a:ea typeface="Calibri" pitchFamily="34" charset="-122"/>
                <a:cs typeface="Calibri" pitchFamily="34" charset="-120"/>
              </a:rPr>
              <a:t>Tersembunyi</a:t>
            </a:r>
            <a:endParaRPr lang="en-US" sz="1250" dirty="0"/>
          </a:p>
        </p:txBody>
      </p:sp>
      <p:sp>
        <p:nvSpPr>
          <p:cNvPr id="23" name="Text 21"/>
          <p:cNvSpPr txBox="1"/>
          <p:nvPr/>
        </p:nvSpPr>
        <p:spPr>
          <a:xfrm>
            <a:off x="7040880" y="1600200"/>
            <a:ext cx="1645920" cy="274320"/>
          </a:xfrm>
          <a:prstGeom prst="rect">
            <a:avLst/>
          </a:prstGeom>
          <a:noFill/>
          <a:ln/>
        </p:spPr>
        <p:txBody>
          <a:bodyPr wrap="square" lIns="0" tIns="0" rIns="0" bIns="0" rtlCol="0" anchor="t"/>
          <a:lstStyle/>
          <a:p>
            <a:pPr algn="ctr" indent="0" marL="0">
              <a:buNone/>
            </a:pPr>
            <a:r>
              <a:rPr lang="en-US" sz="1250" b="1" dirty="0">
                <a:solidFill>
                  <a:srgbClr val="E8703F"/>
                </a:solidFill>
                <a:latin typeface="Calibri" pitchFamily="34" charset="0"/>
                <a:ea typeface="Calibri" pitchFamily="34" charset="-122"/>
                <a:cs typeface="Calibri" pitchFamily="34" charset="-120"/>
              </a:rPr>
              <a:t>Keluaran</a:t>
            </a:r>
            <a:endParaRPr lang="en-US" sz="1250" dirty="0"/>
          </a:p>
        </p:txBody>
      </p:sp>
      <p:sp>
        <p:nvSpPr>
          <p:cNvPr id="24" name="Shape 22"/>
          <p:cNvSpPr/>
          <p:nvPr/>
        </p:nvSpPr>
        <p:spPr>
          <a:xfrm>
            <a:off x="594360" y="4160520"/>
            <a:ext cx="5303520" cy="749808"/>
          </a:xfrm>
          <a:prstGeom prst="roundRect">
            <a:avLst>
              <a:gd name="adj" fmla="val 10976"/>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25" name="Shape 23"/>
          <p:cNvSpPr/>
          <p:nvPr/>
        </p:nvSpPr>
        <p:spPr>
          <a:xfrm>
            <a:off x="868680" y="4288536"/>
            <a:ext cx="493776" cy="493776"/>
          </a:xfrm>
          <a:prstGeom prst="ellipse">
            <a:avLst/>
          </a:prstGeom>
          <a:solidFill>
            <a:srgbClr val="2FA890"/>
          </a:solidFill>
          <a:ln w="12700">
            <a:solidFill>
              <a:srgbClr val="333333"/>
            </a:solidFill>
            <a:prstDash val="solid"/>
          </a:ln>
        </p:spPr>
      </p:sp>
      <p:sp>
        <p:nvSpPr>
          <p:cNvPr id="26" name="Text 24"/>
          <p:cNvSpPr txBox="1"/>
          <p:nvPr/>
        </p:nvSpPr>
        <p:spPr>
          <a:xfrm>
            <a:off x="868680" y="4288536"/>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27" name="Text 25"/>
          <p:cNvSpPr txBox="1"/>
          <p:nvPr/>
        </p:nvSpPr>
        <p:spPr>
          <a:xfrm>
            <a:off x="1508760" y="4206240"/>
            <a:ext cx="2377440" cy="658368"/>
          </a:xfrm>
          <a:prstGeom prst="rect">
            <a:avLst/>
          </a:prstGeom>
          <a:noFill/>
          <a:ln/>
        </p:spPr>
        <p:txBody>
          <a:bodyPr wrap="square" lIns="0" tIns="0" rIns="0" bIns="0" rtlCol="0" anchor="ctr"/>
          <a:lstStyle/>
          <a:p>
            <a:pPr algn="l" indent="0" marL="0">
              <a:buNone/>
            </a:pPr>
            <a:r>
              <a:rPr lang="en-US" sz="1350" b="1" dirty="0">
                <a:solidFill>
                  <a:srgbClr val="191B33"/>
                </a:solidFill>
                <a:latin typeface="Calibri" pitchFamily="34" charset="0"/>
                <a:ea typeface="Calibri" pitchFamily="34" charset="-122"/>
                <a:cs typeface="Calibri" pitchFamily="34" charset="-120"/>
              </a:rPr>
              <a:t>Jumlahkan berbobot</a:t>
            </a:r>
            <a:endParaRPr lang="en-US" sz="1350" dirty="0"/>
          </a:p>
        </p:txBody>
      </p:sp>
      <p:sp>
        <p:nvSpPr>
          <p:cNvPr id="28" name="Text 26"/>
          <p:cNvSpPr txBox="1"/>
          <p:nvPr/>
        </p:nvSpPr>
        <p:spPr>
          <a:xfrm>
            <a:off x="3931920" y="4206240"/>
            <a:ext cx="1783080" cy="658368"/>
          </a:xfrm>
          <a:prstGeom prst="rect">
            <a:avLst/>
          </a:prstGeom>
          <a:noFill/>
          <a:ln/>
        </p:spPr>
        <p:txBody>
          <a:bodyPr wrap="square" lIns="0" tIns="0" rIns="0" bIns="0" rtlCol="0" anchor="ctr"/>
          <a:lstStyle/>
          <a:p>
            <a:pPr algn="l" indent="0" marL="0">
              <a:buNone/>
            </a:pPr>
            <a:r>
              <a:rPr lang="en-US" sz="1150" dirty="0">
                <a:solidFill>
                  <a:srgbClr val="6A6E85"/>
                </a:solidFill>
                <a:latin typeface="Courier New" pitchFamily="34" charset="0"/>
                <a:ea typeface="Courier New" pitchFamily="34" charset="-122"/>
                <a:cs typeface="Courier New" pitchFamily="34" charset="-120"/>
              </a:rPr>
              <a:t>z = w₁x₁ + w₂x₂ + b</a:t>
            </a:r>
            <a:endParaRPr lang="en-US" sz="1150" dirty="0"/>
          </a:p>
        </p:txBody>
      </p:sp>
      <p:sp>
        <p:nvSpPr>
          <p:cNvPr id="29" name="Shape 27"/>
          <p:cNvSpPr/>
          <p:nvPr/>
        </p:nvSpPr>
        <p:spPr>
          <a:xfrm>
            <a:off x="6263640" y="4160520"/>
            <a:ext cx="5303520" cy="749808"/>
          </a:xfrm>
          <a:prstGeom prst="roundRect">
            <a:avLst>
              <a:gd name="adj" fmla="val 10976"/>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30" name="Shape 28"/>
          <p:cNvSpPr/>
          <p:nvPr/>
        </p:nvSpPr>
        <p:spPr>
          <a:xfrm>
            <a:off x="6537960" y="4288536"/>
            <a:ext cx="493776" cy="493776"/>
          </a:xfrm>
          <a:prstGeom prst="ellipse">
            <a:avLst/>
          </a:prstGeom>
          <a:solidFill>
            <a:srgbClr val="7C6BF0"/>
          </a:solidFill>
          <a:ln w="12700">
            <a:solidFill>
              <a:srgbClr val="333333"/>
            </a:solidFill>
            <a:prstDash val="solid"/>
          </a:ln>
        </p:spPr>
      </p:sp>
      <p:sp>
        <p:nvSpPr>
          <p:cNvPr id="31" name="Text 29"/>
          <p:cNvSpPr txBox="1"/>
          <p:nvPr/>
        </p:nvSpPr>
        <p:spPr>
          <a:xfrm>
            <a:off x="6537960" y="4288536"/>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32" name="Text 30"/>
          <p:cNvSpPr txBox="1"/>
          <p:nvPr/>
        </p:nvSpPr>
        <p:spPr>
          <a:xfrm>
            <a:off x="7178040" y="4206240"/>
            <a:ext cx="2377440" cy="658368"/>
          </a:xfrm>
          <a:prstGeom prst="rect">
            <a:avLst/>
          </a:prstGeom>
          <a:noFill/>
          <a:ln/>
        </p:spPr>
        <p:txBody>
          <a:bodyPr wrap="square" lIns="0" tIns="0" rIns="0" bIns="0" rtlCol="0" anchor="ctr"/>
          <a:lstStyle/>
          <a:p>
            <a:pPr algn="l" indent="0" marL="0">
              <a:buNone/>
            </a:pPr>
            <a:r>
              <a:rPr lang="en-US" sz="1350" b="1" dirty="0">
                <a:solidFill>
                  <a:srgbClr val="191B33"/>
                </a:solidFill>
                <a:latin typeface="Calibri" pitchFamily="34" charset="0"/>
                <a:ea typeface="Calibri" pitchFamily="34" charset="-122"/>
                <a:cs typeface="Calibri" pitchFamily="34" charset="-120"/>
              </a:rPr>
              <a:t>Lewatkan aktivasi</a:t>
            </a:r>
            <a:endParaRPr lang="en-US" sz="1350" dirty="0"/>
          </a:p>
        </p:txBody>
      </p:sp>
      <p:sp>
        <p:nvSpPr>
          <p:cNvPr id="33" name="Text 31"/>
          <p:cNvSpPr txBox="1"/>
          <p:nvPr/>
        </p:nvSpPr>
        <p:spPr>
          <a:xfrm>
            <a:off x="9601200" y="4206240"/>
            <a:ext cx="1783080" cy="658368"/>
          </a:xfrm>
          <a:prstGeom prst="rect">
            <a:avLst/>
          </a:prstGeom>
          <a:noFill/>
          <a:ln/>
        </p:spPr>
        <p:txBody>
          <a:bodyPr wrap="square" lIns="0" tIns="0" rIns="0" bIns="0" rtlCol="0" anchor="ctr"/>
          <a:lstStyle/>
          <a:p>
            <a:pPr algn="l" indent="0" marL="0">
              <a:buNone/>
            </a:pPr>
            <a:r>
              <a:rPr lang="en-US" sz="1150" dirty="0">
                <a:solidFill>
                  <a:srgbClr val="6A6E85"/>
                </a:solidFill>
                <a:latin typeface="Courier New" pitchFamily="34" charset="0"/>
                <a:ea typeface="Courier New" pitchFamily="34" charset="-122"/>
                <a:cs typeface="Courier New" pitchFamily="34" charset="-120"/>
              </a:rPr>
              <a:t>a = f(z)</a:t>
            </a:r>
            <a:endParaRPr lang="en-US" sz="1150" dirty="0"/>
          </a:p>
        </p:txBody>
      </p:sp>
      <p:sp>
        <p:nvSpPr>
          <p:cNvPr id="34" name="Shape 32"/>
          <p:cNvSpPr/>
          <p:nvPr/>
        </p:nvSpPr>
        <p:spPr>
          <a:xfrm>
            <a:off x="594360" y="5029200"/>
            <a:ext cx="5303520" cy="749808"/>
          </a:xfrm>
          <a:prstGeom prst="roundRect">
            <a:avLst>
              <a:gd name="adj" fmla="val 10976"/>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35" name="Shape 33"/>
          <p:cNvSpPr/>
          <p:nvPr/>
        </p:nvSpPr>
        <p:spPr>
          <a:xfrm>
            <a:off x="868680" y="5157216"/>
            <a:ext cx="493776" cy="493776"/>
          </a:xfrm>
          <a:prstGeom prst="ellipse">
            <a:avLst/>
          </a:prstGeom>
          <a:solidFill>
            <a:srgbClr val="7C6BF0"/>
          </a:solidFill>
          <a:ln w="12700">
            <a:solidFill>
              <a:srgbClr val="333333"/>
            </a:solidFill>
            <a:prstDash val="solid"/>
          </a:ln>
        </p:spPr>
      </p:sp>
      <p:sp>
        <p:nvSpPr>
          <p:cNvPr id="36" name="Text 34"/>
          <p:cNvSpPr txBox="1"/>
          <p:nvPr/>
        </p:nvSpPr>
        <p:spPr>
          <a:xfrm>
            <a:off x="868680" y="5157216"/>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37" name="Text 35"/>
          <p:cNvSpPr txBox="1"/>
          <p:nvPr/>
        </p:nvSpPr>
        <p:spPr>
          <a:xfrm>
            <a:off x="1508760" y="5074920"/>
            <a:ext cx="2377440" cy="658368"/>
          </a:xfrm>
          <a:prstGeom prst="rect">
            <a:avLst/>
          </a:prstGeom>
          <a:noFill/>
          <a:ln/>
        </p:spPr>
        <p:txBody>
          <a:bodyPr wrap="square" lIns="0" tIns="0" rIns="0" bIns="0" rtlCol="0" anchor="ctr"/>
          <a:lstStyle/>
          <a:p>
            <a:pPr algn="l" indent="0" marL="0">
              <a:buNone/>
            </a:pPr>
            <a:r>
              <a:rPr lang="en-US" sz="1350" b="1" dirty="0">
                <a:solidFill>
                  <a:srgbClr val="191B33"/>
                </a:solidFill>
                <a:latin typeface="Calibri" pitchFamily="34" charset="0"/>
                <a:ea typeface="Calibri" pitchFamily="34" charset="-122"/>
                <a:cs typeface="Calibri" pitchFamily="34" charset="-120"/>
              </a:rPr>
              <a:t>Teruskan ke lapisan berikut</a:t>
            </a:r>
            <a:endParaRPr lang="en-US" sz="1350" dirty="0"/>
          </a:p>
        </p:txBody>
      </p:sp>
      <p:sp>
        <p:nvSpPr>
          <p:cNvPr id="38" name="Text 36"/>
          <p:cNvSpPr txBox="1"/>
          <p:nvPr/>
        </p:nvSpPr>
        <p:spPr>
          <a:xfrm>
            <a:off x="3931920" y="5074920"/>
            <a:ext cx="1783080" cy="658368"/>
          </a:xfrm>
          <a:prstGeom prst="rect">
            <a:avLst/>
          </a:prstGeom>
          <a:noFill/>
          <a:ln/>
        </p:spPr>
        <p:txBody>
          <a:bodyPr wrap="square" lIns="0" tIns="0" rIns="0" bIns="0" rtlCol="0" anchor="ctr"/>
          <a:lstStyle/>
          <a:p>
            <a:pPr algn="l" indent="0" marL="0">
              <a:buNone/>
            </a:pPr>
            <a:r>
              <a:rPr lang="en-US" sz="1150" dirty="0">
                <a:solidFill>
                  <a:srgbClr val="6A6E85"/>
                </a:solidFill>
                <a:latin typeface="Courier New" pitchFamily="34" charset="0"/>
                <a:ea typeface="Courier New" pitchFamily="34" charset="-122"/>
                <a:cs typeface="Courier New" pitchFamily="34" charset="-120"/>
              </a:rPr>
              <a:t>a menjadi masukan baru</a:t>
            </a:r>
            <a:endParaRPr lang="en-US" sz="1150" dirty="0"/>
          </a:p>
        </p:txBody>
      </p:sp>
      <p:sp>
        <p:nvSpPr>
          <p:cNvPr id="39" name="Shape 37"/>
          <p:cNvSpPr/>
          <p:nvPr/>
        </p:nvSpPr>
        <p:spPr>
          <a:xfrm>
            <a:off x="6263640" y="5029200"/>
            <a:ext cx="5303520" cy="749808"/>
          </a:xfrm>
          <a:prstGeom prst="roundRect">
            <a:avLst>
              <a:gd name="adj" fmla="val 10976"/>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40" name="Shape 38"/>
          <p:cNvSpPr/>
          <p:nvPr/>
        </p:nvSpPr>
        <p:spPr>
          <a:xfrm>
            <a:off x="6537960" y="5157216"/>
            <a:ext cx="493776" cy="493776"/>
          </a:xfrm>
          <a:prstGeom prst="ellipse">
            <a:avLst/>
          </a:prstGeom>
          <a:solidFill>
            <a:srgbClr val="E8703F"/>
          </a:solidFill>
          <a:ln w="12700">
            <a:solidFill>
              <a:srgbClr val="333333"/>
            </a:solidFill>
            <a:prstDash val="solid"/>
          </a:ln>
        </p:spPr>
      </p:sp>
      <p:sp>
        <p:nvSpPr>
          <p:cNvPr id="41" name="Text 39"/>
          <p:cNvSpPr txBox="1"/>
          <p:nvPr/>
        </p:nvSpPr>
        <p:spPr>
          <a:xfrm>
            <a:off x="6537960" y="5157216"/>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42" name="Text 40"/>
          <p:cNvSpPr txBox="1"/>
          <p:nvPr/>
        </p:nvSpPr>
        <p:spPr>
          <a:xfrm>
            <a:off x="7178040" y="5074920"/>
            <a:ext cx="2377440" cy="658368"/>
          </a:xfrm>
          <a:prstGeom prst="rect">
            <a:avLst/>
          </a:prstGeom>
          <a:noFill/>
          <a:ln/>
        </p:spPr>
        <p:txBody>
          <a:bodyPr wrap="square" lIns="0" tIns="0" rIns="0" bIns="0" rtlCol="0" anchor="ctr"/>
          <a:lstStyle/>
          <a:p>
            <a:pPr algn="l" indent="0" marL="0">
              <a:buNone/>
            </a:pPr>
            <a:r>
              <a:rPr lang="en-US" sz="1350" b="1" dirty="0">
                <a:solidFill>
                  <a:srgbClr val="191B33"/>
                </a:solidFill>
                <a:latin typeface="Calibri" pitchFamily="34" charset="0"/>
                <a:ea typeface="Calibri" pitchFamily="34" charset="-122"/>
                <a:cs typeface="Calibri" pitchFamily="34" charset="-120"/>
              </a:rPr>
              <a:t>Ulangi sampai keluaran</a:t>
            </a:r>
            <a:endParaRPr lang="en-US" sz="1350" dirty="0"/>
          </a:p>
        </p:txBody>
      </p:sp>
      <p:sp>
        <p:nvSpPr>
          <p:cNvPr id="43" name="Text 41"/>
          <p:cNvSpPr txBox="1"/>
          <p:nvPr/>
        </p:nvSpPr>
        <p:spPr>
          <a:xfrm>
            <a:off x="9601200" y="5074920"/>
            <a:ext cx="1783080" cy="658368"/>
          </a:xfrm>
          <a:prstGeom prst="rect">
            <a:avLst/>
          </a:prstGeom>
          <a:noFill/>
          <a:ln/>
        </p:spPr>
        <p:txBody>
          <a:bodyPr wrap="square" lIns="0" tIns="0" rIns="0" bIns="0" rtlCol="0" anchor="ctr"/>
          <a:lstStyle/>
          <a:p>
            <a:pPr algn="l" indent="0" marL="0">
              <a:buNone/>
            </a:pPr>
            <a:r>
              <a:rPr lang="en-US" sz="1150" dirty="0">
                <a:solidFill>
                  <a:srgbClr val="6A6E85"/>
                </a:solidFill>
                <a:latin typeface="Courier New" pitchFamily="34" charset="0"/>
                <a:ea typeface="Courier New" pitchFamily="34" charset="-122"/>
                <a:cs typeface="Courier New" pitchFamily="34" charset="-120"/>
              </a:rPr>
              <a:t>Hasil akhir = prediksi</a:t>
            </a:r>
            <a:endParaRPr lang="en-US" sz="1150" dirty="0"/>
          </a:p>
        </p:txBody>
      </p:sp>
      <p:sp>
        <p:nvSpPr>
          <p:cNvPr id="44" name="Shape 42"/>
          <p:cNvSpPr/>
          <p:nvPr/>
        </p:nvSpPr>
        <p:spPr>
          <a:xfrm>
            <a:off x="9052560" y="1920240"/>
            <a:ext cx="2514600" cy="1691640"/>
          </a:xfrm>
          <a:prstGeom prst="roundRect">
            <a:avLst>
              <a:gd name="adj" fmla="val 4865"/>
            </a:avLst>
          </a:prstGeom>
          <a:solidFill>
            <a:srgbClr val="191B33"/>
          </a:solidFill>
          <a:ln w="12700">
            <a:solidFill>
              <a:srgbClr val="191B33"/>
            </a:solidFill>
            <a:prstDash val="solid"/>
          </a:ln>
          <a:effectLst>
            <a:outerShdw sx="100000" sy="100000" kx="0" ky="0" algn="bl" rotWithShape="0" blurRad="101600" dist="508" dir="5400000">
              <a:srgbClr val="AEB2C2">
                <a:alpha val="30000"/>
              </a:srgbClr>
            </a:outerShdw>
          </a:effectLst>
        </p:spPr>
      </p:sp>
      <p:sp>
        <p:nvSpPr>
          <p:cNvPr id="45" name="Text 43"/>
          <p:cNvSpPr txBox="1"/>
          <p:nvPr/>
        </p:nvSpPr>
        <p:spPr>
          <a:xfrm>
            <a:off x="9281160" y="2103120"/>
            <a:ext cx="2057400" cy="274320"/>
          </a:xfrm>
          <a:prstGeom prst="rect">
            <a:avLst/>
          </a:prstGeom>
          <a:noFill/>
          <a:ln/>
        </p:spPr>
        <p:txBody>
          <a:bodyPr wrap="square" lIns="0" tIns="0" rIns="0" bIns="0" rtlCol="0" anchor="t"/>
          <a:lstStyle/>
          <a:p>
            <a:pPr algn="l" indent="0" marL="0">
              <a:buNone/>
            </a:pPr>
            <a:r>
              <a:rPr lang="en-US" sz="1500" b="1" dirty="0">
                <a:solidFill>
                  <a:srgbClr val="5FD9C2"/>
                </a:solidFill>
                <a:latin typeface="Cambria" pitchFamily="34" charset="0"/>
                <a:ea typeface="Cambria" pitchFamily="34" charset="-122"/>
                <a:cs typeface="Cambria" pitchFamily="34" charset="-120"/>
              </a:rPr>
              <a:t>Arah</a:t>
            </a:r>
            <a:endParaRPr lang="en-US" sz="1500" dirty="0"/>
          </a:p>
        </p:txBody>
      </p:sp>
      <p:sp>
        <p:nvSpPr>
          <p:cNvPr id="46" name="Text 44"/>
          <p:cNvSpPr txBox="1"/>
          <p:nvPr/>
        </p:nvSpPr>
        <p:spPr>
          <a:xfrm>
            <a:off x="9281160" y="2395728"/>
            <a:ext cx="2057400" cy="1097280"/>
          </a:xfrm>
          <a:prstGeom prst="rect">
            <a:avLst/>
          </a:prstGeom>
          <a:noFill/>
          <a:ln/>
        </p:spPr>
        <p:txBody>
          <a:bodyPr wrap="square" lIns="0" tIns="0" rIns="0" bIns="0" rtlCol="0" anchor="t"/>
          <a:lstStyle/>
          <a:p>
            <a:pPr algn="l" indent="0" marL="0">
              <a:lnSpc>
                <a:spcPct val="122000"/>
              </a:lnSpc>
              <a:buNone/>
            </a:pPr>
            <a:r>
              <a:rPr lang="en-US" sz="1150" dirty="0">
                <a:solidFill>
                  <a:srgbClr val="B9BDD0"/>
                </a:solidFill>
                <a:latin typeface="Calibri" pitchFamily="34" charset="0"/>
                <a:ea typeface="Calibri" pitchFamily="34" charset="-122"/>
                <a:cs typeface="Calibri" pitchFamily="34" charset="-120"/>
              </a:rPr>
              <a:t>Selalu satu arah: kiri ke kanan. Tidak ada perhitungan yang kembali ke belakang — itu tugas backpropagation.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LATIHAN TERBIMBING 1</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Hitung forward pass sendiri</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594360" y="1188720"/>
            <a:ext cx="11002975" cy="566928"/>
          </a:xfrm>
          <a:prstGeom prst="roundRect">
            <a:avLst>
              <a:gd name="adj" fmla="val 14516"/>
            </a:avLst>
          </a:prstGeom>
          <a:solidFill>
            <a:srgbClr val="E7F5F1"/>
          </a:solidFill>
          <a:ln w="12700">
            <a:solidFill>
              <a:srgbClr val="C3E5DC"/>
            </a:solidFill>
            <a:prstDash val="solid"/>
          </a:ln>
          <a:effectLst>
            <a:outerShdw sx="100000" sy="100000" kx="0" ky="0" algn="bl" rotWithShape="0" blurRad="101600" dist="508" dir="5400000">
              <a:srgbClr val="AEB2C2">
                <a:alpha val="30000"/>
              </a:srgbClr>
            </a:outerShdw>
          </a:effectLst>
        </p:spPr>
      </p:sp>
      <p:sp>
        <p:nvSpPr>
          <p:cNvPr id="6" name="Text 4"/>
          <p:cNvSpPr txBox="1"/>
          <p:nvPr/>
        </p:nvSpPr>
        <p:spPr>
          <a:xfrm>
            <a:off x="960120" y="1307592"/>
            <a:ext cx="10271455" cy="329184"/>
          </a:xfrm>
          <a:prstGeom prst="rect">
            <a:avLst/>
          </a:prstGeom>
          <a:noFill/>
          <a:ln/>
        </p:spPr>
        <p:txBody>
          <a:bodyPr wrap="square" lIns="0" tIns="0" rIns="0" bIns="0" rtlCol="0" anchor="t"/>
          <a:lstStyle/>
          <a:p>
            <a:pPr algn="l" indent="0" marL="0">
              <a:buNone/>
            </a:pPr>
            <a:r>
              <a:rPr lang="en-US" sz="1450" b="1" dirty="0">
                <a:solidFill>
                  <a:srgbClr val="19685A"/>
                </a:solidFill>
                <a:latin typeface="Calibri" pitchFamily="34" charset="0"/>
                <a:ea typeface="Calibri" pitchFamily="34" charset="-122"/>
                <a:cs typeface="Calibri" pitchFamily="34" charset="-120"/>
              </a:rPr>
              <a:t>Kerjakan berpasangan · 18 menit · Cukup kertas dan kalkulator sederhana</a:t>
            </a:r>
            <a:endParaRPr lang="en-US" sz="1450" dirty="0"/>
          </a:p>
        </p:txBody>
      </p:sp>
      <p:sp>
        <p:nvSpPr>
          <p:cNvPr id="7" name="Shape 5"/>
          <p:cNvSpPr/>
          <p:nvPr/>
        </p:nvSpPr>
        <p:spPr>
          <a:xfrm>
            <a:off x="594360" y="1874520"/>
            <a:ext cx="5486400" cy="2377440"/>
          </a:xfrm>
          <a:prstGeom prst="roundRect">
            <a:avLst>
              <a:gd name="adj" fmla="val 3462"/>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8" name="Text 6"/>
          <p:cNvSpPr txBox="1"/>
          <p:nvPr/>
        </p:nvSpPr>
        <p:spPr>
          <a:xfrm>
            <a:off x="960120" y="2057400"/>
            <a:ext cx="4754880" cy="274320"/>
          </a:xfrm>
          <a:prstGeom prst="rect">
            <a:avLst/>
          </a:prstGeom>
          <a:noFill/>
          <a:ln/>
        </p:spPr>
        <p:txBody>
          <a:bodyPr wrap="square" lIns="0" tIns="0" rIns="0" bIns="0" rtlCol="0" anchor="t"/>
          <a:lstStyle/>
          <a:p>
            <a:pPr algn="l" indent="0" marL="0">
              <a:buNone/>
            </a:pPr>
            <a:r>
              <a:rPr lang="en-US" sz="1700" b="1" dirty="0">
                <a:solidFill>
                  <a:srgbClr val="191B33"/>
                </a:solidFill>
                <a:latin typeface="Cambria" pitchFamily="34" charset="0"/>
                <a:ea typeface="Cambria" pitchFamily="34" charset="-122"/>
                <a:cs typeface="Cambria" pitchFamily="34" charset="-120"/>
              </a:rPr>
              <a:t>Jaringan yang diketahui</a:t>
            </a:r>
            <a:endParaRPr lang="en-US" sz="1700" dirty="0"/>
          </a:p>
        </p:txBody>
      </p:sp>
      <p:sp>
        <p:nvSpPr>
          <p:cNvPr id="9" name="Text 7"/>
          <p:cNvSpPr txBox="1"/>
          <p:nvPr/>
        </p:nvSpPr>
        <p:spPr>
          <a:xfrm>
            <a:off x="960120" y="2359152"/>
            <a:ext cx="4754880" cy="457200"/>
          </a:xfrm>
          <a:prstGeom prst="rect">
            <a:avLst/>
          </a:prstGeom>
          <a:noFill/>
          <a:ln/>
        </p:spPr>
        <p:txBody>
          <a:bodyPr wrap="square" lIns="0" tIns="0" rIns="0" bIns="0" rtlCol="0" anchor="t"/>
          <a:lstStyle/>
          <a:p>
            <a:pPr algn="l" indent="0" marL="0">
              <a:lnSpc>
                <a:spcPct val="120000"/>
              </a:lnSpc>
              <a:buNone/>
            </a:pPr>
            <a:r>
              <a:rPr lang="en-US" sz="1300" dirty="0">
                <a:solidFill>
                  <a:srgbClr val="1A1C2E"/>
                </a:solidFill>
                <a:latin typeface="Calibri" pitchFamily="34" charset="0"/>
                <a:ea typeface="Calibri" pitchFamily="34" charset="-122"/>
                <a:cs typeface="Calibri" pitchFamily="34" charset="-120"/>
              </a:rPr>
              <a:t>Dua masukan → dua neuron tersembunyi (ReLU) → satu keluaran (sigmoid)</a:t>
            </a:r>
            <a:endParaRPr lang="en-US" sz="1300" dirty="0"/>
          </a:p>
        </p:txBody>
      </p:sp>
      <p:sp>
        <p:nvSpPr>
          <p:cNvPr id="10" name="Text 8"/>
          <p:cNvSpPr txBox="1"/>
          <p:nvPr/>
        </p:nvSpPr>
        <p:spPr>
          <a:xfrm>
            <a:off x="960120" y="2852928"/>
            <a:ext cx="4754880" cy="868680"/>
          </a:xfrm>
          <a:prstGeom prst="rect">
            <a:avLst/>
          </a:prstGeom>
          <a:noFill/>
          <a:ln/>
        </p:spPr>
        <p:txBody>
          <a:bodyPr wrap="square" lIns="0" tIns="0" rIns="0" bIns="0" rtlCol="0" anchor="t"/>
          <a:lstStyle/>
          <a:p>
            <a:pPr algn="l" indent="0" marL="0">
              <a:lnSpc>
                <a:spcPct val="140000"/>
              </a:lnSpc>
              <a:buNone/>
            </a:pPr>
            <a:r>
              <a:rPr lang="en-US" sz="1300" dirty="0">
                <a:solidFill>
                  <a:srgbClr val="7C6BF0"/>
                </a:solidFill>
                <a:latin typeface="Courier New" pitchFamily="34" charset="0"/>
                <a:ea typeface="Courier New" pitchFamily="34" charset="-122"/>
                <a:cs typeface="Courier New" pitchFamily="34" charset="-120"/>
              </a:rPr>
              <a:t>h₁:  w = (0,5 ; 0,4)   b = −0,2</a:t>
            </a:r>
            <a:endParaRPr lang="en-US" sz="1300" dirty="0"/>
          </a:p>
          <a:p>
            <a:pPr algn="l" indent="0" marL="0">
              <a:lnSpc>
                <a:spcPct val="140000"/>
              </a:lnSpc>
              <a:buNone/>
            </a:pPr>
            <a:r>
              <a:rPr lang="en-US" sz="1300" dirty="0">
                <a:solidFill>
                  <a:srgbClr val="7C6BF0"/>
                </a:solidFill>
                <a:latin typeface="Courier New" pitchFamily="34" charset="0"/>
                <a:ea typeface="Courier New" pitchFamily="34" charset="-122"/>
                <a:cs typeface="Courier New" pitchFamily="34" charset="-120"/>
              </a:rPr>
              <a:t>h₂:  w = (−0,6 ; 0,3)   b = 0,5</a:t>
            </a:r>
            <a:endParaRPr lang="en-US" sz="1300" dirty="0"/>
          </a:p>
          <a:p>
            <a:pPr algn="l" indent="0" marL="0">
              <a:lnSpc>
                <a:spcPct val="140000"/>
              </a:lnSpc>
              <a:buNone/>
            </a:pPr>
            <a:r>
              <a:rPr lang="en-US" sz="1300" dirty="0">
                <a:solidFill>
                  <a:srgbClr val="7C6BF0"/>
                </a:solidFill>
                <a:latin typeface="Courier New" pitchFamily="34" charset="0"/>
                <a:ea typeface="Courier New" pitchFamily="34" charset="-122"/>
                <a:cs typeface="Courier New" pitchFamily="34" charset="-120"/>
              </a:rPr>
              <a:t>y :  w = (1,2 ; −0,8)   b = 0,1</a:t>
            </a:r>
            <a:endParaRPr lang="en-US" sz="1300" dirty="0"/>
          </a:p>
        </p:txBody>
      </p:sp>
      <p:sp>
        <p:nvSpPr>
          <p:cNvPr id="11" name="Text 9"/>
          <p:cNvSpPr txBox="1"/>
          <p:nvPr/>
        </p:nvSpPr>
        <p:spPr>
          <a:xfrm>
            <a:off x="960120" y="3794760"/>
            <a:ext cx="4754880" cy="320040"/>
          </a:xfrm>
          <a:prstGeom prst="rect">
            <a:avLst/>
          </a:prstGeom>
          <a:noFill/>
          <a:ln/>
        </p:spPr>
        <p:txBody>
          <a:bodyPr wrap="square" lIns="0" tIns="0" rIns="0" bIns="0" rtlCol="0" anchor="t"/>
          <a:lstStyle/>
          <a:p>
            <a:pPr algn="l" indent="0" marL="0">
              <a:buNone/>
            </a:pPr>
            <a:r>
              <a:rPr lang="en-US" sz="1250" b="1" dirty="0">
                <a:solidFill>
                  <a:srgbClr val="2FA890"/>
                </a:solidFill>
                <a:latin typeface="Calibri" pitchFamily="34" charset="0"/>
                <a:ea typeface="Calibri" pitchFamily="34" charset="-122"/>
                <a:cs typeface="Calibri" pitchFamily="34" charset="-120"/>
              </a:rPr>
              <a:t>Tabel bantu:  σ(1,02) ≈ 0,73   ·   σ(−0,78) ≈ 0,31</a:t>
            </a:r>
            <a:endParaRPr lang="en-US" sz="1250" dirty="0"/>
          </a:p>
        </p:txBody>
      </p:sp>
      <p:sp>
        <p:nvSpPr>
          <p:cNvPr id="12" name="Shape 10"/>
          <p:cNvSpPr/>
          <p:nvPr/>
        </p:nvSpPr>
        <p:spPr>
          <a:xfrm>
            <a:off x="6537960" y="1874520"/>
            <a:ext cx="5029200" cy="2377440"/>
          </a:xfrm>
          <a:prstGeom prst="roundRect">
            <a:avLst>
              <a:gd name="adj" fmla="val 3462"/>
            </a:avLst>
          </a:prstGeom>
          <a:solidFill>
            <a:srgbClr val="191B33"/>
          </a:solidFill>
          <a:ln w="12700">
            <a:solidFill>
              <a:srgbClr val="191B33"/>
            </a:solidFill>
            <a:prstDash val="solid"/>
          </a:ln>
          <a:effectLst>
            <a:outerShdw sx="100000" sy="100000" kx="0" ky="0" algn="bl" rotWithShape="0" blurRad="101600" dist="508" dir="5400000">
              <a:srgbClr val="AEB2C2">
                <a:alpha val="30000"/>
              </a:srgbClr>
            </a:outerShdw>
          </a:effectLst>
        </p:spPr>
      </p:sp>
      <p:sp>
        <p:nvSpPr>
          <p:cNvPr id="13" name="Text 11"/>
          <p:cNvSpPr txBox="1"/>
          <p:nvPr/>
        </p:nvSpPr>
        <p:spPr>
          <a:xfrm>
            <a:off x="6858000" y="2057400"/>
            <a:ext cx="4389120" cy="274320"/>
          </a:xfrm>
          <a:prstGeom prst="rect">
            <a:avLst/>
          </a:prstGeom>
          <a:noFill/>
          <a:ln/>
        </p:spPr>
        <p:txBody>
          <a:bodyPr wrap="square" lIns="0" tIns="0" rIns="0" bIns="0" rtlCol="0" anchor="t"/>
          <a:lstStyle/>
          <a:p>
            <a:pPr algn="l" indent="0" marL="0">
              <a:buNone/>
            </a:pPr>
            <a:r>
              <a:rPr lang="en-US" sz="1700" b="1" dirty="0">
                <a:solidFill>
                  <a:srgbClr val="5FD9C2"/>
                </a:solidFill>
                <a:latin typeface="Cambria" pitchFamily="34" charset="0"/>
                <a:ea typeface="Cambria" pitchFamily="34" charset="-122"/>
                <a:cs typeface="Cambria" pitchFamily="34" charset="-120"/>
              </a:rPr>
              <a:t>Hitung untuk dua masukan</a:t>
            </a:r>
            <a:endParaRPr lang="en-US" sz="1700" dirty="0"/>
          </a:p>
        </p:txBody>
      </p:sp>
      <p:sp>
        <p:nvSpPr>
          <p:cNvPr id="14" name="Text 12"/>
          <p:cNvSpPr txBox="1"/>
          <p:nvPr/>
        </p:nvSpPr>
        <p:spPr>
          <a:xfrm>
            <a:off x="6858000" y="2395728"/>
            <a:ext cx="4389120" cy="548640"/>
          </a:xfrm>
          <a:prstGeom prst="rect">
            <a:avLst/>
          </a:prstGeom>
          <a:noFill/>
          <a:ln/>
        </p:spPr>
        <p:txBody>
          <a:bodyPr wrap="square" lIns="0" tIns="0" rIns="0" bIns="0" rtlCol="0" anchor="t"/>
          <a:lstStyle/>
          <a:p>
            <a:pPr algn="l" indent="0" marL="0">
              <a:lnSpc>
                <a:spcPct val="135000"/>
              </a:lnSpc>
              <a:buNone/>
            </a:pPr>
            <a:r>
              <a:rPr lang="en-US" sz="1400" b="1" dirty="0">
                <a:solidFill>
                  <a:srgbClr val="FFFFFF"/>
                </a:solidFill>
                <a:latin typeface="Courier New" pitchFamily="34" charset="0"/>
                <a:ea typeface="Courier New" pitchFamily="34" charset="-122"/>
                <a:cs typeface="Courier New" pitchFamily="34" charset="-120"/>
              </a:rPr>
              <a:t>Kasus A:  x = (1 ; 2)</a:t>
            </a:r>
            <a:endParaRPr lang="en-US" sz="1400" dirty="0"/>
          </a:p>
          <a:p>
            <a:pPr algn="l" indent="0" marL="0">
              <a:lnSpc>
                <a:spcPct val="135000"/>
              </a:lnSpc>
              <a:buNone/>
            </a:pPr>
            <a:r>
              <a:rPr lang="en-US" sz="1400" b="1" dirty="0">
                <a:solidFill>
                  <a:srgbClr val="FFFFFF"/>
                </a:solidFill>
                <a:latin typeface="Courier New" pitchFamily="34" charset="0"/>
                <a:ea typeface="Courier New" pitchFamily="34" charset="-122"/>
                <a:cs typeface="Courier New" pitchFamily="34" charset="-120"/>
              </a:rPr>
              <a:t>Kasus B:  x = (−1 ; 0)</a:t>
            </a:r>
            <a:endParaRPr lang="en-US" sz="1400" dirty="0"/>
          </a:p>
        </p:txBody>
      </p:sp>
      <p:sp>
        <p:nvSpPr>
          <p:cNvPr id="15" name="Text 13"/>
          <p:cNvSpPr txBox="1"/>
          <p:nvPr/>
        </p:nvSpPr>
        <p:spPr>
          <a:xfrm>
            <a:off x="6858000" y="3127248"/>
            <a:ext cx="4389120" cy="10058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B9BDD0"/>
                </a:solidFill>
                <a:latin typeface="Calibri" pitchFamily="34" charset="0"/>
                <a:ea typeface="Calibri" pitchFamily="34" charset="-122"/>
                <a:cs typeface="Calibri" pitchFamily="34" charset="-120"/>
              </a:rPr>
              <a:t>Hitung z lalu a untuk h₁ dan h₂</a:t>
            </a:r>
            <a:endParaRPr lang="en-US" sz="1300" dirty="0"/>
          </a:p>
          <a:p>
            <a:pPr marL="342900" indent="-342900">
              <a:spcAft>
                <a:spcPts val="500"/>
              </a:spcAft>
              <a:buSzPct val="100000"/>
              <a:buChar char="•"/>
            </a:pPr>
            <a:r>
              <a:rPr lang="en-US" sz="1300" dirty="0">
                <a:solidFill>
                  <a:srgbClr val="B9BDD0"/>
                </a:solidFill>
                <a:latin typeface="Calibri" pitchFamily="34" charset="0"/>
                <a:ea typeface="Calibri" pitchFamily="34" charset="-122"/>
                <a:cs typeface="Calibri" pitchFamily="34" charset="-120"/>
              </a:rPr>
              <a:t>Hitung z untuk neuron keluaran</a:t>
            </a:r>
            <a:endParaRPr lang="en-US" sz="1300" dirty="0"/>
          </a:p>
          <a:p>
            <a:pPr marL="342900" indent="-342900">
              <a:spcAft>
                <a:spcPts val="500"/>
              </a:spcAft>
              <a:buSzPct val="100000"/>
              <a:buChar char="•"/>
            </a:pPr>
            <a:r>
              <a:rPr lang="en-US" sz="1300" dirty="0">
                <a:solidFill>
                  <a:srgbClr val="B9BDD0"/>
                </a:solidFill>
                <a:latin typeface="Calibri" pitchFamily="34" charset="0"/>
                <a:ea typeface="Calibri" pitchFamily="34" charset="-122"/>
                <a:cs typeface="Calibri" pitchFamily="34" charset="-120"/>
              </a:rPr>
              <a:t>Terapkan sigmoid untuk memperoleh prediksi</a:t>
            </a:r>
            <a:endParaRPr lang="en-US" sz="1300" dirty="0"/>
          </a:p>
        </p:txBody>
      </p:sp>
      <p:sp>
        <p:nvSpPr>
          <p:cNvPr id="16" name="Shape 14"/>
          <p:cNvSpPr/>
          <p:nvPr/>
        </p:nvSpPr>
        <p:spPr>
          <a:xfrm>
            <a:off x="594360" y="4434840"/>
            <a:ext cx="11002975" cy="1325880"/>
          </a:xfrm>
          <a:prstGeom prst="roundRect">
            <a:avLst>
              <a:gd name="adj" fmla="val 6207"/>
            </a:avLst>
          </a:prstGeom>
          <a:solidFill>
            <a:srgbClr val="F0EDFC"/>
          </a:solidFill>
          <a:ln w="12700">
            <a:solidFill>
              <a:srgbClr val="D9D2F7"/>
            </a:solidFill>
            <a:prstDash val="solid"/>
          </a:ln>
          <a:effectLst>
            <a:outerShdw sx="100000" sy="100000" kx="0" ky="0" algn="bl" rotWithShape="0" blurRad="101600" dist="508" dir="5400000">
              <a:srgbClr val="AEB2C2">
                <a:alpha val="30000"/>
              </a:srgbClr>
            </a:outerShdw>
          </a:effectLst>
        </p:spPr>
      </p:sp>
      <p:sp>
        <p:nvSpPr>
          <p:cNvPr id="17" name="Text 15"/>
          <p:cNvSpPr txBox="1"/>
          <p:nvPr/>
        </p:nvSpPr>
        <p:spPr>
          <a:xfrm>
            <a:off x="1005840" y="4617720"/>
            <a:ext cx="10180015" cy="274320"/>
          </a:xfrm>
          <a:prstGeom prst="rect">
            <a:avLst/>
          </a:prstGeom>
          <a:noFill/>
          <a:ln/>
        </p:spPr>
        <p:txBody>
          <a:bodyPr wrap="square" lIns="0" tIns="0" rIns="0" bIns="0" rtlCol="0" anchor="t"/>
          <a:lstStyle/>
          <a:p>
            <a:pPr algn="l" indent="0" marL="0">
              <a:buNone/>
            </a:pPr>
            <a:r>
              <a:rPr lang="en-US" sz="1400" b="1" dirty="0">
                <a:solidFill>
                  <a:srgbClr val="4A3B8C"/>
                </a:solidFill>
                <a:latin typeface="Calibri" pitchFamily="34" charset="0"/>
                <a:ea typeface="Calibri" pitchFamily="34" charset="-122"/>
                <a:cs typeface="Calibri" pitchFamily="34" charset="-120"/>
              </a:rPr>
              <a:t>Pertanyaan lanjutan yang wajib dijawab</a:t>
            </a:r>
            <a:endParaRPr lang="en-US" sz="1400" dirty="0"/>
          </a:p>
        </p:txBody>
      </p:sp>
      <p:sp>
        <p:nvSpPr>
          <p:cNvPr id="18" name="Text 16"/>
          <p:cNvSpPr txBox="1"/>
          <p:nvPr/>
        </p:nvSpPr>
        <p:spPr>
          <a:xfrm>
            <a:off x="1005840" y="4937760"/>
            <a:ext cx="10180015" cy="731520"/>
          </a:xfrm>
          <a:prstGeom prst="rect">
            <a:avLst/>
          </a:prstGeom>
          <a:noFill/>
          <a:ln/>
        </p:spPr>
        <p:txBody>
          <a:bodyPr wrap="square" lIns="0" tIns="0" rIns="0" bIns="0" rtlCol="0" anchor="t"/>
          <a:lstStyle/>
          <a:p>
            <a:pPr algn="l" indent="0" marL="0">
              <a:lnSpc>
                <a:spcPct val="130000"/>
              </a:lnSpc>
              <a:buNone/>
            </a:pPr>
            <a:r>
              <a:rPr lang="en-US" sz="1350" dirty="0">
                <a:solidFill>
                  <a:srgbClr val="4A3B8C"/>
                </a:solidFill>
                <a:latin typeface="Calibri" pitchFamily="34" charset="0"/>
                <a:ea typeface="Calibri" pitchFamily="34" charset="-122"/>
                <a:cs typeface="Calibri" pitchFamily="34" charset="-120"/>
              </a:rPr>
              <a:t>Pada kasus B, salah satu neuron tersembunyi menghasilkan nilai nol. Apa artinya neuron itu bagi prediksi akhir? Menurut Anda, apa yang terjadi bila sebuah neuron menghasilkan nol untuk hampir semua data latih — dan apakah itu masalah?</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91B33"/>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5FD9C2"/>
                </a:solidFill>
                <a:latin typeface="Calibri" pitchFamily="34" charset="0"/>
                <a:ea typeface="Calibri" pitchFamily="34" charset="-122"/>
                <a:cs typeface="Calibri" pitchFamily="34" charset="-120"/>
              </a:rPr>
              <a:t>ALUR MUNDUR</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Backpropagation: menyalahkan ke belakang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B80A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94360" y="1234440"/>
            <a:ext cx="11002975" cy="457200"/>
          </a:xfrm>
          <a:prstGeom prst="rect">
            <a:avLst/>
          </a:prstGeom>
          <a:noFill/>
          <a:ln/>
        </p:spPr>
        <p:txBody>
          <a:bodyPr wrap="square" lIns="0" tIns="0" rIns="0" bIns="0" rtlCol="0" anchor="t"/>
          <a:lstStyle/>
          <a:p>
            <a:pPr algn="l" indent="0" marL="0">
              <a:lnSpc>
                <a:spcPct val="130000"/>
              </a:lnSpc>
              <a:buNone/>
            </a:pPr>
            <a:r>
              <a:rPr lang="en-US" sz="1600" dirty="0">
                <a:solidFill>
                  <a:srgbClr val="C6CAD9"/>
                </a:solidFill>
                <a:latin typeface="Calibri" pitchFamily="34" charset="0"/>
                <a:ea typeface="Calibri" pitchFamily="34" charset="-122"/>
                <a:cs typeface="Calibri" pitchFamily="34" charset="-120"/>
              </a:rPr>
              <a:t>Setelah prediksi keluar dan galatnya diketahui, muncul satu pertanyaan: dari ribuan bobot yang ada, mana yang harus disalahkan, dan seberapa besar?</a:t>
            </a:r>
            <a:endParaRPr lang="en-US" sz="1600" dirty="0"/>
          </a:p>
        </p:txBody>
      </p:sp>
      <p:sp>
        <p:nvSpPr>
          <p:cNvPr id="6" name="Shape 4"/>
          <p:cNvSpPr/>
          <p:nvPr/>
        </p:nvSpPr>
        <p:spPr>
          <a:xfrm>
            <a:off x="594360" y="1828800"/>
            <a:ext cx="5303520" cy="1417320"/>
          </a:xfrm>
          <a:prstGeom prst="roundRect">
            <a:avLst>
              <a:gd name="adj" fmla="val 5806"/>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7" name="Shape 5"/>
          <p:cNvSpPr/>
          <p:nvPr/>
        </p:nvSpPr>
        <p:spPr>
          <a:xfrm>
            <a:off x="914400" y="2103120"/>
            <a:ext cx="548640" cy="548640"/>
          </a:xfrm>
          <a:prstGeom prst="ellipse">
            <a:avLst/>
          </a:prstGeom>
          <a:solidFill>
            <a:srgbClr val="E8703F"/>
          </a:solidFill>
          <a:ln w="12700">
            <a:solidFill>
              <a:srgbClr val="333333"/>
            </a:solidFill>
            <a:prstDash val="solid"/>
          </a:ln>
        </p:spPr>
      </p:sp>
      <p:sp>
        <p:nvSpPr>
          <p:cNvPr id="8" name="Text 6"/>
          <p:cNvSpPr txBox="1"/>
          <p:nvPr/>
        </p:nvSpPr>
        <p:spPr>
          <a:xfrm>
            <a:off x="91440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1600200" y="2103120"/>
            <a:ext cx="3977640" cy="502920"/>
          </a:xfrm>
          <a:prstGeom prst="rect">
            <a:avLst/>
          </a:prstGeom>
          <a:noFill/>
          <a:ln/>
        </p:spPr>
        <p:txBody>
          <a:bodyPr wrap="square" lIns="0" tIns="0" rIns="0" bIns="0" rtlCol="0" anchor="t"/>
          <a:lstStyle/>
          <a:p>
            <a:pPr algn="l" indent="0" marL="0">
              <a:lnSpc>
                <a:spcPct val="110000"/>
              </a:lnSpc>
              <a:buNone/>
            </a:pPr>
            <a:r>
              <a:rPr lang="en-US" sz="1600" b="1" dirty="0">
                <a:solidFill>
                  <a:srgbClr val="FFFFFF"/>
                </a:solidFill>
                <a:latin typeface="Cambria" pitchFamily="34" charset="0"/>
                <a:ea typeface="Cambria" pitchFamily="34" charset="-122"/>
                <a:cs typeface="Cambria" pitchFamily="34" charset="-120"/>
              </a:rPr>
              <a:t>Hitung galat di keluaran</a:t>
            </a:r>
            <a:endParaRPr lang="en-US" sz="1600" dirty="0"/>
          </a:p>
        </p:txBody>
      </p:sp>
      <p:sp>
        <p:nvSpPr>
          <p:cNvPr id="10" name="Text 8"/>
          <p:cNvSpPr txBox="1"/>
          <p:nvPr/>
        </p:nvSpPr>
        <p:spPr>
          <a:xfrm>
            <a:off x="914400" y="2697480"/>
            <a:ext cx="4663440" cy="457200"/>
          </a:xfrm>
          <a:prstGeom prst="rect">
            <a:avLst/>
          </a:prstGeom>
          <a:noFill/>
          <a:ln/>
        </p:spPr>
        <p:txBody>
          <a:bodyPr wrap="square" lIns="0" tIns="0" rIns="0" bIns="0" rtlCol="0" anchor="t"/>
          <a:lstStyle/>
          <a:p>
            <a:pPr algn="l" indent="0" marL="0">
              <a:lnSpc>
                <a:spcPct val="120000"/>
              </a:lnSpc>
              <a:buNone/>
            </a:pPr>
            <a:r>
              <a:rPr lang="en-US" sz="1250" dirty="0">
                <a:solidFill>
                  <a:srgbClr val="B9BDD0"/>
                </a:solidFill>
                <a:latin typeface="Calibri" pitchFamily="34" charset="0"/>
                <a:ea typeface="Calibri" pitchFamily="34" charset="-122"/>
                <a:cs typeface="Calibri" pitchFamily="34" charset="-120"/>
              </a:rPr>
              <a:t>Bandingkan prediksi dengan nilai sebenarnya memakai fungsi loss.</a:t>
            </a:r>
            <a:endParaRPr lang="en-US" sz="1250" dirty="0"/>
          </a:p>
        </p:txBody>
      </p:sp>
      <p:sp>
        <p:nvSpPr>
          <p:cNvPr id="11" name="Shape 9"/>
          <p:cNvSpPr/>
          <p:nvPr/>
        </p:nvSpPr>
        <p:spPr>
          <a:xfrm>
            <a:off x="6263640" y="1828800"/>
            <a:ext cx="5303520" cy="1417320"/>
          </a:xfrm>
          <a:prstGeom prst="roundRect">
            <a:avLst>
              <a:gd name="adj" fmla="val 5806"/>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12" name="Shape 10"/>
          <p:cNvSpPr/>
          <p:nvPr/>
        </p:nvSpPr>
        <p:spPr>
          <a:xfrm>
            <a:off x="6583680" y="2103120"/>
            <a:ext cx="548640" cy="548640"/>
          </a:xfrm>
          <a:prstGeom prst="ellipse">
            <a:avLst/>
          </a:prstGeom>
          <a:solidFill>
            <a:srgbClr val="7C6BF0"/>
          </a:solidFill>
          <a:ln w="12700">
            <a:solidFill>
              <a:srgbClr val="333333"/>
            </a:solidFill>
            <a:prstDash val="solid"/>
          </a:ln>
        </p:spPr>
      </p:sp>
      <p:sp>
        <p:nvSpPr>
          <p:cNvPr id="13" name="Text 11"/>
          <p:cNvSpPr txBox="1"/>
          <p:nvPr/>
        </p:nvSpPr>
        <p:spPr>
          <a:xfrm>
            <a:off x="658368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7269480" y="2103120"/>
            <a:ext cx="3977640" cy="502920"/>
          </a:xfrm>
          <a:prstGeom prst="rect">
            <a:avLst/>
          </a:prstGeom>
          <a:noFill/>
          <a:ln/>
        </p:spPr>
        <p:txBody>
          <a:bodyPr wrap="square" lIns="0" tIns="0" rIns="0" bIns="0" rtlCol="0" anchor="t"/>
          <a:lstStyle/>
          <a:p>
            <a:pPr algn="l" indent="0" marL="0">
              <a:lnSpc>
                <a:spcPct val="110000"/>
              </a:lnSpc>
              <a:buNone/>
            </a:pPr>
            <a:r>
              <a:rPr lang="en-US" sz="1600" b="1" dirty="0">
                <a:solidFill>
                  <a:srgbClr val="FFFFFF"/>
                </a:solidFill>
                <a:latin typeface="Cambria" pitchFamily="34" charset="0"/>
                <a:ea typeface="Cambria" pitchFamily="34" charset="-122"/>
                <a:cs typeface="Cambria" pitchFamily="34" charset="-120"/>
              </a:rPr>
              <a:t>Sebarkan mundur</a:t>
            </a:r>
            <a:endParaRPr lang="en-US" sz="1600" dirty="0"/>
          </a:p>
        </p:txBody>
      </p:sp>
      <p:sp>
        <p:nvSpPr>
          <p:cNvPr id="15" name="Text 13"/>
          <p:cNvSpPr txBox="1"/>
          <p:nvPr/>
        </p:nvSpPr>
        <p:spPr>
          <a:xfrm>
            <a:off x="6583680" y="2697480"/>
            <a:ext cx="4663440" cy="457200"/>
          </a:xfrm>
          <a:prstGeom prst="rect">
            <a:avLst/>
          </a:prstGeom>
          <a:noFill/>
          <a:ln/>
        </p:spPr>
        <p:txBody>
          <a:bodyPr wrap="square" lIns="0" tIns="0" rIns="0" bIns="0" rtlCol="0" anchor="t"/>
          <a:lstStyle/>
          <a:p>
            <a:pPr algn="l" indent="0" marL="0">
              <a:lnSpc>
                <a:spcPct val="120000"/>
              </a:lnSpc>
              <a:buNone/>
            </a:pPr>
            <a:r>
              <a:rPr lang="en-US" sz="1250" dirty="0">
                <a:solidFill>
                  <a:srgbClr val="B9BDD0"/>
                </a:solidFill>
                <a:latin typeface="Calibri" pitchFamily="34" charset="0"/>
                <a:ea typeface="Calibri" pitchFamily="34" charset="-122"/>
                <a:cs typeface="Calibri" pitchFamily="34" charset="-120"/>
              </a:rPr>
              <a:t>Galat dibagikan ke lapisan sebelumnya, ditimbang menurut besar bobot masing-masing sambungan.</a:t>
            </a:r>
            <a:endParaRPr lang="en-US" sz="1250" dirty="0"/>
          </a:p>
        </p:txBody>
      </p:sp>
      <p:sp>
        <p:nvSpPr>
          <p:cNvPr id="16" name="Shape 14"/>
          <p:cNvSpPr/>
          <p:nvPr/>
        </p:nvSpPr>
        <p:spPr>
          <a:xfrm>
            <a:off x="594360" y="3429000"/>
            <a:ext cx="5303520" cy="1417320"/>
          </a:xfrm>
          <a:prstGeom prst="roundRect">
            <a:avLst>
              <a:gd name="adj" fmla="val 5806"/>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17" name="Shape 15"/>
          <p:cNvSpPr/>
          <p:nvPr/>
        </p:nvSpPr>
        <p:spPr>
          <a:xfrm>
            <a:off x="914400" y="3703320"/>
            <a:ext cx="548640" cy="548640"/>
          </a:xfrm>
          <a:prstGeom prst="ellipse">
            <a:avLst/>
          </a:prstGeom>
          <a:solidFill>
            <a:srgbClr val="7C6BF0"/>
          </a:solidFill>
          <a:ln w="12700">
            <a:solidFill>
              <a:srgbClr val="333333"/>
            </a:solidFill>
            <a:prstDash val="solid"/>
          </a:ln>
        </p:spPr>
      </p:sp>
      <p:sp>
        <p:nvSpPr>
          <p:cNvPr id="18" name="Text 16"/>
          <p:cNvSpPr txBox="1"/>
          <p:nvPr/>
        </p:nvSpPr>
        <p:spPr>
          <a:xfrm>
            <a:off x="914400" y="3703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1600200" y="3703320"/>
            <a:ext cx="3977640" cy="502920"/>
          </a:xfrm>
          <a:prstGeom prst="rect">
            <a:avLst/>
          </a:prstGeom>
          <a:noFill/>
          <a:ln/>
        </p:spPr>
        <p:txBody>
          <a:bodyPr wrap="square" lIns="0" tIns="0" rIns="0" bIns="0" rtlCol="0" anchor="t"/>
          <a:lstStyle/>
          <a:p>
            <a:pPr algn="l" indent="0" marL="0">
              <a:lnSpc>
                <a:spcPct val="110000"/>
              </a:lnSpc>
              <a:buNone/>
            </a:pPr>
            <a:r>
              <a:rPr lang="en-US" sz="1600" b="1" dirty="0">
                <a:solidFill>
                  <a:srgbClr val="FFFFFF"/>
                </a:solidFill>
                <a:latin typeface="Cambria" pitchFamily="34" charset="0"/>
                <a:ea typeface="Cambria" pitchFamily="34" charset="-122"/>
                <a:cs typeface="Cambria" pitchFamily="34" charset="-120"/>
              </a:rPr>
              <a:t>Peroleh gradien tiap bobot</a:t>
            </a:r>
            <a:endParaRPr lang="en-US" sz="1600" dirty="0"/>
          </a:p>
        </p:txBody>
      </p:sp>
      <p:sp>
        <p:nvSpPr>
          <p:cNvPr id="20" name="Text 18"/>
          <p:cNvSpPr txBox="1"/>
          <p:nvPr/>
        </p:nvSpPr>
        <p:spPr>
          <a:xfrm>
            <a:off x="914400" y="4297680"/>
            <a:ext cx="4663440" cy="457200"/>
          </a:xfrm>
          <a:prstGeom prst="rect">
            <a:avLst/>
          </a:prstGeom>
          <a:noFill/>
          <a:ln/>
        </p:spPr>
        <p:txBody>
          <a:bodyPr wrap="square" lIns="0" tIns="0" rIns="0" bIns="0" rtlCol="0" anchor="t"/>
          <a:lstStyle/>
          <a:p>
            <a:pPr algn="l" indent="0" marL="0">
              <a:lnSpc>
                <a:spcPct val="120000"/>
              </a:lnSpc>
              <a:buNone/>
            </a:pPr>
            <a:r>
              <a:rPr lang="en-US" sz="1250" dirty="0">
                <a:solidFill>
                  <a:srgbClr val="B9BDD0"/>
                </a:solidFill>
                <a:latin typeface="Calibri" pitchFamily="34" charset="0"/>
                <a:ea typeface="Calibri" pitchFamily="34" charset="-122"/>
                <a:cs typeface="Calibri" pitchFamily="34" charset="-120"/>
              </a:rPr>
              <a:t>Untuk setiap bobot didapat satu angka: seberapa besar loss berubah bila bobot ini digeser sedikit.</a:t>
            </a:r>
            <a:endParaRPr lang="en-US" sz="1250" dirty="0"/>
          </a:p>
        </p:txBody>
      </p:sp>
      <p:sp>
        <p:nvSpPr>
          <p:cNvPr id="21" name="Shape 19"/>
          <p:cNvSpPr/>
          <p:nvPr/>
        </p:nvSpPr>
        <p:spPr>
          <a:xfrm>
            <a:off x="6263640" y="3429000"/>
            <a:ext cx="5303520" cy="1417320"/>
          </a:xfrm>
          <a:prstGeom prst="roundRect">
            <a:avLst>
              <a:gd name="adj" fmla="val 5806"/>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22" name="Shape 20"/>
          <p:cNvSpPr/>
          <p:nvPr/>
        </p:nvSpPr>
        <p:spPr>
          <a:xfrm>
            <a:off x="6583680" y="3703320"/>
            <a:ext cx="548640" cy="548640"/>
          </a:xfrm>
          <a:prstGeom prst="ellipse">
            <a:avLst/>
          </a:prstGeom>
          <a:solidFill>
            <a:srgbClr val="2FA890"/>
          </a:solidFill>
          <a:ln w="12700">
            <a:solidFill>
              <a:srgbClr val="333333"/>
            </a:solidFill>
            <a:prstDash val="solid"/>
          </a:ln>
        </p:spPr>
      </p:sp>
      <p:sp>
        <p:nvSpPr>
          <p:cNvPr id="23" name="Text 21"/>
          <p:cNvSpPr txBox="1"/>
          <p:nvPr/>
        </p:nvSpPr>
        <p:spPr>
          <a:xfrm>
            <a:off x="6583680" y="3703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txBox="1"/>
          <p:nvPr/>
        </p:nvSpPr>
        <p:spPr>
          <a:xfrm>
            <a:off x="7269480" y="3703320"/>
            <a:ext cx="3977640" cy="502920"/>
          </a:xfrm>
          <a:prstGeom prst="rect">
            <a:avLst/>
          </a:prstGeom>
          <a:noFill/>
          <a:ln/>
        </p:spPr>
        <p:txBody>
          <a:bodyPr wrap="square" lIns="0" tIns="0" rIns="0" bIns="0" rtlCol="0" anchor="t"/>
          <a:lstStyle/>
          <a:p>
            <a:pPr algn="l" indent="0" marL="0">
              <a:lnSpc>
                <a:spcPct val="110000"/>
              </a:lnSpc>
              <a:buNone/>
            </a:pPr>
            <a:r>
              <a:rPr lang="en-US" sz="1600" b="1" dirty="0">
                <a:solidFill>
                  <a:srgbClr val="FFFFFF"/>
                </a:solidFill>
                <a:latin typeface="Cambria" pitchFamily="34" charset="0"/>
                <a:ea typeface="Cambria" pitchFamily="34" charset="-122"/>
                <a:cs typeface="Cambria" pitchFamily="34" charset="-120"/>
              </a:rPr>
              <a:t>Perbarui dengan Gradient Descent</a:t>
            </a:r>
            <a:endParaRPr lang="en-US" sz="1600" dirty="0"/>
          </a:p>
        </p:txBody>
      </p:sp>
      <p:sp>
        <p:nvSpPr>
          <p:cNvPr id="25" name="Text 23"/>
          <p:cNvSpPr txBox="1"/>
          <p:nvPr/>
        </p:nvSpPr>
        <p:spPr>
          <a:xfrm>
            <a:off x="6583680" y="4297680"/>
            <a:ext cx="4663440" cy="457200"/>
          </a:xfrm>
          <a:prstGeom prst="rect">
            <a:avLst/>
          </a:prstGeom>
          <a:noFill/>
          <a:ln/>
        </p:spPr>
        <p:txBody>
          <a:bodyPr wrap="square" lIns="0" tIns="0" rIns="0" bIns="0" rtlCol="0" anchor="t"/>
          <a:lstStyle/>
          <a:p>
            <a:pPr algn="l" indent="0" marL="0">
              <a:lnSpc>
                <a:spcPct val="120000"/>
              </a:lnSpc>
              <a:buNone/>
            </a:pPr>
            <a:r>
              <a:rPr lang="en-US" sz="1250" dirty="0">
                <a:solidFill>
                  <a:srgbClr val="B9BDD0"/>
                </a:solidFill>
                <a:latin typeface="Calibri" pitchFamily="34" charset="0"/>
                <a:ea typeface="Calibri" pitchFamily="34" charset="-122"/>
                <a:cs typeface="Calibri" pitchFamily="34" charset="-120"/>
              </a:rPr>
              <a:t>Persis rumus pertemuan 4:  w ← w − α · ∂L/∂w. Tidak ada yang baru di sini.</a:t>
            </a:r>
            <a:endParaRPr lang="en-US" sz="1250" dirty="0"/>
          </a:p>
        </p:txBody>
      </p:sp>
      <p:sp>
        <p:nvSpPr>
          <p:cNvPr id="26" name="Shape 24"/>
          <p:cNvSpPr/>
          <p:nvPr/>
        </p:nvSpPr>
        <p:spPr>
          <a:xfrm>
            <a:off x="594360" y="5120640"/>
            <a:ext cx="11002975" cy="868680"/>
          </a:xfrm>
          <a:prstGeom prst="roundRect">
            <a:avLst>
              <a:gd name="adj" fmla="val 9474"/>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27" name="Text 25"/>
          <p:cNvSpPr txBox="1"/>
          <p:nvPr/>
        </p:nvSpPr>
        <p:spPr>
          <a:xfrm>
            <a:off x="1005840" y="5303520"/>
            <a:ext cx="10180015" cy="548640"/>
          </a:xfrm>
          <a:prstGeom prst="rect">
            <a:avLst/>
          </a:prstGeom>
          <a:noFill/>
          <a:ln/>
        </p:spPr>
        <p:txBody>
          <a:bodyPr wrap="square" lIns="0" tIns="0" rIns="0" bIns="0" rtlCol="0" anchor="t"/>
          <a:lstStyle/>
          <a:p>
            <a:pPr algn="l" indent="0" marL="0">
              <a:lnSpc>
                <a:spcPct val="128000"/>
              </a:lnSpc>
              <a:buNone/>
            </a:pPr>
            <a:r>
              <a:rPr lang="en-US" sz="1400" b="1" dirty="0">
                <a:solidFill>
                  <a:srgbClr val="5FD9C2"/>
                </a:solidFill>
                <a:latin typeface="Calibri" pitchFamily="34" charset="0"/>
                <a:ea typeface="Calibri" pitchFamily="34" charset="-122"/>
                <a:cs typeface="Calibri" pitchFamily="34" charset="-120"/>
              </a:rPr>
              <a:t>Backpropagation bukan algoritma pelatihan. Ia hanya cara menghitung gradien secara efisien. Yang melatih model tetap Gradient Descent — dan dalam praktik hampir selalu versi mini-batch yang kita bahas di pertemuan 4.</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91B33"/>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7C6BF0"/>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2FA890"/>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5FD9C2"/>
                </a:solidFill>
                <a:latin typeface="Calibri" pitchFamily="34" charset="0"/>
                <a:ea typeface="Calibri" pitchFamily="34" charset="-122"/>
                <a:cs typeface="Calibri" pitchFamily="34" charset="-120"/>
              </a:rPr>
              <a:t>BAGIAN 4</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Menahan Jaringan</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9BDD0"/>
                </a:solidFill>
                <a:latin typeface="Calibri" pitchFamily="34" charset="0"/>
                <a:ea typeface="Calibri" pitchFamily="34" charset="-122"/>
                <a:cs typeface="Calibri" pitchFamily="34" charset="-120"/>
              </a:rPr>
              <a:t>Dropout, early stopping, dan kerendahan hati</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B80A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MASALAHNYA</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Jaringan besar adalah penghafal ulung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594360" y="1280160"/>
            <a:ext cx="5577840" cy="2011680"/>
          </a:xfrm>
          <a:prstGeom prst="roundRect">
            <a:avLst>
              <a:gd name="adj" fmla="val 4091"/>
            </a:avLst>
          </a:prstGeom>
          <a:solidFill>
            <a:srgbClr val="191B33"/>
          </a:solidFill>
          <a:ln w="12700">
            <a:solidFill>
              <a:srgbClr val="191B33"/>
            </a:solidFill>
            <a:prstDash val="solid"/>
          </a:ln>
          <a:effectLst>
            <a:outerShdw sx="100000" sy="100000" kx="0" ky="0" algn="bl" rotWithShape="0" blurRad="101600" dist="508" dir="5400000">
              <a:srgbClr val="AEB2C2">
                <a:alpha val="30000"/>
              </a:srgbClr>
            </a:outerShdw>
          </a:effectLst>
        </p:spPr>
      </p:sp>
      <p:sp>
        <p:nvSpPr>
          <p:cNvPr id="6" name="Text 4"/>
          <p:cNvSpPr txBox="1"/>
          <p:nvPr/>
        </p:nvSpPr>
        <p:spPr>
          <a:xfrm>
            <a:off x="960120" y="1554480"/>
            <a:ext cx="4846320" cy="1371600"/>
          </a:xfrm>
          <a:prstGeom prst="rect">
            <a:avLst/>
          </a:prstGeom>
          <a:noFill/>
          <a:ln/>
        </p:spPr>
        <p:txBody>
          <a:bodyPr wrap="square" lIns="0" tIns="0" rIns="0" bIns="0" rtlCol="0" anchor="t"/>
          <a:lstStyle/>
          <a:p>
            <a:pPr algn="l" indent="0" marL="0">
              <a:lnSpc>
                <a:spcPct val="130000"/>
              </a:lnSpc>
              <a:buNone/>
            </a:pPr>
            <a:r>
              <a:rPr lang="en-US" sz="1550" dirty="0">
                <a:solidFill>
                  <a:srgbClr val="FFFFFF"/>
                </a:solidFill>
                <a:latin typeface="Calibri" pitchFamily="34" charset="0"/>
                <a:ea typeface="Calibri" pitchFamily="34" charset="-122"/>
                <a:cs typeface="Calibri" pitchFamily="34" charset="-120"/>
              </a:rPr>
              <a:t>Jaringan dengan 25 parameter sudah bisa membentuk batas keputusan yang rumit. Jaringan dengan sejuta parameter yang dilatih pada seribu baris data hampir pasti akan menghafal seluruh data latih — termasuk deraunya.</a:t>
            </a:r>
            <a:endParaRPr lang="en-US" sz="1550" dirty="0"/>
          </a:p>
        </p:txBody>
      </p:sp>
      <p:sp>
        <p:nvSpPr>
          <p:cNvPr id="7" name="Shape 5"/>
          <p:cNvSpPr/>
          <p:nvPr/>
        </p:nvSpPr>
        <p:spPr>
          <a:xfrm>
            <a:off x="6537960" y="1280160"/>
            <a:ext cx="5029200" cy="685800"/>
          </a:xfrm>
          <a:prstGeom prst="roundRect">
            <a:avLst>
              <a:gd name="adj" fmla="val 12000"/>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8" name="Shape 6"/>
          <p:cNvSpPr/>
          <p:nvPr/>
        </p:nvSpPr>
        <p:spPr>
          <a:xfrm>
            <a:off x="6812280" y="1417320"/>
            <a:ext cx="384048" cy="45720"/>
          </a:xfrm>
          <a:prstGeom prst="rect">
            <a:avLst/>
          </a:prstGeom>
          <a:solidFill>
            <a:srgbClr val="E8703F"/>
          </a:solidFill>
          <a:ln w="12700">
            <a:solidFill>
              <a:srgbClr val="333333"/>
            </a:solidFill>
            <a:prstDash val="solid"/>
          </a:ln>
        </p:spPr>
      </p:sp>
      <p:sp>
        <p:nvSpPr>
          <p:cNvPr id="9" name="Text 7"/>
          <p:cNvSpPr txBox="1"/>
          <p:nvPr/>
        </p:nvSpPr>
        <p:spPr>
          <a:xfrm>
            <a:off x="6812280" y="1508760"/>
            <a:ext cx="2377440" cy="274320"/>
          </a:xfrm>
          <a:prstGeom prst="rect">
            <a:avLst/>
          </a:prstGeom>
          <a:noFill/>
          <a:ln/>
        </p:spPr>
        <p:txBody>
          <a:bodyPr wrap="square" lIns="0" tIns="0" rIns="0" bIns="0" rtlCol="0" anchor="t"/>
          <a:lstStyle/>
          <a:p>
            <a:pPr algn="l" indent="0" marL="0">
              <a:buNone/>
            </a:pPr>
            <a:r>
              <a:rPr lang="en-US" sz="1250" b="1" dirty="0">
                <a:solidFill>
                  <a:srgbClr val="191B33"/>
                </a:solidFill>
                <a:latin typeface="Calibri" pitchFamily="34" charset="0"/>
                <a:ea typeface="Calibri" pitchFamily="34" charset="-122"/>
                <a:cs typeface="Calibri" pitchFamily="34" charset="-120"/>
              </a:rPr>
              <a:t>Galat latih menuju nol</a:t>
            </a:r>
            <a:endParaRPr lang="en-US" sz="1250" dirty="0"/>
          </a:p>
        </p:txBody>
      </p:sp>
      <p:sp>
        <p:nvSpPr>
          <p:cNvPr id="10" name="Text 8"/>
          <p:cNvSpPr txBox="1"/>
          <p:nvPr/>
        </p:nvSpPr>
        <p:spPr>
          <a:xfrm>
            <a:off x="9281160" y="1389888"/>
            <a:ext cx="2103120" cy="502920"/>
          </a:xfrm>
          <a:prstGeom prst="rect">
            <a:avLst/>
          </a:prstGeom>
          <a:noFill/>
          <a:ln/>
        </p:spPr>
        <p:txBody>
          <a:bodyPr wrap="square" lIns="0" tIns="0" rIns="0" bIns="0" rtlCol="0" anchor="ctr"/>
          <a:lstStyle/>
          <a:p>
            <a:pPr algn="l" indent="0" marL="0">
              <a:lnSpc>
                <a:spcPct val="112000"/>
              </a:lnSpc>
              <a:buNone/>
            </a:pPr>
            <a:r>
              <a:rPr lang="en-US" sz="1050" dirty="0">
                <a:solidFill>
                  <a:srgbClr val="1A1C2E"/>
                </a:solidFill>
                <a:latin typeface="Calibri" pitchFamily="34" charset="0"/>
                <a:ea typeface="Calibri" pitchFamily="34" charset="-122"/>
                <a:cs typeface="Calibri" pitchFamily="34" charset="-120"/>
              </a:rPr>
              <a:t>Sementara galat validasi berhenti turun lalu berbalik naik.</a:t>
            </a:r>
            <a:endParaRPr lang="en-US" sz="1050" dirty="0"/>
          </a:p>
        </p:txBody>
      </p:sp>
      <p:sp>
        <p:nvSpPr>
          <p:cNvPr id="11" name="Shape 9"/>
          <p:cNvSpPr/>
          <p:nvPr/>
        </p:nvSpPr>
        <p:spPr>
          <a:xfrm>
            <a:off x="6537960" y="2057400"/>
            <a:ext cx="5029200" cy="685800"/>
          </a:xfrm>
          <a:prstGeom prst="roundRect">
            <a:avLst>
              <a:gd name="adj" fmla="val 12000"/>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2" name="Shape 10"/>
          <p:cNvSpPr/>
          <p:nvPr/>
        </p:nvSpPr>
        <p:spPr>
          <a:xfrm>
            <a:off x="6812280" y="2194560"/>
            <a:ext cx="384048" cy="45720"/>
          </a:xfrm>
          <a:prstGeom prst="rect">
            <a:avLst/>
          </a:prstGeom>
          <a:solidFill>
            <a:srgbClr val="E8703F"/>
          </a:solidFill>
          <a:ln w="12700">
            <a:solidFill>
              <a:srgbClr val="333333"/>
            </a:solidFill>
            <a:prstDash val="solid"/>
          </a:ln>
        </p:spPr>
      </p:sp>
      <p:sp>
        <p:nvSpPr>
          <p:cNvPr id="13" name="Text 11"/>
          <p:cNvSpPr txBox="1"/>
          <p:nvPr/>
        </p:nvSpPr>
        <p:spPr>
          <a:xfrm>
            <a:off x="6812280" y="2286000"/>
            <a:ext cx="2377440" cy="274320"/>
          </a:xfrm>
          <a:prstGeom prst="rect">
            <a:avLst/>
          </a:prstGeom>
          <a:noFill/>
          <a:ln/>
        </p:spPr>
        <p:txBody>
          <a:bodyPr wrap="square" lIns="0" tIns="0" rIns="0" bIns="0" rtlCol="0" anchor="t"/>
          <a:lstStyle/>
          <a:p>
            <a:pPr algn="l" indent="0" marL="0">
              <a:buNone/>
            </a:pPr>
            <a:r>
              <a:rPr lang="en-US" sz="1250" b="1" dirty="0">
                <a:solidFill>
                  <a:srgbClr val="191B33"/>
                </a:solidFill>
                <a:latin typeface="Calibri" pitchFamily="34" charset="0"/>
                <a:ea typeface="Calibri" pitchFamily="34" charset="-122"/>
                <a:cs typeface="Calibri" pitchFamily="34" charset="-120"/>
              </a:rPr>
              <a:t>Sangat yakin dan keliru</a:t>
            </a:r>
            <a:endParaRPr lang="en-US" sz="1250" dirty="0"/>
          </a:p>
        </p:txBody>
      </p:sp>
      <p:sp>
        <p:nvSpPr>
          <p:cNvPr id="14" name="Text 12"/>
          <p:cNvSpPr txBox="1"/>
          <p:nvPr/>
        </p:nvSpPr>
        <p:spPr>
          <a:xfrm>
            <a:off x="9281160" y="2167128"/>
            <a:ext cx="2103120" cy="502920"/>
          </a:xfrm>
          <a:prstGeom prst="rect">
            <a:avLst/>
          </a:prstGeom>
          <a:noFill/>
          <a:ln/>
        </p:spPr>
        <p:txBody>
          <a:bodyPr wrap="square" lIns="0" tIns="0" rIns="0" bIns="0" rtlCol="0" anchor="ctr"/>
          <a:lstStyle/>
          <a:p>
            <a:pPr algn="l" indent="0" marL="0">
              <a:lnSpc>
                <a:spcPct val="112000"/>
              </a:lnSpc>
              <a:buNone/>
            </a:pPr>
            <a:r>
              <a:rPr lang="en-US" sz="1050" dirty="0">
                <a:solidFill>
                  <a:srgbClr val="1A1C2E"/>
                </a:solidFill>
                <a:latin typeface="Calibri" pitchFamily="34" charset="0"/>
                <a:ea typeface="Calibri" pitchFamily="34" charset="-122"/>
                <a:cs typeface="Calibri" pitchFamily="34" charset="-120"/>
              </a:rPr>
              <a:t>Model memberi probabilitas 0,99 pada data baru yang sebenarnya salah.</a:t>
            </a:r>
            <a:endParaRPr lang="en-US" sz="1050" dirty="0"/>
          </a:p>
        </p:txBody>
      </p:sp>
      <p:sp>
        <p:nvSpPr>
          <p:cNvPr id="15" name="Shape 13"/>
          <p:cNvSpPr/>
          <p:nvPr/>
        </p:nvSpPr>
        <p:spPr>
          <a:xfrm>
            <a:off x="6537960" y="2834640"/>
            <a:ext cx="5029200" cy="685800"/>
          </a:xfrm>
          <a:prstGeom prst="roundRect">
            <a:avLst>
              <a:gd name="adj" fmla="val 12000"/>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6" name="Shape 14"/>
          <p:cNvSpPr/>
          <p:nvPr/>
        </p:nvSpPr>
        <p:spPr>
          <a:xfrm>
            <a:off x="6812280" y="2971800"/>
            <a:ext cx="384048" cy="45720"/>
          </a:xfrm>
          <a:prstGeom prst="rect">
            <a:avLst/>
          </a:prstGeom>
          <a:solidFill>
            <a:srgbClr val="7C6BF0"/>
          </a:solidFill>
          <a:ln w="12700">
            <a:solidFill>
              <a:srgbClr val="333333"/>
            </a:solidFill>
            <a:prstDash val="solid"/>
          </a:ln>
        </p:spPr>
      </p:sp>
      <p:sp>
        <p:nvSpPr>
          <p:cNvPr id="17" name="Text 15"/>
          <p:cNvSpPr txBox="1"/>
          <p:nvPr/>
        </p:nvSpPr>
        <p:spPr>
          <a:xfrm>
            <a:off x="6812280" y="3063240"/>
            <a:ext cx="2377440" cy="274320"/>
          </a:xfrm>
          <a:prstGeom prst="rect">
            <a:avLst/>
          </a:prstGeom>
          <a:noFill/>
          <a:ln/>
        </p:spPr>
        <p:txBody>
          <a:bodyPr wrap="square" lIns="0" tIns="0" rIns="0" bIns="0" rtlCol="0" anchor="t"/>
          <a:lstStyle/>
          <a:p>
            <a:pPr algn="l" indent="0" marL="0">
              <a:buNone/>
            </a:pPr>
            <a:r>
              <a:rPr lang="en-US" sz="1250" b="1" dirty="0">
                <a:solidFill>
                  <a:srgbClr val="191B33"/>
                </a:solidFill>
                <a:latin typeface="Calibri" pitchFamily="34" charset="0"/>
                <a:ea typeface="Calibri" pitchFamily="34" charset="-122"/>
                <a:cs typeface="Calibri" pitchFamily="34" charset="-120"/>
              </a:rPr>
              <a:t>Rapuh terhadap perubahan kecil</a:t>
            </a:r>
            <a:endParaRPr lang="en-US" sz="1250" dirty="0"/>
          </a:p>
        </p:txBody>
      </p:sp>
      <p:sp>
        <p:nvSpPr>
          <p:cNvPr id="18" name="Text 16"/>
          <p:cNvSpPr txBox="1"/>
          <p:nvPr/>
        </p:nvSpPr>
        <p:spPr>
          <a:xfrm>
            <a:off x="9281160" y="2944368"/>
            <a:ext cx="2103120" cy="502920"/>
          </a:xfrm>
          <a:prstGeom prst="rect">
            <a:avLst/>
          </a:prstGeom>
          <a:noFill/>
          <a:ln/>
        </p:spPr>
        <p:txBody>
          <a:bodyPr wrap="square" lIns="0" tIns="0" rIns="0" bIns="0" rtlCol="0" anchor="ctr"/>
          <a:lstStyle/>
          <a:p>
            <a:pPr algn="l" indent="0" marL="0">
              <a:lnSpc>
                <a:spcPct val="112000"/>
              </a:lnSpc>
              <a:buNone/>
            </a:pPr>
            <a:r>
              <a:rPr lang="en-US" sz="1050" dirty="0">
                <a:solidFill>
                  <a:srgbClr val="1A1C2E"/>
                </a:solidFill>
                <a:latin typeface="Calibri" pitchFamily="34" charset="0"/>
                <a:ea typeface="Calibri" pitchFamily="34" charset="-122"/>
                <a:cs typeface="Calibri" pitchFamily="34" charset="-120"/>
              </a:rPr>
              <a:t>Data baru yang sedikit berbeda menghasilkan prediksi yang jauh meleset.</a:t>
            </a:r>
            <a:endParaRPr lang="en-US" sz="1050" dirty="0"/>
          </a:p>
        </p:txBody>
      </p:sp>
      <p:sp>
        <p:nvSpPr>
          <p:cNvPr id="19" name="Shape 17"/>
          <p:cNvSpPr/>
          <p:nvPr/>
        </p:nvSpPr>
        <p:spPr>
          <a:xfrm>
            <a:off x="594360" y="3520440"/>
            <a:ext cx="11002975" cy="2240280"/>
          </a:xfrm>
          <a:prstGeom prst="roundRect">
            <a:avLst>
              <a:gd name="adj" fmla="val 3673"/>
            </a:avLst>
          </a:prstGeom>
          <a:solidFill>
            <a:srgbClr val="E7F5F1"/>
          </a:solidFill>
          <a:ln w="12700">
            <a:solidFill>
              <a:srgbClr val="C3E5DC"/>
            </a:solidFill>
            <a:prstDash val="solid"/>
          </a:ln>
          <a:effectLst>
            <a:outerShdw sx="100000" sy="100000" kx="0" ky="0" algn="bl" rotWithShape="0" blurRad="101600" dist="508" dir="5400000">
              <a:srgbClr val="AEB2C2">
                <a:alpha val="30000"/>
              </a:srgbClr>
            </a:outerShdw>
          </a:effectLst>
        </p:spPr>
      </p:sp>
      <p:sp>
        <p:nvSpPr>
          <p:cNvPr id="20" name="Text 18"/>
          <p:cNvSpPr txBox="1"/>
          <p:nvPr/>
        </p:nvSpPr>
        <p:spPr>
          <a:xfrm>
            <a:off x="1005840" y="3703320"/>
            <a:ext cx="10180015" cy="292608"/>
          </a:xfrm>
          <a:prstGeom prst="rect">
            <a:avLst/>
          </a:prstGeom>
          <a:noFill/>
          <a:ln/>
        </p:spPr>
        <p:txBody>
          <a:bodyPr wrap="square" lIns="0" tIns="0" rIns="0" bIns="0" rtlCol="0" anchor="t"/>
          <a:lstStyle/>
          <a:p>
            <a:pPr algn="l" indent="0" marL="0">
              <a:buNone/>
            </a:pPr>
            <a:r>
              <a:rPr lang="en-US" sz="1800" b="1" dirty="0">
                <a:solidFill>
                  <a:srgbClr val="19685A"/>
                </a:solidFill>
                <a:latin typeface="Cambria" pitchFamily="34" charset="0"/>
                <a:ea typeface="Cambria" pitchFamily="34" charset="-122"/>
                <a:cs typeface="Cambria" pitchFamily="34" charset="-120"/>
              </a:rPr>
              <a:t>Yang sudah Anda kenal tetap berlaku</a:t>
            </a:r>
            <a:endParaRPr lang="en-US" sz="1800" dirty="0"/>
          </a:p>
        </p:txBody>
      </p:sp>
      <p:sp>
        <p:nvSpPr>
          <p:cNvPr id="21" name="Text 19"/>
          <p:cNvSpPr txBox="1"/>
          <p:nvPr/>
        </p:nvSpPr>
        <p:spPr>
          <a:xfrm>
            <a:off x="1005840" y="4069080"/>
            <a:ext cx="10180015" cy="1097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9685A"/>
                </a:solidFill>
                <a:latin typeface="Calibri" pitchFamily="34" charset="0"/>
                <a:ea typeface="Calibri" pitchFamily="34" charset="-122"/>
                <a:cs typeface="Calibri" pitchFamily="34" charset="-120"/>
              </a:rPr>
              <a:t>Regularisasi L2 pada bobot — persis seperti Ridge di pertemuan 5</a:t>
            </a:r>
            <a:endParaRPr lang="en-US" sz="1400" dirty="0"/>
          </a:p>
          <a:p>
            <a:pPr marL="342900" indent="-342900">
              <a:spcAft>
                <a:spcPts val="500"/>
              </a:spcAft>
              <a:buSzPct val="100000"/>
              <a:buChar char="•"/>
            </a:pPr>
            <a:r>
              <a:rPr lang="en-US" sz="1400" dirty="0">
                <a:solidFill>
                  <a:srgbClr val="19685A"/>
                </a:solidFill>
                <a:latin typeface="Calibri" pitchFamily="34" charset="0"/>
                <a:ea typeface="Calibri" pitchFamily="34" charset="-122"/>
                <a:cs typeface="Calibri" pitchFamily="34" charset="-120"/>
              </a:rPr>
              <a:t>Menambah data latih — satu-satunya perbaikan tanpa kompromi</a:t>
            </a:r>
            <a:endParaRPr lang="en-US" sz="1400" dirty="0"/>
          </a:p>
          <a:p>
            <a:pPr marL="342900" indent="-342900">
              <a:spcAft>
                <a:spcPts val="500"/>
              </a:spcAft>
              <a:buSzPct val="100000"/>
              <a:buChar char="•"/>
            </a:pPr>
            <a:r>
              <a:rPr lang="en-US" sz="1400" dirty="0">
                <a:solidFill>
                  <a:srgbClr val="19685A"/>
                </a:solidFill>
                <a:latin typeface="Calibri" pitchFamily="34" charset="0"/>
                <a:ea typeface="Calibri" pitchFamily="34" charset="-122"/>
                <a:cs typeface="Calibri" pitchFamily="34" charset="-120"/>
              </a:rPr>
              <a:t>Menyederhanakan model dengan mengurangi lapisan atau neuron</a:t>
            </a:r>
            <a:endParaRPr lang="en-US" sz="1400" dirty="0"/>
          </a:p>
          <a:p>
            <a:pPr marL="342900" indent="-342900">
              <a:spcAft>
                <a:spcPts val="500"/>
              </a:spcAft>
              <a:buSzPct val="100000"/>
              <a:buChar char="•"/>
            </a:pPr>
            <a:r>
              <a:rPr lang="en-US" sz="1400" dirty="0">
                <a:solidFill>
                  <a:srgbClr val="19685A"/>
                </a:solidFill>
                <a:latin typeface="Calibri" pitchFamily="34" charset="0"/>
                <a:ea typeface="Calibri" pitchFamily="34" charset="-122"/>
                <a:cs typeface="Calibri" pitchFamily="34" charset="-120"/>
              </a:rPr>
              <a:t>Cross-validation untuk memilih ukuran jaringan — pertemuan 9</a:t>
            </a:r>
            <a:endParaRPr lang="en-US" sz="1400" dirty="0"/>
          </a:p>
        </p:txBody>
      </p:sp>
      <p:sp>
        <p:nvSpPr>
          <p:cNvPr id="22" name="Text 20"/>
          <p:cNvSpPr txBox="1"/>
          <p:nvPr/>
        </p:nvSpPr>
        <p:spPr>
          <a:xfrm>
            <a:off x="1005840" y="5321808"/>
            <a:ext cx="10180015" cy="320040"/>
          </a:xfrm>
          <a:prstGeom prst="rect">
            <a:avLst/>
          </a:prstGeom>
          <a:noFill/>
          <a:ln/>
        </p:spPr>
        <p:txBody>
          <a:bodyPr wrap="square" lIns="0" tIns="0" rIns="0" bIns="0" rtlCol="0" anchor="t"/>
          <a:lstStyle/>
          <a:p>
            <a:pPr algn="l" indent="0" marL="0">
              <a:buNone/>
            </a:pPr>
            <a:r>
              <a:rPr lang="en-US" sz="1350" b="1" i="1" dirty="0">
                <a:solidFill>
                  <a:srgbClr val="19685A"/>
                </a:solidFill>
                <a:latin typeface="Calibri" pitchFamily="34" charset="0"/>
                <a:ea typeface="Calibri" pitchFamily="34" charset="-122"/>
                <a:cs typeface="Calibri" pitchFamily="34" charset="-120"/>
              </a:rPr>
              <a:t>Dua teknik berikut khas jaringan saraf dan tidak punya padanan pada model sebelumnya.</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DUA TEKNIK KHAS</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Dropout dan early stopping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18</a:t>
            </a:r>
            <a:endParaRPr lang="en-US" sz="1000" dirty="0"/>
          </a:p>
        </p:txBody>
      </p:sp>
      <p:sp>
        <p:nvSpPr>
          <p:cNvPr id="5" name="Shape 3"/>
          <p:cNvSpPr/>
          <p:nvPr/>
        </p:nvSpPr>
        <p:spPr>
          <a:xfrm>
            <a:off x="594360" y="1325880"/>
            <a:ext cx="5303520" cy="4160520"/>
          </a:xfrm>
          <a:prstGeom prst="roundRect">
            <a:avLst>
              <a:gd name="adj" fmla="val 1978"/>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6" name="Shape 4"/>
          <p:cNvSpPr/>
          <p:nvPr/>
        </p:nvSpPr>
        <p:spPr>
          <a:xfrm>
            <a:off x="594360" y="1325880"/>
            <a:ext cx="5303520" cy="868680"/>
          </a:xfrm>
          <a:prstGeom prst="roundRect">
            <a:avLst>
              <a:gd name="adj" fmla="val 9474"/>
            </a:avLst>
          </a:prstGeom>
          <a:solidFill>
            <a:srgbClr val="7C6BF0"/>
          </a:solidFill>
          <a:ln w="12700">
            <a:solidFill>
              <a:srgbClr val="333333"/>
            </a:solidFill>
            <a:prstDash val="solid"/>
          </a:ln>
        </p:spPr>
      </p:sp>
      <p:sp>
        <p:nvSpPr>
          <p:cNvPr id="7" name="Text 5"/>
          <p:cNvSpPr txBox="1"/>
          <p:nvPr/>
        </p:nvSpPr>
        <p:spPr>
          <a:xfrm>
            <a:off x="960120" y="1463040"/>
            <a:ext cx="4572000" cy="365760"/>
          </a:xfrm>
          <a:prstGeom prst="rect">
            <a:avLst/>
          </a:prstGeom>
          <a:noFill/>
          <a:ln/>
        </p:spPr>
        <p:txBody>
          <a:bodyPr wrap="square" lIns="0" tIns="0" rIns="0" bIns="0" rtlCol="0" anchor="t"/>
          <a:lstStyle/>
          <a:p>
            <a:pPr algn="l" indent="0" marL="0">
              <a:buNone/>
            </a:pPr>
            <a:r>
              <a:rPr lang="en-US" sz="2200" b="1" dirty="0">
                <a:solidFill>
                  <a:srgbClr val="FFFFFF"/>
                </a:solidFill>
                <a:latin typeface="Cambria" pitchFamily="34" charset="0"/>
                <a:ea typeface="Cambria" pitchFamily="34" charset="-122"/>
                <a:cs typeface="Cambria" pitchFamily="34" charset="-120"/>
              </a:rPr>
              <a:t>Dropout</a:t>
            </a:r>
            <a:endParaRPr lang="en-US" sz="2200" dirty="0"/>
          </a:p>
        </p:txBody>
      </p:sp>
      <p:sp>
        <p:nvSpPr>
          <p:cNvPr id="8" name="Text 6"/>
          <p:cNvSpPr txBox="1"/>
          <p:nvPr/>
        </p:nvSpPr>
        <p:spPr>
          <a:xfrm>
            <a:off x="960120" y="1828800"/>
            <a:ext cx="4572000" cy="274320"/>
          </a:xfrm>
          <a:prstGeom prst="rect">
            <a:avLst/>
          </a:prstGeom>
          <a:noFill/>
          <a:ln/>
        </p:spPr>
        <p:txBody>
          <a:bodyPr wrap="square" lIns="0" tIns="0" rIns="0" bIns="0" rtlCol="0" anchor="t"/>
          <a:lstStyle/>
          <a:p>
            <a:pPr algn="l" indent="0" marL="0">
              <a:buNone/>
            </a:pPr>
            <a:r>
              <a:rPr lang="en-US" sz="1250" dirty="0">
                <a:solidFill>
                  <a:srgbClr val="F0F1F5"/>
                </a:solidFill>
                <a:latin typeface="Calibri" pitchFamily="34" charset="0"/>
                <a:ea typeface="Calibri" pitchFamily="34" charset="-122"/>
                <a:cs typeface="Calibri" pitchFamily="34" charset="-120"/>
              </a:rPr>
              <a:t>Mematikan neuron secara acak</a:t>
            </a:r>
            <a:endParaRPr lang="en-US" sz="1250" dirty="0"/>
          </a:p>
        </p:txBody>
      </p:sp>
      <p:sp>
        <p:nvSpPr>
          <p:cNvPr id="9" name="Text 7"/>
          <p:cNvSpPr txBox="1"/>
          <p:nvPr/>
        </p:nvSpPr>
        <p:spPr>
          <a:xfrm>
            <a:off x="960120" y="2423160"/>
            <a:ext cx="4572000" cy="18288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A1C2E"/>
                </a:solidFill>
                <a:latin typeface="Calibri" pitchFamily="34" charset="0"/>
                <a:ea typeface="Calibri" pitchFamily="34" charset="-122"/>
                <a:cs typeface="Calibri" pitchFamily="34" charset="-120"/>
              </a:rPr>
              <a:t>Pada tiap langkah pelatihan, sebagian neuron dimatikan sementara secara acak</a:t>
            </a:r>
            <a:endParaRPr lang="en-US" sz="1350" dirty="0"/>
          </a:p>
          <a:p>
            <a:pPr marL="342900" indent="-342900">
              <a:spcAft>
                <a:spcPts val="600"/>
              </a:spcAft>
              <a:buSzPct val="100000"/>
              <a:buChar char="•"/>
            </a:pPr>
            <a:r>
              <a:rPr lang="en-US" sz="1350" dirty="0">
                <a:solidFill>
                  <a:srgbClr val="1A1C2E"/>
                </a:solidFill>
                <a:latin typeface="Calibri" pitchFamily="34" charset="0"/>
                <a:ea typeface="Calibri" pitchFamily="34" charset="-122"/>
                <a:cs typeface="Calibri" pitchFamily="34" charset="-120"/>
              </a:rPr>
              <a:t>Proporsi lazim: 20% sampai 50% neuron per lapisan</a:t>
            </a:r>
            <a:endParaRPr lang="en-US" sz="1350" dirty="0"/>
          </a:p>
          <a:p>
            <a:pPr marL="342900" indent="-342900">
              <a:spcAft>
                <a:spcPts val="600"/>
              </a:spcAft>
              <a:buSzPct val="100000"/>
              <a:buChar char="•"/>
            </a:pPr>
            <a:r>
              <a:rPr lang="en-US" sz="1350" dirty="0">
                <a:solidFill>
                  <a:srgbClr val="1A1C2E"/>
                </a:solidFill>
                <a:latin typeface="Calibri" pitchFamily="34" charset="0"/>
                <a:ea typeface="Calibri" pitchFamily="34" charset="-122"/>
                <a:cs typeface="Calibri" pitchFamily="34" charset="-120"/>
              </a:rPr>
              <a:t>Neuron yang tersisa terpaksa bekerja tanpa bergantung pada neuron tertentu</a:t>
            </a:r>
            <a:endParaRPr lang="en-US" sz="1350" dirty="0"/>
          </a:p>
          <a:p>
            <a:pPr marL="342900" indent="-342900">
              <a:spcAft>
                <a:spcPts val="600"/>
              </a:spcAft>
              <a:buSzPct val="100000"/>
              <a:buChar char="•"/>
            </a:pPr>
            <a:r>
              <a:rPr lang="en-US" sz="1350" dirty="0">
                <a:solidFill>
                  <a:srgbClr val="1A1C2E"/>
                </a:solidFill>
                <a:latin typeface="Calibri" pitchFamily="34" charset="0"/>
                <a:ea typeface="Calibri" pitchFamily="34" charset="-122"/>
                <a:cs typeface="Calibri" pitchFamily="34" charset="-120"/>
              </a:rPr>
              <a:t>Saat prediksi, seluruh neuron dinyalakan kembali</a:t>
            </a:r>
            <a:endParaRPr lang="en-US" sz="1350" dirty="0"/>
          </a:p>
        </p:txBody>
      </p:sp>
      <p:sp>
        <p:nvSpPr>
          <p:cNvPr id="10" name="Shape 8"/>
          <p:cNvSpPr/>
          <p:nvPr/>
        </p:nvSpPr>
        <p:spPr>
          <a:xfrm>
            <a:off x="960120" y="4434840"/>
            <a:ext cx="4572000" cy="18288"/>
          </a:xfrm>
          <a:prstGeom prst="rect">
            <a:avLst/>
          </a:prstGeom>
          <a:solidFill>
            <a:srgbClr val="DDDFE8"/>
          </a:solidFill>
          <a:ln w="12700">
            <a:solidFill>
              <a:srgbClr val="333333"/>
            </a:solidFill>
            <a:prstDash val="solid"/>
          </a:ln>
        </p:spPr>
      </p:sp>
      <p:sp>
        <p:nvSpPr>
          <p:cNvPr id="11" name="Text 9"/>
          <p:cNvSpPr txBox="1"/>
          <p:nvPr/>
        </p:nvSpPr>
        <p:spPr>
          <a:xfrm>
            <a:off x="960120" y="4599432"/>
            <a:ext cx="4572000" cy="731520"/>
          </a:xfrm>
          <a:prstGeom prst="rect">
            <a:avLst/>
          </a:prstGeom>
          <a:noFill/>
          <a:ln/>
        </p:spPr>
        <p:txBody>
          <a:bodyPr wrap="square" lIns="0" tIns="0" rIns="0" bIns="0" rtlCol="0" anchor="t"/>
          <a:lstStyle/>
          <a:p>
            <a:pPr algn="l" indent="0" marL="0">
              <a:lnSpc>
                <a:spcPct val="125000"/>
              </a:lnSpc>
              <a:buNone/>
            </a:pPr>
            <a:r>
              <a:rPr lang="en-US" sz="1300" i="1" dirty="0">
                <a:solidFill>
                  <a:srgbClr val="7C6BF0"/>
                </a:solidFill>
                <a:latin typeface="Calibri" pitchFamily="34" charset="0"/>
                <a:ea typeface="Calibri" pitchFamily="34" charset="-122"/>
                <a:cs typeface="Calibri" pitchFamily="34" charset="-120"/>
              </a:rPr>
              <a:t>Efeknya seperti melatih banyak jaringan berbeda lalu merata-ratakannya — gagasan ensemble dari pertemuan 10.</a:t>
            </a:r>
            <a:endParaRPr lang="en-US" sz="1300" dirty="0"/>
          </a:p>
        </p:txBody>
      </p:sp>
      <p:sp>
        <p:nvSpPr>
          <p:cNvPr id="12" name="Shape 10"/>
          <p:cNvSpPr/>
          <p:nvPr/>
        </p:nvSpPr>
        <p:spPr>
          <a:xfrm>
            <a:off x="6263640" y="1325880"/>
            <a:ext cx="5303520" cy="4160520"/>
          </a:xfrm>
          <a:prstGeom prst="roundRect">
            <a:avLst>
              <a:gd name="adj" fmla="val 1978"/>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3" name="Shape 11"/>
          <p:cNvSpPr/>
          <p:nvPr/>
        </p:nvSpPr>
        <p:spPr>
          <a:xfrm>
            <a:off x="6263640" y="1325880"/>
            <a:ext cx="5303520" cy="868680"/>
          </a:xfrm>
          <a:prstGeom prst="roundRect">
            <a:avLst>
              <a:gd name="adj" fmla="val 9474"/>
            </a:avLst>
          </a:prstGeom>
          <a:solidFill>
            <a:srgbClr val="2FA890"/>
          </a:solidFill>
          <a:ln w="12700">
            <a:solidFill>
              <a:srgbClr val="333333"/>
            </a:solidFill>
            <a:prstDash val="solid"/>
          </a:ln>
        </p:spPr>
      </p:sp>
      <p:sp>
        <p:nvSpPr>
          <p:cNvPr id="14" name="Text 12"/>
          <p:cNvSpPr txBox="1"/>
          <p:nvPr/>
        </p:nvSpPr>
        <p:spPr>
          <a:xfrm>
            <a:off x="6629400" y="1463040"/>
            <a:ext cx="4572000" cy="365760"/>
          </a:xfrm>
          <a:prstGeom prst="rect">
            <a:avLst/>
          </a:prstGeom>
          <a:noFill/>
          <a:ln/>
        </p:spPr>
        <p:txBody>
          <a:bodyPr wrap="square" lIns="0" tIns="0" rIns="0" bIns="0" rtlCol="0" anchor="t"/>
          <a:lstStyle/>
          <a:p>
            <a:pPr algn="l" indent="0" marL="0">
              <a:buNone/>
            </a:pPr>
            <a:r>
              <a:rPr lang="en-US" sz="2200" b="1" dirty="0">
                <a:solidFill>
                  <a:srgbClr val="FFFFFF"/>
                </a:solidFill>
                <a:latin typeface="Cambria" pitchFamily="34" charset="0"/>
                <a:ea typeface="Cambria" pitchFamily="34" charset="-122"/>
                <a:cs typeface="Cambria" pitchFamily="34" charset="-120"/>
              </a:rPr>
              <a:t>Early stopping</a:t>
            </a:r>
            <a:endParaRPr lang="en-US" sz="2200" dirty="0"/>
          </a:p>
        </p:txBody>
      </p:sp>
      <p:sp>
        <p:nvSpPr>
          <p:cNvPr id="15" name="Text 13"/>
          <p:cNvSpPr txBox="1"/>
          <p:nvPr/>
        </p:nvSpPr>
        <p:spPr>
          <a:xfrm>
            <a:off x="6629400" y="1828800"/>
            <a:ext cx="4572000" cy="274320"/>
          </a:xfrm>
          <a:prstGeom prst="rect">
            <a:avLst/>
          </a:prstGeom>
          <a:noFill/>
          <a:ln/>
        </p:spPr>
        <p:txBody>
          <a:bodyPr wrap="square" lIns="0" tIns="0" rIns="0" bIns="0" rtlCol="0" anchor="t"/>
          <a:lstStyle/>
          <a:p>
            <a:pPr algn="l" indent="0" marL="0">
              <a:buNone/>
            </a:pPr>
            <a:r>
              <a:rPr lang="en-US" sz="1250" dirty="0">
                <a:solidFill>
                  <a:srgbClr val="F0F1F5"/>
                </a:solidFill>
                <a:latin typeface="Calibri" pitchFamily="34" charset="0"/>
                <a:ea typeface="Calibri" pitchFamily="34" charset="-122"/>
                <a:cs typeface="Calibri" pitchFamily="34" charset="-120"/>
              </a:rPr>
              <a:t>Berhenti sebelum terlambat</a:t>
            </a:r>
            <a:endParaRPr lang="en-US" sz="1250" dirty="0"/>
          </a:p>
        </p:txBody>
      </p:sp>
      <p:sp>
        <p:nvSpPr>
          <p:cNvPr id="16" name="Text 14"/>
          <p:cNvSpPr txBox="1"/>
          <p:nvPr/>
        </p:nvSpPr>
        <p:spPr>
          <a:xfrm>
            <a:off x="6629400" y="2423160"/>
            <a:ext cx="4572000" cy="18288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A1C2E"/>
                </a:solidFill>
                <a:latin typeface="Calibri" pitchFamily="34" charset="0"/>
                <a:ea typeface="Calibri" pitchFamily="34" charset="-122"/>
                <a:cs typeface="Calibri" pitchFamily="34" charset="-120"/>
              </a:rPr>
              <a:t>Pantau galat validasi di setiap putaran pelatihan</a:t>
            </a:r>
            <a:endParaRPr lang="en-US" sz="1350" dirty="0"/>
          </a:p>
          <a:p>
            <a:pPr marL="342900" indent="-342900">
              <a:spcAft>
                <a:spcPts val="600"/>
              </a:spcAft>
              <a:buSzPct val="100000"/>
              <a:buChar char="•"/>
            </a:pPr>
            <a:r>
              <a:rPr lang="en-US" sz="1350" dirty="0">
                <a:solidFill>
                  <a:srgbClr val="1A1C2E"/>
                </a:solidFill>
                <a:latin typeface="Calibri" pitchFamily="34" charset="0"/>
                <a:ea typeface="Calibri" pitchFamily="34" charset="-122"/>
                <a:cs typeface="Calibri" pitchFamily="34" charset="-120"/>
              </a:rPr>
              <a:t>Selama masih turun, lanjutkan</a:t>
            </a:r>
            <a:endParaRPr lang="en-US" sz="1350" dirty="0"/>
          </a:p>
          <a:p>
            <a:pPr marL="342900" indent="-342900">
              <a:spcAft>
                <a:spcPts val="600"/>
              </a:spcAft>
              <a:buSzPct val="100000"/>
              <a:buChar char="•"/>
            </a:pPr>
            <a:r>
              <a:rPr lang="en-US" sz="1350" dirty="0">
                <a:solidFill>
                  <a:srgbClr val="1A1C2E"/>
                </a:solidFill>
                <a:latin typeface="Calibri" pitchFamily="34" charset="0"/>
                <a:ea typeface="Calibri" pitchFamily="34" charset="-122"/>
                <a:cs typeface="Calibri" pitchFamily="34" charset="-120"/>
              </a:rPr>
              <a:t>Begitu mulai naik secara konsisten, hentikan</a:t>
            </a:r>
            <a:endParaRPr lang="en-US" sz="1350" dirty="0"/>
          </a:p>
          <a:p>
            <a:pPr marL="342900" indent="-342900">
              <a:spcAft>
                <a:spcPts val="600"/>
              </a:spcAft>
              <a:buSzPct val="100000"/>
              <a:buChar char="•"/>
            </a:pPr>
            <a:r>
              <a:rPr lang="en-US" sz="1350" dirty="0">
                <a:solidFill>
                  <a:srgbClr val="1A1C2E"/>
                </a:solidFill>
                <a:latin typeface="Calibri" pitchFamily="34" charset="0"/>
                <a:ea typeface="Calibri" pitchFamily="34" charset="-122"/>
                <a:cs typeface="Calibri" pitchFamily="34" charset="-120"/>
              </a:rPr>
              <a:t>Kembalikan bobot ke keadaan terbaik yang pernah dicapai</a:t>
            </a:r>
            <a:endParaRPr lang="en-US" sz="1350" dirty="0"/>
          </a:p>
        </p:txBody>
      </p:sp>
      <p:sp>
        <p:nvSpPr>
          <p:cNvPr id="17" name="Shape 15"/>
          <p:cNvSpPr/>
          <p:nvPr/>
        </p:nvSpPr>
        <p:spPr>
          <a:xfrm>
            <a:off x="6629400" y="4434840"/>
            <a:ext cx="4572000" cy="18288"/>
          </a:xfrm>
          <a:prstGeom prst="rect">
            <a:avLst/>
          </a:prstGeom>
          <a:solidFill>
            <a:srgbClr val="DDDFE8"/>
          </a:solidFill>
          <a:ln w="12700">
            <a:solidFill>
              <a:srgbClr val="333333"/>
            </a:solidFill>
            <a:prstDash val="solid"/>
          </a:ln>
        </p:spPr>
      </p:sp>
      <p:sp>
        <p:nvSpPr>
          <p:cNvPr id="18" name="Text 16"/>
          <p:cNvSpPr txBox="1"/>
          <p:nvPr/>
        </p:nvSpPr>
        <p:spPr>
          <a:xfrm>
            <a:off x="6629400" y="4599432"/>
            <a:ext cx="4572000" cy="731520"/>
          </a:xfrm>
          <a:prstGeom prst="rect">
            <a:avLst/>
          </a:prstGeom>
          <a:noFill/>
          <a:ln/>
        </p:spPr>
        <p:txBody>
          <a:bodyPr wrap="square" lIns="0" tIns="0" rIns="0" bIns="0" rtlCol="0" anchor="t"/>
          <a:lstStyle/>
          <a:p>
            <a:pPr algn="l" indent="0" marL="0">
              <a:lnSpc>
                <a:spcPct val="125000"/>
              </a:lnSpc>
              <a:buNone/>
            </a:pPr>
            <a:r>
              <a:rPr lang="en-US" sz="1300" i="1" dirty="0">
                <a:solidFill>
                  <a:srgbClr val="2FA890"/>
                </a:solidFill>
                <a:latin typeface="Calibri" pitchFamily="34" charset="0"/>
                <a:ea typeface="Calibri" pitchFamily="34" charset="-122"/>
                <a:cs typeface="Calibri" pitchFamily="34" charset="-120"/>
              </a:rPr>
              <a:t>Bentuk regularisasi paling murah: tidak menambah rumus apa pun, hanya menuntut kedisiplinan memantau.</a:t>
            </a:r>
            <a:endParaRPr lang="en-US" sz="1300" dirty="0"/>
          </a:p>
        </p:txBody>
      </p:sp>
      <p:sp>
        <p:nvSpPr>
          <p:cNvPr id="19" name="Text 17"/>
          <p:cNvSpPr txBox="1"/>
          <p:nvPr/>
        </p:nvSpPr>
        <p:spPr>
          <a:xfrm>
            <a:off x="594360" y="5669280"/>
            <a:ext cx="11002975" cy="365760"/>
          </a:xfrm>
          <a:prstGeom prst="rect">
            <a:avLst/>
          </a:prstGeom>
          <a:noFill/>
          <a:ln/>
        </p:spPr>
        <p:txBody>
          <a:bodyPr wrap="square" lIns="0" tIns="0" rIns="0" bIns="0" rtlCol="0" anchor="t"/>
          <a:lstStyle/>
          <a:p>
            <a:pPr algn="ctr" indent="0" marL="0">
              <a:buNone/>
            </a:pPr>
            <a:r>
              <a:rPr lang="en-US" sz="1400" b="1" dirty="0">
                <a:solidFill>
                  <a:srgbClr val="6A6E85"/>
                </a:solidFill>
                <a:latin typeface="Calibri" pitchFamily="34" charset="0"/>
                <a:ea typeface="Calibri" pitchFamily="34" charset="-122"/>
                <a:cs typeface="Calibri" pitchFamily="34" charset="-120"/>
              </a:rPr>
              <a:t>Early stopping menuntut data validasi. Tanpa pembagian data yang benar dari pertemuan 9, teknik ini tidak dapat dipakai.</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DISKUSI KASUS</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Empat keputusan yang harus Anda nilai</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19</a:t>
            </a:r>
            <a:endParaRPr lang="en-US" sz="1000" dirty="0"/>
          </a:p>
        </p:txBody>
      </p:sp>
      <p:sp>
        <p:nvSpPr>
          <p:cNvPr id="5" name="Shape 3"/>
          <p:cNvSpPr/>
          <p:nvPr/>
        </p:nvSpPr>
        <p:spPr>
          <a:xfrm>
            <a:off x="594360" y="1371600"/>
            <a:ext cx="5303520" cy="1417320"/>
          </a:xfrm>
          <a:prstGeom prst="roundRect">
            <a:avLst>
              <a:gd name="adj" fmla="val 5806"/>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6" name="Shape 4"/>
          <p:cNvSpPr/>
          <p:nvPr/>
        </p:nvSpPr>
        <p:spPr>
          <a:xfrm>
            <a:off x="914400" y="1783080"/>
            <a:ext cx="566928" cy="566928"/>
          </a:xfrm>
          <a:prstGeom prst="ellipse">
            <a:avLst/>
          </a:prstGeom>
          <a:solidFill>
            <a:srgbClr val="E8703F"/>
          </a:solidFill>
          <a:ln w="12700">
            <a:solidFill>
              <a:srgbClr val="333333"/>
            </a:solidFill>
            <a:prstDash val="solid"/>
          </a:ln>
        </p:spPr>
      </p:sp>
      <p:sp>
        <p:nvSpPr>
          <p:cNvPr id="7" name="Text 5"/>
          <p:cNvSpPr txBox="1"/>
          <p:nvPr/>
        </p:nvSpPr>
        <p:spPr>
          <a:xfrm>
            <a:off x="914400" y="1783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A</a:t>
            </a:r>
            <a:endParaRPr lang="en-US" sz="1900" dirty="0"/>
          </a:p>
        </p:txBody>
      </p:sp>
      <p:sp>
        <p:nvSpPr>
          <p:cNvPr id="8" name="Text 6"/>
          <p:cNvSpPr txBox="1"/>
          <p:nvPr/>
        </p:nvSpPr>
        <p:spPr>
          <a:xfrm>
            <a:off x="1645920" y="1572768"/>
            <a:ext cx="4023360" cy="1005840"/>
          </a:xfrm>
          <a:prstGeom prst="rect">
            <a:avLst/>
          </a:prstGeom>
          <a:noFill/>
          <a:ln/>
        </p:spPr>
        <p:txBody>
          <a:bodyPr wrap="square" lIns="0" tIns="0" rIns="0" bIns="0" rtlCol="0" anchor="ctr"/>
          <a:lstStyle/>
          <a:p>
            <a:pPr algn="l" indent="0" marL="0">
              <a:lnSpc>
                <a:spcPct val="125000"/>
              </a:lnSpc>
              <a:buNone/>
            </a:pPr>
            <a:r>
              <a:rPr lang="en-US" sz="1300" dirty="0">
                <a:solidFill>
                  <a:srgbClr val="1A1C2E"/>
                </a:solidFill>
                <a:latin typeface="Calibri" pitchFamily="34" charset="0"/>
                <a:ea typeface="Calibri" pitchFamily="34" charset="-122"/>
                <a:cs typeface="Calibri" pitchFamily="34" charset="-120"/>
              </a:rPr>
              <a:t>Tim membangun jaringan 12 lapis untuk memprediksi keterlambatan dari 6 fitur dengan 800 baris data.</a:t>
            </a:r>
            <a:endParaRPr lang="en-US" sz="1300" dirty="0"/>
          </a:p>
        </p:txBody>
      </p:sp>
      <p:sp>
        <p:nvSpPr>
          <p:cNvPr id="9" name="Shape 7"/>
          <p:cNvSpPr/>
          <p:nvPr/>
        </p:nvSpPr>
        <p:spPr>
          <a:xfrm>
            <a:off x="6263640" y="1371600"/>
            <a:ext cx="5303520" cy="1417320"/>
          </a:xfrm>
          <a:prstGeom prst="roundRect">
            <a:avLst>
              <a:gd name="adj" fmla="val 5806"/>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0" name="Shape 8"/>
          <p:cNvSpPr/>
          <p:nvPr/>
        </p:nvSpPr>
        <p:spPr>
          <a:xfrm>
            <a:off x="6583680" y="1783080"/>
            <a:ext cx="566928" cy="566928"/>
          </a:xfrm>
          <a:prstGeom prst="ellipse">
            <a:avLst/>
          </a:prstGeom>
          <a:solidFill>
            <a:srgbClr val="7C6BF0"/>
          </a:solidFill>
          <a:ln w="12700">
            <a:solidFill>
              <a:srgbClr val="333333"/>
            </a:solidFill>
            <a:prstDash val="solid"/>
          </a:ln>
        </p:spPr>
      </p:sp>
      <p:sp>
        <p:nvSpPr>
          <p:cNvPr id="11" name="Text 9"/>
          <p:cNvSpPr txBox="1"/>
          <p:nvPr/>
        </p:nvSpPr>
        <p:spPr>
          <a:xfrm>
            <a:off x="6583680" y="1783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B</a:t>
            </a:r>
            <a:endParaRPr lang="en-US" sz="1900" dirty="0"/>
          </a:p>
        </p:txBody>
      </p:sp>
      <p:sp>
        <p:nvSpPr>
          <p:cNvPr id="12" name="Text 10"/>
          <p:cNvSpPr txBox="1"/>
          <p:nvPr/>
        </p:nvSpPr>
        <p:spPr>
          <a:xfrm>
            <a:off x="7315200" y="1572768"/>
            <a:ext cx="4023360" cy="1005840"/>
          </a:xfrm>
          <a:prstGeom prst="rect">
            <a:avLst/>
          </a:prstGeom>
          <a:noFill/>
          <a:ln/>
        </p:spPr>
        <p:txBody>
          <a:bodyPr wrap="square" lIns="0" tIns="0" rIns="0" bIns="0" rtlCol="0" anchor="ctr"/>
          <a:lstStyle/>
          <a:p>
            <a:pPr algn="l" indent="0" marL="0">
              <a:lnSpc>
                <a:spcPct val="125000"/>
              </a:lnSpc>
              <a:buNone/>
            </a:pPr>
            <a:r>
              <a:rPr lang="en-US" sz="1300" dirty="0">
                <a:solidFill>
                  <a:srgbClr val="1A1C2E"/>
                </a:solidFill>
                <a:latin typeface="Calibri" pitchFamily="34" charset="0"/>
                <a:ea typeface="Calibri" pitchFamily="34" charset="-122"/>
                <a:cs typeface="Calibri" pitchFamily="34" charset="-120"/>
              </a:rPr>
              <a:t>Semua lapisan tersembunyi memakai sigmoid. Setelah 200 putaran, loss nyaris tidak bergerak dari nilai awal.</a:t>
            </a:r>
            <a:endParaRPr lang="en-US" sz="1300" dirty="0"/>
          </a:p>
        </p:txBody>
      </p:sp>
      <p:sp>
        <p:nvSpPr>
          <p:cNvPr id="13" name="Shape 11"/>
          <p:cNvSpPr/>
          <p:nvPr/>
        </p:nvSpPr>
        <p:spPr>
          <a:xfrm>
            <a:off x="594360" y="2999232"/>
            <a:ext cx="5303520" cy="1417320"/>
          </a:xfrm>
          <a:prstGeom prst="roundRect">
            <a:avLst>
              <a:gd name="adj" fmla="val 5806"/>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4" name="Shape 12"/>
          <p:cNvSpPr/>
          <p:nvPr/>
        </p:nvSpPr>
        <p:spPr>
          <a:xfrm>
            <a:off x="914400" y="3410712"/>
            <a:ext cx="566928" cy="566928"/>
          </a:xfrm>
          <a:prstGeom prst="ellipse">
            <a:avLst/>
          </a:prstGeom>
          <a:solidFill>
            <a:srgbClr val="E8703F"/>
          </a:solidFill>
          <a:ln w="12700">
            <a:solidFill>
              <a:srgbClr val="333333"/>
            </a:solidFill>
            <a:prstDash val="solid"/>
          </a:ln>
        </p:spPr>
      </p:sp>
      <p:sp>
        <p:nvSpPr>
          <p:cNvPr id="15" name="Text 13"/>
          <p:cNvSpPr txBox="1"/>
          <p:nvPr/>
        </p:nvSpPr>
        <p:spPr>
          <a:xfrm>
            <a:off x="914400" y="341071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C</a:t>
            </a:r>
            <a:endParaRPr lang="en-US" sz="1900" dirty="0"/>
          </a:p>
        </p:txBody>
      </p:sp>
      <p:sp>
        <p:nvSpPr>
          <p:cNvPr id="16" name="Text 14"/>
          <p:cNvSpPr txBox="1"/>
          <p:nvPr/>
        </p:nvSpPr>
        <p:spPr>
          <a:xfrm>
            <a:off x="1645920" y="3200400"/>
            <a:ext cx="4023360" cy="1005840"/>
          </a:xfrm>
          <a:prstGeom prst="rect">
            <a:avLst/>
          </a:prstGeom>
          <a:noFill/>
          <a:ln/>
        </p:spPr>
        <p:txBody>
          <a:bodyPr wrap="square" lIns="0" tIns="0" rIns="0" bIns="0" rtlCol="0" anchor="ctr"/>
          <a:lstStyle/>
          <a:p>
            <a:pPr algn="l" indent="0" marL="0">
              <a:lnSpc>
                <a:spcPct val="125000"/>
              </a:lnSpc>
              <a:buNone/>
            </a:pPr>
            <a:r>
              <a:rPr lang="en-US" sz="1300" dirty="0">
                <a:solidFill>
                  <a:srgbClr val="1A1C2E"/>
                </a:solidFill>
                <a:latin typeface="Calibri" pitchFamily="34" charset="0"/>
                <a:ea typeface="Calibri" pitchFamily="34" charset="-122"/>
                <a:cs typeface="Calibri" pitchFamily="34" charset="-120"/>
              </a:rPr>
              <a:t>Dropout 50% dipasang dan tetap aktif saat model dipakai memprediksi data baru.</a:t>
            </a:r>
            <a:endParaRPr lang="en-US" sz="1300" dirty="0"/>
          </a:p>
        </p:txBody>
      </p:sp>
      <p:sp>
        <p:nvSpPr>
          <p:cNvPr id="17" name="Shape 15"/>
          <p:cNvSpPr/>
          <p:nvPr/>
        </p:nvSpPr>
        <p:spPr>
          <a:xfrm>
            <a:off x="6263640" y="2999232"/>
            <a:ext cx="5303520" cy="1417320"/>
          </a:xfrm>
          <a:prstGeom prst="roundRect">
            <a:avLst>
              <a:gd name="adj" fmla="val 5806"/>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8" name="Shape 16"/>
          <p:cNvSpPr/>
          <p:nvPr/>
        </p:nvSpPr>
        <p:spPr>
          <a:xfrm>
            <a:off x="6583680" y="3410712"/>
            <a:ext cx="566928" cy="566928"/>
          </a:xfrm>
          <a:prstGeom prst="ellipse">
            <a:avLst/>
          </a:prstGeom>
          <a:solidFill>
            <a:srgbClr val="7C6BF0"/>
          </a:solidFill>
          <a:ln w="12700">
            <a:solidFill>
              <a:srgbClr val="333333"/>
            </a:solidFill>
            <a:prstDash val="solid"/>
          </a:ln>
        </p:spPr>
      </p:sp>
      <p:sp>
        <p:nvSpPr>
          <p:cNvPr id="19" name="Text 17"/>
          <p:cNvSpPr txBox="1"/>
          <p:nvPr/>
        </p:nvSpPr>
        <p:spPr>
          <a:xfrm>
            <a:off x="6583680" y="341071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D</a:t>
            </a:r>
            <a:endParaRPr lang="en-US" sz="1900" dirty="0"/>
          </a:p>
        </p:txBody>
      </p:sp>
      <p:sp>
        <p:nvSpPr>
          <p:cNvPr id="20" name="Text 18"/>
          <p:cNvSpPr txBox="1"/>
          <p:nvPr/>
        </p:nvSpPr>
        <p:spPr>
          <a:xfrm>
            <a:off x="7315200" y="3200400"/>
            <a:ext cx="4023360" cy="1005840"/>
          </a:xfrm>
          <a:prstGeom prst="rect">
            <a:avLst/>
          </a:prstGeom>
          <a:noFill/>
          <a:ln/>
        </p:spPr>
        <p:txBody>
          <a:bodyPr wrap="square" lIns="0" tIns="0" rIns="0" bIns="0" rtlCol="0" anchor="ctr"/>
          <a:lstStyle/>
          <a:p>
            <a:pPr algn="l" indent="0" marL="0">
              <a:lnSpc>
                <a:spcPct val="125000"/>
              </a:lnSpc>
              <a:buNone/>
            </a:pPr>
            <a:r>
              <a:rPr lang="en-US" sz="1300" dirty="0">
                <a:solidFill>
                  <a:srgbClr val="1A1C2E"/>
                </a:solidFill>
                <a:latin typeface="Calibri" pitchFamily="34" charset="0"/>
                <a:ea typeface="Calibri" pitchFamily="34" charset="-122"/>
                <a:cs typeface="Calibri" pitchFamily="34" charset="-120"/>
              </a:rPr>
              <a:t>Model dihentikan pada putaran ke-40 karena galat pada data uji paling rendah di titik itu.</a:t>
            </a:r>
            <a:endParaRPr lang="en-US" sz="1300" dirty="0"/>
          </a:p>
        </p:txBody>
      </p:sp>
      <p:sp>
        <p:nvSpPr>
          <p:cNvPr id="21" name="Shape 19"/>
          <p:cNvSpPr/>
          <p:nvPr/>
        </p:nvSpPr>
        <p:spPr>
          <a:xfrm>
            <a:off x="594360" y="4754880"/>
            <a:ext cx="11002975" cy="1051560"/>
          </a:xfrm>
          <a:prstGeom prst="roundRect">
            <a:avLst>
              <a:gd name="adj" fmla="val 7826"/>
            </a:avLst>
          </a:prstGeom>
          <a:solidFill>
            <a:srgbClr val="191B33"/>
          </a:solidFill>
          <a:ln w="12700">
            <a:solidFill>
              <a:srgbClr val="191B33"/>
            </a:solidFill>
            <a:prstDash val="solid"/>
          </a:ln>
          <a:effectLst>
            <a:outerShdw sx="100000" sy="100000" kx="0" ky="0" algn="bl" rotWithShape="0" blurRad="101600" dist="508" dir="5400000">
              <a:srgbClr val="AEB2C2">
                <a:alpha val="30000"/>
              </a:srgbClr>
            </a:outerShdw>
          </a:effectLst>
        </p:spPr>
      </p:sp>
      <p:sp>
        <p:nvSpPr>
          <p:cNvPr id="22" name="Text 20"/>
          <p:cNvSpPr txBox="1"/>
          <p:nvPr/>
        </p:nvSpPr>
        <p:spPr>
          <a:xfrm>
            <a:off x="1005840" y="4956048"/>
            <a:ext cx="10180015" cy="685800"/>
          </a:xfrm>
          <a:prstGeom prst="rect">
            <a:avLst/>
          </a:prstGeom>
          <a:noFill/>
          <a:ln/>
        </p:spPr>
        <p:txBody>
          <a:bodyPr wrap="square" lIns="0" tIns="0" rIns="0" bIns="0" rtlCol="0" anchor="t"/>
          <a:lstStyle/>
          <a:p>
            <a:pPr algn="l" indent="0" marL="0">
              <a:lnSpc>
                <a:spcPct val="130000"/>
              </a:lnSpc>
              <a:buNone/>
            </a:pPr>
            <a:r>
              <a:rPr lang="en-US" sz="1450" b="1" dirty="0">
                <a:solidFill>
                  <a:srgbClr val="FFFFFF"/>
                </a:solidFill>
                <a:latin typeface="Calibri" pitchFamily="34" charset="0"/>
                <a:ea typeface="Calibri" pitchFamily="34" charset="-122"/>
                <a:cs typeface="Calibri" pitchFamily="34" charset="-120"/>
              </a:rPr>
              <a:t>Untuk tiap kasus: apa masalahnya, dan apa satu tindakan pertama yang Anda sarankan?</a:t>
            </a:r>
            <a:endParaRPr lang="en-US" sz="1450" dirty="0"/>
          </a:p>
          <a:p>
            <a:pPr algn="l" indent="0" marL="0">
              <a:lnSpc>
                <a:spcPct val="130000"/>
              </a:lnSpc>
              <a:buNone/>
            </a:pPr>
            <a:r>
              <a:rPr lang="en-US" sz="1450" b="1" dirty="0">
                <a:solidFill>
                  <a:srgbClr val="FFFFFF"/>
                </a:solidFill>
                <a:latin typeface="Calibri" pitchFamily="34" charset="0"/>
                <a:ea typeface="Calibri" pitchFamily="34" charset="-122"/>
                <a:cs typeface="Calibri" pitchFamily="34" charset="-120"/>
              </a:rPr>
              <a:t>Diskusi kelompok 4 orang · 15 menit.</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WASPADAI</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Empat salah kaprah yang paling sering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20</a:t>
            </a:r>
            <a:endParaRPr lang="en-US" sz="1000" dirty="0"/>
          </a:p>
        </p:txBody>
      </p:sp>
      <p:sp>
        <p:nvSpPr>
          <p:cNvPr id="5" name="Shape 3"/>
          <p:cNvSpPr/>
          <p:nvPr/>
        </p:nvSpPr>
        <p:spPr>
          <a:xfrm>
            <a:off x="594360" y="1325880"/>
            <a:ext cx="11002975" cy="932688"/>
          </a:xfrm>
          <a:prstGeom prst="roundRect">
            <a:avLst>
              <a:gd name="adj" fmla="val 8824"/>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6" name="Shape 4"/>
          <p:cNvSpPr/>
          <p:nvPr/>
        </p:nvSpPr>
        <p:spPr>
          <a:xfrm>
            <a:off x="868680" y="1545336"/>
            <a:ext cx="502920" cy="502920"/>
          </a:xfrm>
          <a:prstGeom prst="ellipse">
            <a:avLst/>
          </a:prstGeom>
          <a:solidFill>
            <a:srgbClr val="E8703F"/>
          </a:solidFill>
          <a:ln w="12700">
            <a:solidFill>
              <a:srgbClr val="333333"/>
            </a:solidFill>
            <a:prstDash val="solid"/>
          </a:ln>
        </p:spPr>
      </p:sp>
      <p:sp>
        <p:nvSpPr>
          <p:cNvPr id="7" name="Text 5"/>
          <p:cNvSpPr txBox="1"/>
          <p:nvPr/>
        </p:nvSpPr>
        <p:spPr>
          <a:xfrm>
            <a:off x="868680" y="154533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8" name="Text 6"/>
          <p:cNvSpPr txBox="1"/>
          <p:nvPr/>
        </p:nvSpPr>
        <p:spPr>
          <a:xfrm>
            <a:off x="1554480" y="1453896"/>
            <a:ext cx="420624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E8703F"/>
                </a:solidFill>
                <a:latin typeface="Calibri" pitchFamily="34" charset="0"/>
                <a:ea typeface="Calibri" pitchFamily="34" charset="-122"/>
                <a:cs typeface="Calibri" pitchFamily="34" charset="-120"/>
              </a:rPr>
              <a:t>Neural network meniru cara kerja otak</a:t>
            </a:r>
            <a:endParaRPr lang="en-US" sz="1450" dirty="0"/>
          </a:p>
        </p:txBody>
      </p:sp>
      <p:sp>
        <p:nvSpPr>
          <p:cNvPr id="9" name="Text 7"/>
          <p:cNvSpPr txBox="1"/>
          <p:nvPr/>
        </p:nvSpPr>
        <p:spPr>
          <a:xfrm>
            <a:off x="5943600" y="1435608"/>
            <a:ext cx="5577840" cy="731520"/>
          </a:xfrm>
          <a:prstGeom prst="rect">
            <a:avLst/>
          </a:prstGeom>
          <a:noFill/>
          <a:ln/>
        </p:spPr>
        <p:txBody>
          <a:bodyPr wrap="square" lIns="0" tIns="0" rIns="0" bIns="0" rtlCol="0" anchor="ctr"/>
          <a:lstStyle/>
          <a:p>
            <a:pPr algn="l" indent="0" marL="0">
              <a:lnSpc>
                <a:spcPct val="120000"/>
              </a:lnSpc>
              <a:buNone/>
            </a:pPr>
            <a:r>
              <a:rPr lang="en-US" sz="1300" dirty="0">
                <a:solidFill>
                  <a:srgbClr val="1A1C2E"/>
                </a:solidFill>
                <a:latin typeface="Calibri" pitchFamily="34" charset="0"/>
                <a:ea typeface="Calibri" pitchFamily="34" charset="-122"/>
                <a:cs typeface="Calibri" pitchFamily="34" charset="-120"/>
              </a:rPr>
              <a:t>Ilhamnya memang dari otak, tetapi mekanismenya berbeda jauh. Ia hanya rangkaian perkalian matriks dan fungsi.</a:t>
            </a:r>
            <a:endParaRPr lang="en-US" sz="1300" dirty="0"/>
          </a:p>
        </p:txBody>
      </p:sp>
      <p:sp>
        <p:nvSpPr>
          <p:cNvPr id="10" name="Shape 8"/>
          <p:cNvSpPr/>
          <p:nvPr/>
        </p:nvSpPr>
        <p:spPr>
          <a:xfrm>
            <a:off x="594360" y="2404872"/>
            <a:ext cx="11002975" cy="932688"/>
          </a:xfrm>
          <a:prstGeom prst="roundRect">
            <a:avLst>
              <a:gd name="adj" fmla="val 8824"/>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1" name="Shape 9"/>
          <p:cNvSpPr/>
          <p:nvPr/>
        </p:nvSpPr>
        <p:spPr>
          <a:xfrm>
            <a:off x="868680" y="2624328"/>
            <a:ext cx="502920" cy="502920"/>
          </a:xfrm>
          <a:prstGeom prst="ellipse">
            <a:avLst/>
          </a:prstGeom>
          <a:solidFill>
            <a:srgbClr val="E8703F"/>
          </a:solidFill>
          <a:ln w="12700">
            <a:solidFill>
              <a:srgbClr val="333333"/>
            </a:solidFill>
            <a:prstDash val="solid"/>
          </a:ln>
        </p:spPr>
      </p:sp>
      <p:sp>
        <p:nvSpPr>
          <p:cNvPr id="12" name="Text 10"/>
          <p:cNvSpPr txBox="1"/>
          <p:nvPr/>
        </p:nvSpPr>
        <p:spPr>
          <a:xfrm>
            <a:off x="868680" y="26243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3" name="Text 11"/>
          <p:cNvSpPr txBox="1"/>
          <p:nvPr/>
        </p:nvSpPr>
        <p:spPr>
          <a:xfrm>
            <a:off x="1554480" y="2532888"/>
            <a:ext cx="420624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E8703F"/>
                </a:solidFill>
                <a:latin typeface="Calibri" pitchFamily="34" charset="0"/>
                <a:ea typeface="Calibri" pitchFamily="34" charset="-122"/>
                <a:cs typeface="Calibri" pitchFamily="34" charset="-120"/>
              </a:rPr>
              <a:t>Semakin dalam selalu semakin baik</a:t>
            </a:r>
            <a:endParaRPr lang="en-US" sz="1450" dirty="0"/>
          </a:p>
        </p:txBody>
      </p:sp>
      <p:sp>
        <p:nvSpPr>
          <p:cNvPr id="14" name="Text 12"/>
          <p:cNvSpPr txBox="1"/>
          <p:nvPr/>
        </p:nvSpPr>
        <p:spPr>
          <a:xfrm>
            <a:off x="5943600" y="2514600"/>
            <a:ext cx="5577840" cy="731520"/>
          </a:xfrm>
          <a:prstGeom prst="rect">
            <a:avLst/>
          </a:prstGeom>
          <a:noFill/>
          <a:ln/>
        </p:spPr>
        <p:txBody>
          <a:bodyPr wrap="square" lIns="0" tIns="0" rIns="0" bIns="0" rtlCol="0" anchor="ctr"/>
          <a:lstStyle/>
          <a:p>
            <a:pPr algn="l" indent="0" marL="0">
              <a:lnSpc>
                <a:spcPct val="120000"/>
              </a:lnSpc>
              <a:buNone/>
            </a:pPr>
            <a:r>
              <a:rPr lang="en-US" sz="1300" dirty="0">
                <a:solidFill>
                  <a:srgbClr val="1A1C2E"/>
                </a:solidFill>
                <a:latin typeface="Calibri" pitchFamily="34" charset="0"/>
                <a:ea typeface="Calibri" pitchFamily="34" charset="-122"/>
                <a:cs typeface="Calibri" pitchFamily="34" charset="-120"/>
              </a:rPr>
              <a:t>Jaringan yang terlalu dalam untuk data yang sedikit justru lebih buruk daripada model sederhana.</a:t>
            </a:r>
            <a:endParaRPr lang="en-US" sz="1300" dirty="0"/>
          </a:p>
        </p:txBody>
      </p:sp>
      <p:sp>
        <p:nvSpPr>
          <p:cNvPr id="15" name="Shape 13"/>
          <p:cNvSpPr/>
          <p:nvPr/>
        </p:nvSpPr>
        <p:spPr>
          <a:xfrm>
            <a:off x="594360" y="3483864"/>
            <a:ext cx="11002975" cy="932688"/>
          </a:xfrm>
          <a:prstGeom prst="roundRect">
            <a:avLst>
              <a:gd name="adj" fmla="val 8824"/>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6" name="Shape 14"/>
          <p:cNvSpPr/>
          <p:nvPr/>
        </p:nvSpPr>
        <p:spPr>
          <a:xfrm>
            <a:off x="868680" y="3703320"/>
            <a:ext cx="502920" cy="502920"/>
          </a:xfrm>
          <a:prstGeom prst="ellipse">
            <a:avLst/>
          </a:prstGeom>
          <a:solidFill>
            <a:srgbClr val="E8703F"/>
          </a:solidFill>
          <a:ln w="12700">
            <a:solidFill>
              <a:srgbClr val="333333"/>
            </a:solidFill>
            <a:prstDash val="solid"/>
          </a:ln>
        </p:spPr>
      </p:sp>
      <p:sp>
        <p:nvSpPr>
          <p:cNvPr id="17" name="Text 15"/>
          <p:cNvSpPr txBox="1"/>
          <p:nvPr/>
        </p:nvSpPr>
        <p:spPr>
          <a:xfrm>
            <a:off x="868680" y="3703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8" name="Text 16"/>
          <p:cNvSpPr txBox="1"/>
          <p:nvPr/>
        </p:nvSpPr>
        <p:spPr>
          <a:xfrm>
            <a:off x="1554480" y="3611880"/>
            <a:ext cx="420624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E8703F"/>
                </a:solidFill>
                <a:latin typeface="Calibri" pitchFamily="34" charset="0"/>
                <a:ea typeface="Calibri" pitchFamily="34" charset="-122"/>
                <a:cs typeface="Calibri" pitchFamily="34" charset="-120"/>
              </a:rPr>
              <a:t>Backpropagation melatih model</a:t>
            </a:r>
            <a:endParaRPr lang="en-US" sz="1450" dirty="0"/>
          </a:p>
        </p:txBody>
      </p:sp>
      <p:sp>
        <p:nvSpPr>
          <p:cNvPr id="19" name="Text 17"/>
          <p:cNvSpPr txBox="1"/>
          <p:nvPr/>
        </p:nvSpPr>
        <p:spPr>
          <a:xfrm>
            <a:off x="5943600" y="3593592"/>
            <a:ext cx="5577840" cy="731520"/>
          </a:xfrm>
          <a:prstGeom prst="rect">
            <a:avLst/>
          </a:prstGeom>
          <a:noFill/>
          <a:ln/>
        </p:spPr>
        <p:txBody>
          <a:bodyPr wrap="square" lIns="0" tIns="0" rIns="0" bIns="0" rtlCol="0" anchor="ctr"/>
          <a:lstStyle/>
          <a:p>
            <a:pPr algn="l" indent="0" marL="0">
              <a:lnSpc>
                <a:spcPct val="120000"/>
              </a:lnSpc>
              <a:buNone/>
            </a:pPr>
            <a:r>
              <a:rPr lang="en-US" sz="1300" dirty="0">
                <a:solidFill>
                  <a:srgbClr val="1A1C2E"/>
                </a:solidFill>
                <a:latin typeface="Calibri" pitchFamily="34" charset="0"/>
                <a:ea typeface="Calibri" pitchFamily="34" charset="-122"/>
                <a:cs typeface="Calibri" pitchFamily="34" charset="-120"/>
              </a:rPr>
              <a:t>Ia hanya menghitung gradien. Yang memperbarui bobot tetap Gradient Descent.</a:t>
            </a:r>
            <a:endParaRPr lang="en-US" sz="1300" dirty="0"/>
          </a:p>
        </p:txBody>
      </p:sp>
      <p:sp>
        <p:nvSpPr>
          <p:cNvPr id="20" name="Shape 18"/>
          <p:cNvSpPr/>
          <p:nvPr/>
        </p:nvSpPr>
        <p:spPr>
          <a:xfrm>
            <a:off x="594360" y="4562856"/>
            <a:ext cx="11002975" cy="932688"/>
          </a:xfrm>
          <a:prstGeom prst="roundRect">
            <a:avLst>
              <a:gd name="adj" fmla="val 8824"/>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21" name="Shape 19"/>
          <p:cNvSpPr/>
          <p:nvPr/>
        </p:nvSpPr>
        <p:spPr>
          <a:xfrm>
            <a:off x="868680" y="4782312"/>
            <a:ext cx="502920" cy="502920"/>
          </a:xfrm>
          <a:prstGeom prst="ellipse">
            <a:avLst/>
          </a:prstGeom>
          <a:solidFill>
            <a:srgbClr val="E8703F"/>
          </a:solidFill>
          <a:ln w="12700">
            <a:solidFill>
              <a:srgbClr val="333333"/>
            </a:solidFill>
            <a:prstDash val="solid"/>
          </a:ln>
        </p:spPr>
      </p:sp>
      <p:sp>
        <p:nvSpPr>
          <p:cNvPr id="22" name="Text 20"/>
          <p:cNvSpPr txBox="1"/>
          <p:nvPr/>
        </p:nvSpPr>
        <p:spPr>
          <a:xfrm>
            <a:off x="868680" y="47823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3" name="Text 21"/>
          <p:cNvSpPr txBox="1"/>
          <p:nvPr/>
        </p:nvSpPr>
        <p:spPr>
          <a:xfrm>
            <a:off x="1554480" y="4690872"/>
            <a:ext cx="420624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E8703F"/>
                </a:solidFill>
                <a:latin typeface="Calibri" pitchFamily="34" charset="0"/>
                <a:ea typeface="Calibri" pitchFamily="34" charset="-122"/>
                <a:cs typeface="Calibri" pitchFamily="34" charset="-120"/>
              </a:rPr>
              <a:t>Neural network cocok untuk semua masalah</a:t>
            </a:r>
            <a:endParaRPr lang="en-US" sz="1450" dirty="0"/>
          </a:p>
        </p:txBody>
      </p:sp>
      <p:sp>
        <p:nvSpPr>
          <p:cNvPr id="24" name="Text 22"/>
          <p:cNvSpPr txBox="1"/>
          <p:nvPr/>
        </p:nvSpPr>
        <p:spPr>
          <a:xfrm>
            <a:off x="5943600" y="4672584"/>
            <a:ext cx="5577840" cy="731520"/>
          </a:xfrm>
          <a:prstGeom prst="rect">
            <a:avLst/>
          </a:prstGeom>
          <a:noFill/>
          <a:ln/>
        </p:spPr>
        <p:txBody>
          <a:bodyPr wrap="square" lIns="0" tIns="0" rIns="0" bIns="0" rtlCol="0" anchor="ctr"/>
          <a:lstStyle/>
          <a:p>
            <a:pPr algn="l" indent="0" marL="0">
              <a:lnSpc>
                <a:spcPct val="120000"/>
              </a:lnSpc>
              <a:buNone/>
            </a:pPr>
            <a:r>
              <a:rPr lang="en-US" sz="1300" dirty="0">
                <a:solidFill>
                  <a:srgbClr val="1A1C2E"/>
                </a:solidFill>
                <a:latin typeface="Calibri" pitchFamily="34" charset="0"/>
                <a:ea typeface="Calibri" pitchFamily="34" charset="-122"/>
                <a:cs typeface="Calibri" pitchFamily="34" charset="-120"/>
              </a:rPr>
              <a:t>Untuk data tabel berukuran sedang, model berbasis pohon dari pertemuan 10 biasanya lebih unggul dan jauh lebih murah.</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91B33"/>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5FD9C2"/>
                </a:solidFill>
                <a:latin typeface="Calibri" pitchFamily="34" charset="0"/>
                <a:ea typeface="Calibri" pitchFamily="34" charset="-122"/>
                <a:cs typeface="Calibri" pitchFamily="34" charset="-120"/>
              </a:rPr>
              <a:t>RINGKASAN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Yang perlu Anda bawa pulang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B80A0"/>
                </a:solidFill>
                <a:latin typeface="Calibri" pitchFamily="34" charset="0"/>
                <a:ea typeface="Calibri" pitchFamily="34" charset="-122"/>
                <a:cs typeface="Calibri" pitchFamily="34" charset="-120"/>
              </a:rPr>
              <a:t>21</a:t>
            </a:r>
            <a:endParaRPr lang="en-US" sz="1000" dirty="0"/>
          </a:p>
        </p:txBody>
      </p:sp>
      <p:sp>
        <p:nvSpPr>
          <p:cNvPr id="5" name="Shape 3"/>
          <p:cNvSpPr/>
          <p:nvPr/>
        </p:nvSpPr>
        <p:spPr>
          <a:xfrm>
            <a:off x="594360" y="1371600"/>
            <a:ext cx="3520440" cy="1737360"/>
          </a:xfrm>
          <a:prstGeom prst="roundRect">
            <a:avLst>
              <a:gd name="adj" fmla="val 4737"/>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6" name="Shape 4"/>
          <p:cNvSpPr/>
          <p:nvPr/>
        </p:nvSpPr>
        <p:spPr>
          <a:xfrm>
            <a:off x="914400" y="1664208"/>
            <a:ext cx="457200" cy="41148"/>
          </a:xfrm>
          <a:prstGeom prst="rect">
            <a:avLst/>
          </a:prstGeom>
          <a:solidFill>
            <a:srgbClr val="2FA890"/>
          </a:solidFill>
          <a:ln w="12700">
            <a:solidFill>
              <a:srgbClr val="333333"/>
            </a:solidFill>
            <a:prstDash val="solid"/>
          </a:ln>
        </p:spPr>
      </p:sp>
      <p:sp>
        <p:nvSpPr>
          <p:cNvPr id="7" name="Text 5"/>
          <p:cNvSpPr txBox="1"/>
          <p:nvPr/>
        </p:nvSpPr>
        <p:spPr>
          <a:xfrm>
            <a:off x="914400" y="1810512"/>
            <a:ext cx="2880360" cy="320040"/>
          </a:xfrm>
          <a:prstGeom prst="rect">
            <a:avLst/>
          </a:prstGeom>
          <a:noFill/>
          <a:ln/>
        </p:spPr>
        <p:txBody>
          <a:bodyPr wrap="square" lIns="0" tIns="0" rIns="0" bIns="0" rtlCol="0" anchor="t"/>
          <a:lstStyle/>
          <a:p>
            <a:pPr algn="l" indent="0" marL="0">
              <a:buNone/>
            </a:pPr>
            <a:r>
              <a:rPr lang="en-US" sz="1600" b="1" dirty="0">
                <a:solidFill>
                  <a:srgbClr val="5FD9C2"/>
                </a:solidFill>
                <a:latin typeface="Cambria" pitchFamily="34" charset="0"/>
                <a:ea typeface="Cambria" pitchFamily="34" charset="-122"/>
                <a:cs typeface="Cambria" pitchFamily="34" charset="-120"/>
              </a:rPr>
              <a:t>Satu neuron</a:t>
            </a:r>
            <a:endParaRPr lang="en-US" sz="1600" dirty="0"/>
          </a:p>
        </p:txBody>
      </p:sp>
      <p:sp>
        <p:nvSpPr>
          <p:cNvPr id="8" name="Text 6"/>
          <p:cNvSpPr txBox="1"/>
          <p:nvPr/>
        </p:nvSpPr>
        <p:spPr>
          <a:xfrm>
            <a:off x="914400" y="219456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Jumlah berbobot ditambah bias,</a:t>
            </a:r>
            <a:endParaRPr lang="en-US" sz="1250" dirty="0"/>
          </a:p>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lalu dilewatkan sebuah fungsi.</a:t>
            </a:r>
            <a:endParaRPr lang="en-US" sz="1250" dirty="0"/>
          </a:p>
        </p:txBody>
      </p:sp>
      <p:sp>
        <p:nvSpPr>
          <p:cNvPr id="9" name="Shape 7"/>
          <p:cNvSpPr/>
          <p:nvPr/>
        </p:nvSpPr>
        <p:spPr>
          <a:xfrm>
            <a:off x="4389120" y="1371600"/>
            <a:ext cx="3520440" cy="1737360"/>
          </a:xfrm>
          <a:prstGeom prst="roundRect">
            <a:avLst>
              <a:gd name="adj" fmla="val 4737"/>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10" name="Shape 8"/>
          <p:cNvSpPr/>
          <p:nvPr/>
        </p:nvSpPr>
        <p:spPr>
          <a:xfrm>
            <a:off x="4709160" y="1664208"/>
            <a:ext cx="457200" cy="41148"/>
          </a:xfrm>
          <a:prstGeom prst="rect">
            <a:avLst/>
          </a:prstGeom>
          <a:solidFill>
            <a:srgbClr val="7C6BF0"/>
          </a:solidFill>
          <a:ln w="12700">
            <a:solidFill>
              <a:srgbClr val="333333"/>
            </a:solidFill>
            <a:prstDash val="solid"/>
          </a:ln>
        </p:spPr>
      </p:sp>
      <p:sp>
        <p:nvSpPr>
          <p:cNvPr id="11" name="Text 9"/>
          <p:cNvSpPr txBox="1"/>
          <p:nvPr/>
        </p:nvSpPr>
        <p:spPr>
          <a:xfrm>
            <a:off x="4709160" y="1810512"/>
            <a:ext cx="2880360" cy="320040"/>
          </a:xfrm>
          <a:prstGeom prst="rect">
            <a:avLst/>
          </a:prstGeom>
          <a:noFill/>
          <a:ln/>
        </p:spPr>
        <p:txBody>
          <a:bodyPr wrap="square" lIns="0" tIns="0" rIns="0" bIns="0" rtlCol="0" anchor="t"/>
          <a:lstStyle/>
          <a:p>
            <a:pPr algn="l" indent="0" marL="0">
              <a:buNone/>
            </a:pPr>
            <a:r>
              <a:rPr lang="en-US" sz="1600" b="1" dirty="0">
                <a:solidFill>
                  <a:srgbClr val="A99BF5"/>
                </a:solidFill>
                <a:latin typeface="Cambria" pitchFamily="34" charset="0"/>
                <a:ea typeface="Cambria" pitchFamily="34" charset="-122"/>
                <a:cs typeface="Cambria" pitchFamily="34" charset="-120"/>
              </a:rPr>
              <a:t>Kedalaman</a:t>
            </a:r>
            <a:endParaRPr lang="en-US" sz="1600" dirty="0"/>
          </a:p>
        </p:txBody>
      </p:sp>
      <p:sp>
        <p:nvSpPr>
          <p:cNvPr id="12" name="Text 10"/>
          <p:cNvSpPr txBox="1"/>
          <p:nvPr/>
        </p:nvSpPr>
        <p:spPr>
          <a:xfrm>
            <a:off x="4709160" y="219456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Menumpuk lapisan memungkinkan</a:t>
            </a:r>
            <a:endParaRPr lang="en-US" sz="1250" dirty="0"/>
          </a:p>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batas keputusan yang melengkung.</a:t>
            </a:r>
            <a:endParaRPr lang="en-US" sz="1250" dirty="0"/>
          </a:p>
        </p:txBody>
      </p:sp>
      <p:sp>
        <p:nvSpPr>
          <p:cNvPr id="13" name="Shape 11"/>
          <p:cNvSpPr/>
          <p:nvPr/>
        </p:nvSpPr>
        <p:spPr>
          <a:xfrm>
            <a:off x="8183880" y="1371600"/>
            <a:ext cx="3520440" cy="1737360"/>
          </a:xfrm>
          <a:prstGeom prst="roundRect">
            <a:avLst>
              <a:gd name="adj" fmla="val 4737"/>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14" name="Shape 12"/>
          <p:cNvSpPr/>
          <p:nvPr/>
        </p:nvSpPr>
        <p:spPr>
          <a:xfrm>
            <a:off x="8503920" y="1664208"/>
            <a:ext cx="457200" cy="41148"/>
          </a:xfrm>
          <a:prstGeom prst="rect">
            <a:avLst/>
          </a:prstGeom>
          <a:solidFill>
            <a:srgbClr val="E8703F"/>
          </a:solidFill>
          <a:ln w="12700">
            <a:solidFill>
              <a:srgbClr val="333333"/>
            </a:solidFill>
            <a:prstDash val="solid"/>
          </a:ln>
        </p:spPr>
      </p:sp>
      <p:sp>
        <p:nvSpPr>
          <p:cNvPr id="15" name="Text 13"/>
          <p:cNvSpPr txBox="1"/>
          <p:nvPr/>
        </p:nvSpPr>
        <p:spPr>
          <a:xfrm>
            <a:off x="8503920" y="1810512"/>
            <a:ext cx="2880360" cy="320040"/>
          </a:xfrm>
          <a:prstGeom prst="rect">
            <a:avLst/>
          </a:prstGeom>
          <a:noFill/>
          <a:ln/>
        </p:spPr>
        <p:txBody>
          <a:bodyPr wrap="square" lIns="0" tIns="0" rIns="0" bIns="0" rtlCol="0" anchor="t"/>
          <a:lstStyle/>
          <a:p>
            <a:pPr algn="l" indent="0" marL="0">
              <a:buNone/>
            </a:pPr>
            <a:r>
              <a:rPr lang="en-US" sz="1600" b="1" dirty="0">
                <a:solidFill>
                  <a:srgbClr val="F3A17C"/>
                </a:solidFill>
                <a:latin typeface="Cambria" pitchFamily="34" charset="0"/>
                <a:ea typeface="Cambria" pitchFamily="34" charset="-122"/>
                <a:cs typeface="Cambria" pitchFamily="34" charset="-120"/>
              </a:rPr>
              <a:t>Fungsi aktivasi</a:t>
            </a:r>
            <a:endParaRPr lang="en-US" sz="1600" dirty="0"/>
          </a:p>
        </p:txBody>
      </p:sp>
      <p:sp>
        <p:nvSpPr>
          <p:cNvPr id="16" name="Text 14"/>
          <p:cNvSpPr txBox="1"/>
          <p:nvPr/>
        </p:nvSpPr>
        <p:spPr>
          <a:xfrm>
            <a:off x="8503920" y="219456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Tanpa non-linearitas, jaringan</a:t>
            </a:r>
            <a:endParaRPr lang="en-US" sz="1250" dirty="0"/>
          </a:p>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sepuluh lapis tetap satu lapis.</a:t>
            </a:r>
            <a:endParaRPr lang="en-US" sz="1250" dirty="0"/>
          </a:p>
        </p:txBody>
      </p:sp>
      <p:sp>
        <p:nvSpPr>
          <p:cNvPr id="17" name="Shape 15"/>
          <p:cNvSpPr/>
          <p:nvPr/>
        </p:nvSpPr>
        <p:spPr>
          <a:xfrm>
            <a:off x="594360" y="3337560"/>
            <a:ext cx="3520440" cy="1737360"/>
          </a:xfrm>
          <a:prstGeom prst="roundRect">
            <a:avLst>
              <a:gd name="adj" fmla="val 4737"/>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18" name="Shape 16"/>
          <p:cNvSpPr/>
          <p:nvPr/>
        </p:nvSpPr>
        <p:spPr>
          <a:xfrm>
            <a:off x="914400" y="3630168"/>
            <a:ext cx="457200" cy="41148"/>
          </a:xfrm>
          <a:prstGeom prst="rect">
            <a:avLst/>
          </a:prstGeom>
          <a:solidFill>
            <a:srgbClr val="7C6BF0"/>
          </a:solidFill>
          <a:ln w="12700">
            <a:solidFill>
              <a:srgbClr val="333333"/>
            </a:solidFill>
            <a:prstDash val="solid"/>
          </a:ln>
        </p:spPr>
      </p:sp>
      <p:sp>
        <p:nvSpPr>
          <p:cNvPr id="19" name="Text 17"/>
          <p:cNvSpPr txBox="1"/>
          <p:nvPr/>
        </p:nvSpPr>
        <p:spPr>
          <a:xfrm>
            <a:off x="914400" y="3776472"/>
            <a:ext cx="2880360" cy="320040"/>
          </a:xfrm>
          <a:prstGeom prst="rect">
            <a:avLst/>
          </a:prstGeom>
          <a:noFill/>
          <a:ln/>
        </p:spPr>
        <p:txBody>
          <a:bodyPr wrap="square" lIns="0" tIns="0" rIns="0" bIns="0" rtlCol="0" anchor="t"/>
          <a:lstStyle/>
          <a:p>
            <a:pPr algn="l" indent="0" marL="0">
              <a:buNone/>
            </a:pPr>
            <a:r>
              <a:rPr lang="en-US" sz="1600" b="1" dirty="0">
                <a:solidFill>
                  <a:srgbClr val="A99BF5"/>
                </a:solidFill>
                <a:latin typeface="Cambria" pitchFamily="34" charset="0"/>
                <a:ea typeface="Cambria" pitchFamily="34" charset="-122"/>
                <a:cs typeface="Cambria" pitchFamily="34" charset="-120"/>
              </a:rPr>
              <a:t>ReLU</a:t>
            </a:r>
            <a:endParaRPr lang="en-US" sz="1600" dirty="0"/>
          </a:p>
        </p:txBody>
      </p:sp>
      <p:sp>
        <p:nvSpPr>
          <p:cNvPr id="20" name="Text 18"/>
          <p:cNvSpPr txBox="1"/>
          <p:nvPr/>
        </p:nvSpPr>
        <p:spPr>
          <a:xfrm>
            <a:off x="914400" y="416052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Pilihan bawaan lapisan tersembunyi.</a:t>
            </a:r>
            <a:endParaRPr lang="en-US" sz="1250" dirty="0"/>
          </a:p>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Tidak menjenuh di sisi positif.</a:t>
            </a:r>
            <a:endParaRPr lang="en-US" sz="1250" dirty="0"/>
          </a:p>
        </p:txBody>
      </p:sp>
      <p:sp>
        <p:nvSpPr>
          <p:cNvPr id="21" name="Shape 19"/>
          <p:cNvSpPr/>
          <p:nvPr/>
        </p:nvSpPr>
        <p:spPr>
          <a:xfrm>
            <a:off x="4389120" y="3337560"/>
            <a:ext cx="3520440" cy="1737360"/>
          </a:xfrm>
          <a:prstGeom prst="roundRect">
            <a:avLst>
              <a:gd name="adj" fmla="val 4737"/>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22" name="Shape 20"/>
          <p:cNvSpPr/>
          <p:nvPr/>
        </p:nvSpPr>
        <p:spPr>
          <a:xfrm>
            <a:off x="4709160" y="3630168"/>
            <a:ext cx="457200" cy="41148"/>
          </a:xfrm>
          <a:prstGeom prst="rect">
            <a:avLst/>
          </a:prstGeom>
          <a:solidFill>
            <a:srgbClr val="2FA890"/>
          </a:solidFill>
          <a:ln w="12700">
            <a:solidFill>
              <a:srgbClr val="333333"/>
            </a:solidFill>
            <a:prstDash val="solid"/>
          </a:ln>
        </p:spPr>
      </p:sp>
      <p:sp>
        <p:nvSpPr>
          <p:cNvPr id="23" name="Text 21"/>
          <p:cNvSpPr txBox="1"/>
          <p:nvPr/>
        </p:nvSpPr>
        <p:spPr>
          <a:xfrm>
            <a:off x="4709160" y="3776472"/>
            <a:ext cx="2880360" cy="320040"/>
          </a:xfrm>
          <a:prstGeom prst="rect">
            <a:avLst/>
          </a:prstGeom>
          <a:noFill/>
          <a:ln/>
        </p:spPr>
        <p:txBody>
          <a:bodyPr wrap="square" lIns="0" tIns="0" rIns="0" bIns="0" rtlCol="0" anchor="t"/>
          <a:lstStyle/>
          <a:p>
            <a:pPr algn="l" indent="0" marL="0">
              <a:buNone/>
            </a:pPr>
            <a:r>
              <a:rPr lang="en-US" sz="1600" b="1" dirty="0">
                <a:solidFill>
                  <a:srgbClr val="5FD9C2"/>
                </a:solidFill>
                <a:latin typeface="Cambria" pitchFamily="34" charset="0"/>
                <a:ea typeface="Cambria" pitchFamily="34" charset="-122"/>
                <a:cs typeface="Cambria" pitchFamily="34" charset="-120"/>
              </a:rPr>
              <a:t>Backpropagation</a:t>
            </a:r>
            <a:endParaRPr lang="en-US" sz="1600" dirty="0"/>
          </a:p>
        </p:txBody>
      </p:sp>
      <p:sp>
        <p:nvSpPr>
          <p:cNvPr id="24" name="Text 22"/>
          <p:cNvSpPr txBox="1"/>
          <p:nvPr/>
        </p:nvSpPr>
        <p:spPr>
          <a:xfrm>
            <a:off x="4709160" y="416052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Menghitung gradien secara efisien.</a:t>
            </a:r>
            <a:endParaRPr lang="en-US" sz="1250" dirty="0"/>
          </a:p>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Yang melatih tetap Gradient Descent.</a:t>
            </a:r>
            <a:endParaRPr lang="en-US" sz="1250" dirty="0"/>
          </a:p>
        </p:txBody>
      </p:sp>
      <p:sp>
        <p:nvSpPr>
          <p:cNvPr id="25" name="Shape 23"/>
          <p:cNvSpPr/>
          <p:nvPr/>
        </p:nvSpPr>
        <p:spPr>
          <a:xfrm>
            <a:off x="8183880" y="3337560"/>
            <a:ext cx="3520440" cy="1737360"/>
          </a:xfrm>
          <a:prstGeom prst="roundRect">
            <a:avLst>
              <a:gd name="adj" fmla="val 4737"/>
            </a:avLst>
          </a:prstGeom>
          <a:solidFill>
            <a:srgbClr val="272A4A"/>
          </a:solidFill>
          <a:ln w="12700">
            <a:solidFill>
              <a:srgbClr val="3A3E66"/>
            </a:solidFill>
            <a:prstDash val="solid"/>
          </a:ln>
          <a:effectLst>
            <a:outerShdw sx="100000" sy="100000" kx="0" ky="0" algn="bl" rotWithShape="0" blurRad="101600" dist="508" dir="5400000">
              <a:srgbClr val="AEB2C2">
                <a:alpha val="30000"/>
              </a:srgbClr>
            </a:outerShdw>
          </a:effectLst>
        </p:spPr>
      </p:sp>
      <p:sp>
        <p:nvSpPr>
          <p:cNvPr id="26" name="Shape 24"/>
          <p:cNvSpPr/>
          <p:nvPr/>
        </p:nvSpPr>
        <p:spPr>
          <a:xfrm>
            <a:off x="8503920" y="3630168"/>
            <a:ext cx="457200" cy="41148"/>
          </a:xfrm>
          <a:prstGeom prst="rect">
            <a:avLst/>
          </a:prstGeom>
          <a:solidFill>
            <a:srgbClr val="E8703F"/>
          </a:solidFill>
          <a:ln w="12700">
            <a:solidFill>
              <a:srgbClr val="333333"/>
            </a:solidFill>
            <a:prstDash val="solid"/>
          </a:ln>
        </p:spPr>
      </p:sp>
      <p:sp>
        <p:nvSpPr>
          <p:cNvPr id="27" name="Text 25"/>
          <p:cNvSpPr txBox="1"/>
          <p:nvPr/>
        </p:nvSpPr>
        <p:spPr>
          <a:xfrm>
            <a:off x="8503920" y="3776472"/>
            <a:ext cx="2880360" cy="320040"/>
          </a:xfrm>
          <a:prstGeom prst="rect">
            <a:avLst/>
          </a:prstGeom>
          <a:noFill/>
          <a:ln/>
        </p:spPr>
        <p:txBody>
          <a:bodyPr wrap="square" lIns="0" tIns="0" rIns="0" bIns="0" rtlCol="0" anchor="t"/>
          <a:lstStyle/>
          <a:p>
            <a:pPr algn="l" indent="0" marL="0">
              <a:buNone/>
            </a:pPr>
            <a:r>
              <a:rPr lang="en-US" sz="1600" b="1" dirty="0">
                <a:solidFill>
                  <a:srgbClr val="F3A17C"/>
                </a:solidFill>
                <a:latin typeface="Cambria" pitchFamily="34" charset="0"/>
                <a:ea typeface="Cambria" pitchFamily="34" charset="-122"/>
                <a:cs typeface="Cambria" pitchFamily="34" charset="-120"/>
              </a:rPr>
              <a:t>Menahan overfitting</a:t>
            </a:r>
            <a:endParaRPr lang="en-US" sz="1600" dirty="0"/>
          </a:p>
        </p:txBody>
      </p:sp>
      <p:sp>
        <p:nvSpPr>
          <p:cNvPr id="28" name="Text 26"/>
          <p:cNvSpPr txBox="1"/>
          <p:nvPr/>
        </p:nvSpPr>
        <p:spPr>
          <a:xfrm>
            <a:off x="8503920" y="416052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Dropout mematikan neuron acak.</a:t>
            </a:r>
            <a:endParaRPr lang="en-US" sz="1250" dirty="0"/>
          </a:p>
          <a:p>
            <a:pPr algn="l" indent="0" marL="0">
              <a:lnSpc>
                <a:spcPct val="125000"/>
              </a:lnSpc>
              <a:buNone/>
            </a:pPr>
            <a:r>
              <a:rPr lang="en-US" sz="1250" dirty="0">
                <a:solidFill>
                  <a:srgbClr val="B9BDD0"/>
                </a:solidFill>
                <a:latin typeface="Calibri" pitchFamily="34" charset="0"/>
                <a:ea typeface="Calibri" pitchFamily="34" charset="-122"/>
                <a:cs typeface="Calibri" pitchFamily="34" charset="-120"/>
              </a:rPr>
              <a:t>Early stopping berhenti tepat waktu.</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4F8"/>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2FA890"/>
                </a:solidFill>
                <a:latin typeface="Calibri" pitchFamily="34" charset="0"/>
                <a:ea typeface="Calibri" pitchFamily="34" charset="-122"/>
                <a:cs typeface="Calibri" pitchFamily="34" charset="-120"/>
              </a:rPr>
              <a:t>TINDAK LANJUT</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91B33"/>
                </a:solidFill>
                <a:latin typeface="Cambria" pitchFamily="34" charset="0"/>
                <a:ea typeface="Cambria" pitchFamily="34" charset="-122"/>
                <a:cs typeface="Cambria" pitchFamily="34" charset="-120"/>
              </a:rPr>
              <a:t>Sebelum pertemuan berikutnya</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A6E85"/>
                </a:solidFill>
                <a:latin typeface="Calibri" pitchFamily="34" charset="0"/>
                <a:ea typeface="Calibri" pitchFamily="34" charset="-122"/>
                <a:cs typeface="Calibri" pitchFamily="34" charset="-120"/>
              </a:rPr>
              <a:t>22</a:t>
            </a:r>
            <a:endParaRPr lang="en-US" sz="1000" dirty="0"/>
          </a:p>
        </p:txBody>
      </p:sp>
      <p:sp>
        <p:nvSpPr>
          <p:cNvPr id="5" name="Shape 3"/>
          <p:cNvSpPr/>
          <p:nvPr/>
        </p:nvSpPr>
        <p:spPr>
          <a:xfrm>
            <a:off x="594360" y="1325880"/>
            <a:ext cx="5486400" cy="2011680"/>
          </a:xfrm>
          <a:prstGeom prst="roundRect">
            <a:avLst>
              <a:gd name="adj" fmla="val 4091"/>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6" name="Shape 4"/>
          <p:cNvSpPr/>
          <p:nvPr/>
        </p:nvSpPr>
        <p:spPr>
          <a:xfrm>
            <a:off x="914400" y="1572768"/>
            <a:ext cx="530352" cy="530352"/>
          </a:xfrm>
          <a:prstGeom prst="ellipse">
            <a:avLst/>
          </a:prstGeom>
          <a:solidFill>
            <a:srgbClr val="2FA890"/>
          </a:solidFill>
          <a:ln w="12700">
            <a:solidFill>
              <a:srgbClr val="333333"/>
            </a:solidFill>
            <a:prstDash val="solid"/>
          </a:ln>
        </p:spPr>
      </p:sp>
      <p:sp>
        <p:nvSpPr>
          <p:cNvPr id="7" name="Text 5"/>
          <p:cNvSpPr txBox="1"/>
          <p:nvPr/>
        </p:nvSpPr>
        <p:spPr>
          <a:xfrm>
            <a:off x="914400" y="1572768"/>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BM</a:t>
            </a:r>
            <a:endParaRPr lang="en-US" sz="1300" dirty="0"/>
          </a:p>
        </p:txBody>
      </p:sp>
      <p:sp>
        <p:nvSpPr>
          <p:cNvPr id="8" name="Text 6"/>
          <p:cNvSpPr txBox="1"/>
          <p:nvPr/>
        </p:nvSpPr>
        <p:spPr>
          <a:xfrm>
            <a:off x="1600200" y="1627632"/>
            <a:ext cx="4114800" cy="365760"/>
          </a:xfrm>
          <a:prstGeom prst="rect">
            <a:avLst/>
          </a:prstGeom>
          <a:noFill/>
          <a:ln/>
        </p:spPr>
        <p:txBody>
          <a:bodyPr wrap="square" lIns="0" tIns="0" rIns="0" bIns="0" rtlCol="0" anchor="t"/>
          <a:lstStyle/>
          <a:p>
            <a:pPr algn="l" indent="0" marL="0">
              <a:buNone/>
            </a:pPr>
            <a:r>
              <a:rPr lang="en-US" sz="1700" b="1" dirty="0">
                <a:solidFill>
                  <a:srgbClr val="191B33"/>
                </a:solidFill>
                <a:latin typeface="Cambria" pitchFamily="34" charset="0"/>
                <a:ea typeface="Cambria" pitchFamily="34" charset="-122"/>
                <a:cs typeface="Cambria" pitchFamily="34" charset="-120"/>
              </a:rPr>
              <a:t>Belajar Mandiri  ·  180 menit</a:t>
            </a:r>
            <a:endParaRPr lang="en-US" sz="1700" dirty="0"/>
          </a:p>
        </p:txBody>
      </p:sp>
      <p:sp>
        <p:nvSpPr>
          <p:cNvPr id="9" name="Text 7"/>
          <p:cNvSpPr txBox="1"/>
          <p:nvPr/>
        </p:nvSpPr>
        <p:spPr>
          <a:xfrm>
            <a:off x="914400" y="2240280"/>
            <a:ext cx="4846320" cy="868680"/>
          </a:xfrm>
          <a:prstGeom prst="rect">
            <a:avLst/>
          </a:prstGeom>
          <a:noFill/>
          <a:ln/>
        </p:spPr>
        <p:txBody>
          <a:bodyPr wrap="square" lIns="0" tIns="0" rIns="0" bIns="0" rtlCol="0" anchor="t"/>
          <a:lstStyle/>
          <a:p>
            <a:pPr algn="l" indent="0" marL="0">
              <a:lnSpc>
                <a:spcPct val="130000"/>
              </a:lnSpc>
              <a:buNone/>
            </a:pPr>
            <a:r>
              <a:rPr lang="en-US" sz="1400" dirty="0">
                <a:solidFill>
                  <a:srgbClr val="1A1C2E"/>
                </a:solidFill>
                <a:latin typeface="Calibri" pitchFamily="34" charset="0"/>
                <a:ea typeface="Calibri" pitchFamily="34" charset="-122"/>
                <a:cs typeface="Calibri" pitchFamily="34" charset="-120"/>
              </a:rPr>
              <a:t>Membaca Géron [1] Bab 10 mengenai jaringan saraf tiruan, serta Goodfellow dkk. [4] bagian pengantar.</a:t>
            </a:r>
            <a:endParaRPr lang="en-US" sz="1400" dirty="0"/>
          </a:p>
        </p:txBody>
      </p:sp>
      <p:sp>
        <p:nvSpPr>
          <p:cNvPr id="10" name="Shape 8"/>
          <p:cNvSpPr/>
          <p:nvPr/>
        </p:nvSpPr>
        <p:spPr>
          <a:xfrm>
            <a:off x="6537960" y="1325880"/>
            <a:ext cx="5029200" cy="2011680"/>
          </a:xfrm>
          <a:prstGeom prst="roundRect">
            <a:avLst>
              <a:gd name="adj" fmla="val 4091"/>
            </a:avLst>
          </a:prstGeom>
          <a:solidFill>
            <a:srgbClr val="FFFFFF"/>
          </a:solidFill>
          <a:ln w="12700">
            <a:solidFill>
              <a:srgbClr val="DDDFE8"/>
            </a:solidFill>
            <a:prstDash val="solid"/>
          </a:ln>
          <a:effectLst>
            <a:outerShdw sx="100000" sy="100000" kx="0" ky="0" algn="bl" rotWithShape="0" blurRad="101600" dist="508" dir="5400000">
              <a:srgbClr val="AEB2C2">
                <a:alpha val="30000"/>
              </a:srgbClr>
            </a:outerShdw>
          </a:effectLst>
        </p:spPr>
      </p:sp>
      <p:sp>
        <p:nvSpPr>
          <p:cNvPr id="11" name="Shape 9"/>
          <p:cNvSpPr/>
          <p:nvPr/>
        </p:nvSpPr>
        <p:spPr>
          <a:xfrm>
            <a:off x="6858000" y="1572768"/>
            <a:ext cx="530352" cy="530352"/>
          </a:xfrm>
          <a:prstGeom prst="ellipse">
            <a:avLst/>
          </a:prstGeom>
          <a:solidFill>
            <a:srgbClr val="7C6BF0"/>
          </a:solidFill>
          <a:ln w="12700">
            <a:solidFill>
              <a:srgbClr val="333333"/>
            </a:solidFill>
            <a:prstDash val="solid"/>
          </a:ln>
        </p:spPr>
      </p:sp>
      <p:sp>
        <p:nvSpPr>
          <p:cNvPr id="12" name="Text 10"/>
          <p:cNvSpPr txBox="1"/>
          <p:nvPr/>
        </p:nvSpPr>
        <p:spPr>
          <a:xfrm>
            <a:off x="6858000" y="1572768"/>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PT</a:t>
            </a:r>
            <a:endParaRPr lang="en-US" sz="1300" dirty="0"/>
          </a:p>
        </p:txBody>
      </p:sp>
      <p:sp>
        <p:nvSpPr>
          <p:cNvPr id="13" name="Text 11"/>
          <p:cNvSpPr txBox="1"/>
          <p:nvPr/>
        </p:nvSpPr>
        <p:spPr>
          <a:xfrm>
            <a:off x="7543800" y="1627632"/>
            <a:ext cx="3794760" cy="365760"/>
          </a:xfrm>
          <a:prstGeom prst="rect">
            <a:avLst/>
          </a:prstGeom>
          <a:noFill/>
          <a:ln/>
        </p:spPr>
        <p:txBody>
          <a:bodyPr wrap="square" lIns="0" tIns="0" rIns="0" bIns="0" rtlCol="0" anchor="t"/>
          <a:lstStyle/>
          <a:p>
            <a:pPr algn="l" indent="0" marL="0">
              <a:buNone/>
            </a:pPr>
            <a:r>
              <a:rPr lang="en-US" sz="1700" b="1" dirty="0">
                <a:solidFill>
                  <a:srgbClr val="191B33"/>
                </a:solidFill>
                <a:latin typeface="Cambria" pitchFamily="34" charset="0"/>
                <a:ea typeface="Cambria" pitchFamily="34" charset="-122"/>
                <a:cs typeface="Cambria" pitchFamily="34" charset="-120"/>
              </a:rPr>
              <a:t>Penugasan Terstruktur  ·  180 menit</a:t>
            </a:r>
            <a:endParaRPr lang="en-US" sz="1700" dirty="0"/>
          </a:p>
        </p:txBody>
      </p:sp>
      <p:sp>
        <p:nvSpPr>
          <p:cNvPr id="14" name="Text 12"/>
          <p:cNvSpPr txBox="1"/>
          <p:nvPr/>
        </p:nvSpPr>
        <p:spPr>
          <a:xfrm>
            <a:off x="6858000" y="2240280"/>
            <a:ext cx="4480560" cy="868680"/>
          </a:xfrm>
          <a:prstGeom prst="rect">
            <a:avLst/>
          </a:prstGeom>
          <a:noFill/>
          <a:ln/>
        </p:spPr>
        <p:txBody>
          <a:bodyPr wrap="square" lIns="0" tIns="0" rIns="0" bIns="0" rtlCol="0" anchor="t"/>
          <a:lstStyle/>
          <a:p>
            <a:pPr algn="l" indent="0" marL="0">
              <a:lnSpc>
                <a:spcPct val="130000"/>
              </a:lnSpc>
              <a:buNone/>
            </a:pPr>
            <a:r>
              <a:rPr lang="en-US" sz="1400" dirty="0">
                <a:solidFill>
                  <a:srgbClr val="1A1C2E"/>
                </a:solidFill>
                <a:latin typeface="Calibri" pitchFamily="34" charset="0"/>
                <a:ea typeface="Calibri" pitchFamily="34" charset="-122"/>
                <a:cs typeface="Calibri" pitchFamily="34" charset="-120"/>
              </a:rPr>
              <a:t>Latihan soal: perhitungan forward pass pada jaringan kecil dan penjelasan alur backpropagation.</a:t>
            </a:r>
            <a:endParaRPr lang="en-US" sz="1400" dirty="0"/>
          </a:p>
        </p:txBody>
      </p:sp>
      <p:sp>
        <p:nvSpPr>
          <p:cNvPr id="15" name="Shape 13"/>
          <p:cNvSpPr/>
          <p:nvPr/>
        </p:nvSpPr>
        <p:spPr>
          <a:xfrm>
            <a:off x="594360" y="3566160"/>
            <a:ext cx="11002975" cy="822960"/>
          </a:xfrm>
          <a:prstGeom prst="roundRect">
            <a:avLst>
              <a:gd name="adj" fmla="val 10000"/>
            </a:avLst>
          </a:prstGeom>
          <a:solidFill>
            <a:srgbClr val="E7F5F1"/>
          </a:solidFill>
          <a:ln w="12700">
            <a:solidFill>
              <a:srgbClr val="C3E5DC"/>
            </a:solidFill>
            <a:prstDash val="solid"/>
          </a:ln>
          <a:effectLst>
            <a:outerShdw sx="100000" sy="100000" kx="0" ky="0" algn="bl" rotWithShape="0" blurRad="101600" dist="508" dir="5400000">
              <a:srgbClr val="AEB2C2">
                <a:alpha val="30000"/>
              </a:srgbClr>
            </a:outerShdw>
          </a:effectLst>
        </p:spPr>
      </p:sp>
      <p:sp>
        <p:nvSpPr>
          <p:cNvPr id="16" name="Text 14"/>
          <p:cNvSpPr txBox="1"/>
          <p:nvPr/>
        </p:nvSpPr>
        <p:spPr>
          <a:xfrm>
            <a:off x="1005840" y="3767328"/>
            <a:ext cx="10180015" cy="457200"/>
          </a:xfrm>
          <a:prstGeom prst="rect">
            <a:avLst/>
          </a:prstGeom>
          <a:noFill/>
          <a:ln/>
        </p:spPr>
        <p:txBody>
          <a:bodyPr wrap="square" lIns="0" tIns="0" rIns="0" bIns="0" rtlCol="0" anchor="t"/>
          <a:lstStyle/>
          <a:p>
            <a:pPr algn="l" indent="0" marL="0">
              <a:buNone/>
            </a:pPr>
            <a:r>
              <a:rPr lang="en-US" sz="1400" dirty="0">
                <a:solidFill>
                  <a:srgbClr val="19685A"/>
                </a:solidFill>
                <a:latin typeface="Calibri" pitchFamily="34" charset="0"/>
                <a:ea typeface="Calibri" pitchFamily="34" charset="-122"/>
                <a:cs typeface="Calibri" pitchFamily="34" charset="-120"/>
              </a:rPr>
              <a:t>Latihan ini bersifat formatif — tidak berbobot tersendiri. Kontribusi Anda saat pembahasan di kelas dinilai melalui komponen Aktivitas Partisipatif.</a:t>
            </a:r>
            <a:endParaRPr lang="en-US" sz="1400" dirty="0"/>
          </a:p>
        </p:txBody>
      </p:sp>
      <p:sp>
        <p:nvSpPr>
          <p:cNvPr id="17" name="Shape 15"/>
          <p:cNvSpPr/>
          <p:nvPr/>
        </p:nvSpPr>
        <p:spPr>
          <a:xfrm>
            <a:off x="594360" y="4572000"/>
            <a:ext cx="11002975" cy="914400"/>
          </a:xfrm>
          <a:prstGeom prst="roundRect">
            <a:avLst>
              <a:gd name="adj" fmla="val 9000"/>
            </a:avLst>
          </a:prstGeom>
          <a:solidFill>
            <a:srgbClr val="F0EDFC"/>
          </a:solidFill>
          <a:ln w="12700">
            <a:solidFill>
              <a:srgbClr val="D9D2F7"/>
            </a:solidFill>
            <a:prstDash val="solid"/>
          </a:ln>
          <a:effectLst>
            <a:outerShdw sx="100000" sy="100000" kx="0" ky="0" algn="bl" rotWithShape="0" blurRad="101600" dist="508" dir="5400000">
              <a:srgbClr val="AEB2C2">
                <a:alpha val="30000"/>
              </a:srgbClr>
            </a:outerShdw>
          </a:effectLst>
        </p:spPr>
      </p:sp>
      <p:sp>
        <p:nvSpPr>
          <p:cNvPr id="18" name="Text 16"/>
          <p:cNvSpPr txBox="1"/>
          <p:nvPr/>
        </p:nvSpPr>
        <p:spPr>
          <a:xfrm>
            <a:off x="1005840" y="4773168"/>
            <a:ext cx="10180015" cy="548640"/>
          </a:xfrm>
          <a:prstGeom prst="rect">
            <a:avLst/>
          </a:prstGeom>
          <a:noFill/>
          <a:ln/>
        </p:spPr>
        <p:txBody>
          <a:bodyPr wrap="square" lIns="0" tIns="0" rIns="0" bIns="0" rtlCol="0" anchor="t"/>
          <a:lstStyle/>
          <a:p>
            <a:pPr algn="l" indent="0" marL="0">
              <a:lnSpc>
                <a:spcPct val="120000"/>
              </a:lnSpc>
              <a:buNone/>
            </a:pPr>
            <a:r>
              <a:rPr lang="en-US" sz="1400" b="1" dirty="0">
                <a:solidFill>
                  <a:srgbClr val="4A3B8C"/>
                </a:solidFill>
                <a:latin typeface="Calibri" pitchFamily="34" charset="0"/>
                <a:ea typeface="Calibri" pitchFamily="34" charset="-122"/>
                <a:cs typeface="Calibri" pitchFamily="34" charset="-120"/>
              </a:rPr>
              <a:t>Pengingat pertemuan 13: Presentasi Kilat Algoritma sesi 2 dilaksanakan bersamaan dengan Tugas Terstruktur 5 (bobot 4%). Kelompok yang belum menyiapkan bahan agar segera mulai.</a:t>
            </a:r>
            <a:endParaRPr lang="en-US" sz="1400" dirty="0"/>
          </a:p>
        </p:txBody>
      </p:sp>
      <p:sp>
        <p:nvSpPr>
          <p:cNvPr id="19" name="Text 17"/>
          <p:cNvSpPr txBox="1"/>
          <p:nvPr/>
        </p:nvSpPr>
        <p:spPr>
          <a:xfrm>
            <a:off x="594360" y="5669280"/>
            <a:ext cx="11002975" cy="365760"/>
          </a:xfrm>
          <a:prstGeom prst="rect">
            <a:avLst/>
          </a:prstGeom>
          <a:noFill/>
          <a:ln/>
        </p:spPr>
        <p:txBody>
          <a:bodyPr wrap="square" lIns="0" tIns="0" rIns="0" bIns="0" rtlCol="0" anchor="t"/>
          <a:lstStyle/>
          <a:p>
            <a:pPr algn="l" indent="0" marL="0">
              <a:buNone/>
            </a:pPr>
            <a:r>
              <a:rPr lang="en-US" sz="1250" dirty="0">
                <a:solidFill>
                  <a:srgbClr val="6A6E85"/>
                </a:solidFill>
                <a:latin typeface="Calibri" pitchFamily="34" charset="0"/>
                <a:ea typeface="Calibri" pitchFamily="34" charset="-122"/>
                <a:cs typeface="Calibri" pitchFamily="34" charset="-120"/>
              </a:rPr>
              <a:t>Bacaan pendukung:  [1] Géron Bab 10  ·  [4] Goodfellow dkk., Deep Learning  ·  [10] Catatan kuliah CS 189</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91B33"/>
        </a:solidFill>
      </p:bgPr>
    </p:bg>
    <p:spTree>
      <p:nvGrpSpPr>
        <p:cNvPr id="1" name=""/>
        <p:cNvGrpSpPr/>
        <p:nvPr/>
      </p:nvGrpSpPr>
      <p:grpSpPr>
        <a:xfrm>
          <a:off x="0" y="0"/>
          <a:ext cx="0" cy="0"/>
          <a:chOff x="0" y="0"/>
          <a:chExt cx="0" cy="0"/>
        </a:xfrm>
      </p:grpSpPr>
      <p:sp>
        <p:nvSpPr>
          <p:cNvPr id="2" name="Shape 0"/>
          <p:cNvSpPr/>
          <p:nvPr/>
        </p:nvSpPr>
        <p:spPr>
          <a:xfrm>
            <a:off x="-1645920" y="4206240"/>
            <a:ext cx="4937760" cy="4937760"/>
          </a:xfrm>
          <a:prstGeom prst="ellipse">
            <a:avLst/>
          </a:prstGeom>
          <a:solidFill>
            <a:srgbClr val="7C6BF0"/>
          </a:solidFill>
          <a:ln w="12700">
            <a:solidFill>
              <a:srgbClr val="333333"/>
            </a:solidFill>
            <a:prstDash val="solid"/>
          </a:ln>
        </p:spPr>
      </p:sp>
      <p:sp>
        <p:nvSpPr>
          <p:cNvPr id="3" name="Shape 1"/>
          <p:cNvSpPr/>
          <p:nvPr/>
        </p:nvSpPr>
        <p:spPr>
          <a:xfrm>
            <a:off x="10241280" y="-1463040"/>
            <a:ext cx="3840480" cy="3840480"/>
          </a:xfrm>
          <a:prstGeom prst="ellipse">
            <a:avLst/>
          </a:prstGeom>
          <a:solidFill>
            <a:srgbClr val="2FA890"/>
          </a:solidFill>
          <a:ln w="12700">
            <a:solidFill>
              <a:srgbClr val="333333"/>
            </a:solidFill>
            <a:prstDash val="solid"/>
          </a:ln>
        </p:spPr>
      </p:sp>
      <p:sp>
        <p:nvSpPr>
          <p:cNvPr id="4" name="Text 2"/>
          <p:cNvSpPr txBox="1"/>
          <p:nvPr/>
        </p:nvSpPr>
        <p:spPr>
          <a:xfrm>
            <a:off x="594360" y="2011680"/>
            <a:ext cx="8686800" cy="320040"/>
          </a:xfrm>
          <a:prstGeom prst="rect">
            <a:avLst/>
          </a:prstGeom>
          <a:noFill/>
          <a:ln/>
        </p:spPr>
        <p:txBody>
          <a:bodyPr wrap="square" lIns="0" tIns="0" rIns="0" bIns="0" rtlCol="0" anchor="t"/>
          <a:lstStyle/>
          <a:p>
            <a:pPr algn="l" indent="0" marL="0">
              <a:buNone/>
            </a:pPr>
            <a:r>
              <a:rPr lang="en-US" sz="1300" b="1" dirty="0">
                <a:solidFill>
                  <a:srgbClr val="5FD9C2"/>
                </a:solidFill>
                <a:latin typeface="Calibri" pitchFamily="34" charset="0"/>
                <a:ea typeface="Calibri" pitchFamily="34" charset="-122"/>
                <a:cs typeface="Calibri" pitchFamily="34" charset="-120"/>
              </a:rPr>
              <a:t>PERTEMUAN BERIKUTNYA</a:t>
            </a:r>
            <a:endParaRPr lang="en-US" sz="1300" dirty="0"/>
          </a:p>
        </p:txBody>
      </p:sp>
      <p:sp>
        <p:nvSpPr>
          <p:cNvPr id="5" name="Text 3"/>
          <p:cNvSpPr txBox="1"/>
          <p:nvPr/>
        </p:nvSpPr>
        <p:spPr>
          <a:xfrm>
            <a:off x="594360" y="2468880"/>
            <a:ext cx="8686800" cy="1371600"/>
          </a:xfrm>
          <a:prstGeom prst="rect">
            <a:avLst/>
          </a:prstGeom>
          <a:noFill/>
          <a:ln/>
        </p:spPr>
        <p:txBody>
          <a:bodyPr wrap="square" lIns="0" tIns="0" rIns="0" bIns="0" rtlCol="0" anchor="t"/>
          <a:lstStyle/>
          <a:p>
            <a:pPr algn="l" indent="0" marL="0">
              <a:lnSpc>
                <a:spcPct val="115000"/>
              </a:lnSpc>
              <a:buNone/>
            </a:pPr>
            <a:r>
              <a:rPr lang="en-US" sz="3600" b="1" dirty="0">
                <a:solidFill>
                  <a:srgbClr val="FFFFFF"/>
                </a:solidFill>
                <a:latin typeface="Cambria" pitchFamily="34" charset="0"/>
                <a:ea typeface="Cambria" pitchFamily="34" charset="-122"/>
                <a:cs typeface="Cambria" pitchFamily="34" charset="-120"/>
              </a:rPr>
              <a:t>Representasi Teks,</a:t>
            </a:r>
            <a:endParaRPr lang="en-US" sz="3600" dirty="0"/>
          </a:p>
          <a:p>
            <a:pPr algn="l" indent="0" marL="0">
              <a:lnSpc>
                <a:spcPct val="115000"/>
              </a:lnSpc>
              <a:buNone/>
            </a:pPr>
            <a:r>
              <a:rPr lang="en-US" sz="3600" b="1" dirty="0">
                <a:solidFill>
                  <a:srgbClr val="FFFFFF"/>
                </a:solidFill>
                <a:latin typeface="Cambria" pitchFamily="34" charset="0"/>
                <a:ea typeface="Cambria" pitchFamily="34" charset="-122"/>
                <a:cs typeface="Cambria" pitchFamily="34" charset="-120"/>
              </a:rPr>
              <a:t>CNN, RNN, dan LLM</a:t>
            </a:r>
            <a:endParaRPr lang="en-US" sz="3600" dirty="0"/>
          </a:p>
        </p:txBody>
      </p:sp>
      <p:sp>
        <p:nvSpPr>
          <p:cNvPr id="6" name="Shape 4"/>
          <p:cNvSpPr/>
          <p:nvPr/>
        </p:nvSpPr>
        <p:spPr>
          <a:xfrm>
            <a:off x="594360" y="4069080"/>
            <a:ext cx="1371600" cy="32004"/>
          </a:xfrm>
          <a:prstGeom prst="rect">
            <a:avLst/>
          </a:prstGeom>
          <a:solidFill>
            <a:srgbClr val="5FD9C2"/>
          </a:solidFill>
          <a:ln w="12700">
            <a:solidFill>
              <a:srgbClr val="333333"/>
            </a:solidFill>
            <a:prstDash val="solid"/>
          </a:ln>
        </p:spPr>
      </p:sp>
      <p:sp>
        <p:nvSpPr>
          <p:cNvPr id="7" name="Text 5"/>
          <p:cNvSpPr txBox="1"/>
          <p:nvPr/>
        </p:nvSpPr>
        <p:spPr>
          <a:xfrm>
            <a:off x="594360" y="4343400"/>
            <a:ext cx="8686800" cy="1097280"/>
          </a:xfrm>
          <a:prstGeom prst="rect">
            <a:avLst/>
          </a:prstGeom>
          <a:noFill/>
          <a:ln/>
        </p:spPr>
        <p:txBody>
          <a:bodyPr wrap="square" lIns="0" tIns="0" rIns="0" bIns="0" rtlCol="0" anchor="t"/>
          <a:lstStyle/>
          <a:p>
            <a:pPr algn="l" indent="0" marL="0">
              <a:lnSpc>
                <a:spcPct val="130000"/>
              </a:lnSpc>
              <a:buNone/>
            </a:pPr>
            <a:r>
              <a:rPr lang="en-US" sz="1600" dirty="0">
                <a:solidFill>
                  <a:srgbClr val="B9BDD0"/>
                </a:solidFill>
                <a:latin typeface="Calibri" pitchFamily="34" charset="0"/>
                <a:ea typeface="Calibri" pitchFamily="34" charset="-122"/>
                <a:cs typeface="Calibri" pitchFamily="34" charset="-120"/>
              </a:rPr>
              <a:t>Jaringan hari ini memperlakukan semua fitur sebagai daftar angka tanpa urutan.</a:t>
            </a:r>
            <a:endParaRPr lang="en-US" sz="1600" dirty="0"/>
          </a:p>
          <a:p>
            <a:pPr algn="l" indent="0" marL="0">
              <a:lnSpc>
                <a:spcPct val="130000"/>
              </a:lnSpc>
              <a:buNone/>
            </a:pPr>
            <a:r>
              <a:rPr lang="en-US" sz="1600" dirty="0">
                <a:solidFill>
                  <a:srgbClr val="B9BDD0"/>
                </a:solidFill>
                <a:latin typeface="Calibri" pitchFamily="34" charset="0"/>
                <a:ea typeface="Calibri" pitchFamily="34" charset="-122"/>
                <a:cs typeface="Calibri" pitchFamily="34" charset="-120"/>
              </a:rPr>
              <a:t>Pertemuan depan kita bertemu arsitektur yang tahu bahwa piksel bertetangga dan kata berurutan —</a:t>
            </a:r>
            <a:endParaRPr lang="en-US" sz="1600" dirty="0"/>
          </a:p>
          <a:p>
            <a:pPr algn="l" indent="0" marL="0">
              <a:lnSpc>
                <a:spcPct val="130000"/>
              </a:lnSpc>
              <a:buNone/>
            </a:pPr>
            <a:r>
              <a:rPr lang="en-US" sz="1600" dirty="0">
                <a:solidFill>
                  <a:srgbClr val="B9BDD0"/>
                </a:solidFill>
                <a:latin typeface="Calibri" pitchFamily="34" charset="0"/>
                <a:ea typeface="Calibri" pitchFamily="34" charset="-122"/>
                <a:cs typeface="Calibri" pitchFamily="34" charset="-120"/>
              </a:rPr>
              <a:t>sampai ke Large Language Model beserta risiko etis penggunaannya.</a:t>
            </a:r>
            <a:endParaRPr lang="en-US" sz="1600" dirty="0"/>
          </a:p>
        </p:txBody>
      </p:sp>
      <p:sp>
        <p:nvSpPr>
          <p:cNvPr id="8" name="Text 6"/>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B80A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2026-08-31T22:38:18Z</dcterms:created>
  <dcterms:modified xsi:type="dcterms:W3CDTF">2026-08-31T22:38:18Z</dcterms:modified>
</cp:coreProperties>
</file>