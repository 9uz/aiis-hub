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Galat data latih</c:v>
                </c:pt>
              </c:strCache>
            </c:strRef>
          </c:tx>
          <c:spPr>
            <a:solidFill>
              <a:srgbClr val="A87C4F"/>
            </a:solidFill>
            <a:ln w="38100" cap="flat">
              <a:solidFill>
                <a:srgbClr val="A87C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87C4F"/>
              </a:solidFill>
              <a:ln w="9525" cap="flat">
                <a:solidFill>
                  <a:srgbClr val="A87C4F"/>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0.32</c:v>
                </c:pt>
                <c:pt idx="1">
                  <c:v>0.24</c:v>
                </c:pt>
                <c:pt idx="2">
                  <c:v>0.18</c:v>
                </c:pt>
                <c:pt idx="3">
                  <c:v>0.13</c:v>
                </c:pt>
                <c:pt idx="4">
                  <c:v>0.09</c:v>
                </c:pt>
                <c:pt idx="5">
                  <c:v>0.06</c:v>
                </c:pt>
                <c:pt idx="6">
                  <c:v>0.04</c:v>
                </c:pt>
                <c:pt idx="7">
                  <c:v>0.02</c:v>
                </c:pt>
                <c:pt idx="8">
                  <c:v>0.01</c:v>
                </c:pt>
                <c:pt idx="9">
                  <c:v>0</c:v>
                </c:pt>
              </c:numCache>
            </c:numRef>
          </c:val>
          <c:smooth val="0"/>
        </c:ser>
        <c:ser>
          <c:idx val="1"/>
          <c:order val="1"/>
          <c:tx>
            <c:strRef>
              <c:f>Sheet1!$C$1</c:f>
              <c:strCache>
                <c:ptCount val="1"/>
                <c:pt idx="0">
                  <c:v>Galat data validasi</c:v>
                </c:pt>
              </c:strCache>
            </c:strRef>
          </c:tx>
          <c:spPr>
            <a:solidFill>
              <a:srgbClr val="8E4A6B"/>
            </a:solidFill>
            <a:ln w="38100" cap="flat">
              <a:solidFill>
                <a:srgbClr val="8E4A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E4A6B"/>
              </a:solidFill>
              <a:ln w="9525" cap="flat">
                <a:solidFill>
                  <a:srgbClr val="8E4A6B"/>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0.34</c:v>
                </c:pt>
                <c:pt idx="1">
                  <c:v>0.27</c:v>
                </c:pt>
                <c:pt idx="2">
                  <c:v>0.22</c:v>
                </c:pt>
                <c:pt idx="3">
                  <c:v>0.19</c:v>
                </c:pt>
                <c:pt idx="4">
                  <c:v>0.18</c:v>
                </c:pt>
                <c:pt idx="5">
                  <c:v>0.19</c:v>
                </c:pt>
                <c:pt idx="6">
                  <c:v>0.22</c:v>
                </c:pt>
                <c:pt idx="7">
                  <c:v>0.26</c:v>
                </c:pt>
                <c:pt idx="8">
                  <c:v>0.3</c:v>
                </c:pt>
                <c:pt idx="9">
                  <c:v>0.33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61756A"/>
                    </a:solidFill>
                    <a:latin typeface="Arial"/>
                  </a:defRPr>
                </a:pPr>
                <a:r>
                  <a:rPr sz="1100" b="0" i="0" u="none" strike="noStrike">
                    <a:solidFill>
                      <a:srgbClr val="61756A"/>
                    </a:solidFill>
                    <a:latin typeface="Arial"/>
                  </a:rPr>
                  <a:t>Kedalaman maksimum pohon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1756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CE3DA"/>
              </a:solidFill>
              <a:prstDash val="solid"/>
              <a:round/>
            </a:ln>
          </c:spPr>
        </c:majorGridlines>
        <c:title>
          <c:tx>
            <c:rich>
              <a:bodyPr/>
              <a:lstStyle/>
              <a:p>
                <a:pPr>
                  <a:defRPr sz="1100" b="0" i="0" u="none" strike="noStrike">
                    <a:solidFill>
                      <a:srgbClr val="61756A"/>
                    </a:solidFill>
                    <a:latin typeface="Arial"/>
                  </a:defRPr>
                </a:pPr>
                <a:r>
                  <a:rPr sz="1100" b="0" i="0" u="none" strike="noStrike">
                    <a:solidFill>
                      <a:srgbClr val="61756A"/>
                    </a:solidFill>
                    <a:latin typeface="Arial"/>
                  </a:rPr>
                  <a:t>Galat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1756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61756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Pertemuan 10 dari 16, bobot 8 persen. Empat bagian, satu latihan terbimbing hitung manual, satu diskusi kasus, dan Presentasi Kilat Algoritma sesi pertama. Sediakan waktu 30 menit untuk presentasi kilat.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bahwa regresi dan logistic regression sama-sama model linier. Pohon adalah keluarga yang benar-benar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Sebutkan sejak awal bahwa presentasi kilat berlangsung hari ini, agar kelompok bersiap.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Bandingkan langsung dengan persamaan logistic regression pertemuan 6. Tanyakan mana yang akan dipilih seorang kepala dinas.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Minta mahasiswa menyebutkan satu aturan lengkap dari pohon di slide sebelumnya, mulai dari akar sampai daun.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Gini dan entropy hampir selalu menghasilkan pohon yang sama. Gini lebih cepat dihitung karena tidak memakai logaritma - itulah alasan ia jadi pilihan bawaan.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bahwa 0,8 berasal dari 4 dibagi 5. Banyak mahasiswa keliru memakai proporsi terhadap total data, bukan terhadap kelompok.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Kunci: Kandidat A - Gini ya = 1-(0,75 kuadrat + 0,25 kuadrat) = 0,375; Gini tidak = 1-(0,333 kuadrat + 0,667 kuadrat) = 0,444; tertimbang = 0,4x0,375 + 0,6x0,444 = 0,417; gain = 0,083. Kandidat B - kedua sisi Gini 0,48; tertimbang 0,48; gain = 0,020. Jam sibuk menang dengan gain 0,180 dan menjadi simpul akar. Jarak nyaris tidak memisahkan apa pun sehingga hampir tidak berguna sebagai pemisah pertama. Bila gain sama, pertimbangkan fitur yang lebih murah diukur, lebih stabil, atau lebih mudah dijelaskan.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Kaitkan langsung ke pertemuan 9: kedalaman dipilih memakai cross-validation, bukan dengan melihat data uji.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Kalimat penutup adalah jembatan ke bagian ensemble. Beri jeda sejenak sebelum lanjut.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Analogi kuis: sekelompok orang biasa yang menjawab mandiri sering mengalahkan satu ahli, asalkan kesalahan mereka tidak searah.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Sebutkan istilah out-of-bag: sekitar sepertiga data tidak terambil pada tiap pohon dan dapat dipakai sebagai validasi gratis.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Sebutkan bahwa pada kompetisi data tabular, model boosting hampir selalu berada di peringkat teratas.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baris keempat: bagging memperbaiki variance, boosting memperbaiki bias. Ini kembali ke kerangka pertemuan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ekstrapolasi: memprediksi harga rumah 500 meter persegi padahal data latih hanya sampai 300. Model linier akan memberi angka; pohon akan memberi nilai daun terdekat.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Kalimat penutup penting: pemilihan model adalah keputusan berbasis bukti, bukan selera.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Kunci: A pohon tunggal karena keterbacaan mengalahkan akurasi bila keputusan harus diaudit. B ensemble - banyak variabel kategorik dan interaksi. C model linier karena pohon tidak dapat berekstrapolasi. D dapat dibenarkan bila kebutuhan menjelaskan lebih penting daripada selisih 7 poin, tetapi tim wajib menyatakan alasannya secara terbuka, bukan diam-diam.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Alokasikan 30 menit. Setelah semua kelompok tampil, pandu diskusi singkat membandingkan algoritma-algoritma tersebut dengan pohon dan ensemble yang baru dipelajari.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Butir keempat penting untuk Studi Kasus Akhir. Banyak mahasiswa menulis kesimpulan sebab-akibat dari feature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Minta tiap kelompok menyebut satu perbedaan paling mendasar antara pohon dan model linier.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Bobot 40 persen pada justifikasi menegaskan bahwa yang dinilai adalah penalaran, bukan hafalan mekanisme.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pergeseran besar dari supervised ke unsupervised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2F"/>
        </a:solidFill>
      </p:bgPr>
    </p:bg>
    <p:spTree>
      <p:nvGrpSpPr>
        <p:cNvPr id="1" name=""/>
        <p:cNvGrpSpPr/>
        <p:nvPr/>
      </p:nvGrpSpPr>
      <p:grpSpPr>
        <a:xfrm>
          <a:off x="0" y="0"/>
          <a:ext cx="0" cy="0"/>
          <a:chOff x="0" y="0"/>
          <a:chExt cx="0" cy="0"/>
        </a:xfrm>
      </p:grpSpPr>
      <p:sp>
        <p:nvSpPr>
          <p:cNvPr id="2" name="Shape 0"/>
          <p:cNvSpPr/>
          <p:nvPr/>
        </p:nvSpPr>
        <p:spPr>
          <a:xfrm>
            <a:off x="8595360" y="-1828800"/>
            <a:ext cx="5852160" cy="5852160"/>
          </a:xfrm>
          <a:prstGeom prst="ellipse">
            <a:avLst/>
          </a:prstGeom>
          <a:solidFill>
            <a:srgbClr val="7FA327"/>
          </a:solidFill>
          <a:ln w="12700">
            <a:solidFill>
              <a:srgbClr val="333333"/>
            </a:solidFill>
            <a:prstDash val="solid"/>
          </a:ln>
        </p:spPr>
      </p:sp>
      <p:sp>
        <p:nvSpPr>
          <p:cNvPr id="3" name="Shape 1"/>
          <p:cNvSpPr/>
          <p:nvPr/>
        </p:nvSpPr>
        <p:spPr>
          <a:xfrm>
            <a:off x="9966960" y="3291840"/>
            <a:ext cx="4023360" cy="4023360"/>
          </a:xfrm>
          <a:prstGeom prst="ellipse">
            <a:avLst/>
          </a:prstGeom>
          <a:solidFill>
            <a:srgbClr val="8E4A6B"/>
          </a:solidFill>
          <a:ln w="12700">
            <a:solidFill>
              <a:srgbClr val="333333"/>
            </a:solidFill>
            <a:prstDash val="solid"/>
          </a:ln>
        </p:spPr>
      </p:sp>
      <p:sp>
        <p:nvSpPr>
          <p:cNvPr id="4" name="Shape 2"/>
          <p:cNvSpPr/>
          <p:nvPr/>
        </p:nvSpPr>
        <p:spPr>
          <a:xfrm>
            <a:off x="11064240" y="5120640"/>
            <a:ext cx="1828800" cy="1828800"/>
          </a:xfrm>
          <a:prstGeom prst="ellipse">
            <a:avLst/>
          </a:prstGeom>
          <a:solidFill>
            <a:srgbClr val="A87C4F"/>
          </a:solidFill>
          <a:ln w="12700">
            <a:solidFill>
              <a:srgbClr val="333333"/>
            </a:solidFill>
            <a:prstDash val="solid"/>
          </a:ln>
        </p:spPr>
      </p:sp>
      <p:sp>
        <p:nvSpPr>
          <p:cNvPr id="5" name="Text 3"/>
          <p:cNvSpPr txBox="1"/>
          <p:nvPr/>
        </p:nvSpPr>
        <p:spPr>
          <a:xfrm>
            <a:off x="594360" y="1371600"/>
            <a:ext cx="7680960" cy="320040"/>
          </a:xfrm>
          <a:prstGeom prst="rect">
            <a:avLst/>
          </a:prstGeom>
          <a:noFill/>
          <a:ln/>
        </p:spPr>
        <p:txBody>
          <a:bodyPr wrap="square" lIns="0" tIns="0" rIns="0" bIns="0" rtlCol="0" anchor="t"/>
          <a:lstStyle/>
          <a:p>
            <a:pPr algn="l" indent="0" marL="0">
              <a:buNone/>
            </a:pPr>
            <a:r>
              <a:rPr lang="en-US" sz="1300" b="1" dirty="0">
                <a:solidFill>
                  <a:srgbClr val="B5D45A"/>
                </a:solidFill>
                <a:latin typeface="Calibri" pitchFamily="34" charset="0"/>
                <a:ea typeface="Calibri" pitchFamily="34" charset="-122"/>
                <a:cs typeface="Calibri" pitchFamily="34" charset="-120"/>
              </a:rPr>
              <a:t>DATA SCIENCE  ·  TI24425  ·  PERTEMUAN 10</a:t>
            </a:r>
            <a:endParaRPr lang="en-US" sz="1300" dirty="0"/>
          </a:p>
        </p:txBody>
      </p:sp>
      <p:sp>
        <p:nvSpPr>
          <p:cNvPr id="6" name="Text 4"/>
          <p:cNvSpPr txBox="1"/>
          <p:nvPr/>
        </p:nvSpPr>
        <p:spPr>
          <a:xfrm>
            <a:off x="594360" y="1920240"/>
            <a:ext cx="7680960" cy="1645920"/>
          </a:xfrm>
          <a:prstGeom prst="rect">
            <a:avLst/>
          </a:prstGeom>
          <a:noFill/>
          <a:ln/>
        </p:spPr>
        <p:txBody>
          <a:bodyPr wrap="square" lIns="0" tIns="0" rIns="0" bIns="0" rtlCol="0" anchor="t"/>
          <a:lstStyle/>
          <a:p>
            <a:pPr algn="l" indent="0" marL="0">
              <a:lnSpc>
                <a:spcPct val="115000"/>
              </a:lnSpc>
              <a:buNone/>
            </a:pPr>
            <a:r>
              <a:rPr lang="en-US" sz="4200" b="1" dirty="0">
                <a:solidFill>
                  <a:srgbClr val="FFFFFF"/>
                </a:solidFill>
                <a:latin typeface="Cambria" pitchFamily="34" charset="0"/>
                <a:ea typeface="Cambria" pitchFamily="34" charset="-122"/>
                <a:cs typeface="Cambria" pitchFamily="34" charset="-120"/>
              </a:rPr>
              <a:t>Model Berbasis Pohon</a:t>
            </a:r>
            <a:endParaRPr lang="en-US" sz="4200" dirty="0"/>
          </a:p>
          <a:p>
            <a:pPr algn="l" indent="0" marL="0">
              <a:lnSpc>
                <a:spcPct val="115000"/>
              </a:lnSpc>
              <a:buNone/>
            </a:pPr>
            <a:r>
              <a:rPr lang="en-US" sz="4200" b="1" dirty="0">
                <a:solidFill>
                  <a:srgbClr val="FFFFFF"/>
                </a:solidFill>
                <a:latin typeface="Cambria" pitchFamily="34" charset="0"/>
                <a:ea typeface="Cambria" pitchFamily="34" charset="-122"/>
                <a:cs typeface="Cambria" pitchFamily="34" charset="-120"/>
              </a:rPr>
              <a:t>dan Ensemble</a:t>
            </a:r>
            <a:endParaRPr lang="en-US" sz="4200" dirty="0"/>
          </a:p>
        </p:txBody>
      </p:sp>
      <p:sp>
        <p:nvSpPr>
          <p:cNvPr id="7" name="Shape 5"/>
          <p:cNvSpPr/>
          <p:nvPr/>
        </p:nvSpPr>
        <p:spPr>
          <a:xfrm>
            <a:off x="594360" y="3931920"/>
            <a:ext cx="1371600" cy="32004"/>
          </a:xfrm>
          <a:prstGeom prst="rect">
            <a:avLst/>
          </a:prstGeom>
          <a:solidFill>
            <a:srgbClr val="B5D45A"/>
          </a:solidFill>
          <a:ln w="12700">
            <a:solidFill>
              <a:srgbClr val="333333"/>
            </a:solidFill>
            <a:prstDash val="solid"/>
          </a:ln>
        </p:spPr>
      </p:sp>
      <p:sp>
        <p:nvSpPr>
          <p:cNvPr id="8" name="Text 6"/>
          <p:cNvSpPr txBox="1"/>
          <p:nvPr/>
        </p:nvSpPr>
        <p:spPr>
          <a:xfrm>
            <a:off x="594360" y="4206240"/>
            <a:ext cx="7680960" cy="822960"/>
          </a:xfrm>
          <a:prstGeom prst="rect">
            <a:avLst/>
          </a:prstGeom>
          <a:noFill/>
          <a:ln/>
        </p:spPr>
        <p:txBody>
          <a:bodyPr wrap="square" lIns="0" tIns="0" rIns="0" bIns="0" rtlCol="0" anchor="t"/>
          <a:lstStyle/>
          <a:p>
            <a:pPr algn="l" indent="0" marL="0">
              <a:lnSpc>
                <a:spcPct val="120000"/>
              </a:lnSpc>
              <a:buNone/>
            </a:pPr>
            <a:r>
              <a:rPr lang="en-US" sz="1400" dirty="0">
                <a:solidFill>
                  <a:srgbClr val="BCCCC0"/>
                </a:solidFill>
                <a:latin typeface="Calibri" pitchFamily="34" charset="0"/>
                <a:ea typeface="Calibri" pitchFamily="34" charset="-122"/>
                <a:cs typeface="Calibri" pitchFamily="34" charset="-120"/>
              </a:rPr>
              <a:t>Sub-CPMK 9  ·  Mampu menganalisis mekanisme model berbasis pohon dan ensemble,</a:t>
            </a:r>
            <a:endParaRPr lang="en-US" sz="1400" dirty="0"/>
          </a:p>
          <a:p>
            <a:pPr algn="l" indent="0" marL="0">
              <a:lnSpc>
                <a:spcPct val="120000"/>
              </a:lnSpc>
              <a:buNone/>
            </a:pPr>
            <a:r>
              <a:rPr lang="en-US" sz="1400" dirty="0">
                <a:solidFill>
                  <a:srgbClr val="BCCCC0"/>
                </a:solidFill>
                <a:latin typeface="Calibri" pitchFamily="34" charset="0"/>
                <a:ea typeface="Calibri" pitchFamily="34" charset="-122"/>
                <a:cs typeface="Calibri" pitchFamily="34" charset="-120"/>
              </a:rPr>
              <a:t>serta membandingkan karakteristiknya dengan model linier.</a:t>
            </a:r>
            <a:endParaRPr lang="en-US" sz="1400" dirty="0"/>
          </a:p>
        </p:txBody>
      </p:sp>
      <p:sp>
        <p:nvSpPr>
          <p:cNvPr id="9" name="Text 7"/>
          <p:cNvSpPr txBox="1"/>
          <p:nvPr/>
        </p:nvSpPr>
        <p:spPr>
          <a:xfrm>
            <a:off x="594360" y="5989320"/>
            <a:ext cx="7680960" cy="274320"/>
          </a:xfrm>
          <a:prstGeom prst="rect">
            <a:avLst/>
          </a:prstGeom>
          <a:noFill/>
          <a:ln/>
        </p:spPr>
        <p:txBody>
          <a:bodyPr wrap="square" lIns="0" tIns="0" rIns="0" bIns="0" rtlCol="0" anchor="t"/>
          <a:lstStyle/>
          <a:p>
            <a:pPr algn="l" indent="0" marL="0">
              <a:buNone/>
            </a:pPr>
            <a:r>
              <a:rPr lang="en-US" sz="1200" dirty="0">
                <a:solidFill>
                  <a:srgbClr val="86A093"/>
                </a:solidFill>
                <a:latin typeface="Calibri" pitchFamily="34" charset="0"/>
                <a:ea typeface="Calibri" pitchFamily="34" charset="-122"/>
                <a:cs typeface="Calibri" pitchFamily="34" charset="-120"/>
              </a:rPr>
              <a:t>Program Studi Teknologi Informasi  ·  Politeknik Negeri Madiun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1"/>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7FA327"/>
                </a:solidFill>
                <a:latin typeface="Calibri" pitchFamily="34" charset="0"/>
                <a:ea typeface="Calibri" pitchFamily="34" charset="-122"/>
                <a:cs typeface="Calibri" pitchFamily="34" charset="-120"/>
              </a:rPr>
              <a:t>ORIENTASI</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B3A2F"/>
                </a:solidFill>
                <a:latin typeface="Cambria" pitchFamily="34" charset="0"/>
                <a:ea typeface="Cambria" pitchFamily="34" charset="-122"/>
                <a:cs typeface="Cambria" pitchFamily="34" charset="-120"/>
              </a:rPr>
              <a:t>Di mana kita sekarang?</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1756A"/>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94360" y="1417320"/>
            <a:ext cx="3520440" cy="3200400"/>
          </a:xfrm>
          <a:prstGeom prst="roundRect">
            <a:avLst>
              <a:gd name="adj" fmla="val 2571"/>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6" name="Shape 4"/>
          <p:cNvSpPr/>
          <p:nvPr/>
        </p:nvSpPr>
        <p:spPr>
          <a:xfrm>
            <a:off x="914400" y="1737360"/>
            <a:ext cx="621792" cy="621792"/>
          </a:xfrm>
          <a:prstGeom prst="ellipse">
            <a:avLst/>
          </a:prstGeom>
          <a:solidFill>
            <a:srgbClr val="3A6B57"/>
          </a:solidFill>
          <a:ln w="12700">
            <a:solidFill>
              <a:srgbClr val="333333"/>
            </a:solidFill>
            <a:prstDash val="solid"/>
          </a:ln>
        </p:spPr>
      </p:sp>
      <p:sp>
        <p:nvSpPr>
          <p:cNvPr id="7" name="Text 5"/>
          <p:cNvSpPr txBox="1"/>
          <p:nvPr/>
        </p:nvSpPr>
        <p:spPr>
          <a:xfrm>
            <a:off x="914400" y="1737360"/>
            <a:ext cx="621792"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9</a:t>
            </a:r>
            <a:endParaRPr lang="en-US" sz="2000" dirty="0"/>
          </a:p>
        </p:txBody>
      </p:sp>
      <p:sp>
        <p:nvSpPr>
          <p:cNvPr id="8" name="Text 6"/>
          <p:cNvSpPr txBox="1"/>
          <p:nvPr/>
        </p:nvSpPr>
        <p:spPr>
          <a:xfrm>
            <a:off x="1691640" y="1883664"/>
            <a:ext cx="2194560" cy="320040"/>
          </a:xfrm>
          <a:prstGeom prst="rect">
            <a:avLst/>
          </a:prstGeom>
          <a:noFill/>
          <a:ln/>
        </p:spPr>
        <p:txBody>
          <a:bodyPr wrap="square" lIns="0" tIns="0" rIns="0" bIns="0" rtlCol="0" anchor="t"/>
          <a:lstStyle/>
          <a:p>
            <a:pPr algn="l" indent="0" marL="0">
              <a:buNone/>
            </a:pPr>
            <a:r>
              <a:rPr lang="en-US" sz="1000" b="1" dirty="0">
                <a:solidFill>
                  <a:srgbClr val="61756A"/>
                </a:solidFill>
                <a:latin typeface="Calibri" pitchFamily="34" charset="0"/>
                <a:ea typeface="Calibri" pitchFamily="34" charset="-122"/>
                <a:cs typeface="Calibri" pitchFamily="34" charset="-120"/>
              </a:rPr>
              <a:t>SELESAI</a:t>
            </a:r>
            <a:endParaRPr lang="en-US" sz="1000" dirty="0"/>
          </a:p>
        </p:txBody>
      </p:sp>
      <p:sp>
        <p:nvSpPr>
          <p:cNvPr id="9" name="Text 7"/>
          <p:cNvSpPr txBox="1"/>
          <p:nvPr/>
        </p:nvSpPr>
        <p:spPr>
          <a:xfrm>
            <a:off x="914400" y="2560320"/>
            <a:ext cx="2880360" cy="685800"/>
          </a:xfrm>
          <a:prstGeom prst="rect">
            <a:avLst/>
          </a:prstGeom>
          <a:noFill/>
          <a:ln/>
        </p:spPr>
        <p:txBody>
          <a:bodyPr wrap="square" lIns="0" tIns="0" rIns="0" bIns="0" rtlCol="0" anchor="t"/>
          <a:lstStyle/>
          <a:p>
            <a:pPr algn="l" indent="0" marL="0">
              <a:buNone/>
            </a:pPr>
            <a:r>
              <a:rPr lang="en-US" sz="1700" b="1" dirty="0">
                <a:solidFill>
                  <a:srgbClr val="1B3A2F"/>
                </a:solidFill>
                <a:latin typeface="Cambria" pitchFamily="34" charset="0"/>
                <a:ea typeface="Cambria" pitchFamily="34" charset="-122"/>
                <a:cs typeface="Cambria" pitchFamily="34" charset="-120"/>
              </a:rPr>
              <a:t>Validasi &amp; Tuning</a:t>
            </a:r>
            <a:endParaRPr lang="en-US" sz="1700" dirty="0"/>
          </a:p>
        </p:txBody>
      </p:sp>
      <p:sp>
        <p:nvSpPr>
          <p:cNvPr id="10" name="Text 8"/>
          <p:cNvSpPr txBox="1"/>
          <p:nvPr/>
        </p:nvSpPr>
        <p:spPr>
          <a:xfrm>
            <a:off x="914400" y="3291840"/>
            <a:ext cx="2880360" cy="1005840"/>
          </a:xfrm>
          <a:prstGeom prst="rect">
            <a:avLst/>
          </a:prstGeom>
          <a:noFill/>
          <a:ln/>
        </p:spPr>
        <p:txBody>
          <a:bodyPr wrap="square" lIns="0" tIns="0" rIns="0" bIns="0" rtlCol="0" anchor="t"/>
          <a:lstStyle/>
          <a:p>
            <a:pPr algn="l" indent="0" marL="0">
              <a:lnSpc>
                <a:spcPct val="125000"/>
              </a:lnSpc>
              <a:buNone/>
            </a:pPr>
            <a:r>
              <a:rPr lang="en-US" sz="1300" dirty="0">
                <a:solidFill>
                  <a:srgbClr val="61756A"/>
                </a:solidFill>
                <a:latin typeface="Calibri" pitchFamily="34" charset="0"/>
                <a:ea typeface="Calibri" pitchFamily="34" charset="-122"/>
                <a:cs typeface="Calibri" pitchFamily="34" charset="-120"/>
              </a:rPr>
              <a:t>Kita sudah bisa mengukur</a:t>
            </a:r>
            <a:endParaRPr lang="en-US" sz="1300" dirty="0"/>
          </a:p>
          <a:p>
            <a:pPr algn="l" indent="0" marL="0">
              <a:lnSpc>
                <a:spcPct val="125000"/>
              </a:lnSpc>
              <a:buNone/>
            </a:pPr>
            <a:r>
              <a:rPr lang="en-US" sz="1300" dirty="0">
                <a:solidFill>
                  <a:srgbClr val="61756A"/>
                </a:solidFill>
                <a:latin typeface="Calibri" pitchFamily="34" charset="0"/>
                <a:ea typeface="Calibri" pitchFamily="34" charset="-122"/>
                <a:cs typeface="Calibri" pitchFamily="34" charset="-120"/>
              </a:rPr>
              <a:t>kinerja model dengan jujur.</a:t>
            </a:r>
            <a:endParaRPr lang="en-US" sz="1300" dirty="0"/>
          </a:p>
        </p:txBody>
      </p:sp>
      <p:sp>
        <p:nvSpPr>
          <p:cNvPr id="11" name="Shape 9"/>
          <p:cNvSpPr/>
          <p:nvPr/>
        </p:nvSpPr>
        <p:spPr>
          <a:xfrm>
            <a:off x="4389120" y="1417320"/>
            <a:ext cx="3520440" cy="3200400"/>
          </a:xfrm>
          <a:prstGeom prst="roundRect">
            <a:avLst>
              <a:gd name="adj" fmla="val 2571"/>
            </a:avLst>
          </a:prstGeom>
          <a:solidFill>
            <a:srgbClr val="1B3A2F"/>
          </a:solidFill>
          <a:ln w="12700">
            <a:solidFill>
              <a:srgbClr val="1B3A2F"/>
            </a:solidFill>
            <a:prstDash val="solid"/>
          </a:ln>
          <a:effectLst>
            <a:outerShdw sx="100000" sy="100000" kx="0" ky="0" algn="bl" rotWithShape="0" blurRad="101600" dist="508" dir="5400000">
              <a:srgbClr val="AFBCB0">
                <a:alpha val="30000"/>
              </a:srgbClr>
            </a:outerShdw>
          </a:effectLst>
        </p:spPr>
      </p:sp>
      <p:sp>
        <p:nvSpPr>
          <p:cNvPr id="12" name="Shape 10"/>
          <p:cNvSpPr/>
          <p:nvPr/>
        </p:nvSpPr>
        <p:spPr>
          <a:xfrm>
            <a:off x="4709160" y="1737360"/>
            <a:ext cx="621792" cy="621792"/>
          </a:xfrm>
          <a:prstGeom prst="ellipse">
            <a:avLst/>
          </a:prstGeom>
          <a:solidFill>
            <a:srgbClr val="7FA327"/>
          </a:solidFill>
          <a:ln w="12700">
            <a:solidFill>
              <a:srgbClr val="333333"/>
            </a:solidFill>
            <a:prstDash val="solid"/>
          </a:ln>
        </p:spPr>
      </p:sp>
      <p:sp>
        <p:nvSpPr>
          <p:cNvPr id="13" name="Text 11"/>
          <p:cNvSpPr txBox="1"/>
          <p:nvPr/>
        </p:nvSpPr>
        <p:spPr>
          <a:xfrm>
            <a:off x="4709160" y="1737360"/>
            <a:ext cx="621792"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10</a:t>
            </a:r>
            <a:endParaRPr lang="en-US" sz="2000" dirty="0"/>
          </a:p>
        </p:txBody>
      </p:sp>
      <p:sp>
        <p:nvSpPr>
          <p:cNvPr id="14" name="Text 12"/>
          <p:cNvSpPr txBox="1"/>
          <p:nvPr/>
        </p:nvSpPr>
        <p:spPr>
          <a:xfrm>
            <a:off x="5486400" y="1883664"/>
            <a:ext cx="2194560" cy="320040"/>
          </a:xfrm>
          <a:prstGeom prst="rect">
            <a:avLst/>
          </a:prstGeom>
          <a:noFill/>
          <a:ln/>
        </p:spPr>
        <p:txBody>
          <a:bodyPr wrap="square" lIns="0" tIns="0" rIns="0" bIns="0" rtlCol="0" anchor="t"/>
          <a:lstStyle/>
          <a:p>
            <a:pPr algn="l" indent="0" marL="0">
              <a:buNone/>
            </a:pPr>
            <a:r>
              <a:rPr lang="en-US" sz="1000" b="1" dirty="0">
                <a:solidFill>
                  <a:srgbClr val="B5D45A"/>
                </a:solidFill>
                <a:latin typeface="Calibri" pitchFamily="34" charset="0"/>
                <a:ea typeface="Calibri" pitchFamily="34" charset="-122"/>
                <a:cs typeface="Calibri" pitchFamily="34" charset="-120"/>
              </a:rPr>
              <a:t>HARI INI</a:t>
            </a:r>
            <a:endParaRPr lang="en-US" sz="1000" dirty="0"/>
          </a:p>
        </p:txBody>
      </p:sp>
      <p:sp>
        <p:nvSpPr>
          <p:cNvPr id="15" name="Text 13"/>
          <p:cNvSpPr txBox="1"/>
          <p:nvPr/>
        </p:nvSpPr>
        <p:spPr>
          <a:xfrm>
            <a:off x="4709160" y="2560320"/>
            <a:ext cx="2880360" cy="685800"/>
          </a:xfrm>
          <a:prstGeom prst="rect">
            <a:avLst/>
          </a:prstGeom>
          <a:noFill/>
          <a:ln/>
        </p:spPr>
        <p:txBody>
          <a:bodyPr wrap="square" lIns="0" tIns="0" rIns="0" bIns="0" rtlCol="0" anchor="t"/>
          <a:lstStyle/>
          <a:p>
            <a:pPr algn="l" indent="0" marL="0">
              <a:buNone/>
            </a:pPr>
            <a:r>
              <a:rPr lang="en-US" sz="1700" b="1" dirty="0">
                <a:solidFill>
                  <a:srgbClr val="FFFFFF"/>
                </a:solidFill>
                <a:latin typeface="Cambria" pitchFamily="34" charset="0"/>
                <a:ea typeface="Cambria" pitchFamily="34" charset="-122"/>
                <a:cs typeface="Cambria" pitchFamily="34" charset="-120"/>
              </a:rPr>
              <a:t>Model Berbasis Pohon</a:t>
            </a:r>
            <a:endParaRPr lang="en-US" sz="1700" dirty="0"/>
          </a:p>
        </p:txBody>
      </p:sp>
      <p:sp>
        <p:nvSpPr>
          <p:cNvPr id="16" name="Text 14"/>
          <p:cNvSpPr txBox="1"/>
          <p:nvPr/>
        </p:nvSpPr>
        <p:spPr>
          <a:xfrm>
            <a:off x="4709160" y="3291840"/>
            <a:ext cx="2880360" cy="1005840"/>
          </a:xfrm>
          <a:prstGeom prst="rect">
            <a:avLst/>
          </a:prstGeom>
          <a:noFill/>
          <a:ln/>
        </p:spPr>
        <p:txBody>
          <a:bodyPr wrap="square" lIns="0" tIns="0" rIns="0" bIns="0" rtlCol="0" anchor="t"/>
          <a:lstStyle/>
          <a:p>
            <a:pPr algn="l" indent="0" marL="0">
              <a:lnSpc>
                <a:spcPct val="125000"/>
              </a:lnSpc>
              <a:buNone/>
            </a:pPr>
            <a:r>
              <a:rPr lang="en-US" sz="1300" dirty="0">
                <a:solidFill>
                  <a:srgbClr val="BCCCC0"/>
                </a:solidFill>
                <a:latin typeface="Calibri" pitchFamily="34" charset="0"/>
                <a:ea typeface="Calibri" pitchFamily="34" charset="-122"/>
                <a:cs typeface="Calibri" pitchFamily="34" charset="-120"/>
              </a:rPr>
              <a:t>Keluarga model baru yang</a:t>
            </a:r>
            <a:endParaRPr lang="en-US" sz="1300" dirty="0"/>
          </a:p>
          <a:p>
            <a:pPr algn="l" indent="0" marL="0">
              <a:lnSpc>
                <a:spcPct val="125000"/>
              </a:lnSpc>
              <a:buNone/>
            </a:pPr>
            <a:r>
              <a:rPr lang="en-US" sz="1300" dirty="0">
                <a:solidFill>
                  <a:srgbClr val="BCCCC0"/>
                </a:solidFill>
                <a:latin typeface="Calibri" pitchFamily="34" charset="0"/>
                <a:ea typeface="Calibri" pitchFamily="34" charset="-122"/>
                <a:cs typeface="Calibri" pitchFamily="34" charset="-120"/>
              </a:rPr>
              <a:t>bekerja dengan cara berbeda.</a:t>
            </a:r>
            <a:endParaRPr lang="en-US" sz="1300" dirty="0"/>
          </a:p>
        </p:txBody>
      </p:sp>
      <p:sp>
        <p:nvSpPr>
          <p:cNvPr id="17" name="Shape 15"/>
          <p:cNvSpPr/>
          <p:nvPr/>
        </p:nvSpPr>
        <p:spPr>
          <a:xfrm>
            <a:off x="8183880" y="1417320"/>
            <a:ext cx="3520440" cy="3200400"/>
          </a:xfrm>
          <a:prstGeom prst="roundRect">
            <a:avLst>
              <a:gd name="adj" fmla="val 2571"/>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18" name="Shape 16"/>
          <p:cNvSpPr/>
          <p:nvPr/>
        </p:nvSpPr>
        <p:spPr>
          <a:xfrm>
            <a:off x="8503920" y="1737360"/>
            <a:ext cx="621792" cy="621792"/>
          </a:xfrm>
          <a:prstGeom prst="ellipse">
            <a:avLst/>
          </a:prstGeom>
          <a:solidFill>
            <a:srgbClr val="3A6B57"/>
          </a:solidFill>
          <a:ln w="12700">
            <a:solidFill>
              <a:srgbClr val="333333"/>
            </a:solidFill>
            <a:prstDash val="solid"/>
          </a:ln>
        </p:spPr>
      </p:sp>
      <p:sp>
        <p:nvSpPr>
          <p:cNvPr id="19" name="Text 17"/>
          <p:cNvSpPr txBox="1"/>
          <p:nvPr/>
        </p:nvSpPr>
        <p:spPr>
          <a:xfrm>
            <a:off x="8503920" y="1737360"/>
            <a:ext cx="621792"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11</a:t>
            </a:r>
            <a:endParaRPr lang="en-US" sz="2000" dirty="0"/>
          </a:p>
        </p:txBody>
      </p:sp>
      <p:sp>
        <p:nvSpPr>
          <p:cNvPr id="20" name="Text 18"/>
          <p:cNvSpPr txBox="1"/>
          <p:nvPr/>
        </p:nvSpPr>
        <p:spPr>
          <a:xfrm>
            <a:off x="9281160" y="1883664"/>
            <a:ext cx="2194560" cy="320040"/>
          </a:xfrm>
          <a:prstGeom prst="rect">
            <a:avLst/>
          </a:prstGeom>
          <a:noFill/>
          <a:ln/>
        </p:spPr>
        <p:txBody>
          <a:bodyPr wrap="square" lIns="0" tIns="0" rIns="0" bIns="0" rtlCol="0" anchor="t"/>
          <a:lstStyle/>
          <a:p>
            <a:pPr algn="l" indent="0" marL="0">
              <a:buNone/>
            </a:pPr>
            <a:r>
              <a:rPr lang="en-US" sz="1000" b="1" dirty="0">
                <a:solidFill>
                  <a:srgbClr val="61756A"/>
                </a:solidFill>
                <a:latin typeface="Calibri" pitchFamily="34" charset="0"/>
                <a:ea typeface="Calibri" pitchFamily="34" charset="-122"/>
                <a:cs typeface="Calibri" pitchFamily="34" charset="-120"/>
              </a:rPr>
              <a:t>BERIKUTNYA</a:t>
            </a:r>
            <a:endParaRPr lang="en-US" sz="1000" dirty="0"/>
          </a:p>
        </p:txBody>
      </p:sp>
      <p:sp>
        <p:nvSpPr>
          <p:cNvPr id="21" name="Text 19"/>
          <p:cNvSpPr txBox="1"/>
          <p:nvPr/>
        </p:nvSpPr>
        <p:spPr>
          <a:xfrm>
            <a:off x="8503920" y="2560320"/>
            <a:ext cx="2880360" cy="685800"/>
          </a:xfrm>
          <a:prstGeom prst="rect">
            <a:avLst/>
          </a:prstGeom>
          <a:noFill/>
          <a:ln/>
        </p:spPr>
        <p:txBody>
          <a:bodyPr wrap="square" lIns="0" tIns="0" rIns="0" bIns="0" rtlCol="0" anchor="t"/>
          <a:lstStyle/>
          <a:p>
            <a:pPr algn="l" indent="0" marL="0">
              <a:buNone/>
            </a:pPr>
            <a:r>
              <a:rPr lang="en-US" sz="1700" b="1" dirty="0">
                <a:solidFill>
                  <a:srgbClr val="1B3A2F"/>
                </a:solidFill>
                <a:latin typeface="Cambria" pitchFamily="34" charset="0"/>
                <a:ea typeface="Cambria" pitchFamily="34" charset="-122"/>
                <a:cs typeface="Cambria" pitchFamily="34" charset="-120"/>
              </a:rPr>
              <a:t>Clustering &amp; Probabilitas</a:t>
            </a:r>
            <a:endParaRPr lang="en-US" sz="1700" dirty="0"/>
          </a:p>
        </p:txBody>
      </p:sp>
      <p:sp>
        <p:nvSpPr>
          <p:cNvPr id="22" name="Text 20"/>
          <p:cNvSpPr txBox="1"/>
          <p:nvPr/>
        </p:nvSpPr>
        <p:spPr>
          <a:xfrm>
            <a:off x="8503920" y="3291840"/>
            <a:ext cx="2880360" cy="1005840"/>
          </a:xfrm>
          <a:prstGeom prst="rect">
            <a:avLst/>
          </a:prstGeom>
          <a:noFill/>
          <a:ln/>
        </p:spPr>
        <p:txBody>
          <a:bodyPr wrap="square" lIns="0" tIns="0" rIns="0" bIns="0" rtlCol="0" anchor="t"/>
          <a:lstStyle/>
          <a:p>
            <a:pPr algn="l" indent="0" marL="0">
              <a:lnSpc>
                <a:spcPct val="125000"/>
              </a:lnSpc>
              <a:buNone/>
            </a:pPr>
            <a:r>
              <a:rPr lang="en-US" sz="1300" dirty="0">
                <a:solidFill>
                  <a:srgbClr val="61756A"/>
                </a:solidFill>
                <a:latin typeface="Calibri" pitchFamily="34" charset="0"/>
                <a:ea typeface="Calibri" pitchFamily="34" charset="-122"/>
                <a:cs typeface="Calibri" pitchFamily="34" charset="-120"/>
              </a:rPr>
              <a:t>Belajar tanpa label —</a:t>
            </a:r>
            <a:endParaRPr lang="en-US" sz="1300" dirty="0"/>
          </a:p>
          <a:p>
            <a:pPr algn="l" indent="0" marL="0">
              <a:lnSpc>
                <a:spcPct val="125000"/>
              </a:lnSpc>
              <a:buNone/>
            </a:pPr>
            <a:r>
              <a:rPr lang="en-US" sz="1300" dirty="0">
                <a:solidFill>
                  <a:srgbClr val="61756A"/>
                </a:solidFill>
                <a:latin typeface="Calibri" pitchFamily="34" charset="0"/>
                <a:ea typeface="Calibri" pitchFamily="34" charset="-122"/>
                <a:cs typeface="Calibri" pitchFamily="34" charset="-120"/>
              </a:rPr>
              <a:t>menemukan kelompok sendiri.</a:t>
            </a:r>
            <a:endParaRPr lang="en-US" sz="1300" dirty="0"/>
          </a:p>
        </p:txBody>
      </p:sp>
      <p:sp>
        <p:nvSpPr>
          <p:cNvPr id="23" name="Shape 21"/>
          <p:cNvSpPr/>
          <p:nvPr/>
        </p:nvSpPr>
        <p:spPr>
          <a:xfrm>
            <a:off x="594360" y="4892040"/>
            <a:ext cx="11002975" cy="914400"/>
          </a:xfrm>
          <a:prstGeom prst="roundRect">
            <a:avLst>
              <a:gd name="adj" fmla="val 9000"/>
            </a:avLst>
          </a:prstGeom>
          <a:solidFill>
            <a:srgbClr val="EDF2E4"/>
          </a:solidFill>
          <a:ln w="12700">
            <a:solidFill>
              <a:srgbClr val="D5E2BC"/>
            </a:solidFill>
            <a:prstDash val="solid"/>
          </a:ln>
          <a:effectLst>
            <a:outerShdw sx="100000" sy="100000" kx="0" ky="0" algn="bl" rotWithShape="0" blurRad="101600" dist="508" dir="5400000">
              <a:srgbClr val="AFBCB0">
                <a:alpha val="30000"/>
              </a:srgbClr>
            </a:outerShdw>
          </a:effectLst>
        </p:spPr>
      </p:sp>
      <p:sp>
        <p:nvSpPr>
          <p:cNvPr id="24" name="Text 22"/>
          <p:cNvSpPr txBox="1"/>
          <p:nvPr/>
        </p:nvSpPr>
        <p:spPr>
          <a:xfrm>
            <a:off x="1005840" y="5102352"/>
            <a:ext cx="10180015" cy="548640"/>
          </a:xfrm>
          <a:prstGeom prst="rect">
            <a:avLst/>
          </a:prstGeom>
          <a:noFill/>
          <a:ln/>
        </p:spPr>
        <p:txBody>
          <a:bodyPr wrap="square" lIns="0" tIns="0" rIns="0" bIns="0" rtlCol="0" anchor="t"/>
          <a:lstStyle/>
          <a:p>
            <a:pPr algn="l" indent="0" marL="0">
              <a:lnSpc>
                <a:spcPct val="125000"/>
              </a:lnSpc>
              <a:buNone/>
            </a:pPr>
            <a:r>
              <a:rPr lang="en-US" sz="1450" b="1" dirty="0">
                <a:solidFill>
                  <a:srgbClr val="4E6614"/>
                </a:solidFill>
                <a:latin typeface="Calibri" pitchFamily="34" charset="0"/>
                <a:ea typeface="Calibri" pitchFamily="34" charset="-122"/>
                <a:cs typeface="Calibri" pitchFamily="34" charset="-120"/>
              </a:rPr>
              <a:t>Selama enam pertemuan kita hanya mengenal satu bentuk model: garis lurus. Hari ini kita berkenalan dengan bentuk yang sama sekali berbeda — dan justru inilah yang paling banyak dipakai industri untuk data berbentuk tabel.</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1"/>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7FA327"/>
                </a:solidFill>
                <a:latin typeface="Calibri" pitchFamily="34" charset="0"/>
                <a:ea typeface="Calibri" pitchFamily="34" charset="-122"/>
                <a:cs typeface="Calibri" pitchFamily="34" charset="-120"/>
              </a:rPr>
              <a:t>CAPAIAN PEMBELAJARAN</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B3A2F"/>
                </a:solidFill>
                <a:latin typeface="Cambria" pitchFamily="34" charset="0"/>
                <a:ea typeface="Cambria" pitchFamily="34" charset="-122"/>
                <a:cs typeface="Cambria" pitchFamily="34" charset="-120"/>
              </a:rPr>
              <a:t>Setelah pertemuan ini Anda mampu…</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1756A"/>
                </a:solidFill>
                <a:latin typeface="Calibri" pitchFamily="34" charset="0"/>
                <a:ea typeface="Calibri" pitchFamily="34" charset="-122"/>
                <a:cs typeface="Calibri" pitchFamily="34" charset="-120"/>
              </a:rPr>
              <a:t>3</a:t>
            </a:r>
            <a:endParaRPr lang="en-US" sz="1000" dirty="0"/>
          </a:p>
        </p:txBody>
      </p:sp>
      <p:sp>
        <p:nvSpPr>
          <p:cNvPr id="5" name="Shape 3"/>
          <p:cNvSpPr/>
          <p:nvPr/>
        </p:nvSpPr>
        <p:spPr>
          <a:xfrm>
            <a:off x="594360" y="1463040"/>
            <a:ext cx="566928" cy="566928"/>
          </a:xfrm>
          <a:prstGeom prst="ellipse">
            <a:avLst/>
          </a:prstGeom>
          <a:solidFill>
            <a:srgbClr val="7FA327"/>
          </a:solidFill>
          <a:ln w="12700">
            <a:solidFill>
              <a:srgbClr val="333333"/>
            </a:solidFill>
            <a:prstDash val="solid"/>
          </a:ln>
        </p:spPr>
      </p:sp>
      <p:sp>
        <p:nvSpPr>
          <p:cNvPr id="6" name="Text 4"/>
          <p:cNvSpPr txBox="1"/>
          <p:nvPr/>
        </p:nvSpPr>
        <p:spPr>
          <a:xfrm>
            <a:off x="594360" y="1463040"/>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01</a:t>
            </a:r>
            <a:endParaRPr lang="en-US" sz="1400" dirty="0"/>
          </a:p>
        </p:txBody>
      </p:sp>
      <p:sp>
        <p:nvSpPr>
          <p:cNvPr id="7" name="Text 5"/>
          <p:cNvSpPr txBox="1"/>
          <p:nvPr/>
        </p:nvSpPr>
        <p:spPr>
          <a:xfrm>
            <a:off x="1417320" y="1481328"/>
            <a:ext cx="10149840" cy="822960"/>
          </a:xfrm>
          <a:prstGeom prst="rect">
            <a:avLst/>
          </a:prstGeom>
          <a:noFill/>
          <a:ln/>
        </p:spPr>
        <p:txBody>
          <a:bodyPr wrap="square" lIns="0" tIns="0" rIns="0" bIns="0" rtlCol="0" anchor="t"/>
          <a:lstStyle/>
          <a:p>
            <a:pPr algn="l" indent="0" marL="0">
              <a:lnSpc>
                <a:spcPct val="125000"/>
              </a:lnSpc>
              <a:buNone/>
            </a:pPr>
            <a:r>
              <a:rPr lang="en-US" sz="1600" dirty="0">
                <a:solidFill>
                  <a:srgbClr val="17261F"/>
                </a:solidFill>
                <a:latin typeface="Calibri" pitchFamily="34" charset="0"/>
                <a:ea typeface="Calibri" pitchFamily="34" charset="-122"/>
                <a:cs typeface="Calibri" pitchFamily="34" charset="-120"/>
              </a:rPr>
              <a:t>Menghitung kriteria pemisahan (Gini atau information gain) dan menentukan simpul pemisah pertama.</a:t>
            </a:r>
            <a:endParaRPr lang="en-US" sz="1600" dirty="0"/>
          </a:p>
        </p:txBody>
      </p:sp>
      <p:sp>
        <p:nvSpPr>
          <p:cNvPr id="8" name="Shape 6"/>
          <p:cNvSpPr/>
          <p:nvPr/>
        </p:nvSpPr>
        <p:spPr>
          <a:xfrm>
            <a:off x="594360" y="2487168"/>
            <a:ext cx="566928" cy="566928"/>
          </a:xfrm>
          <a:prstGeom prst="ellipse">
            <a:avLst/>
          </a:prstGeom>
          <a:solidFill>
            <a:srgbClr val="3A6B57"/>
          </a:solidFill>
          <a:ln w="12700">
            <a:solidFill>
              <a:srgbClr val="333333"/>
            </a:solidFill>
            <a:prstDash val="solid"/>
          </a:ln>
        </p:spPr>
      </p:sp>
      <p:sp>
        <p:nvSpPr>
          <p:cNvPr id="9" name="Text 7"/>
          <p:cNvSpPr txBox="1"/>
          <p:nvPr/>
        </p:nvSpPr>
        <p:spPr>
          <a:xfrm>
            <a:off x="594360" y="2487168"/>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02</a:t>
            </a:r>
            <a:endParaRPr lang="en-US" sz="1400" dirty="0"/>
          </a:p>
        </p:txBody>
      </p:sp>
      <p:sp>
        <p:nvSpPr>
          <p:cNvPr id="10" name="Text 8"/>
          <p:cNvSpPr txBox="1"/>
          <p:nvPr/>
        </p:nvSpPr>
        <p:spPr>
          <a:xfrm>
            <a:off x="1417320" y="2505456"/>
            <a:ext cx="10149840" cy="822960"/>
          </a:xfrm>
          <a:prstGeom prst="rect">
            <a:avLst/>
          </a:prstGeom>
          <a:noFill/>
          <a:ln/>
        </p:spPr>
        <p:txBody>
          <a:bodyPr wrap="square" lIns="0" tIns="0" rIns="0" bIns="0" rtlCol="0" anchor="t"/>
          <a:lstStyle/>
          <a:p>
            <a:pPr algn="l" indent="0" marL="0">
              <a:lnSpc>
                <a:spcPct val="125000"/>
              </a:lnSpc>
              <a:buNone/>
            </a:pPr>
            <a:r>
              <a:rPr lang="en-US" sz="1600" dirty="0">
                <a:solidFill>
                  <a:srgbClr val="17261F"/>
                </a:solidFill>
                <a:latin typeface="Calibri" pitchFamily="34" charset="0"/>
                <a:ea typeface="Calibri" pitchFamily="34" charset="-122"/>
                <a:cs typeface="Calibri" pitchFamily="34" charset="-120"/>
              </a:rPr>
              <a:t>Menjelaskan mekanisme bagging dan boosting serta perbedaan mendasar keduanya.</a:t>
            </a:r>
            <a:endParaRPr lang="en-US" sz="1600" dirty="0"/>
          </a:p>
        </p:txBody>
      </p:sp>
      <p:sp>
        <p:nvSpPr>
          <p:cNvPr id="11" name="Shape 9"/>
          <p:cNvSpPr/>
          <p:nvPr/>
        </p:nvSpPr>
        <p:spPr>
          <a:xfrm>
            <a:off x="594360" y="3511296"/>
            <a:ext cx="566928" cy="566928"/>
          </a:xfrm>
          <a:prstGeom prst="ellipse">
            <a:avLst/>
          </a:prstGeom>
          <a:solidFill>
            <a:srgbClr val="7FA327"/>
          </a:solidFill>
          <a:ln w="12700">
            <a:solidFill>
              <a:srgbClr val="333333"/>
            </a:solidFill>
            <a:prstDash val="solid"/>
          </a:ln>
        </p:spPr>
      </p:sp>
      <p:sp>
        <p:nvSpPr>
          <p:cNvPr id="12" name="Text 10"/>
          <p:cNvSpPr txBox="1"/>
          <p:nvPr/>
        </p:nvSpPr>
        <p:spPr>
          <a:xfrm>
            <a:off x="594360" y="3511296"/>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03</a:t>
            </a:r>
            <a:endParaRPr lang="en-US" sz="1400" dirty="0"/>
          </a:p>
        </p:txBody>
      </p:sp>
      <p:sp>
        <p:nvSpPr>
          <p:cNvPr id="13" name="Text 11"/>
          <p:cNvSpPr txBox="1"/>
          <p:nvPr/>
        </p:nvSpPr>
        <p:spPr>
          <a:xfrm>
            <a:off x="1417320" y="3529584"/>
            <a:ext cx="10149840" cy="822960"/>
          </a:xfrm>
          <a:prstGeom prst="rect">
            <a:avLst/>
          </a:prstGeom>
          <a:noFill/>
          <a:ln/>
        </p:spPr>
        <p:txBody>
          <a:bodyPr wrap="square" lIns="0" tIns="0" rIns="0" bIns="0" rtlCol="0" anchor="t"/>
          <a:lstStyle/>
          <a:p>
            <a:pPr algn="l" indent="0" marL="0">
              <a:lnSpc>
                <a:spcPct val="125000"/>
              </a:lnSpc>
              <a:buNone/>
            </a:pPr>
            <a:r>
              <a:rPr lang="en-US" sz="1600" dirty="0">
                <a:solidFill>
                  <a:srgbClr val="17261F"/>
                </a:solidFill>
                <a:latin typeface="Calibri" pitchFamily="34" charset="0"/>
                <a:ea typeface="Calibri" pitchFamily="34" charset="-122"/>
                <a:cs typeface="Calibri" pitchFamily="34" charset="-120"/>
              </a:rPr>
              <a:t>Menjustifikasi pemilihan antara model linier dan model berbasis pohon untuk suatu kasus.</a:t>
            </a:r>
            <a:endParaRPr lang="en-US" sz="1600" dirty="0"/>
          </a:p>
        </p:txBody>
      </p:sp>
      <p:sp>
        <p:nvSpPr>
          <p:cNvPr id="14" name="Shape 12"/>
          <p:cNvSpPr/>
          <p:nvPr/>
        </p:nvSpPr>
        <p:spPr>
          <a:xfrm>
            <a:off x="594360" y="4535424"/>
            <a:ext cx="566928" cy="566928"/>
          </a:xfrm>
          <a:prstGeom prst="ellipse">
            <a:avLst/>
          </a:prstGeom>
          <a:solidFill>
            <a:srgbClr val="3A6B57"/>
          </a:solidFill>
          <a:ln w="12700">
            <a:solidFill>
              <a:srgbClr val="333333"/>
            </a:solidFill>
            <a:prstDash val="solid"/>
          </a:ln>
        </p:spPr>
      </p:sp>
      <p:sp>
        <p:nvSpPr>
          <p:cNvPr id="15" name="Text 13"/>
          <p:cNvSpPr txBox="1"/>
          <p:nvPr/>
        </p:nvSpPr>
        <p:spPr>
          <a:xfrm>
            <a:off x="594360" y="4535424"/>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04</a:t>
            </a:r>
            <a:endParaRPr lang="en-US" sz="1400" dirty="0"/>
          </a:p>
        </p:txBody>
      </p:sp>
      <p:sp>
        <p:nvSpPr>
          <p:cNvPr id="16" name="Text 14"/>
          <p:cNvSpPr txBox="1"/>
          <p:nvPr/>
        </p:nvSpPr>
        <p:spPr>
          <a:xfrm>
            <a:off x="1417320" y="4553712"/>
            <a:ext cx="10149840" cy="822960"/>
          </a:xfrm>
          <a:prstGeom prst="rect">
            <a:avLst/>
          </a:prstGeom>
          <a:noFill/>
          <a:ln/>
        </p:spPr>
        <p:txBody>
          <a:bodyPr wrap="square" lIns="0" tIns="0" rIns="0" bIns="0" rtlCol="0" anchor="t"/>
          <a:lstStyle/>
          <a:p>
            <a:pPr algn="l" indent="0" marL="0">
              <a:lnSpc>
                <a:spcPct val="125000"/>
              </a:lnSpc>
              <a:buNone/>
            </a:pPr>
            <a:r>
              <a:rPr lang="en-US" sz="1600" dirty="0">
                <a:solidFill>
                  <a:srgbClr val="17261F"/>
                </a:solidFill>
                <a:latin typeface="Calibri" pitchFamily="34" charset="0"/>
                <a:ea typeface="Calibri" pitchFamily="34" charset="-122"/>
                <a:cs typeface="Calibri" pitchFamily="34" charset="-120"/>
              </a:rPr>
              <a:t>Menjelaskan prinsip kerja satu algoritma di luar materi kuliah secara mandiri.</a:t>
            </a:r>
            <a:endParaRPr lang="en-US" sz="1600" dirty="0"/>
          </a:p>
        </p:txBody>
      </p:sp>
      <p:sp>
        <p:nvSpPr>
          <p:cNvPr id="17" name="Text 15"/>
          <p:cNvSpPr txBox="1"/>
          <p:nvPr/>
        </p:nvSpPr>
        <p:spPr>
          <a:xfrm>
            <a:off x="594360" y="5760720"/>
            <a:ext cx="11002975" cy="365760"/>
          </a:xfrm>
          <a:prstGeom prst="rect">
            <a:avLst/>
          </a:prstGeom>
          <a:noFill/>
          <a:ln/>
        </p:spPr>
        <p:txBody>
          <a:bodyPr wrap="square" lIns="0" tIns="0" rIns="0" bIns="0" rtlCol="0" anchor="t"/>
          <a:lstStyle/>
          <a:p>
            <a:pPr algn="l" indent="0" marL="0">
              <a:buNone/>
            </a:pPr>
            <a:r>
              <a:rPr lang="en-US" sz="1300" i="1" dirty="0">
                <a:solidFill>
                  <a:srgbClr val="61756A"/>
                </a:solidFill>
                <a:latin typeface="Calibri" pitchFamily="34" charset="0"/>
                <a:ea typeface="Calibri" pitchFamily="34" charset="-122"/>
                <a:cs typeface="Calibri" pitchFamily="34" charset="-120"/>
              </a:rPr>
              <a:t>Indikator 01 dan 03 dinilai lewat Tugas Terstruktur 4 (bobot 4%). Indikator 04 dinilai lewat Presentasi Kilat Algoritma di akhir pertemuan ini.</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3A2F"/>
        </a:solidFill>
      </p:bgPr>
    </p:bg>
    <p:spTree>
      <p:nvGrpSpPr>
        <p:cNvPr id="1" name=""/>
        <p:cNvGrpSpPr/>
        <p:nvPr/>
      </p:nvGrpSpPr>
      <p:grpSpPr>
        <a:xfrm>
          <a:off x="0" y="0"/>
          <a:ext cx="0" cy="0"/>
          <a:chOff x="0" y="0"/>
          <a:chExt cx="0" cy="0"/>
        </a:xfrm>
      </p:grpSpPr>
      <p:sp>
        <p:nvSpPr>
          <p:cNvPr id="2" name="Shape 0"/>
          <p:cNvSpPr/>
          <p:nvPr/>
        </p:nvSpPr>
        <p:spPr>
          <a:xfrm>
            <a:off x="9418320" y="-1371600"/>
            <a:ext cx="4754880" cy="4754880"/>
          </a:xfrm>
          <a:prstGeom prst="ellipse">
            <a:avLst/>
          </a:prstGeom>
          <a:solidFill>
            <a:srgbClr val="7FA327"/>
          </a:solidFill>
          <a:ln w="12700">
            <a:solidFill>
              <a:srgbClr val="333333"/>
            </a:solidFill>
            <a:prstDash val="solid"/>
          </a:ln>
        </p:spPr>
      </p:sp>
      <p:sp>
        <p:nvSpPr>
          <p:cNvPr id="3" name="Shape 1"/>
          <p:cNvSpPr/>
          <p:nvPr/>
        </p:nvSpPr>
        <p:spPr>
          <a:xfrm>
            <a:off x="10607040" y="4023360"/>
            <a:ext cx="3108960" cy="3108960"/>
          </a:xfrm>
          <a:prstGeom prst="ellipse">
            <a:avLst/>
          </a:prstGeom>
          <a:solidFill>
            <a:srgbClr val="8E4A6B"/>
          </a:solidFill>
          <a:ln w="12700">
            <a:solidFill>
              <a:srgbClr val="333333"/>
            </a:solidFill>
            <a:prstDash val="solid"/>
          </a:ln>
        </p:spPr>
      </p:sp>
      <p:sp>
        <p:nvSpPr>
          <p:cNvPr id="4" name="Text 2"/>
          <p:cNvSpPr txBox="1"/>
          <p:nvPr/>
        </p:nvSpPr>
        <p:spPr>
          <a:xfrm>
            <a:off x="594360" y="2286000"/>
            <a:ext cx="7315200" cy="365760"/>
          </a:xfrm>
          <a:prstGeom prst="rect">
            <a:avLst/>
          </a:prstGeom>
          <a:noFill/>
          <a:ln/>
        </p:spPr>
        <p:txBody>
          <a:bodyPr wrap="square" lIns="0" tIns="0" rIns="0" bIns="0" rtlCol="0" anchor="t"/>
          <a:lstStyle/>
          <a:p>
            <a:pPr algn="l" indent="0" marL="0">
              <a:buNone/>
            </a:pPr>
            <a:r>
              <a:rPr lang="en-US" sz="1300" b="1" dirty="0">
                <a:solidFill>
                  <a:srgbClr val="B5D45A"/>
                </a:solidFill>
                <a:latin typeface="Calibri" pitchFamily="34" charset="0"/>
                <a:ea typeface="Calibri" pitchFamily="34" charset="-122"/>
                <a:cs typeface="Calibri" pitchFamily="34" charset="-120"/>
              </a:rPr>
              <a:t>BAGIAN 1</a:t>
            </a:r>
            <a:endParaRPr lang="en-US" sz="1300" dirty="0"/>
          </a:p>
        </p:txBody>
      </p:sp>
      <p:sp>
        <p:nvSpPr>
          <p:cNvPr id="5" name="Text 3"/>
          <p:cNvSpPr txBox="1"/>
          <p:nvPr/>
        </p:nvSpPr>
        <p:spPr>
          <a:xfrm>
            <a:off x="594360" y="2697480"/>
            <a:ext cx="7863840" cy="137160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Decision Tree</a:t>
            </a:r>
            <a:endParaRPr lang="en-US" sz="3800" dirty="0"/>
          </a:p>
        </p:txBody>
      </p:sp>
      <p:sp>
        <p:nvSpPr>
          <p:cNvPr id="6" name="Text 4"/>
          <p:cNvSpPr txBox="1"/>
          <p:nvPr/>
        </p:nvSpPr>
        <p:spPr>
          <a:xfrm>
            <a:off x="594360" y="4160520"/>
            <a:ext cx="7680960" cy="640080"/>
          </a:xfrm>
          <a:prstGeom prst="rect">
            <a:avLst/>
          </a:prstGeom>
          <a:noFill/>
          <a:ln/>
        </p:spPr>
        <p:txBody>
          <a:bodyPr wrap="square" lIns="0" tIns="0" rIns="0" bIns="0" rtlCol="0" anchor="t"/>
          <a:lstStyle/>
          <a:p>
            <a:pPr algn="l" indent="0" marL="0">
              <a:buNone/>
            </a:pPr>
            <a:r>
              <a:rPr lang="en-US" sz="1500" dirty="0">
                <a:solidFill>
                  <a:srgbClr val="BCCCC0"/>
                </a:solidFill>
                <a:latin typeface="Calibri" pitchFamily="34" charset="0"/>
                <a:ea typeface="Calibri" pitchFamily="34" charset="-122"/>
                <a:cs typeface="Calibri" pitchFamily="34" charset="-120"/>
              </a:rPr>
              <a:t>Model yang menjelaskan dirinya sendiri</a:t>
            </a:r>
            <a:endParaRPr lang="en-US" sz="1500" dirty="0"/>
          </a:p>
        </p:txBody>
      </p:sp>
      <p:sp>
        <p:nvSpPr>
          <p:cNvPr id="7" name="Text 5"/>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86A09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1"/>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7FA327"/>
                </a:solidFill>
                <a:latin typeface="Calibri" pitchFamily="34" charset="0"/>
                <a:ea typeface="Calibri" pitchFamily="34" charset="-122"/>
                <a:cs typeface="Calibri" pitchFamily="34" charset="-120"/>
              </a:rPr>
              <a:t>KASUS PEMBUKA</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B3A2F"/>
                </a:solidFill>
                <a:latin typeface="Cambria" pitchFamily="34" charset="0"/>
                <a:ea typeface="Cambria" pitchFamily="34" charset="-122"/>
                <a:cs typeface="Cambria" pitchFamily="34" charset="-120"/>
              </a:rPr>
              <a:t>Model yang bisa dibaca manusia</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1756A"/>
                </a:solidFill>
                <a:latin typeface="Calibri" pitchFamily="34" charset="0"/>
                <a:ea typeface="Calibri" pitchFamily="34" charset="-122"/>
                <a:cs typeface="Calibri" pitchFamily="34" charset="-120"/>
              </a:rPr>
              <a:t>5</a:t>
            </a:r>
            <a:endParaRPr lang="en-US" sz="1000" dirty="0"/>
          </a:p>
        </p:txBody>
      </p:sp>
      <p:sp>
        <p:nvSpPr>
          <p:cNvPr id="5" name="Text 3"/>
          <p:cNvSpPr txBox="1"/>
          <p:nvPr/>
        </p:nvSpPr>
        <p:spPr>
          <a:xfrm>
            <a:off x="594360" y="1170432"/>
            <a:ext cx="11002975" cy="502920"/>
          </a:xfrm>
          <a:prstGeom prst="rect">
            <a:avLst/>
          </a:prstGeom>
          <a:noFill/>
          <a:ln/>
        </p:spPr>
        <p:txBody>
          <a:bodyPr wrap="square" lIns="0" tIns="0" rIns="0" bIns="0" rtlCol="0" anchor="t"/>
          <a:lstStyle/>
          <a:p>
            <a:pPr algn="l" indent="0" marL="0">
              <a:lnSpc>
                <a:spcPct val="130000"/>
              </a:lnSpc>
              <a:buNone/>
            </a:pPr>
            <a:r>
              <a:rPr lang="en-US" sz="1500" dirty="0">
                <a:solidFill>
                  <a:srgbClr val="17261F"/>
                </a:solidFill>
                <a:latin typeface="Calibri" pitchFamily="34" charset="0"/>
                <a:ea typeface="Calibri" pitchFamily="34" charset="-122"/>
                <a:cs typeface="Calibri" pitchFamily="34" charset="-120"/>
              </a:rPr>
              <a:t>Kepala Dinas Perhubungan menolak model regresi karena tidak bisa dijelaskan kepada petugas lapangan. Ia meminta aturan yang bisa dibaca. Inilah yang dihasilkan sebuah decision tree.</a:t>
            </a:r>
            <a:endParaRPr lang="en-US" sz="1500" dirty="0"/>
          </a:p>
        </p:txBody>
      </p:sp>
      <p:sp>
        <p:nvSpPr>
          <p:cNvPr id="6" name="Shape 4"/>
          <p:cNvSpPr/>
          <p:nvPr/>
        </p:nvSpPr>
        <p:spPr>
          <a:xfrm>
            <a:off x="4709160" y="1783080"/>
            <a:ext cx="2743200" cy="603504"/>
          </a:xfrm>
          <a:prstGeom prst="roundRect">
            <a:avLst>
              <a:gd name="adj" fmla="val 10606"/>
            </a:avLst>
          </a:prstGeom>
          <a:solidFill>
            <a:srgbClr val="1B3A2F"/>
          </a:solidFill>
          <a:ln w="12700">
            <a:solidFill>
              <a:srgbClr val="1B3A2F"/>
            </a:solidFill>
            <a:prstDash val="solid"/>
          </a:ln>
        </p:spPr>
      </p:sp>
      <p:sp>
        <p:nvSpPr>
          <p:cNvPr id="7" name="Text 5"/>
          <p:cNvSpPr txBox="1"/>
          <p:nvPr/>
        </p:nvSpPr>
        <p:spPr>
          <a:xfrm>
            <a:off x="4709160" y="1783080"/>
            <a:ext cx="2743200" cy="603504"/>
          </a:xfrm>
          <a:prstGeom prst="rect">
            <a:avLst/>
          </a:prstGeom>
          <a:noFill/>
          <a:ln/>
        </p:spPr>
        <p:txBody>
          <a:bodyPr wrap="square" lIns="0" tIns="0" rIns="0" bIns="0" rtlCol="0" anchor="ctr"/>
          <a:lstStyle/>
          <a:p>
            <a:pPr algn="ctr" indent="0" marL="0">
              <a:lnSpc>
                <a:spcPct val="115000"/>
              </a:lnSpc>
              <a:buNone/>
            </a:pPr>
            <a:r>
              <a:rPr lang="en-US" sz="1500" b="1" dirty="0">
                <a:solidFill>
                  <a:srgbClr val="FFFFFF"/>
                </a:solidFill>
                <a:latin typeface="Cambria" pitchFamily="34" charset="0"/>
                <a:ea typeface="Cambria" pitchFamily="34" charset="-122"/>
                <a:cs typeface="Cambria" pitchFamily="34" charset="-120"/>
              </a:rPr>
              <a:t>Jam sibuk?</a:t>
            </a:r>
            <a:endParaRPr lang="en-US" sz="1500" dirty="0"/>
          </a:p>
        </p:txBody>
      </p:sp>
      <p:sp>
        <p:nvSpPr>
          <p:cNvPr id="8" name="Shape 6"/>
          <p:cNvSpPr/>
          <p:nvPr/>
        </p:nvSpPr>
        <p:spPr>
          <a:xfrm>
            <a:off x="5382158" y="2386584"/>
            <a:ext cx="25603" cy="292608"/>
          </a:xfrm>
          <a:prstGeom prst="rect">
            <a:avLst/>
          </a:prstGeom>
          <a:solidFill>
            <a:srgbClr val="9BAF9E"/>
          </a:solidFill>
          <a:ln w="12700">
            <a:solidFill>
              <a:srgbClr val="333333"/>
            </a:solidFill>
            <a:prstDash val="solid"/>
          </a:ln>
        </p:spPr>
      </p:sp>
      <p:sp>
        <p:nvSpPr>
          <p:cNvPr id="9" name="Shape 7"/>
          <p:cNvSpPr/>
          <p:nvPr/>
        </p:nvSpPr>
        <p:spPr>
          <a:xfrm>
            <a:off x="2926080" y="2666390"/>
            <a:ext cx="2468880" cy="25603"/>
          </a:xfrm>
          <a:prstGeom prst="rect">
            <a:avLst/>
          </a:prstGeom>
          <a:solidFill>
            <a:srgbClr val="9BAF9E"/>
          </a:solidFill>
          <a:ln w="12700">
            <a:solidFill>
              <a:srgbClr val="333333"/>
            </a:solidFill>
            <a:prstDash val="solid"/>
          </a:ln>
        </p:spPr>
      </p:sp>
      <p:sp>
        <p:nvSpPr>
          <p:cNvPr id="10" name="Shape 8"/>
          <p:cNvSpPr/>
          <p:nvPr/>
        </p:nvSpPr>
        <p:spPr>
          <a:xfrm>
            <a:off x="2913278" y="2679192"/>
            <a:ext cx="25603" cy="292608"/>
          </a:xfrm>
          <a:prstGeom prst="rect">
            <a:avLst/>
          </a:prstGeom>
          <a:solidFill>
            <a:srgbClr val="9BAF9E"/>
          </a:solidFill>
          <a:ln w="12700">
            <a:solidFill>
              <a:srgbClr val="333333"/>
            </a:solidFill>
            <a:prstDash val="solid"/>
          </a:ln>
        </p:spPr>
      </p:sp>
      <p:sp>
        <p:nvSpPr>
          <p:cNvPr id="11" name="Shape 9"/>
          <p:cNvSpPr/>
          <p:nvPr/>
        </p:nvSpPr>
        <p:spPr>
          <a:xfrm>
            <a:off x="6753758" y="2386584"/>
            <a:ext cx="25603" cy="292608"/>
          </a:xfrm>
          <a:prstGeom prst="rect">
            <a:avLst/>
          </a:prstGeom>
          <a:solidFill>
            <a:srgbClr val="9BAF9E"/>
          </a:solidFill>
          <a:ln w="12700">
            <a:solidFill>
              <a:srgbClr val="333333"/>
            </a:solidFill>
            <a:prstDash val="solid"/>
          </a:ln>
        </p:spPr>
      </p:sp>
      <p:sp>
        <p:nvSpPr>
          <p:cNvPr id="12" name="Shape 10"/>
          <p:cNvSpPr/>
          <p:nvPr/>
        </p:nvSpPr>
        <p:spPr>
          <a:xfrm>
            <a:off x="6766560" y="2666390"/>
            <a:ext cx="2286000" cy="25603"/>
          </a:xfrm>
          <a:prstGeom prst="rect">
            <a:avLst/>
          </a:prstGeom>
          <a:solidFill>
            <a:srgbClr val="9BAF9E"/>
          </a:solidFill>
          <a:ln w="12700">
            <a:solidFill>
              <a:srgbClr val="333333"/>
            </a:solidFill>
            <a:prstDash val="solid"/>
          </a:ln>
        </p:spPr>
      </p:sp>
      <p:sp>
        <p:nvSpPr>
          <p:cNvPr id="13" name="Shape 11"/>
          <p:cNvSpPr/>
          <p:nvPr/>
        </p:nvSpPr>
        <p:spPr>
          <a:xfrm>
            <a:off x="9039758" y="2679192"/>
            <a:ext cx="25603" cy="292608"/>
          </a:xfrm>
          <a:prstGeom prst="rect">
            <a:avLst/>
          </a:prstGeom>
          <a:solidFill>
            <a:srgbClr val="9BAF9E"/>
          </a:solidFill>
          <a:ln w="12700">
            <a:solidFill>
              <a:srgbClr val="333333"/>
            </a:solidFill>
            <a:prstDash val="solid"/>
          </a:ln>
        </p:spPr>
      </p:sp>
      <p:sp>
        <p:nvSpPr>
          <p:cNvPr id="14" name="Text 12"/>
          <p:cNvSpPr txBox="1"/>
          <p:nvPr/>
        </p:nvSpPr>
        <p:spPr>
          <a:xfrm>
            <a:off x="3794760" y="2377440"/>
            <a:ext cx="640080" cy="256032"/>
          </a:xfrm>
          <a:prstGeom prst="rect">
            <a:avLst/>
          </a:prstGeom>
          <a:noFill/>
          <a:ln/>
        </p:spPr>
        <p:txBody>
          <a:bodyPr wrap="square" lIns="0" tIns="0" rIns="0" bIns="0" rtlCol="0" anchor="t"/>
          <a:lstStyle/>
          <a:p>
            <a:pPr algn="ctr" indent="0" marL="0">
              <a:buNone/>
            </a:pPr>
            <a:r>
              <a:rPr lang="en-US" sz="1200" b="1" dirty="0">
                <a:solidFill>
                  <a:srgbClr val="7FA327"/>
                </a:solidFill>
                <a:latin typeface="Calibri" pitchFamily="34" charset="0"/>
                <a:ea typeface="Calibri" pitchFamily="34" charset="-122"/>
                <a:cs typeface="Calibri" pitchFamily="34" charset="-120"/>
              </a:rPr>
              <a:t>ya</a:t>
            </a:r>
            <a:endParaRPr lang="en-US" sz="1200" dirty="0"/>
          </a:p>
        </p:txBody>
      </p:sp>
      <p:sp>
        <p:nvSpPr>
          <p:cNvPr id="15" name="Text 13"/>
          <p:cNvSpPr txBox="1"/>
          <p:nvPr/>
        </p:nvSpPr>
        <p:spPr>
          <a:xfrm>
            <a:off x="7543800" y="2377440"/>
            <a:ext cx="822960" cy="256032"/>
          </a:xfrm>
          <a:prstGeom prst="rect">
            <a:avLst/>
          </a:prstGeom>
          <a:noFill/>
          <a:ln/>
        </p:spPr>
        <p:txBody>
          <a:bodyPr wrap="square" lIns="0" tIns="0" rIns="0" bIns="0" rtlCol="0" anchor="t"/>
          <a:lstStyle/>
          <a:p>
            <a:pPr algn="ctr" indent="0" marL="0">
              <a:buNone/>
            </a:pPr>
            <a:r>
              <a:rPr lang="en-US" sz="1200" b="1" dirty="0">
                <a:solidFill>
                  <a:srgbClr val="8E4A6B"/>
                </a:solidFill>
                <a:latin typeface="Calibri" pitchFamily="34" charset="0"/>
                <a:ea typeface="Calibri" pitchFamily="34" charset="-122"/>
                <a:cs typeface="Calibri" pitchFamily="34" charset="-120"/>
              </a:rPr>
              <a:t>tidak</a:t>
            </a:r>
            <a:endParaRPr lang="en-US" sz="1200" dirty="0"/>
          </a:p>
        </p:txBody>
      </p:sp>
      <p:sp>
        <p:nvSpPr>
          <p:cNvPr id="16" name="Shape 14"/>
          <p:cNvSpPr/>
          <p:nvPr/>
        </p:nvSpPr>
        <p:spPr>
          <a:xfrm>
            <a:off x="1554480" y="2971800"/>
            <a:ext cx="2743200" cy="603504"/>
          </a:xfrm>
          <a:prstGeom prst="roundRect">
            <a:avLst>
              <a:gd name="adj" fmla="val 10606"/>
            </a:avLst>
          </a:prstGeom>
          <a:solidFill>
            <a:srgbClr val="3A6B57"/>
          </a:solidFill>
          <a:ln w="12700">
            <a:solidFill>
              <a:srgbClr val="3A6B57"/>
            </a:solidFill>
            <a:prstDash val="solid"/>
          </a:ln>
        </p:spPr>
      </p:sp>
      <p:sp>
        <p:nvSpPr>
          <p:cNvPr id="17" name="Text 15"/>
          <p:cNvSpPr txBox="1"/>
          <p:nvPr/>
        </p:nvSpPr>
        <p:spPr>
          <a:xfrm>
            <a:off x="1554480" y="2971800"/>
            <a:ext cx="2743200" cy="603504"/>
          </a:xfrm>
          <a:prstGeom prst="rect">
            <a:avLst/>
          </a:prstGeom>
          <a:noFill/>
          <a:ln/>
        </p:spPr>
        <p:txBody>
          <a:bodyPr wrap="square" lIns="0" tIns="0" rIns="0" bIns="0" rtlCol="0" anchor="ctr"/>
          <a:lstStyle/>
          <a:p>
            <a:pPr algn="ctr" indent="0" marL="0">
              <a:lnSpc>
                <a:spcPct val="115000"/>
              </a:lnSpc>
              <a:buNone/>
            </a:pPr>
            <a:r>
              <a:rPr lang="en-US" sz="1500" b="1" dirty="0">
                <a:solidFill>
                  <a:srgbClr val="FFFFFF"/>
                </a:solidFill>
                <a:latin typeface="Cambria" pitchFamily="34" charset="0"/>
                <a:ea typeface="Cambria" pitchFamily="34" charset="-122"/>
                <a:cs typeface="Cambria" pitchFamily="34" charset="-120"/>
              </a:rPr>
              <a:t>Hujan?</a:t>
            </a:r>
            <a:endParaRPr lang="en-US" sz="1500" dirty="0"/>
          </a:p>
        </p:txBody>
      </p:sp>
      <p:sp>
        <p:nvSpPr>
          <p:cNvPr id="18" name="Shape 16"/>
          <p:cNvSpPr/>
          <p:nvPr/>
        </p:nvSpPr>
        <p:spPr>
          <a:xfrm>
            <a:off x="7680960" y="2971800"/>
            <a:ext cx="2743200" cy="603504"/>
          </a:xfrm>
          <a:prstGeom prst="roundRect">
            <a:avLst>
              <a:gd name="adj" fmla="val 10606"/>
            </a:avLst>
          </a:prstGeom>
          <a:solidFill>
            <a:srgbClr val="3A6B57"/>
          </a:solidFill>
          <a:ln w="12700">
            <a:solidFill>
              <a:srgbClr val="3A6B57"/>
            </a:solidFill>
            <a:prstDash val="solid"/>
          </a:ln>
        </p:spPr>
      </p:sp>
      <p:sp>
        <p:nvSpPr>
          <p:cNvPr id="19" name="Text 17"/>
          <p:cNvSpPr txBox="1"/>
          <p:nvPr/>
        </p:nvSpPr>
        <p:spPr>
          <a:xfrm>
            <a:off x="7680960" y="2971800"/>
            <a:ext cx="2743200" cy="603504"/>
          </a:xfrm>
          <a:prstGeom prst="rect">
            <a:avLst/>
          </a:prstGeom>
          <a:noFill/>
          <a:ln/>
        </p:spPr>
        <p:txBody>
          <a:bodyPr wrap="square" lIns="0" tIns="0" rIns="0" bIns="0" rtlCol="0" anchor="ctr"/>
          <a:lstStyle/>
          <a:p>
            <a:pPr algn="ctr" indent="0" marL="0">
              <a:lnSpc>
                <a:spcPct val="115000"/>
              </a:lnSpc>
              <a:buNone/>
            </a:pPr>
            <a:r>
              <a:rPr lang="en-US" sz="1500" b="1" dirty="0">
                <a:solidFill>
                  <a:srgbClr val="FFFFFF"/>
                </a:solidFill>
                <a:latin typeface="Cambria" pitchFamily="34" charset="0"/>
                <a:ea typeface="Cambria" pitchFamily="34" charset="-122"/>
                <a:cs typeface="Cambria" pitchFamily="34" charset="-120"/>
              </a:rPr>
              <a:t>Jarak &gt; 10 km?</a:t>
            </a:r>
            <a:endParaRPr lang="en-US" sz="1500" dirty="0"/>
          </a:p>
        </p:txBody>
      </p:sp>
      <p:sp>
        <p:nvSpPr>
          <p:cNvPr id="20" name="Shape 18"/>
          <p:cNvSpPr/>
          <p:nvPr/>
        </p:nvSpPr>
        <p:spPr>
          <a:xfrm>
            <a:off x="1907438" y="3575304"/>
            <a:ext cx="25603" cy="315468"/>
          </a:xfrm>
          <a:prstGeom prst="rect">
            <a:avLst/>
          </a:prstGeom>
          <a:solidFill>
            <a:srgbClr val="9BAF9E"/>
          </a:solidFill>
          <a:ln w="12700">
            <a:solidFill>
              <a:srgbClr val="333333"/>
            </a:solidFill>
            <a:prstDash val="solid"/>
          </a:ln>
        </p:spPr>
      </p:sp>
      <p:sp>
        <p:nvSpPr>
          <p:cNvPr id="21" name="Shape 19"/>
          <p:cNvSpPr/>
          <p:nvPr/>
        </p:nvSpPr>
        <p:spPr>
          <a:xfrm>
            <a:off x="1463040" y="3877970"/>
            <a:ext cx="457200" cy="25603"/>
          </a:xfrm>
          <a:prstGeom prst="rect">
            <a:avLst/>
          </a:prstGeom>
          <a:solidFill>
            <a:srgbClr val="9BAF9E"/>
          </a:solidFill>
          <a:ln w="12700">
            <a:solidFill>
              <a:srgbClr val="333333"/>
            </a:solidFill>
            <a:prstDash val="solid"/>
          </a:ln>
        </p:spPr>
      </p:sp>
      <p:sp>
        <p:nvSpPr>
          <p:cNvPr id="22" name="Shape 20"/>
          <p:cNvSpPr/>
          <p:nvPr/>
        </p:nvSpPr>
        <p:spPr>
          <a:xfrm>
            <a:off x="1450238" y="3890772"/>
            <a:ext cx="25603" cy="315468"/>
          </a:xfrm>
          <a:prstGeom prst="rect">
            <a:avLst/>
          </a:prstGeom>
          <a:solidFill>
            <a:srgbClr val="9BAF9E"/>
          </a:solidFill>
          <a:ln w="12700">
            <a:solidFill>
              <a:srgbClr val="333333"/>
            </a:solidFill>
            <a:prstDash val="solid"/>
          </a:ln>
        </p:spPr>
      </p:sp>
      <p:sp>
        <p:nvSpPr>
          <p:cNvPr id="23" name="Shape 21"/>
          <p:cNvSpPr/>
          <p:nvPr/>
        </p:nvSpPr>
        <p:spPr>
          <a:xfrm>
            <a:off x="3553358" y="3575304"/>
            <a:ext cx="25603" cy="315468"/>
          </a:xfrm>
          <a:prstGeom prst="rect">
            <a:avLst/>
          </a:prstGeom>
          <a:solidFill>
            <a:srgbClr val="9BAF9E"/>
          </a:solidFill>
          <a:ln w="12700">
            <a:solidFill>
              <a:srgbClr val="333333"/>
            </a:solidFill>
            <a:prstDash val="solid"/>
          </a:ln>
        </p:spPr>
      </p:sp>
      <p:sp>
        <p:nvSpPr>
          <p:cNvPr id="24" name="Shape 22"/>
          <p:cNvSpPr/>
          <p:nvPr/>
        </p:nvSpPr>
        <p:spPr>
          <a:xfrm>
            <a:off x="3566160" y="3877970"/>
            <a:ext cx="640080" cy="25603"/>
          </a:xfrm>
          <a:prstGeom prst="rect">
            <a:avLst/>
          </a:prstGeom>
          <a:solidFill>
            <a:srgbClr val="9BAF9E"/>
          </a:solidFill>
          <a:ln w="12700">
            <a:solidFill>
              <a:srgbClr val="333333"/>
            </a:solidFill>
            <a:prstDash val="solid"/>
          </a:ln>
        </p:spPr>
      </p:sp>
      <p:sp>
        <p:nvSpPr>
          <p:cNvPr id="25" name="Shape 23"/>
          <p:cNvSpPr/>
          <p:nvPr/>
        </p:nvSpPr>
        <p:spPr>
          <a:xfrm>
            <a:off x="4193438" y="3890772"/>
            <a:ext cx="25603" cy="315468"/>
          </a:xfrm>
          <a:prstGeom prst="rect">
            <a:avLst/>
          </a:prstGeom>
          <a:solidFill>
            <a:srgbClr val="9BAF9E"/>
          </a:solidFill>
          <a:ln w="12700">
            <a:solidFill>
              <a:srgbClr val="333333"/>
            </a:solidFill>
            <a:prstDash val="solid"/>
          </a:ln>
        </p:spPr>
      </p:sp>
      <p:sp>
        <p:nvSpPr>
          <p:cNvPr id="26" name="Shape 24"/>
          <p:cNvSpPr/>
          <p:nvPr/>
        </p:nvSpPr>
        <p:spPr>
          <a:xfrm>
            <a:off x="8033918" y="3575304"/>
            <a:ext cx="25603" cy="315468"/>
          </a:xfrm>
          <a:prstGeom prst="rect">
            <a:avLst/>
          </a:prstGeom>
          <a:solidFill>
            <a:srgbClr val="9BAF9E"/>
          </a:solidFill>
          <a:ln w="12700">
            <a:solidFill>
              <a:srgbClr val="333333"/>
            </a:solidFill>
            <a:prstDash val="solid"/>
          </a:ln>
        </p:spPr>
      </p:sp>
      <p:sp>
        <p:nvSpPr>
          <p:cNvPr id="27" name="Shape 25"/>
          <p:cNvSpPr/>
          <p:nvPr/>
        </p:nvSpPr>
        <p:spPr>
          <a:xfrm>
            <a:off x="7589520" y="3877970"/>
            <a:ext cx="457200" cy="25603"/>
          </a:xfrm>
          <a:prstGeom prst="rect">
            <a:avLst/>
          </a:prstGeom>
          <a:solidFill>
            <a:srgbClr val="9BAF9E"/>
          </a:solidFill>
          <a:ln w="12700">
            <a:solidFill>
              <a:srgbClr val="333333"/>
            </a:solidFill>
            <a:prstDash val="solid"/>
          </a:ln>
        </p:spPr>
      </p:sp>
      <p:sp>
        <p:nvSpPr>
          <p:cNvPr id="28" name="Shape 26"/>
          <p:cNvSpPr/>
          <p:nvPr/>
        </p:nvSpPr>
        <p:spPr>
          <a:xfrm>
            <a:off x="7576718" y="3890772"/>
            <a:ext cx="25603" cy="315468"/>
          </a:xfrm>
          <a:prstGeom prst="rect">
            <a:avLst/>
          </a:prstGeom>
          <a:solidFill>
            <a:srgbClr val="9BAF9E"/>
          </a:solidFill>
          <a:ln w="12700">
            <a:solidFill>
              <a:srgbClr val="333333"/>
            </a:solidFill>
            <a:prstDash val="solid"/>
          </a:ln>
        </p:spPr>
      </p:sp>
      <p:sp>
        <p:nvSpPr>
          <p:cNvPr id="29" name="Shape 27"/>
          <p:cNvSpPr/>
          <p:nvPr/>
        </p:nvSpPr>
        <p:spPr>
          <a:xfrm>
            <a:off x="9679838" y="3575304"/>
            <a:ext cx="25603" cy="315468"/>
          </a:xfrm>
          <a:prstGeom prst="rect">
            <a:avLst/>
          </a:prstGeom>
          <a:solidFill>
            <a:srgbClr val="9BAF9E"/>
          </a:solidFill>
          <a:ln w="12700">
            <a:solidFill>
              <a:srgbClr val="333333"/>
            </a:solidFill>
            <a:prstDash val="solid"/>
          </a:ln>
        </p:spPr>
      </p:sp>
      <p:sp>
        <p:nvSpPr>
          <p:cNvPr id="30" name="Shape 28"/>
          <p:cNvSpPr/>
          <p:nvPr/>
        </p:nvSpPr>
        <p:spPr>
          <a:xfrm>
            <a:off x="9692640" y="3877970"/>
            <a:ext cx="640080" cy="25603"/>
          </a:xfrm>
          <a:prstGeom prst="rect">
            <a:avLst/>
          </a:prstGeom>
          <a:solidFill>
            <a:srgbClr val="9BAF9E"/>
          </a:solidFill>
          <a:ln w="12700">
            <a:solidFill>
              <a:srgbClr val="333333"/>
            </a:solidFill>
            <a:prstDash val="solid"/>
          </a:ln>
        </p:spPr>
      </p:sp>
      <p:sp>
        <p:nvSpPr>
          <p:cNvPr id="31" name="Shape 29"/>
          <p:cNvSpPr/>
          <p:nvPr/>
        </p:nvSpPr>
        <p:spPr>
          <a:xfrm>
            <a:off x="10319918" y="3890772"/>
            <a:ext cx="25603" cy="315468"/>
          </a:xfrm>
          <a:prstGeom prst="rect">
            <a:avLst/>
          </a:prstGeom>
          <a:solidFill>
            <a:srgbClr val="9BAF9E"/>
          </a:solidFill>
          <a:ln w="12700">
            <a:solidFill>
              <a:srgbClr val="333333"/>
            </a:solidFill>
            <a:prstDash val="solid"/>
          </a:ln>
        </p:spPr>
      </p:sp>
      <p:sp>
        <p:nvSpPr>
          <p:cNvPr id="32" name="Shape 30"/>
          <p:cNvSpPr/>
          <p:nvPr/>
        </p:nvSpPr>
        <p:spPr>
          <a:xfrm>
            <a:off x="640080" y="4206240"/>
            <a:ext cx="1645920" cy="566928"/>
          </a:xfrm>
          <a:prstGeom prst="roundRect">
            <a:avLst>
              <a:gd name="adj" fmla="val 11290"/>
            </a:avLst>
          </a:prstGeom>
          <a:solidFill>
            <a:srgbClr val="8E4A6B"/>
          </a:solidFill>
          <a:ln w="12700">
            <a:solidFill>
              <a:srgbClr val="8E4A6B"/>
            </a:solidFill>
            <a:prstDash val="solid"/>
          </a:ln>
        </p:spPr>
      </p:sp>
      <p:sp>
        <p:nvSpPr>
          <p:cNvPr id="33" name="Text 31"/>
          <p:cNvSpPr txBox="1"/>
          <p:nvPr/>
        </p:nvSpPr>
        <p:spPr>
          <a:xfrm>
            <a:off x="640080" y="4206240"/>
            <a:ext cx="1645920" cy="566928"/>
          </a:xfrm>
          <a:prstGeom prst="rect">
            <a:avLst/>
          </a:prstGeom>
          <a:noFill/>
          <a:ln/>
        </p:spPr>
        <p:txBody>
          <a:bodyPr wrap="square" lIns="0" tIns="0" rIns="0" bIns="0" rtlCol="0" anchor="ctr"/>
          <a:lstStyle/>
          <a:p>
            <a:pPr algn="ctr" indent="0" marL="0">
              <a:lnSpc>
                <a:spcPct val="115000"/>
              </a:lnSpc>
              <a:buNone/>
            </a:pPr>
            <a:r>
              <a:rPr lang="en-US" sz="1100" b="1" dirty="0">
                <a:solidFill>
                  <a:srgbClr val="FFFFFF"/>
                </a:solidFill>
                <a:latin typeface="Calibri" pitchFamily="34" charset="0"/>
                <a:ea typeface="Calibri" pitchFamily="34" charset="-122"/>
                <a:cs typeface="Calibri" pitchFamily="34" charset="-120"/>
              </a:rPr>
              <a:t>TERLAMBAT BERAT</a:t>
            </a:r>
            <a:endParaRPr lang="en-US" sz="1100" dirty="0"/>
          </a:p>
        </p:txBody>
      </p:sp>
      <p:sp>
        <p:nvSpPr>
          <p:cNvPr id="34" name="Shape 32"/>
          <p:cNvSpPr/>
          <p:nvPr/>
        </p:nvSpPr>
        <p:spPr>
          <a:xfrm>
            <a:off x="3383280" y="4206240"/>
            <a:ext cx="1645920" cy="566928"/>
          </a:xfrm>
          <a:prstGeom prst="roundRect">
            <a:avLst>
              <a:gd name="adj" fmla="val 11290"/>
            </a:avLst>
          </a:prstGeom>
          <a:solidFill>
            <a:srgbClr val="A87C4F"/>
          </a:solidFill>
          <a:ln w="12700">
            <a:solidFill>
              <a:srgbClr val="A87C4F"/>
            </a:solidFill>
            <a:prstDash val="solid"/>
          </a:ln>
        </p:spPr>
      </p:sp>
      <p:sp>
        <p:nvSpPr>
          <p:cNvPr id="35" name="Text 33"/>
          <p:cNvSpPr txBox="1"/>
          <p:nvPr/>
        </p:nvSpPr>
        <p:spPr>
          <a:xfrm>
            <a:off x="3383280" y="4206240"/>
            <a:ext cx="1645920" cy="566928"/>
          </a:xfrm>
          <a:prstGeom prst="rect">
            <a:avLst/>
          </a:prstGeom>
          <a:noFill/>
          <a:ln/>
        </p:spPr>
        <p:txBody>
          <a:bodyPr wrap="square" lIns="0" tIns="0" rIns="0" bIns="0" rtlCol="0" anchor="ctr"/>
          <a:lstStyle/>
          <a:p>
            <a:pPr algn="ctr" indent="0" marL="0">
              <a:lnSpc>
                <a:spcPct val="115000"/>
              </a:lnSpc>
              <a:buNone/>
            </a:pPr>
            <a:r>
              <a:rPr lang="en-US" sz="1100" b="1" dirty="0">
                <a:solidFill>
                  <a:srgbClr val="FFFFFF"/>
                </a:solidFill>
                <a:latin typeface="Calibri" pitchFamily="34" charset="0"/>
                <a:ea typeface="Calibri" pitchFamily="34" charset="-122"/>
                <a:cs typeface="Calibri" pitchFamily="34" charset="-120"/>
              </a:rPr>
              <a:t>TERLAMBAT RINGAN</a:t>
            </a:r>
            <a:endParaRPr lang="en-US" sz="1100" dirty="0"/>
          </a:p>
        </p:txBody>
      </p:sp>
      <p:sp>
        <p:nvSpPr>
          <p:cNvPr id="36" name="Shape 34"/>
          <p:cNvSpPr/>
          <p:nvPr/>
        </p:nvSpPr>
        <p:spPr>
          <a:xfrm>
            <a:off x="6766560" y="4206240"/>
            <a:ext cx="1645920" cy="566928"/>
          </a:xfrm>
          <a:prstGeom prst="roundRect">
            <a:avLst>
              <a:gd name="adj" fmla="val 11290"/>
            </a:avLst>
          </a:prstGeom>
          <a:solidFill>
            <a:srgbClr val="A87C4F"/>
          </a:solidFill>
          <a:ln w="12700">
            <a:solidFill>
              <a:srgbClr val="A87C4F"/>
            </a:solidFill>
            <a:prstDash val="solid"/>
          </a:ln>
        </p:spPr>
      </p:sp>
      <p:sp>
        <p:nvSpPr>
          <p:cNvPr id="37" name="Text 35"/>
          <p:cNvSpPr txBox="1"/>
          <p:nvPr/>
        </p:nvSpPr>
        <p:spPr>
          <a:xfrm>
            <a:off x="6766560" y="4206240"/>
            <a:ext cx="1645920" cy="566928"/>
          </a:xfrm>
          <a:prstGeom prst="rect">
            <a:avLst/>
          </a:prstGeom>
          <a:noFill/>
          <a:ln/>
        </p:spPr>
        <p:txBody>
          <a:bodyPr wrap="square" lIns="0" tIns="0" rIns="0" bIns="0" rtlCol="0" anchor="ctr"/>
          <a:lstStyle/>
          <a:p>
            <a:pPr algn="ctr" indent="0" marL="0">
              <a:lnSpc>
                <a:spcPct val="115000"/>
              </a:lnSpc>
              <a:buNone/>
            </a:pPr>
            <a:r>
              <a:rPr lang="en-US" sz="1100" b="1" dirty="0">
                <a:solidFill>
                  <a:srgbClr val="FFFFFF"/>
                </a:solidFill>
                <a:latin typeface="Calibri" pitchFamily="34" charset="0"/>
                <a:ea typeface="Calibri" pitchFamily="34" charset="-122"/>
                <a:cs typeface="Calibri" pitchFamily="34" charset="-120"/>
              </a:rPr>
              <a:t>TERLAMBAT RINGAN</a:t>
            </a:r>
            <a:endParaRPr lang="en-US" sz="1100" dirty="0"/>
          </a:p>
        </p:txBody>
      </p:sp>
      <p:sp>
        <p:nvSpPr>
          <p:cNvPr id="38" name="Shape 36"/>
          <p:cNvSpPr/>
          <p:nvPr/>
        </p:nvSpPr>
        <p:spPr>
          <a:xfrm>
            <a:off x="9509760" y="4206240"/>
            <a:ext cx="1645920" cy="566928"/>
          </a:xfrm>
          <a:prstGeom prst="roundRect">
            <a:avLst>
              <a:gd name="adj" fmla="val 11290"/>
            </a:avLst>
          </a:prstGeom>
          <a:solidFill>
            <a:srgbClr val="7FA327"/>
          </a:solidFill>
          <a:ln w="12700">
            <a:solidFill>
              <a:srgbClr val="7FA327"/>
            </a:solidFill>
            <a:prstDash val="solid"/>
          </a:ln>
        </p:spPr>
      </p:sp>
      <p:sp>
        <p:nvSpPr>
          <p:cNvPr id="39" name="Text 37"/>
          <p:cNvSpPr txBox="1"/>
          <p:nvPr/>
        </p:nvSpPr>
        <p:spPr>
          <a:xfrm>
            <a:off x="9509760" y="4206240"/>
            <a:ext cx="1645920" cy="566928"/>
          </a:xfrm>
          <a:prstGeom prst="rect">
            <a:avLst/>
          </a:prstGeom>
          <a:noFill/>
          <a:ln/>
        </p:spPr>
        <p:txBody>
          <a:bodyPr wrap="square" lIns="0" tIns="0" rIns="0" bIns="0" rtlCol="0" anchor="ctr"/>
          <a:lstStyle/>
          <a:p>
            <a:pPr algn="ctr" indent="0" marL="0">
              <a:lnSpc>
                <a:spcPct val="115000"/>
              </a:lnSpc>
              <a:buNone/>
            </a:pPr>
            <a:r>
              <a:rPr lang="en-US" sz="1100" b="1" dirty="0">
                <a:solidFill>
                  <a:srgbClr val="FFFFFF"/>
                </a:solidFill>
                <a:latin typeface="Calibri" pitchFamily="34" charset="0"/>
                <a:ea typeface="Calibri" pitchFamily="34" charset="-122"/>
                <a:cs typeface="Calibri" pitchFamily="34" charset="-120"/>
              </a:rPr>
              <a:t>TEPAT WAKTU</a:t>
            </a:r>
            <a:endParaRPr lang="en-US" sz="1100" dirty="0"/>
          </a:p>
        </p:txBody>
      </p:sp>
      <p:sp>
        <p:nvSpPr>
          <p:cNvPr id="40" name="Shape 38"/>
          <p:cNvSpPr/>
          <p:nvPr/>
        </p:nvSpPr>
        <p:spPr>
          <a:xfrm>
            <a:off x="594360" y="5074920"/>
            <a:ext cx="11002975" cy="914400"/>
          </a:xfrm>
          <a:prstGeom prst="roundRect">
            <a:avLst>
              <a:gd name="adj" fmla="val 9000"/>
            </a:avLst>
          </a:prstGeom>
          <a:solidFill>
            <a:srgbClr val="EDF2E4"/>
          </a:solidFill>
          <a:ln w="12700">
            <a:solidFill>
              <a:srgbClr val="D5E2BC"/>
            </a:solidFill>
            <a:prstDash val="solid"/>
          </a:ln>
          <a:effectLst>
            <a:outerShdw sx="100000" sy="100000" kx="0" ky="0" algn="bl" rotWithShape="0" blurRad="101600" dist="508" dir="5400000">
              <a:srgbClr val="AFBCB0">
                <a:alpha val="30000"/>
              </a:srgbClr>
            </a:outerShdw>
          </a:effectLst>
        </p:spPr>
      </p:sp>
      <p:sp>
        <p:nvSpPr>
          <p:cNvPr id="41" name="Text 39"/>
          <p:cNvSpPr txBox="1"/>
          <p:nvPr/>
        </p:nvSpPr>
        <p:spPr>
          <a:xfrm>
            <a:off x="1005840" y="5285232"/>
            <a:ext cx="10180015" cy="548640"/>
          </a:xfrm>
          <a:prstGeom prst="rect">
            <a:avLst/>
          </a:prstGeom>
          <a:noFill/>
          <a:ln/>
        </p:spPr>
        <p:txBody>
          <a:bodyPr wrap="square" lIns="0" tIns="0" rIns="0" bIns="0" rtlCol="0" anchor="t"/>
          <a:lstStyle/>
          <a:p>
            <a:pPr algn="l" indent="0" marL="0">
              <a:lnSpc>
                <a:spcPct val="125000"/>
              </a:lnSpc>
              <a:buNone/>
            </a:pPr>
            <a:r>
              <a:rPr lang="en-US" sz="1450" b="1" dirty="0">
                <a:solidFill>
                  <a:srgbClr val="4E6614"/>
                </a:solidFill>
                <a:latin typeface="Calibri" pitchFamily="34" charset="0"/>
                <a:ea typeface="Calibri" pitchFamily="34" charset="-122"/>
                <a:cs typeface="Calibri" pitchFamily="34" charset="-120"/>
              </a:rPr>
              <a:t>Petugas lapangan dapat membacanya tanpa pelatihan: bila jam sibuk dan hujan, siagakan armada cadangan. Tidak ada koefisien, tidak ada log-odds, tidak ada yang perlu diterjemahkan.</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1"/>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7FA327"/>
                </a:solidFill>
                <a:latin typeface="Calibri" pitchFamily="34" charset="0"/>
                <a:ea typeface="Calibri" pitchFamily="34" charset="-122"/>
                <a:cs typeface="Calibri" pitchFamily="34" charset="-120"/>
              </a:rPr>
              <a:t>KOSAKATA</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B3A2F"/>
                </a:solidFill>
                <a:latin typeface="Cambria" pitchFamily="34" charset="0"/>
                <a:ea typeface="Cambria" pitchFamily="34" charset="-122"/>
                <a:cs typeface="Cambria" pitchFamily="34" charset="-120"/>
              </a:rPr>
              <a:t>Bagian-bagian sebuah pohon</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1756A"/>
                </a:solidFill>
                <a:latin typeface="Calibri" pitchFamily="34" charset="0"/>
                <a:ea typeface="Calibri" pitchFamily="34" charset="-122"/>
                <a:cs typeface="Calibri" pitchFamily="34" charset="-120"/>
              </a:rPr>
              <a:t>6</a:t>
            </a:r>
            <a:endParaRPr lang="en-US" sz="1000" dirty="0"/>
          </a:p>
        </p:txBody>
      </p:sp>
      <p:sp>
        <p:nvSpPr>
          <p:cNvPr id="5" name="Shape 3"/>
          <p:cNvSpPr/>
          <p:nvPr/>
        </p:nvSpPr>
        <p:spPr>
          <a:xfrm>
            <a:off x="594360" y="1371600"/>
            <a:ext cx="5303520" cy="1737360"/>
          </a:xfrm>
          <a:prstGeom prst="roundRect">
            <a:avLst>
              <a:gd name="adj" fmla="val 4737"/>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6" name="Shape 4"/>
          <p:cNvSpPr/>
          <p:nvPr/>
        </p:nvSpPr>
        <p:spPr>
          <a:xfrm>
            <a:off x="914400" y="1664208"/>
            <a:ext cx="1417320" cy="457200"/>
          </a:xfrm>
          <a:prstGeom prst="roundRect">
            <a:avLst>
              <a:gd name="adj" fmla="val 12000"/>
            </a:avLst>
          </a:prstGeom>
          <a:solidFill>
            <a:srgbClr val="1B3A2F"/>
          </a:solidFill>
          <a:ln w="12700">
            <a:solidFill>
              <a:srgbClr val="333333"/>
            </a:solidFill>
            <a:prstDash val="solid"/>
          </a:ln>
        </p:spPr>
      </p:sp>
      <p:sp>
        <p:nvSpPr>
          <p:cNvPr id="7" name="Text 5"/>
          <p:cNvSpPr txBox="1"/>
          <p:nvPr/>
        </p:nvSpPr>
        <p:spPr>
          <a:xfrm>
            <a:off x="2468880" y="1691640"/>
            <a:ext cx="3108960" cy="411480"/>
          </a:xfrm>
          <a:prstGeom prst="rect">
            <a:avLst/>
          </a:prstGeom>
          <a:noFill/>
          <a:ln/>
        </p:spPr>
        <p:txBody>
          <a:bodyPr wrap="square" lIns="0" tIns="0" rIns="0" bIns="0" rtlCol="0" anchor="ctr"/>
          <a:lstStyle/>
          <a:p>
            <a:pPr algn="l" indent="0" marL="0">
              <a:buNone/>
            </a:pPr>
            <a:r>
              <a:rPr lang="en-US" sz="1800" b="1" dirty="0">
                <a:solidFill>
                  <a:srgbClr val="1B3A2F"/>
                </a:solidFill>
                <a:latin typeface="Cambria" pitchFamily="34" charset="0"/>
                <a:ea typeface="Cambria" pitchFamily="34" charset="-122"/>
                <a:cs typeface="Cambria" pitchFamily="34" charset="-120"/>
              </a:rPr>
              <a:t>Simpul akar</a:t>
            </a:r>
            <a:endParaRPr lang="en-US" sz="1800" dirty="0"/>
          </a:p>
        </p:txBody>
      </p:sp>
      <p:sp>
        <p:nvSpPr>
          <p:cNvPr id="8" name="Text 6"/>
          <p:cNvSpPr txBox="1"/>
          <p:nvPr/>
        </p:nvSpPr>
        <p:spPr>
          <a:xfrm>
            <a:off x="914400" y="1664208"/>
            <a:ext cx="141732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simpul</a:t>
            </a:r>
            <a:endParaRPr lang="en-US" sz="1100" dirty="0"/>
          </a:p>
        </p:txBody>
      </p:sp>
      <p:sp>
        <p:nvSpPr>
          <p:cNvPr id="9" name="Text 7"/>
          <p:cNvSpPr txBox="1"/>
          <p:nvPr/>
        </p:nvSpPr>
        <p:spPr>
          <a:xfrm>
            <a:off x="914400" y="2286000"/>
            <a:ext cx="4663440" cy="731520"/>
          </a:xfrm>
          <a:prstGeom prst="rect">
            <a:avLst/>
          </a:prstGeom>
          <a:noFill/>
          <a:ln/>
        </p:spPr>
        <p:txBody>
          <a:bodyPr wrap="square" lIns="0" tIns="0" rIns="0" bIns="0" rtlCol="0" anchor="t"/>
          <a:lstStyle/>
          <a:p>
            <a:pPr algn="l" indent="0" marL="0">
              <a:lnSpc>
                <a:spcPct val="125000"/>
              </a:lnSpc>
              <a:buNone/>
            </a:pPr>
            <a:r>
              <a:rPr lang="en-US" sz="1350" dirty="0">
                <a:solidFill>
                  <a:srgbClr val="17261F"/>
                </a:solidFill>
                <a:latin typeface="Calibri" pitchFamily="34" charset="0"/>
                <a:ea typeface="Calibri" pitchFamily="34" charset="-122"/>
                <a:cs typeface="Calibri" pitchFamily="34" charset="-120"/>
              </a:rPr>
              <a:t>Pertanyaan pertama yang diajukan model kepada seluruh data. Dipilih karena paling tajam memisahkan kelas.</a:t>
            </a:r>
            <a:endParaRPr lang="en-US" sz="1350" dirty="0"/>
          </a:p>
        </p:txBody>
      </p:sp>
      <p:sp>
        <p:nvSpPr>
          <p:cNvPr id="10" name="Shape 8"/>
          <p:cNvSpPr/>
          <p:nvPr/>
        </p:nvSpPr>
        <p:spPr>
          <a:xfrm>
            <a:off x="6263640" y="1371600"/>
            <a:ext cx="5303520" cy="1737360"/>
          </a:xfrm>
          <a:prstGeom prst="roundRect">
            <a:avLst>
              <a:gd name="adj" fmla="val 4737"/>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11" name="Shape 9"/>
          <p:cNvSpPr/>
          <p:nvPr/>
        </p:nvSpPr>
        <p:spPr>
          <a:xfrm>
            <a:off x="6583680" y="1664208"/>
            <a:ext cx="1417320" cy="457200"/>
          </a:xfrm>
          <a:prstGeom prst="roundRect">
            <a:avLst>
              <a:gd name="adj" fmla="val 12000"/>
            </a:avLst>
          </a:prstGeom>
          <a:solidFill>
            <a:srgbClr val="3A6B57"/>
          </a:solidFill>
          <a:ln w="12700">
            <a:solidFill>
              <a:srgbClr val="333333"/>
            </a:solidFill>
            <a:prstDash val="solid"/>
          </a:ln>
        </p:spPr>
      </p:sp>
      <p:sp>
        <p:nvSpPr>
          <p:cNvPr id="12" name="Text 10"/>
          <p:cNvSpPr txBox="1"/>
          <p:nvPr/>
        </p:nvSpPr>
        <p:spPr>
          <a:xfrm>
            <a:off x="8138160" y="1691640"/>
            <a:ext cx="3108960" cy="411480"/>
          </a:xfrm>
          <a:prstGeom prst="rect">
            <a:avLst/>
          </a:prstGeom>
          <a:noFill/>
          <a:ln/>
        </p:spPr>
        <p:txBody>
          <a:bodyPr wrap="square" lIns="0" tIns="0" rIns="0" bIns="0" rtlCol="0" anchor="ctr"/>
          <a:lstStyle/>
          <a:p>
            <a:pPr algn="l" indent="0" marL="0">
              <a:buNone/>
            </a:pPr>
            <a:r>
              <a:rPr lang="en-US" sz="1800" b="1" dirty="0">
                <a:solidFill>
                  <a:srgbClr val="1B3A2F"/>
                </a:solidFill>
                <a:latin typeface="Cambria" pitchFamily="34" charset="0"/>
                <a:ea typeface="Cambria" pitchFamily="34" charset="-122"/>
                <a:cs typeface="Cambria" pitchFamily="34" charset="-120"/>
              </a:rPr>
              <a:t>Simpul internal</a:t>
            </a:r>
            <a:endParaRPr lang="en-US" sz="1800" dirty="0"/>
          </a:p>
        </p:txBody>
      </p:sp>
      <p:sp>
        <p:nvSpPr>
          <p:cNvPr id="13" name="Text 11"/>
          <p:cNvSpPr txBox="1"/>
          <p:nvPr/>
        </p:nvSpPr>
        <p:spPr>
          <a:xfrm>
            <a:off x="6583680" y="1664208"/>
            <a:ext cx="141732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simpul</a:t>
            </a:r>
            <a:endParaRPr lang="en-US" sz="1100" dirty="0"/>
          </a:p>
        </p:txBody>
      </p:sp>
      <p:sp>
        <p:nvSpPr>
          <p:cNvPr id="14" name="Text 12"/>
          <p:cNvSpPr txBox="1"/>
          <p:nvPr/>
        </p:nvSpPr>
        <p:spPr>
          <a:xfrm>
            <a:off x="6583680" y="2286000"/>
            <a:ext cx="4663440" cy="731520"/>
          </a:xfrm>
          <a:prstGeom prst="rect">
            <a:avLst/>
          </a:prstGeom>
          <a:noFill/>
          <a:ln/>
        </p:spPr>
        <p:txBody>
          <a:bodyPr wrap="square" lIns="0" tIns="0" rIns="0" bIns="0" rtlCol="0" anchor="t"/>
          <a:lstStyle/>
          <a:p>
            <a:pPr algn="l" indent="0" marL="0">
              <a:lnSpc>
                <a:spcPct val="125000"/>
              </a:lnSpc>
              <a:buNone/>
            </a:pPr>
            <a:r>
              <a:rPr lang="en-US" sz="1350" dirty="0">
                <a:solidFill>
                  <a:srgbClr val="17261F"/>
                </a:solidFill>
                <a:latin typeface="Calibri" pitchFamily="34" charset="0"/>
                <a:ea typeface="Calibri" pitchFamily="34" charset="-122"/>
                <a:cs typeface="Calibri" pitchFamily="34" charset="-120"/>
              </a:rPr>
              <a:t>Pertanyaan lanjutan yang hanya berlaku bagi data yang sampai ke cabang itu.</a:t>
            </a:r>
            <a:endParaRPr lang="en-US" sz="1350" dirty="0"/>
          </a:p>
        </p:txBody>
      </p:sp>
      <p:sp>
        <p:nvSpPr>
          <p:cNvPr id="15" name="Shape 13"/>
          <p:cNvSpPr/>
          <p:nvPr/>
        </p:nvSpPr>
        <p:spPr>
          <a:xfrm>
            <a:off x="594360" y="3337560"/>
            <a:ext cx="5303520" cy="1737360"/>
          </a:xfrm>
          <a:prstGeom prst="roundRect">
            <a:avLst>
              <a:gd name="adj" fmla="val 4737"/>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16" name="Shape 14"/>
          <p:cNvSpPr/>
          <p:nvPr/>
        </p:nvSpPr>
        <p:spPr>
          <a:xfrm>
            <a:off x="914400" y="3630168"/>
            <a:ext cx="1417320" cy="457200"/>
          </a:xfrm>
          <a:prstGeom prst="roundRect">
            <a:avLst>
              <a:gd name="adj" fmla="val 12000"/>
            </a:avLst>
          </a:prstGeom>
          <a:solidFill>
            <a:srgbClr val="A87C4F"/>
          </a:solidFill>
          <a:ln w="12700">
            <a:solidFill>
              <a:srgbClr val="333333"/>
            </a:solidFill>
            <a:prstDash val="solid"/>
          </a:ln>
        </p:spPr>
      </p:sp>
      <p:sp>
        <p:nvSpPr>
          <p:cNvPr id="17" name="Text 15"/>
          <p:cNvSpPr txBox="1"/>
          <p:nvPr/>
        </p:nvSpPr>
        <p:spPr>
          <a:xfrm>
            <a:off x="2468880" y="3657600"/>
            <a:ext cx="3108960" cy="411480"/>
          </a:xfrm>
          <a:prstGeom prst="rect">
            <a:avLst/>
          </a:prstGeom>
          <a:noFill/>
          <a:ln/>
        </p:spPr>
        <p:txBody>
          <a:bodyPr wrap="square" lIns="0" tIns="0" rIns="0" bIns="0" rtlCol="0" anchor="ctr"/>
          <a:lstStyle/>
          <a:p>
            <a:pPr algn="l" indent="0" marL="0">
              <a:buNone/>
            </a:pPr>
            <a:r>
              <a:rPr lang="en-US" sz="1800" b="1" dirty="0">
                <a:solidFill>
                  <a:srgbClr val="1B3A2F"/>
                </a:solidFill>
                <a:latin typeface="Cambria" pitchFamily="34" charset="0"/>
                <a:ea typeface="Cambria" pitchFamily="34" charset="-122"/>
                <a:cs typeface="Cambria" pitchFamily="34" charset="-120"/>
              </a:rPr>
              <a:t>Cabang</a:t>
            </a:r>
            <a:endParaRPr lang="en-US" sz="1800" dirty="0"/>
          </a:p>
        </p:txBody>
      </p:sp>
      <p:sp>
        <p:nvSpPr>
          <p:cNvPr id="18" name="Text 16"/>
          <p:cNvSpPr txBox="1"/>
          <p:nvPr/>
        </p:nvSpPr>
        <p:spPr>
          <a:xfrm>
            <a:off x="914400" y="3630168"/>
            <a:ext cx="141732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cabang</a:t>
            </a:r>
            <a:endParaRPr lang="en-US" sz="1100" dirty="0"/>
          </a:p>
        </p:txBody>
      </p:sp>
      <p:sp>
        <p:nvSpPr>
          <p:cNvPr id="19" name="Text 17"/>
          <p:cNvSpPr txBox="1"/>
          <p:nvPr/>
        </p:nvSpPr>
        <p:spPr>
          <a:xfrm>
            <a:off x="914400" y="4251960"/>
            <a:ext cx="4663440" cy="731520"/>
          </a:xfrm>
          <a:prstGeom prst="rect">
            <a:avLst/>
          </a:prstGeom>
          <a:noFill/>
          <a:ln/>
        </p:spPr>
        <p:txBody>
          <a:bodyPr wrap="square" lIns="0" tIns="0" rIns="0" bIns="0" rtlCol="0" anchor="t"/>
          <a:lstStyle/>
          <a:p>
            <a:pPr algn="l" indent="0" marL="0">
              <a:lnSpc>
                <a:spcPct val="125000"/>
              </a:lnSpc>
              <a:buNone/>
            </a:pPr>
            <a:r>
              <a:rPr lang="en-US" sz="1350" dirty="0">
                <a:solidFill>
                  <a:srgbClr val="17261F"/>
                </a:solidFill>
                <a:latin typeface="Calibri" pitchFamily="34" charset="0"/>
                <a:ea typeface="Calibri" pitchFamily="34" charset="-122"/>
                <a:cs typeface="Calibri" pitchFamily="34" charset="-120"/>
              </a:rPr>
              <a:t>Jawaban atas pertanyaan. Untuk fitur ya-tidak ada dua cabang; untuk fitur numerik, dipecah pada satu ambang nilai.</a:t>
            </a:r>
            <a:endParaRPr lang="en-US" sz="1350" dirty="0"/>
          </a:p>
        </p:txBody>
      </p:sp>
      <p:sp>
        <p:nvSpPr>
          <p:cNvPr id="20" name="Shape 18"/>
          <p:cNvSpPr/>
          <p:nvPr/>
        </p:nvSpPr>
        <p:spPr>
          <a:xfrm>
            <a:off x="6263640" y="3337560"/>
            <a:ext cx="5303520" cy="1737360"/>
          </a:xfrm>
          <a:prstGeom prst="roundRect">
            <a:avLst>
              <a:gd name="adj" fmla="val 4737"/>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21" name="Shape 19"/>
          <p:cNvSpPr/>
          <p:nvPr/>
        </p:nvSpPr>
        <p:spPr>
          <a:xfrm>
            <a:off x="6583680" y="3630168"/>
            <a:ext cx="1417320" cy="457200"/>
          </a:xfrm>
          <a:prstGeom prst="roundRect">
            <a:avLst>
              <a:gd name="adj" fmla="val 12000"/>
            </a:avLst>
          </a:prstGeom>
          <a:solidFill>
            <a:srgbClr val="7FA327"/>
          </a:solidFill>
          <a:ln w="12700">
            <a:solidFill>
              <a:srgbClr val="333333"/>
            </a:solidFill>
            <a:prstDash val="solid"/>
          </a:ln>
        </p:spPr>
      </p:sp>
      <p:sp>
        <p:nvSpPr>
          <p:cNvPr id="22" name="Text 20"/>
          <p:cNvSpPr txBox="1"/>
          <p:nvPr/>
        </p:nvSpPr>
        <p:spPr>
          <a:xfrm>
            <a:off x="8138160" y="3657600"/>
            <a:ext cx="3108960" cy="411480"/>
          </a:xfrm>
          <a:prstGeom prst="rect">
            <a:avLst/>
          </a:prstGeom>
          <a:noFill/>
          <a:ln/>
        </p:spPr>
        <p:txBody>
          <a:bodyPr wrap="square" lIns="0" tIns="0" rIns="0" bIns="0" rtlCol="0" anchor="ctr"/>
          <a:lstStyle/>
          <a:p>
            <a:pPr algn="l" indent="0" marL="0">
              <a:buNone/>
            </a:pPr>
            <a:r>
              <a:rPr lang="en-US" sz="1800" b="1" dirty="0">
                <a:solidFill>
                  <a:srgbClr val="1B3A2F"/>
                </a:solidFill>
                <a:latin typeface="Cambria" pitchFamily="34" charset="0"/>
                <a:ea typeface="Cambria" pitchFamily="34" charset="-122"/>
                <a:cs typeface="Cambria" pitchFamily="34" charset="-120"/>
              </a:rPr>
              <a:t>Daun</a:t>
            </a:r>
            <a:endParaRPr lang="en-US" sz="1800" dirty="0"/>
          </a:p>
        </p:txBody>
      </p:sp>
      <p:sp>
        <p:nvSpPr>
          <p:cNvPr id="23" name="Text 21"/>
          <p:cNvSpPr txBox="1"/>
          <p:nvPr/>
        </p:nvSpPr>
        <p:spPr>
          <a:xfrm>
            <a:off x="6583680" y="3630168"/>
            <a:ext cx="141732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daun</a:t>
            </a:r>
            <a:endParaRPr lang="en-US" sz="1100" dirty="0"/>
          </a:p>
        </p:txBody>
      </p:sp>
      <p:sp>
        <p:nvSpPr>
          <p:cNvPr id="24" name="Text 22"/>
          <p:cNvSpPr txBox="1"/>
          <p:nvPr/>
        </p:nvSpPr>
        <p:spPr>
          <a:xfrm>
            <a:off x="6583680" y="4251960"/>
            <a:ext cx="4663440" cy="731520"/>
          </a:xfrm>
          <a:prstGeom prst="rect">
            <a:avLst/>
          </a:prstGeom>
          <a:noFill/>
          <a:ln/>
        </p:spPr>
        <p:txBody>
          <a:bodyPr wrap="square" lIns="0" tIns="0" rIns="0" bIns="0" rtlCol="0" anchor="t"/>
          <a:lstStyle/>
          <a:p>
            <a:pPr algn="l" indent="0" marL="0">
              <a:lnSpc>
                <a:spcPct val="125000"/>
              </a:lnSpc>
              <a:buNone/>
            </a:pPr>
            <a:r>
              <a:rPr lang="en-US" sz="1350" dirty="0">
                <a:solidFill>
                  <a:srgbClr val="17261F"/>
                </a:solidFill>
                <a:latin typeface="Calibri" pitchFamily="34" charset="0"/>
                <a:ea typeface="Calibri" pitchFamily="34" charset="-122"/>
                <a:cs typeface="Calibri" pitchFamily="34" charset="-120"/>
              </a:rPr>
              <a:t>Ujung jalur. Tidak ada pertanyaan lagi — di sinilah keputusan atau nilai prediksi diberikan.</a:t>
            </a:r>
            <a:endParaRPr lang="en-US" sz="1350" dirty="0"/>
          </a:p>
        </p:txBody>
      </p:sp>
      <p:sp>
        <p:nvSpPr>
          <p:cNvPr id="25" name="Shape 23"/>
          <p:cNvSpPr/>
          <p:nvPr/>
        </p:nvSpPr>
        <p:spPr>
          <a:xfrm>
            <a:off x="594360" y="5349240"/>
            <a:ext cx="11002975" cy="685800"/>
          </a:xfrm>
          <a:prstGeom prst="roundRect">
            <a:avLst>
              <a:gd name="adj" fmla="val 12000"/>
            </a:avLst>
          </a:prstGeom>
          <a:solidFill>
            <a:srgbClr val="1B3A2F"/>
          </a:solidFill>
          <a:ln w="12700">
            <a:solidFill>
              <a:srgbClr val="1B3A2F"/>
            </a:solidFill>
            <a:prstDash val="solid"/>
          </a:ln>
          <a:effectLst>
            <a:outerShdw sx="100000" sy="100000" kx="0" ky="0" algn="bl" rotWithShape="0" blurRad="101600" dist="508" dir="5400000">
              <a:srgbClr val="AFBCB0">
                <a:alpha val="30000"/>
              </a:srgbClr>
            </a:outerShdw>
          </a:effectLst>
        </p:spPr>
      </p:sp>
      <p:sp>
        <p:nvSpPr>
          <p:cNvPr id="26" name="Text 24"/>
          <p:cNvSpPr txBox="1"/>
          <p:nvPr/>
        </p:nvSpPr>
        <p:spPr>
          <a:xfrm>
            <a:off x="1005840" y="5513832"/>
            <a:ext cx="10180015" cy="411480"/>
          </a:xfrm>
          <a:prstGeom prst="rect">
            <a:avLst/>
          </a:prstGeom>
          <a:noFill/>
          <a:ln/>
        </p:spPr>
        <p:txBody>
          <a:bodyPr wrap="square" lIns="0" tIns="0" rIns="0" bIns="0"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Setiap jalur dari akar ke daun adalah satu aturan lengkap. Sebuah pohon dengan delapan daun berarti delapan aturan — dan seluruhnya dapat ditulis di selembar kertas.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3A2F"/>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B5D45A"/>
                </a:solidFill>
                <a:latin typeface="Calibri" pitchFamily="34" charset="0"/>
                <a:ea typeface="Calibri" pitchFamily="34" charset="-122"/>
                <a:cs typeface="Calibri" pitchFamily="34" charset="-120"/>
              </a:rPr>
              <a:t>PERTANYAAN INTI</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Pertanyaan mana yang harus diajukan lebih dulu?</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86A093"/>
                </a:solidFill>
                <a:latin typeface="Calibri" pitchFamily="34" charset="0"/>
                <a:ea typeface="Calibri" pitchFamily="34" charset="-122"/>
                <a:cs typeface="Calibri" pitchFamily="34" charset="-120"/>
              </a:rPr>
              <a:t>7</a:t>
            </a:r>
            <a:endParaRPr lang="en-US" sz="1000" dirty="0"/>
          </a:p>
        </p:txBody>
      </p:sp>
      <p:sp>
        <p:nvSpPr>
          <p:cNvPr id="5" name="Text 3"/>
          <p:cNvSpPr txBox="1"/>
          <p:nvPr/>
        </p:nvSpPr>
        <p:spPr>
          <a:xfrm>
            <a:off x="594360" y="1234440"/>
            <a:ext cx="11002975" cy="457200"/>
          </a:xfrm>
          <a:prstGeom prst="rect">
            <a:avLst/>
          </a:prstGeom>
          <a:noFill/>
          <a:ln/>
        </p:spPr>
        <p:txBody>
          <a:bodyPr wrap="square" lIns="0" tIns="0" rIns="0" bIns="0" rtlCol="0" anchor="t"/>
          <a:lstStyle/>
          <a:p>
            <a:pPr algn="l" indent="0" marL="0">
              <a:lnSpc>
                <a:spcPct val="130000"/>
              </a:lnSpc>
              <a:buNone/>
            </a:pPr>
            <a:r>
              <a:rPr lang="en-US" sz="1600" dirty="0">
                <a:solidFill>
                  <a:srgbClr val="D3DDD6"/>
                </a:solidFill>
                <a:latin typeface="Calibri" pitchFamily="34" charset="0"/>
                <a:ea typeface="Calibri" pitchFamily="34" charset="-122"/>
                <a:cs typeface="Calibri" pitchFamily="34" charset="-120"/>
              </a:rPr>
              <a:t>Pohon tidak menebak. Ia mencoba setiap fitur, mengukur seberapa murni hasil pemisahannya, lalu memilih yang paling tajam.</a:t>
            </a:r>
            <a:endParaRPr lang="en-US" sz="1600" dirty="0"/>
          </a:p>
        </p:txBody>
      </p:sp>
      <p:sp>
        <p:nvSpPr>
          <p:cNvPr id="6" name="Shape 4"/>
          <p:cNvSpPr/>
          <p:nvPr/>
        </p:nvSpPr>
        <p:spPr>
          <a:xfrm>
            <a:off x="594360" y="1874520"/>
            <a:ext cx="5303520" cy="2423160"/>
          </a:xfrm>
          <a:prstGeom prst="roundRect">
            <a:avLst>
              <a:gd name="adj" fmla="val 3396"/>
            </a:avLst>
          </a:prstGeom>
          <a:solidFill>
            <a:srgbClr val="27503F"/>
          </a:solidFill>
          <a:ln w="12700">
            <a:solidFill>
              <a:srgbClr val="3A6B57"/>
            </a:solidFill>
            <a:prstDash val="solid"/>
          </a:ln>
          <a:effectLst>
            <a:outerShdw sx="100000" sy="100000" kx="0" ky="0" algn="bl" rotWithShape="0" blurRad="101600" dist="508" dir="5400000">
              <a:srgbClr val="AFBCB0">
                <a:alpha val="30000"/>
              </a:srgbClr>
            </a:outerShdw>
          </a:effectLst>
        </p:spPr>
      </p:sp>
      <p:sp>
        <p:nvSpPr>
          <p:cNvPr id="7" name="Text 5"/>
          <p:cNvSpPr txBox="1"/>
          <p:nvPr/>
        </p:nvSpPr>
        <p:spPr>
          <a:xfrm>
            <a:off x="960120" y="2084832"/>
            <a:ext cx="4572000" cy="365760"/>
          </a:xfrm>
          <a:prstGeom prst="rect">
            <a:avLst/>
          </a:prstGeom>
          <a:noFill/>
          <a:ln/>
        </p:spPr>
        <p:txBody>
          <a:bodyPr wrap="square" lIns="0" tIns="0" rIns="0" bIns="0" rtlCol="0" anchor="t"/>
          <a:lstStyle/>
          <a:p>
            <a:pPr algn="l" indent="0" marL="0">
              <a:buNone/>
            </a:pPr>
            <a:r>
              <a:rPr lang="en-US" sz="2100" b="1" dirty="0">
                <a:solidFill>
                  <a:srgbClr val="7FA327"/>
                </a:solidFill>
                <a:latin typeface="Cambria" pitchFamily="34" charset="0"/>
                <a:ea typeface="Cambria" pitchFamily="34" charset="-122"/>
                <a:cs typeface="Cambria" pitchFamily="34" charset="-120"/>
              </a:rPr>
              <a:t>Gini impurity</a:t>
            </a:r>
            <a:endParaRPr lang="en-US" sz="2100" dirty="0"/>
          </a:p>
        </p:txBody>
      </p:sp>
      <p:sp>
        <p:nvSpPr>
          <p:cNvPr id="8" name="Shape 6"/>
          <p:cNvSpPr/>
          <p:nvPr/>
        </p:nvSpPr>
        <p:spPr>
          <a:xfrm>
            <a:off x="960120" y="2542032"/>
            <a:ext cx="4572000" cy="548640"/>
          </a:xfrm>
          <a:prstGeom prst="roundRect">
            <a:avLst>
              <a:gd name="adj" fmla="val 11667"/>
            </a:avLst>
          </a:prstGeom>
          <a:solidFill>
            <a:srgbClr val="1B3A2F"/>
          </a:solidFill>
          <a:ln w="12700">
            <a:solidFill>
              <a:srgbClr val="333333"/>
            </a:solidFill>
            <a:prstDash val="solid"/>
          </a:ln>
        </p:spPr>
      </p:sp>
      <p:sp>
        <p:nvSpPr>
          <p:cNvPr id="9" name="Text 7"/>
          <p:cNvSpPr txBox="1"/>
          <p:nvPr/>
        </p:nvSpPr>
        <p:spPr>
          <a:xfrm>
            <a:off x="960120" y="2542032"/>
            <a:ext cx="4572000" cy="548640"/>
          </a:xfrm>
          <a:prstGeom prst="rect">
            <a:avLst/>
          </a:prstGeom>
          <a:noFill/>
          <a:ln/>
        </p:spPr>
        <p:txBody>
          <a:bodyPr wrap="square" lIns="0" tIns="0" rIns="0" bIns="0" rtlCol="0" anchor="ctr"/>
          <a:lstStyle/>
          <a:p>
            <a:pPr algn="ctr" indent="0" marL="0">
              <a:buNone/>
            </a:pPr>
            <a:r>
              <a:rPr lang="en-US" sz="1700" dirty="0">
                <a:solidFill>
                  <a:srgbClr val="FFFFFF"/>
                </a:solidFill>
                <a:latin typeface="Courier New" pitchFamily="34" charset="0"/>
                <a:ea typeface="Courier New" pitchFamily="34" charset="-122"/>
                <a:cs typeface="Courier New" pitchFamily="34" charset="-120"/>
              </a:rPr>
              <a:t>Gini = 1 − Σ pᵢ²</a:t>
            </a:r>
            <a:endParaRPr lang="en-US" sz="1700" dirty="0"/>
          </a:p>
        </p:txBody>
      </p:sp>
      <p:sp>
        <p:nvSpPr>
          <p:cNvPr id="10" name="Text 8"/>
          <p:cNvSpPr txBox="1"/>
          <p:nvPr/>
        </p:nvSpPr>
        <p:spPr>
          <a:xfrm>
            <a:off x="960120" y="3218688"/>
            <a:ext cx="4572000" cy="548640"/>
          </a:xfrm>
          <a:prstGeom prst="rect">
            <a:avLst/>
          </a:prstGeom>
          <a:noFill/>
          <a:ln/>
        </p:spPr>
        <p:txBody>
          <a:bodyPr wrap="square" lIns="0" tIns="0" rIns="0" bIns="0" rtlCol="0" anchor="t"/>
          <a:lstStyle/>
          <a:p>
            <a:pPr algn="l" indent="0" marL="0">
              <a:lnSpc>
                <a:spcPct val="125000"/>
              </a:lnSpc>
              <a:buNone/>
            </a:pPr>
            <a:r>
              <a:rPr lang="en-US" sz="1400" dirty="0">
                <a:solidFill>
                  <a:srgbClr val="FFFFFF"/>
                </a:solidFill>
                <a:latin typeface="Calibri" pitchFamily="34" charset="0"/>
                <a:ea typeface="Calibri" pitchFamily="34" charset="-122"/>
                <a:cs typeface="Calibri" pitchFamily="34" charset="-120"/>
              </a:rPr>
              <a:t>Peluang salah menebak bila label diambil acak dari kelompok itu.</a:t>
            </a:r>
            <a:endParaRPr lang="en-US" sz="1400" dirty="0"/>
          </a:p>
        </p:txBody>
      </p:sp>
      <p:sp>
        <p:nvSpPr>
          <p:cNvPr id="11" name="Text 9"/>
          <p:cNvSpPr txBox="1"/>
          <p:nvPr/>
        </p:nvSpPr>
        <p:spPr>
          <a:xfrm>
            <a:off x="960120" y="3794760"/>
            <a:ext cx="4572000" cy="457200"/>
          </a:xfrm>
          <a:prstGeom prst="rect">
            <a:avLst/>
          </a:prstGeom>
          <a:noFill/>
          <a:ln/>
        </p:spPr>
        <p:txBody>
          <a:bodyPr wrap="square" lIns="0" tIns="0" rIns="0" bIns="0" rtlCol="0" anchor="t"/>
          <a:lstStyle/>
          <a:p>
            <a:pPr algn="l" indent="0" marL="0">
              <a:lnSpc>
                <a:spcPct val="120000"/>
              </a:lnSpc>
              <a:buNone/>
            </a:pPr>
            <a:r>
              <a:rPr lang="en-US" sz="1250" i="1" dirty="0">
                <a:solidFill>
                  <a:srgbClr val="BCCCC0"/>
                </a:solidFill>
                <a:latin typeface="Calibri" pitchFamily="34" charset="0"/>
                <a:ea typeface="Calibri" pitchFamily="34" charset="-122"/>
                <a:cs typeface="Calibri" pitchFamily="34" charset="-120"/>
              </a:rPr>
              <a:t>Nol berarti murni sempurna.</a:t>
            </a:r>
            <a:endParaRPr lang="en-US" sz="1250" dirty="0"/>
          </a:p>
          <a:p>
            <a:pPr algn="l" indent="0" marL="0">
              <a:lnSpc>
                <a:spcPct val="120000"/>
              </a:lnSpc>
              <a:buNone/>
            </a:pPr>
            <a:r>
              <a:rPr lang="en-US" sz="1250" i="1" dirty="0">
                <a:solidFill>
                  <a:srgbClr val="BCCCC0"/>
                </a:solidFill>
                <a:latin typeface="Calibri" pitchFamily="34" charset="0"/>
                <a:ea typeface="Calibri" pitchFamily="34" charset="-122"/>
                <a:cs typeface="Calibri" pitchFamily="34" charset="-120"/>
              </a:rPr>
              <a:t>Maksimum 0,5 untuk dua kelas.</a:t>
            </a:r>
            <a:endParaRPr lang="en-US" sz="1250" dirty="0"/>
          </a:p>
        </p:txBody>
      </p:sp>
      <p:sp>
        <p:nvSpPr>
          <p:cNvPr id="12" name="Shape 10"/>
          <p:cNvSpPr/>
          <p:nvPr/>
        </p:nvSpPr>
        <p:spPr>
          <a:xfrm>
            <a:off x="6263640" y="1874520"/>
            <a:ext cx="5303520" cy="2423160"/>
          </a:xfrm>
          <a:prstGeom prst="roundRect">
            <a:avLst>
              <a:gd name="adj" fmla="val 3396"/>
            </a:avLst>
          </a:prstGeom>
          <a:solidFill>
            <a:srgbClr val="27503F"/>
          </a:solidFill>
          <a:ln w="12700">
            <a:solidFill>
              <a:srgbClr val="3A6B57"/>
            </a:solidFill>
            <a:prstDash val="solid"/>
          </a:ln>
          <a:effectLst>
            <a:outerShdw sx="100000" sy="100000" kx="0" ky="0" algn="bl" rotWithShape="0" blurRad="101600" dist="508" dir="5400000">
              <a:srgbClr val="AFBCB0">
                <a:alpha val="30000"/>
              </a:srgbClr>
            </a:outerShdw>
          </a:effectLst>
        </p:spPr>
      </p:sp>
      <p:sp>
        <p:nvSpPr>
          <p:cNvPr id="13" name="Text 11"/>
          <p:cNvSpPr txBox="1"/>
          <p:nvPr/>
        </p:nvSpPr>
        <p:spPr>
          <a:xfrm>
            <a:off x="6629400" y="2084832"/>
            <a:ext cx="4572000" cy="365760"/>
          </a:xfrm>
          <a:prstGeom prst="rect">
            <a:avLst/>
          </a:prstGeom>
          <a:noFill/>
          <a:ln/>
        </p:spPr>
        <p:txBody>
          <a:bodyPr wrap="square" lIns="0" tIns="0" rIns="0" bIns="0" rtlCol="0" anchor="t"/>
          <a:lstStyle/>
          <a:p>
            <a:pPr algn="l" indent="0" marL="0">
              <a:buNone/>
            </a:pPr>
            <a:r>
              <a:rPr lang="en-US" sz="2100" b="1" dirty="0">
                <a:solidFill>
                  <a:srgbClr val="A87C4F"/>
                </a:solidFill>
                <a:latin typeface="Cambria" pitchFamily="34" charset="0"/>
                <a:ea typeface="Cambria" pitchFamily="34" charset="-122"/>
                <a:cs typeface="Cambria" pitchFamily="34" charset="-120"/>
              </a:rPr>
              <a:t>Entropy</a:t>
            </a:r>
            <a:endParaRPr lang="en-US" sz="2100" dirty="0"/>
          </a:p>
        </p:txBody>
      </p:sp>
      <p:sp>
        <p:nvSpPr>
          <p:cNvPr id="14" name="Shape 12"/>
          <p:cNvSpPr/>
          <p:nvPr/>
        </p:nvSpPr>
        <p:spPr>
          <a:xfrm>
            <a:off x="6629400" y="2542032"/>
            <a:ext cx="4572000" cy="548640"/>
          </a:xfrm>
          <a:prstGeom prst="roundRect">
            <a:avLst>
              <a:gd name="adj" fmla="val 11667"/>
            </a:avLst>
          </a:prstGeom>
          <a:solidFill>
            <a:srgbClr val="1B3A2F"/>
          </a:solidFill>
          <a:ln w="12700">
            <a:solidFill>
              <a:srgbClr val="333333"/>
            </a:solidFill>
            <a:prstDash val="solid"/>
          </a:ln>
        </p:spPr>
      </p:sp>
      <p:sp>
        <p:nvSpPr>
          <p:cNvPr id="15" name="Text 13"/>
          <p:cNvSpPr txBox="1"/>
          <p:nvPr/>
        </p:nvSpPr>
        <p:spPr>
          <a:xfrm>
            <a:off x="6629400" y="2542032"/>
            <a:ext cx="4572000" cy="548640"/>
          </a:xfrm>
          <a:prstGeom prst="rect">
            <a:avLst/>
          </a:prstGeom>
          <a:noFill/>
          <a:ln/>
        </p:spPr>
        <p:txBody>
          <a:bodyPr wrap="square" lIns="0" tIns="0" rIns="0" bIns="0" rtlCol="0" anchor="ctr"/>
          <a:lstStyle/>
          <a:p>
            <a:pPr algn="ctr" indent="0" marL="0">
              <a:buNone/>
            </a:pPr>
            <a:r>
              <a:rPr lang="en-US" sz="1700" dirty="0">
                <a:solidFill>
                  <a:srgbClr val="FFFFFF"/>
                </a:solidFill>
                <a:latin typeface="Courier New" pitchFamily="34" charset="0"/>
                <a:ea typeface="Courier New" pitchFamily="34" charset="-122"/>
                <a:cs typeface="Courier New" pitchFamily="34" charset="-120"/>
              </a:rPr>
              <a:t>H = − Σ pᵢ log₂ pᵢ</a:t>
            </a:r>
            <a:endParaRPr lang="en-US" sz="1700" dirty="0"/>
          </a:p>
        </p:txBody>
      </p:sp>
      <p:sp>
        <p:nvSpPr>
          <p:cNvPr id="16" name="Text 14"/>
          <p:cNvSpPr txBox="1"/>
          <p:nvPr/>
        </p:nvSpPr>
        <p:spPr>
          <a:xfrm>
            <a:off x="6629400" y="3218688"/>
            <a:ext cx="4572000" cy="548640"/>
          </a:xfrm>
          <a:prstGeom prst="rect">
            <a:avLst/>
          </a:prstGeom>
          <a:noFill/>
          <a:ln/>
        </p:spPr>
        <p:txBody>
          <a:bodyPr wrap="square" lIns="0" tIns="0" rIns="0" bIns="0" rtlCol="0" anchor="t"/>
          <a:lstStyle/>
          <a:p>
            <a:pPr algn="l" indent="0" marL="0">
              <a:lnSpc>
                <a:spcPct val="125000"/>
              </a:lnSpc>
              <a:buNone/>
            </a:pPr>
            <a:r>
              <a:rPr lang="en-US" sz="1400" dirty="0">
                <a:solidFill>
                  <a:srgbClr val="FFFFFF"/>
                </a:solidFill>
                <a:latin typeface="Calibri" pitchFamily="34" charset="0"/>
                <a:ea typeface="Calibri" pitchFamily="34" charset="-122"/>
                <a:cs typeface="Calibri" pitchFamily="34" charset="-120"/>
              </a:rPr>
              <a:t>Ukuran ketidakpastian dalam kelompok, dinyatakan dalam bit.</a:t>
            </a:r>
            <a:endParaRPr lang="en-US" sz="1400" dirty="0"/>
          </a:p>
        </p:txBody>
      </p:sp>
      <p:sp>
        <p:nvSpPr>
          <p:cNvPr id="17" name="Text 15"/>
          <p:cNvSpPr txBox="1"/>
          <p:nvPr/>
        </p:nvSpPr>
        <p:spPr>
          <a:xfrm>
            <a:off x="6629400" y="3794760"/>
            <a:ext cx="4572000" cy="457200"/>
          </a:xfrm>
          <a:prstGeom prst="rect">
            <a:avLst/>
          </a:prstGeom>
          <a:noFill/>
          <a:ln/>
        </p:spPr>
        <p:txBody>
          <a:bodyPr wrap="square" lIns="0" tIns="0" rIns="0" bIns="0" rtlCol="0" anchor="t"/>
          <a:lstStyle/>
          <a:p>
            <a:pPr algn="l" indent="0" marL="0">
              <a:lnSpc>
                <a:spcPct val="120000"/>
              </a:lnSpc>
              <a:buNone/>
            </a:pPr>
            <a:r>
              <a:rPr lang="en-US" sz="1250" i="1" dirty="0">
                <a:solidFill>
                  <a:srgbClr val="BCCCC0"/>
                </a:solidFill>
                <a:latin typeface="Calibri" pitchFamily="34" charset="0"/>
                <a:ea typeface="Calibri" pitchFamily="34" charset="-122"/>
                <a:cs typeface="Calibri" pitchFamily="34" charset="-120"/>
              </a:rPr>
              <a:t>Nol berarti murni sempurna.</a:t>
            </a:r>
            <a:endParaRPr lang="en-US" sz="1250" dirty="0"/>
          </a:p>
          <a:p>
            <a:pPr algn="l" indent="0" marL="0">
              <a:lnSpc>
                <a:spcPct val="120000"/>
              </a:lnSpc>
              <a:buNone/>
            </a:pPr>
            <a:r>
              <a:rPr lang="en-US" sz="1250" i="1" dirty="0">
                <a:solidFill>
                  <a:srgbClr val="BCCCC0"/>
                </a:solidFill>
                <a:latin typeface="Calibri" pitchFamily="34" charset="0"/>
                <a:ea typeface="Calibri" pitchFamily="34" charset="-122"/>
                <a:cs typeface="Calibri" pitchFamily="34" charset="-120"/>
              </a:rPr>
              <a:t>Maksimum 1 untuk dua kelas.</a:t>
            </a:r>
            <a:endParaRPr lang="en-US" sz="1250" dirty="0"/>
          </a:p>
        </p:txBody>
      </p:sp>
      <p:sp>
        <p:nvSpPr>
          <p:cNvPr id="18" name="Shape 16"/>
          <p:cNvSpPr/>
          <p:nvPr/>
        </p:nvSpPr>
        <p:spPr>
          <a:xfrm>
            <a:off x="594360" y="4526280"/>
            <a:ext cx="11002975" cy="1234440"/>
          </a:xfrm>
          <a:prstGeom prst="roundRect">
            <a:avLst>
              <a:gd name="adj" fmla="val 6667"/>
            </a:avLst>
          </a:prstGeom>
          <a:solidFill>
            <a:srgbClr val="27503F"/>
          </a:solidFill>
          <a:ln w="12700">
            <a:solidFill>
              <a:srgbClr val="3A6B57"/>
            </a:solidFill>
            <a:prstDash val="solid"/>
          </a:ln>
          <a:effectLst>
            <a:outerShdw sx="100000" sy="100000" kx="0" ky="0" algn="bl" rotWithShape="0" blurRad="101600" dist="508" dir="5400000">
              <a:srgbClr val="AFBCB0">
                <a:alpha val="30000"/>
              </a:srgbClr>
            </a:outerShdw>
          </a:effectLst>
        </p:spPr>
      </p:sp>
      <p:sp>
        <p:nvSpPr>
          <p:cNvPr id="19" name="Text 17"/>
          <p:cNvSpPr txBox="1"/>
          <p:nvPr/>
        </p:nvSpPr>
        <p:spPr>
          <a:xfrm>
            <a:off x="1005840" y="4709160"/>
            <a:ext cx="10180015" cy="292608"/>
          </a:xfrm>
          <a:prstGeom prst="rect">
            <a:avLst/>
          </a:prstGeom>
          <a:noFill/>
          <a:ln/>
        </p:spPr>
        <p:txBody>
          <a:bodyPr wrap="square" lIns="0" tIns="0" rIns="0" bIns="0" rtlCol="0" anchor="t"/>
          <a:lstStyle/>
          <a:p>
            <a:pPr algn="l" indent="0" marL="0">
              <a:buNone/>
            </a:pPr>
            <a:r>
              <a:rPr lang="en-US" sz="1700" b="1" dirty="0">
                <a:solidFill>
                  <a:srgbClr val="B5D45A"/>
                </a:solidFill>
                <a:latin typeface="Cambria" pitchFamily="34" charset="0"/>
                <a:ea typeface="Cambria" pitchFamily="34" charset="-122"/>
                <a:cs typeface="Cambria" pitchFamily="34" charset="-120"/>
              </a:rPr>
              <a:t>Yang dimaksimalkan: penurunan ketidakmurnian</a:t>
            </a:r>
            <a:endParaRPr lang="en-US" sz="1700" dirty="0"/>
          </a:p>
        </p:txBody>
      </p:sp>
      <p:sp>
        <p:nvSpPr>
          <p:cNvPr id="20" name="Text 18"/>
          <p:cNvSpPr txBox="1"/>
          <p:nvPr/>
        </p:nvSpPr>
        <p:spPr>
          <a:xfrm>
            <a:off x="1005840" y="5074920"/>
            <a:ext cx="10180015" cy="594360"/>
          </a:xfrm>
          <a:prstGeom prst="rect">
            <a:avLst/>
          </a:prstGeom>
          <a:noFill/>
          <a:ln/>
        </p:spPr>
        <p:txBody>
          <a:bodyPr wrap="square" lIns="0" tIns="0" rIns="0" bIns="0" rtlCol="0" anchor="t"/>
          <a:lstStyle/>
          <a:p>
            <a:pPr algn="l" indent="0" marL="0">
              <a:lnSpc>
                <a:spcPct val="125000"/>
              </a:lnSpc>
              <a:buNone/>
            </a:pPr>
            <a:r>
              <a:rPr lang="en-US" sz="1400" dirty="0">
                <a:solidFill>
                  <a:srgbClr val="FFFFFF"/>
                </a:solidFill>
                <a:latin typeface="Calibri" pitchFamily="34" charset="0"/>
                <a:ea typeface="Calibri" pitchFamily="34" charset="-122"/>
                <a:cs typeface="Calibri" pitchFamily="34" charset="-120"/>
              </a:rPr>
              <a:t>Hitung ketidakmurnian sebelum pemisahan, lalu rata-rata tertimbang ketidakmurnian setelah pemisahan. Selisihnya disebut gain. Fitur dengan gain terbesar menjadi simpul pemisah.</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5F1"/>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7FA327"/>
                </a:solidFill>
                <a:latin typeface="Calibri" pitchFamily="34" charset="0"/>
                <a:ea typeface="Calibri" pitchFamily="34" charset="-122"/>
                <a:cs typeface="Calibri" pitchFamily="34" charset="-120"/>
              </a:rPr>
              <a:t>CONTOH TERBIMBING</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B3A2F"/>
                </a:solidFill>
                <a:latin typeface="Cambria" pitchFamily="34" charset="0"/>
                <a:ea typeface="Cambria" pitchFamily="34" charset="-122"/>
                <a:cs typeface="Cambria" pitchFamily="34" charset="-120"/>
              </a:rPr>
              <a:t>Menghitung gain untuk satu kandidat</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1756A"/>
                </a:solidFill>
                <a:latin typeface="Calibri" pitchFamily="34" charset="0"/>
                <a:ea typeface="Calibri" pitchFamily="34" charset="-122"/>
                <a:cs typeface="Calibri" pitchFamily="34" charset="-120"/>
              </a:rPr>
              <a:t>8</a:t>
            </a:r>
            <a:endParaRPr lang="en-US" sz="1000" dirty="0"/>
          </a:p>
        </p:txBody>
      </p:sp>
      <p:sp>
        <p:nvSpPr>
          <p:cNvPr id="5" name="Text 3"/>
          <p:cNvSpPr txBox="1"/>
          <p:nvPr/>
        </p:nvSpPr>
        <p:spPr>
          <a:xfrm>
            <a:off x="594360" y="1207008"/>
            <a:ext cx="11002975" cy="320040"/>
          </a:xfrm>
          <a:prstGeom prst="rect">
            <a:avLst/>
          </a:prstGeom>
          <a:noFill/>
          <a:ln/>
        </p:spPr>
        <p:txBody>
          <a:bodyPr wrap="square" lIns="0" tIns="0" rIns="0" bIns="0" rtlCol="0" anchor="t"/>
          <a:lstStyle/>
          <a:p>
            <a:pPr algn="l" indent="0" marL="0">
              <a:buNone/>
            </a:pPr>
            <a:r>
              <a:rPr lang="en-US" sz="1500" dirty="0">
                <a:solidFill>
                  <a:srgbClr val="17261F"/>
                </a:solidFill>
                <a:latin typeface="Calibri" pitchFamily="34" charset="0"/>
                <a:ea typeface="Calibri" pitchFamily="34" charset="-122"/>
                <a:cs typeface="Calibri" pitchFamily="34" charset="-120"/>
              </a:rPr>
              <a:t>Sepuluh perjalanan, lima terlambat dan lima tepat waktu. Kandidat pemisah: fitur "jam sibuk".</a:t>
            </a:r>
            <a:endParaRPr lang="en-US" sz="1500" dirty="0"/>
          </a:p>
        </p:txBody>
      </p:sp>
      <p:sp>
        <p:nvSpPr>
          <p:cNvPr id="6" name="Shape 4"/>
          <p:cNvSpPr/>
          <p:nvPr/>
        </p:nvSpPr>
        <p:spPr>
          <a:xfrm>
            <a:off x="594360" y="1645920"/>
            <a:ext cx="3200400" cy="1005840"/>
          </a:xfrm>
          <a:prstGeom prst="roundRect">
            <a:avLst>
              <a:gd name="adj" fmla="val 8182"/>
            </a:avLst>
          </a:prstGeom>
          <a:solidFill>
            <a:srgbClr val="1B3A2F"/>
          </a:solidFill>
          <a:ln w="12700">
            <a:solidFill>
              <a:srgbClr val="1B3A2F"/>
            </a:solidFill>
            <a:prstDash val="solid"/>
          </a:ln>
          <a:effectLst>
            <a:outerShdw sx="100000" sy="100000" kx="0" ky="0" algn="bl" rotWithShape="0" blurRad="101600" dist="508" dir="5400000">
              <a:srgbClr val="AFBCB0">
                <a:alpha val="30000"/>
              </a:srgbClr>
            </a:outerShdw>
          </a:effectLst>
        </p:spPr>
      </p:sp>
      <p:sp>
        <p:nvSpPr>
          <p:cNvPr id="7" name="Text 5"/>
          <p:cNvSpPr txBox="1"/>
          <p:nvPr/>
        </p:nvSpPr>
        <p:spPr>
          <a:xfrm>
            <a:off x="868680" y="1783080"/>
            <a:ext cx="2651760" cy="274320"/>
          </a:xfrm>
          <a:prstGeom prst="rect">
            <a:avLst/>
          </a:prstGeom>
          <a:noFill/>
          <a:ln/>
        </p:spPr>
        <p:txBody>
          <a:bodyPr wrap="square" lIns="0" tIns="0" rIns="0" bIns="0" rtlCol="0" anchor="t"/>
          <a:lstStyle/>
          <a:p>
            <a:pPr algn="l" indent="0" marL="0">
              <a:buNone/>
            </a:pPr>
            <a:r>
              <a:rPr lang="en-US" sz="1200" b="1" dirty="0">
                <a:solidFill>
                  <a:srgbClr val="B5D45A"/>
                </a:solidFill>
                <a:latin typeface="Calibri" pitchFamily="34" charset="0"/>
                <a:ea typeface="Calibri" pitchFamily="34" charset="-122"/>
                <a:cs typeface="Calibri" pitchFamily="34" charset="-120"/>
              </a:rPr>
              <a:t>Sebelum dipisah</a:t>
            </a:r>
            <a:endParaRPr lang="en-US" sz="1200" dirty="0"/>
          </a:p>
        </p:txBody>
      </p:sp>
      <p:sp>
        <p:nvSpPr>
          <p:cNvPr id="8" name="Text 6"/>
          <p:cNvSpPr txBox="1"/>
          <p:nvPr/>
        </p:nvSpPr>
        <p:spPr>
          <a:xfrm>
            <a:off x="868680" y="2057400"/>
            <a:ext cx="2651760" cy="502920"/>
          </a:xfrm>
          <a:prstGeom prst="rect">
            <a:avLst/>
          </a:prstGeom>
          <a:noFill/>
          <a:ln/>
        </p:spPr>
        <p:txBody>
          <a:bodyPr wrap="square" lIns="0" tIns="0" rIns="0" bIns="0" rtlCol="0" anchor="t"/>
          <a:lstStyle/>
          <a:p>
            <a:pPr algn="l" indent="0" marL="0">
              <a:lnSpc>
                <a:spcPct val="120000"/>
              </a:lnSpc>
              <a:buNone/>
            </a:pPr>
            <a:r>
              <a:rPr lang="en-US" sz="1250" dirty="0">
                <a:solidFill>
                  <a:srgbClr val="FFFFFF"/>
                </a:solidFill>
                <a:latin typeface="Calibri" pitchFamily="34" charset="0"/>
                <a:ea typeface="Calibri" pitchFamily="34" charset="-122"/>
                <a:cs typeface="Calibri" pitchFamily="34" charset="-120"/>
              </a:rPr>
              <a:t>5 terlambat · 5 tepat waktu</a:t>
            </a:r>
            <a:endParaRPr lang="en-US" sz="1250" dirty="0"/>
          </a:p>
          <a:p>
            <a:pPr algn="l" indent="0" marL="0">
              <a:lnSpc>
                <a:spcPct val="120000"/>
              </a:lnSpc>
              <a:buNone/>
            </a:pPr>
            <a:r>
              <a:rPr lang="en-US" sz="1250" dirty="0">
                <a:solidFill>
                  <a:srgbClr val="FFFFFF"/>
                </a:solidFill>
                <a:latin typeface="Calibri" pitchFamily="34" charset="0"/>
                <a:ea typeface="Calibri" pitchFamily="34" charset="-122"/>
                <a:cs typeface="Calibri" pitchFamily="34" charset="-120"/>
              </a:rPr>
              <a:t>Gini = 1 − (0,5² + 0,5²) = 0,500</a:t>
            </a:r>
            <a:endParaRPr lang="en-US" sz="1250" dirty="0"/>
          </a:p>
        </p:txBody>
      </p:sp>
      <p:sp>
        <p:nvSpPr>
          <p:cNvPr id="9" name="Shape 7"/>
          <p:cNvSpPr/>
          <p:nvPr/>
        </p:nvSpPr>
        <p:spPr>
          <a:xfrm>
            <a:off x="4114800" y="1645920"/>
            <a:ext cx="3611880" cy="1005840"/>
          </a:xfrm>
          <a:prstGeom prst="roundRect">
            <a:avLst>
              <a:gd name="adj" fmla="val 8182"/>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10" name="Shape 8"/>
          <p:cNvSpPr/>
          <p:nvPr/>
        </p:nvSpPr>
        <p:spPr>
          <a:xfrm>
            <a:off x="4370832" y="1828800"/>
            <a:ext cx="411480" cy="45720"/>
          </a:xfrm>
          <a:prstGeom prst="rect">
            <a:avLst/>
          </a:prstGeom>
          <a:solidFill>
            <a:srgbClr val="7FA327"/>
          </a:solidFill>
          <a:ln w="12700">
            <a:solidFill>
              <a:srgbClr val="333333"/>
            </a:solidFill>
            <a:prstDash val="solid"/>
          </a:ln>
        </p:spPr>
      </p:sp>
      <p:sp>
        <p:nvSpPr>
          <p:cNvPr id="11" name="Text 9"/>
          <p:cNvSpPr txBox="1"/>
          <p:nvPr/>
        </p:nvSpPr>
        <p:spPr>
          <a:xfrm>
            <a:off x="4370832" y="1938528"/>
            <a:ext cx="3108960" cy="256032"/>
          </a:xfrm>
          <a:prstGeom prst="rect">
            <a:avLst/>
          </a:prstGeom>
          <a:noFill/>
          <a:ln/>
        </p:spPr>
        <p:txBody>
          <a:bodyPr wrap="square" lIns="0" tIns="0" rIns="0" bIns="0" rtlCol="0" anchor="t"/>
          <a:lstStyle/>
          <a:p>
            <a:pPr algn="l" indent="0" marL="0">
              <a:buNone/>
            </a:pPr>
            <a:r>
              <a:rPr lang="en-US" sz="1300" b="1" dirty="0">
                <a:solidFill>
                  <a:srgbClr val="1B3A2F"/>
                </a:solidFill>
                <a:latin typeface="Calibri" pitchFamily="34" charset="0"/>
                <a:ea typeface="Calibri" pitchFamily="34" charset="-122"/>
                <a:cs typeface="Calibri" pitchFamily="34" charset="-120"/>
              </a:rPr>
              <a:t>Jam sibuk = YA</a:t>
            </a:r>
            <a:endParaRPr lang="en-US" sz="1300" dirty="0"/>
          </a:p>
        </p:txBody>
      </p:sp>
      <p:sp>
        <p:nvSpPr>
          <p:cNvPr id="12" name="Text 10"/>
          <p:cNvSpPr txBox="1"/>
          <p:nvPr/>
        </p:nvSpPr>
        <p:spPr>
          <a:xfrm>
            <a:off x="4370832" y="2194560"/>
            <a:ext cx="3108960" cy="228600"/>
          </a:xfrm>
          <a:prstGeom prst="rect">
            <a:avLst/>
          </a:prstGeom>
          <a:noFill/>
          <a:ln/>
        </p:spPr>
        <p:txBody>
          <a:bodyPr wrap="square" lIns="0" tIns="0" rIns="0" bIns="0" rtlCol="0" anchor="t"/>
          <a:lstStyle/>
          <a:p>
            <a:pPr algn="l" indent="0" marL="0">
              <a:buNone/>
            </a:pPr>
            <a:r>
              <a:rPr lang="en-US" sz="1150" dirty="0">
                <a:solidFill>
                  <a:srgbClr val="61756A"/>
                </a:solidFill>
                <a:latin typeface="Calibri" pitchFamily="34" charset="0"/>
                <a:ea typeface="Calibri" pitchFamily="34" charset="-122"/>
                <a:cs typeface="Calibri" pitchFamily="34" charset="-120"/>
              </a:rPr>
              <a:t>5 data · 4 terlambat, 1 tepat waktu</a:t>
            </a:r>
            <a:endParaRPr lang="en-US" sz="1150" dirty="0"/>
          </a:p>
        </p:txBody>
      </p:sp>
      <p:sp>
        <p:nvSpPr>
          <p:cNvPr id="13" name="Text 11"/>
          <p:cNvSpPr txBox="1"/>
          <p:nvPr/>
        </p:nvSpPr>
        <p:spPr>
          <a:xfrm>
            <a:off x="4370832" y="2395728"/>
            <a:ext cx="3108960" cy="228600"/>
          </a:xfrm>
          <a:prstGeom prst="rect">
            <a:avLst/>
          </a:prstGeom>
          <a:noFill/>
          <a:ln/>
        </p:spPr>
        <p:txBody>
          <a:bodyPr wrap="square" lIns="0" tIns="0" rIns="0" bIns="0" rtlCol="0" anchor="t"/>
          <a:lstStyle/>
          <a:p>
            <a:pPr algn="l" indent="0" marL="0">
              <a:buNone/>
            </a:pPr>
            <a:r>
              <a:rPr lang="en-US" sz="1150" b="1" dirty="0">
                <a:solidFill>
                  <a:srgbClr val="7FA327"/>
                </a:solidFill>
                <a:latin typeface="Courier New" pitchFamily="34" charset="0"/>
                <a:ea typeface="Courier New" pitchFamily="34" charset="-122"/>
                <a:cs typeface="Courier New" pitchFamily="34" charset="-120"/>
              </a:rPr>
              <a:t>Gini = 1 − (0,8² + 0,2²) = 0,320</a:t>
            </a:r>
            <a:endParaRPr lang="en-US" sz="1150" dirty="0"/>
          </a:p>
        </p:txBody>
      </p:sp>
      <p:sp>
        <p:nvSpPr>
          <p:cNvPr id="14" name="Shape 12"/>
          <p:cNvSpPr/>
          <p:nvPr/>
        </p:nvSpPr>
        <p:spPr>
          <a:xfrm>
            <a:off x="7955280" y="1645920"/>
            <a:ext cx="3611880" cy="1005840"/>
          </a:xfrm>
          <a:prstGeom prst="roundRect">
            <a:avLst>
              <a:gd name="adj" fmla="val 8182"/>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15" name="Shape 13"/>
          <p:cNvSpPr/>
          <p:nvPr/>
        </p:nvSpPr>
        <p:spPr>
          <a:xfrm>
            <a:off x="8211312" y="1828800"/>
            <a:ext cx="411480" cy="45720"/>
          </a:xfrm>
          <a:prstGeom prst="rect">
            <a:avLst/>
          </a:prstGeom>
          <a:solidFill>
            <a:srgbClr val="8E4A6B"/>
          </a:solidFill>
          <a:ln w="12700">
            <a:solidFill>
              <a:srgbClr val="333333"/>
            </a:solidFill>
            <a:prstDash val="solid"/>
          </a:ln>
        </p:spPr>
      </p:sp>
      <p:sp>
        <p:nvSpPr>
          <p:cNvPr id="16" name="Text 14"/>
          <p:cNvSpPr txBox="1"/>
          <p:nvPr/>
        </p:nvSpPr>
        <p:spPr>
          <a:xfrm>
            <a:off x="8211312" y="1938528"/>
            <a:ext cx="3108960" cy="256032"/>
          </a:xfrm>
          <a:prstGeom prst="rect">
            <a:avLst/>
          </a:prstGeom>
          <a:noFill/>
          <a:ln/>
        </p:spPr>
        <p:txBody>
          <a:bodyPr wrap="square" lIns="0" tIns="0" rIns="0" bIns="0" rtlCol="0" anchor="t"/>
          <a:lstStyle/>
          <a:p>
            <a:pPr algn="l" indent="0" marL="0">
              <a:buNone/>
            </a:pPr>
            <a:r>
              <a:rPr lang="en-US" sz="1300" b="1" dirty="0">
                <a:solidFill>
                  <a:srgbClr val="1B3A2F"/>
                </a:solidFill>
                <a:latin typeface="Calibri" pitchFamily="34" charset="0"/>
                <a:ea typeface="Calibri" pitchFamily="34" charset="-122"/>
                <a:cs typeface="Calibri" pitchFamily="34" charset="-120"/>
              </a:rPr>
              <a:t>Jam sibuk = TIDAK</a:t>
            </a:r>
            <a:endParaRPr lang="en-US" sz="1300" dirty="0"/>
          </a:p>
        </p:txBody>
      </p:sp>
      <p:sp>
        <p:nvSpPr>
          <p:cNvPr id="17" name="Text 15"/>
          <p:cNvSpPr txBox="1"/>
          <p:nvPr/>
        </p:nvSpPr>
        <p:spPr>
          <a:xfrm>
            <a:off x="8211312" y="2194560"/>
            <a:ext cx="3108960" cy="228600"/>
          </a:xfrm>
          <a:prstGeom prst="rect">
            <a:avLst/>
          </a:prstGeom>
          <a:noFill/>
          <a:ln/>
        </p:spPr>
        <p:txBody>
          <a:bodyPr wrap="square" lIns="0" tIns="0" rIns="0" bIns="0" rtlCol="0" anchor="t"/>
          <a:lstStyle/>
          <a:p>
            <a:pPr algn="l" indent="0" marL="0">
              <a:buNone/>
            </a:pPr>
            <a:r>
              <a:rPr lang="en-US" sz="1150" dirty="0">
                <a:solidFill>
                  <a:srgbClr val="61756A"/>
                </a:solidFill>
                <a:latin typeface="Calibri" pitchFamily="34" charset="0"/>
                <a:ea typeface="Calibri" pitchFamily="34" charset="-122"/>
                <a:cs typeface="Calibri" pitchFamily="34" charset="-120"/>
              </a:rPr>
              <a:t>5 data · 1 terlambat, 4 tepat waktu</a:t>
            </a:r>
            <a:endParaRPr lang="en-US" sz="1150" dirty="0"/>
          </a:p>
        </p:txBody>
      </p:sp>
      <p:sp>
        <p:nvSpPr>
          <p:cNvPr id="18" name="Text 16"/>
          <p:cNvSpPr txBox="1"/>
          <p:nvPr/>
        </p:nvSpPr>
        <p:spPr>
          <a:xfrm>
            <a:off x="8211312" y="2395728"/>
            <a:ext cx="3108960" cy="228600"/>
          </a:xfrm>
          <a:prstGeom prst="rect">
            <a:avLst/>
          </a:prstGeom>
          <a:noFill/>
          <a:ln/>
        </p:spPr>
        <p:txBody>
          <a:bodyPr wrap="square" lIns="0" tIns="0" rIns="0" bIns="0" rtlCol="0" anchor="t"/>
          <a:lstStyle/>
          <a:p>
            <a:pPr algn="l" indent="0" marL="0">
              <a:buNone/>
            </a:pPr>
            <a:r>
              <a:rPr lang="en-US" sz="1150" b="1" dirty="0">
                <a:solidFill>
                  <a:srgbClr val="8E4A6B"/>
                </a:solidFill>
                <a:latin typeface="Courier New" pitchFamily="34" charset="0"/>
                <a:ea typeface="Courier New" pitchFamily="34" charset="-122"/>
                <a:cs typeface="Courier New" pitchFamily="34" charset="-120"/>
              </a:rPr>
              <a:t>Gini = 1 − (0,2² + 0,8²) = 0,320</a:t>
            </a:r>
            <a:endParaRPr lang="en-US" sz="1150" dirty="0"/>
          </a:p>
        </p:txBody>
      </p:sp>
      <p:sp>
        <p:nvSpPr>
          <p:cNvPr id="19" name="Shape 17"/>
          <p:cNvSpPr/>
          <p:nvPr/>
        </p:nvSpPr>
        <p:spPr>
          <a:xfrm>
            <a:off x="594360" y="2880360"/>
            <a:ext cx="11002975" cy="749808"/>
          </a:xfrm>
          <a:prstGeom prst="roundRect">
            <a:avLst>
              <a:gd name="adj" fmla="val 10976"/>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20" name="Shape 18"/>
          <p:cNvSpPr/>
          <p:nvPr/>
        </p:nvSpPr>
        <p:spPr>
          <a:xfrm>
            <a:off x="868680" y="3008376"/>
            <a:ext cx="493776" cy="493776"/>
          </a:xfrm>
          <a:prstGeom prst="ellipse">
            <a:avLst/>
          </a:prstGeom>
          <a:solidFill>
            <a:srgbClr val="7FA327"/>
          </a:solidFill>
          <a:ln w="12700">
            <a:solidFill>
              <a:srgbClr val="333333"/>
            </a:solidFill>
            <a:prstDash val="solid"/>
          </a:ln>
        </p:spPr>
      </p:sp>
      <p:sp>
        <p:nvSpPr>
          <p:cNvPr id="21" name="Text 19"/>
          <p:cNvSpPr txBox="1"/>
          <p:nvPr/>
        </p:nvSpPr>
        <p:spPr>
          <a:xfrm>
            <a:off x="868680" y="3008376"/>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22" name="Text 20"/>
          <p:cNvSpPr txBox="1"/>
          <p:nvPr/>
        </p:nvSpPr>
        <p:spPr>
          <a:xfrm>
            <a:off x="1554480" y="2935224"/>
            <a:ext cx="4754880" cy="640080"/>
          </a:xfrm>
          <a:prstGeom prst="rect">
            <a:avLst/>
          </a:prstGeom>
          <a:noFill/>
          <a:ln/>
        </p:spPr>
        <p:txBody>
          <a:bodyPr wrap="square" lIns="0" tIns="0" rIns="0" bIns="0" rtlCol="0" anchor="ctr"/>
          <a:lstStyle/>
          <a:p>
            <a:pPr algn="l" indent="0" marL="0">
              <a:buNone/>
            </a:pPr>
            <a:r>
              <a:rPr lang="en-US" sz="1400" b="1" dirty="0">
                <a:solidFill>
                  <a:srgbClr val="1B3A2F"/>
                </a:solidFill>
                <a:latin typeface="Calibri" pitchFamily="34" charset="0"/>
                <a:ea typeface="Calibri" pitchFamily="34" charset="-122"/>
                <a:cs typeface="Calibri" pitchFamily="34" charset="-120"/>
              </a:rPr>
              <a:t>Rata-rata tertimbang setelah pemisahan</a:t>
            </a:r>
            <a:endParaRPr lang="en-US" sz="1400" dirty="0"/>
          </a:p>
        </p:txBody>
      </p:sp>
      <p:sp>
        <p:nvSpPr>
          <p:cNvPr id="23" name="Text 21"/>
          <p:cNvSpPr txBox="1"/>
          <p:nvPr/>
        </p:nvSpPr>
        <p:spPr>
          <a:xfrm>
            <a:off x="6446520" y="2935224"/>
            <a:ext cx="5074920" cy="640080"/>
          </a:xfrm>
          <a:prstGeom prst="rect">
            <a:avLst/>
          </a:prstGeom>
          <a:noFill/>
          <a:ln/>
        </p:spPr>
        <p:txBody>
          <a:bodyPr wrap="square" lIns="0" tIns="0" rIns="0" bIns="0" rtlCol="0" anchor="ctr"/>
          <a:lstStyle/>
          <a:p>
            <a:pPr algn="l" indent="0" marL="0">
              <a:buNone/>
            </a:pPr>
            <a:r>
              <a:rPr lang="en-US" sz="1250" dirty="0">
                <a:solidFill>
                  <a:srgbClr val="17261F"/>
                </a:solidFill>
                <a:latin typeface="Courier New" pitchFamily="34" charset="0"/>
                <a:ea typeface="Courier New" pitchFamily="34" charset="-122"/>
                <a:cs typeface="Courier New" pitchFamily="34" charset="-120"/>
              </a:rPr>
              <a:t>(5/10) × 0,320  +  (5/10) × 0,320  =  0,320</a:t>
            </a:r>
            <a:endParaRPr lang="en-US" sz="1250" dirty="0"/>
          </a:p>
        </p:txBody>
      </p:sp>
      <p:sp>
        <p:nvSpPr>
          <p:cNvPr id="24" name="Shape 22"/>
          <p:cNvSpPr/>
          <p:nvPr/>
        </p:nvSpPr>
        <p:spPr>
          <a:xfrm>
            <a:off x="594360" y="3749040"/>
            <a:ext cx="11002975" cy="749808"/>
          </a:xfrm>
          <a:prstGeom prst="roundRect">
            <a:avLst>
              <a:gd name="adj" fmla="val 10976"/>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25" name="Shape 23"/>
          <p:cNvSpPr/>
          <p:nvPr/>
        </p:nvSpPr>
        <p:spPr>
          <a:xfrm>
            <a:off x="868680" y="3877056"/>
            <a:ext cx="493776" cy="493776"/>
          </a:xfrm>
          <a:prstGeom prst="ellipse">
            <a:avLst/>
          </a:prstGeom>
          <a:solidFill>
            <a:srgbClr val="7FA327"/>
          </a:solidFill>
          <a:ln w="12700">
            <a:solidFill>
              <a:srgbClr val="333333"/>
            </a:solidFill>
            <a:prstDash val="solid"/>
          </a:ln>
        </p:spPr>
      </p:sp>
      <p:sp>
        <p:nvSpPr>
          <p:cNvPr id="26" name="Text 24"/>
          <p:cNvSpPr txBox="1"/>
          <p:nvPr/>
        </p:nvSpPr>
        <p:spPr>
          <a:xfrm>
            <a:off x="868680" y="3877056"/>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27" name="Text 25"/>
          <p:cNvSpPr txBox="1"/>
          <p:nvPr/>
        </p:nvSpPr>
        <p:spPr>
          <a:xfrm>
            <a:off x="1554480" y="3803904"/>
            <a:ext cx="4754880" cy="640080"/>
          </a:xfrm>
          <a:prstGeom prst="rect">
            <a:avLst/>
          </a:prstGeom>
          <a:noFill/>
          <a:ln/>
        </p:spPr>
        <p:txBody>
          <a:bodyPr wrap="square" lIns="0" tIns="0" rIns="0" bIns="0" rtlCol="0" anchor="ctr"/>
          <a:lstStyle/>
          <a:p>
            <a:pPr algn="l" indent="0" marL="0">
              <a:buNone/>
            </a:pPr>
            <a:r>
              <a:rPr lang="en-US" sz="1400" b="1" dirty="0">
                <a:solidFill>
                  <a:srgbClr val="1B3A2F"/>
                </a:solidFill>
                <a:latin typeface="Calibri" pitchFamily="34" charset="0"/>
                <a:ea typeface="Calibri" pitchFamily="34" charset="-122"/>
                <a:cs typeface="Calibri" pitchFamily="34" charset="-120"/>
              </a:rPr>
              <a:t>Gain = ketidakmurnian sebelum − sesudah</a:t>
            </a:r>
            <a:endParaRPr lang="en-US" sz="1400" dirty="0"/>
          </a:p>
        </p:txBody>
      </p:sp>
      <p:sp>
        <p:nvSpPr>
          <p:cNvPr id="28" name="Text 26"/>
          <p:cNvSpPr txBox="1"/>
          <p:nvPr/>
        </p:nvSpPr>
        <p:spPr>
          <a:xfrm>
            <a:off x="6446520" y="3803904"/>
            <a:ext cx="5074920" cy="640080"/>
          </a:xfrm>
          <a:prstGeom prst="rect">
            <a:avLst/>
          </a:prstGeom>
          <a:noFill/>
          <a:ln/>
        </p:spPr>
        <p:txBody>
          <a:bodyPr wrap="square" lIns="0" tIns="0" rIns="0" bIns="0" rtlCol="0" anchor="ctr"/>
          <a:lstStyle/>
          <a:p>
            <a:pPr algn="l" indent="0" marL="0">
              <a:buNone/>
            </a:pPr>
            <a:r>
              <a:rPr lang="en-US" sz="1250" dirty="0">
                <a:solidFill>
                  <a:srgbClr val="7FA327"/>
                </a:solidFill>
                <a:latin typeface="Courier New" pitchFamily="34" charset="0"/>
                <a:ea typeface="Courier New" pitchFamily="34" charset="-122"/>
                <a:cs typeface="Courier New" pitchFamily="34" charset="-120"/>
              </a:rPr>
              <a:t>0,500  −  0,320  =  0,180</a:t>
            </a:r>
            <a:endParaRPr lang="en-US" sz="1250" dirty="0"/>
          </a:p>
        </p:txBody>
      </p:sp>
      <p:sp>
        <p:nvSpPr>
          <p:cNvPr id="29" name="Shape 27"/>
          <p:cNvSpPr/>
          <p:nvPr/>
        </p:nvSpPr>
        <p:spPr>
          <a:xfrm>
            <a:off x="594360" y="4617720"/>
            <a:ext cx="11002975" cy="749808"/>
          </a:xfrm>
          <a:prstGeom prst="roundRect">
            <a:avLst>
              <a:gd name="adj" fmla="val 10976"/>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30" name="Shape 28"/>
          <p:cNvSpPr/>
          <p:nvPr/>
        </p:nvSpPr>
        <p:spPr>
          <a:xfrm>
            <a:off x="868680" y="4745736"/>
            <a:ext cx="493776" cy="493776"/>
          </a:xfrm>
          <a:prstGeom prst="ellipse">
            <a:avLst/>
          </a:prstGeom>
          <a:solidFill>
            <a:srgbClr val="7FA327"/>
          </a:solidFill>
          <a:ln w="12700">
            <a:solidFill>
              <a:srgbClr val="333333"/>
            </a:solidFill>
            <a:prstDash val="solid"/>
          </a:ln>
        </p:spPr>
      </p:sp>
      <p:sp>
        <p:nvSpPr>
          <p:cNvPr id="31" name="Text 29"/>
          <p:cNvSpPr txBox="1"/>
          <p:nvPr/>
        </p:nvSpPr>
        <p:spPr>
          <a:xfrm>
            <a:off x="868680" y="4745736"/>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32" name="Text 30"/>
          <p:cNvSpPr txBox="1"/>
          <p:nvPr/>
        </p:nvSpPr>
        <p:spPr>
          <a:xfrm>
            <a:off x="1554480" y="4672584"/>
            <a:ext cx="4754880" cy="640080"/>
          </a:xfrm>
          <a:prstGeom prst="rect">
            <a:avLst/>
          </a:prstGeom>
          <a:noFill/>
          <a:ln/>
        </p:spPr>
        <p:txBody>
          <a:bodyPr wrap="square" lIns="0" tIns="0" rIns="0" bIns="0" rtlCol="0" anchor="ctr"/>
          <a:lstStyle/>
          <a:p>
            <a:pPr algn="l" indent="0" marL="0">
              <a:buNone/>
            </a:pPr>
            <a:r>
              <a:rPr lang="en-US" sz="1400" b="1" dirty="0">
                <a:solidFill>
                  <a:srgbClr val="1B3A2F"/>
                </a:solidFill>
                <a:latin typeface="Calibri" pitchFamily="34" charset="0"/>
                <a:ea typeface="Calibri" pitchFamily="34" charset="-122"/>
                <a:cs typeface="Calibri" pitchFamily="34" charset="-120"/>
              </a:rPr>
              <a:t>Bandingkan dengan kandidat fitur lain</a:t>
            </a:r>
            <a:endParaRPr lang="en-US" sz="1400" dirty="0"/>
          </a:p>
        </p:txBody>
      </p:sp>
      <p:sp>
        <p:nvSpPr>
          <p:cNvPr id="33" name="Text 31"/>
          <p:cNvSpPr txBox="1"/>
          <p:nvPr/>
        </p:nvSpPr>
        <p:spPr>
          <a:xfrm>
            <a:off x="6446520" y="4672584"/>
            <a:ext cx="5074920" cy="640080"/>
          </a:xfrm>
          <a:prstGeom prst="rect">
            <a:avLst/>
          </a:prstGeom>
          <a:noFill/>
          <a:ln/>
        </p:spPr>
        <p:txBody>
          <a:bodyPr wrap="square" lIns="0" tIns="0" rIns="0" bIns="0" rtlCol="0" anchor="ctr"/>
          <a:lstStyle/>
          <a:p>
            <a:pPr algn="l" indent="0" marL="0">
              <a:buNone/>
            </a:pPr>
            <a:r>
              <a:rPr lang="en-US" sz="1250" dirty="0">
                <a:solidFill>
                  <a:srgbClr val="17261F"/>
                </a:solidFill>
                <a:latin typeface="Courier New" pitchFamily="34" charset="0"/>
                <a:ea typeface="Courier New" pitchFamily="34" charset="-122"/>
                <a:cs typeface="Courier New" pitchFamily="34" charset="-120"/>
              </a:rPr>
              <a:t>Fitur dengan gain terbesar menjadi simpul pemisah</a:t>
            </a:r>
            <a:endParaRPr lang="en-US" sz="1250" dirty="0"/>
          </a:p>
        </p:txBody>
      </p:sp>
      <p:sp>
        <p:nvSpPr>
          <p:cNvPr id="34" name="Text 32"/>
          <p:cNvSpPr txBox="1"/>
          <p:nvPr/>
        </p:nvSpPr>
        <p:spPr>
          <a:xfrm>
            <a:off x="594360" y="5532120"/>
            <a:ext cx="11002975" cy="365760"/>
          </a:xfrm>
          <a:prstGeom prst="rect">
            <a:avLst/>
          </a:prstGeom>
          <a:noFill/>
          <a:ln/>
        </p:spPr>
        <p:txBody>
          <a:bodyPr wrap="square" lIns="0" tIns="0" rIns="0" bIns="0" rtlCol="0" anchor="t"/>
          <a:lstStyle/>
          <a:p>
            <a:pPr algn="ctr" indent="0" marL="0">
              <a:buNone/>
            </a:pPr>
            <a:r>
              <a:rPr lang="en-US" sz="1400" i="1" dirty="0">
                <a:solidFill>
                  <a:srgbClr val="61756A"/>
                </a:solidFill>
                <a:latin typeface="Calibri" pitchFamily="34" charset="0"/>
                <a:ea typeface="Calibri" pitchFamily="34" charset="-122"/>
                <a:cs typeface="Calibri" pitchFamily="34" charset="-120"/>
              </a:rPr>
              <a:t>Perhatikan: pohon tidak menghitung jarak, tidak mengalikan bobot, tidak memakai gradien. Ia hanya menghitung proporsi.</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5F1"/>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7FA327"/>
                </a:solidFill>
                <a:latin typeface="Calibri" pitchFamily="34" charset="0"/>
                <a:ea typeface="Calibri" pitchFamily="34" charset="-122"/>
                <a:cs typeface="Calibri" pitchFamily="34" charset="-120"/>
              </a:rPr>
              <a:t>LATIHAN TERBIMBING 1</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B3A2F"/>
                </a:solidFill>
                <a:latin typeface="Cambria" pitchFamily="34" charset="0"/>
                <a:ea typeface="Cambria" pitchFamily="34" charset="-122"/>
                <a:cs typeface="Cambria" pitchFamily="34" charset="-120"/>
              </a:rPr>
              <a:t>Tentukan simpul pemisah pertama</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1756A"/>
                </a:solidFill>
                <a:latin typeface="Calibri" pitchFamily="34" charset="0"/>
                <a:ea typeface="Calibri" pitchFamily="34" charset="-122"/>
                <a:cs typeface="Calibri" pitchFamily="34" charset="-120"/>
              </a:rPr>
              <a:t>9</a:t>
            </a:r>
            <a:endParaRPr lang="en-US" sz="1000" dirty="0"/>
          </a:p>
        </p:txBody>
      </p:sp>
      <p:sp>
        <p:nvSpPr>
          <p:cNvPr id="5" name="Shape 3"/>
          <p:cNvSpPr/>
          <p:nvPr/>
        </p:nvSpPr>
        <p:spPr>
          <a:xfrm>
            <a:off x="594360" y="1207008"/>
            <a:ext cx="11002975" cy="594360"/>
          </a:xfrm>
          <a:prstGeom prst="roundRect">
            <a:avLst>
              <a:gd name="adj" fmla="val 13846"/>
            </a:avLst>
          </a:prstGeom>
          <a:solidFill>
            <a:srgbClr val="EDF2E4"/>
          </a:solidFill>
          <a:ln w="12700">
            <a:solidFill>
              <a:srgbClr val="D5E2BC"/>
            </a:solidFill>
            <a:prstDash val="solid"/>
          </a:ln>
          <a:effectLst>
            <a:outerShdw sx="100000" sy="100000" kx="0" ky="0" algn="bl" rotWithShape="0" blurRad="101600" dist="508" dir="5400000">
              <a:srgbClr val="AFBCB0">
                <a:alpha val="30000"/>
              </a:srgbClr>
            </a:outerShdw>
          </a:effectLst>
        </p:spPr>
      </p:sp>
      <p:sp>
        <p:nvSpPr>
          <p:cNvPr id="6" name="Text 4"/>
          <p:cNvSpPr txBox="1"/>
          <p:nvPr/>
        </p:nvSpPr>
        <p:spPr>
          <a:xfrm>
            <a:off x="960120" y="1335024"/>
            <a:ext cx="10271455" cy="347472"/>
          </a:xfrm>
          <a:prstGeom prst="rect">
            <a:avLst/>
          </a:prstGeom>
          <a:noFill/>
          <a:ln/>
        </p:spPr>
        <p:txBody>
          <a:bodyPr wrap="square" lIns="0" tIns="0" rIns="0" bIns="0" rtlCol="0" anchor="t"/>
          <a:lstStyle/>
          <a:p>
            <a:pPr algn="l" indent="0" marL="0">
              <a:buNone/>
            </a:pPr>
            <a:r>
              <a:rPr lang="en-US" sz="1450" b="1" dirty="0">
                <a:solidFill>
                  <a:srgbClr val="4E6614"/>
                </a:solidFill>
                <a:latin typeface="Calibri" pitchFamily="34" charset="0"/>
                <a:ea typeface="Calibri" pitchFamily="34" charset="-122"/>
                <a:cs typeface="Calibri" pitchFamily="34" charset="-120"/>
              </a:rPr>
              <a:t>Kerjakan berpasangan · 15 menit · Cukup kertas dan kalkulator sederhana</a:t>
            </a:r>
            <a:endParaRPr lang="en-US" sz="1450" dirty="0"/>
          </a:p>
        </p:txBody>
      </p:sp>
      <p:sp>
        <p:nvSpPr>
          <p:cNvPr id="7" name="Text 5"/>
          <p:cNvSpPr txBox="1"/>
          <p:nvPr/>
        </p:nvSpPr>
        <p:spPr>
          <a:xfrm>
            <a:off x="594360" y="1920240"/>
            <a:ext cx="11002975" cy="457200"/>
          </a:xfrm>
          <a:prstGeom prst="rect">
            <a:avLst/>
          </a:prstGeom>
          <a:noFill/>
          <a:ln/>
        </p:spPr>
        <p:txBody>
          <a:bodyPr wrap="square" lIns="0" tIns="0" rIns="0" bIns="0" rtlCol="0" anchor="t"/>
          <a:lstStyle/>
          <a:p>
            <a:pPr algn="l" indent="0" marL="0">
              <a:lnSpc>
                <a:spcPct val="125000"/>
              </a:lnSpc>
              <a:buNone/>
            </a:pPr>
            <a:r>
              <a:rPr lang="en-US" sz="1400" dirty="0">
                <a:solidFill>
                  <a:srgbClr val="17261F"/>
                </a:solidFill>
                <a:latin typeface="Calibri" pitchFamily="34" charset="0"/>
                <a:ea typeface="Calibri" pitchFamily="34" charset="-122"/>
                <a:cs typeface="Calibri" pitchFamily="34" charset="-120"/>
              </a:rPr>
              <a:t>Data yang sama: 10 perjalanan, 5 terlambat dan 5 tepat waktu, Gini awal 0,500. Hitung gain untuk dua kandidat fitur berikut, lalu bandingkan dengan hasil "jam sibuk" (gain 0,180).</a:t>
            </a:r>
            <a:endParaRPr lang="en-US" sz="1400" dirty="0"/>
          </a:p>
        </p:txBody>
      </p:sp>
      <p:sp>
        <p:nvSpPr>
          <p:cNvPr id="8" name="Shape 6"/>
          <p:cNvSpPr/>
          <p:nvPr/>
        </p:nvSpPr>
        <p:spPr>
          <a:xfrm>
            <a:off x="594360" y="2514600"/>
            <a:ext cx="5303520" cy="1965960"/>
          </a:xfrm>
          <a:prstGeom prst="roundRect">
            <a:avLst>
              <a:gd name="adj" fmla="val 4186"/>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9" name="Shape 7"/>
          <p:cNvSpPr/>
          <p:nvPr/>
        </p:nvSpPr>
        <p:spPr>
          <a:xfrm>
            <a:off x="594360" y="2514600"/>
            <a:ext cx="5303520" cy="548640"/>
          </a:xfrm>
          <a:prstGeom prst="roundRect">
            <a:avLst>
              <a:gd name="adj" fmla="val 15000"/>
            </a:avLst>
          </a:prstGeom>
          <a:solidFill>
            <a:srgbClr val="8E4A6B"/>
          </a:solidFill>
          <a:ln w="12700">
            <a:solidFill>
              <a:srgbClr val="333333"/>
            </a:solidFill>
            <a:prstDash val="solid"/>
          </a:ln>
        </p:spPr>
      </p:sp>
      <p:sp>
        <p:nvSpPr>
          <p:cNvPr id="10" name="Text 8"/>
          <p:cNvSpPr txBox="1"/>
          <p:nvPr/>
        </p:nvSpPr>
        <p:spPr>
          <a:xfrm>
            <a:off x="594360" y="2514600"/>
            <a:ext cx="530352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Kandidat A — Hujan</a:t>
            </a:r>
            <a:endParaRPr lang="en-US" sz="1700" dirty="0"/>
          </a:p>
        </p:txBody>
      </p:sp>
      <p:sp>
        <p:nvSpPr>
          <p:cNvPr id="11" name="Text 9"/>
          <p:cNvSpPr txBox="1"/>
          <p:nvPr/>
        </p:nvSpPr>
        <p:spPr>
          <a:xfrm>
            <a:off x="960120" y="3200400"/>
            <a:ext cx="2103120" cy="274320"/>
          </a:xfrm>
          <a:prstGeom prst="rect">
            <a:avLst/>
          </a:prstGeom>
          <a:noFill/>
          <a:ln/>
        </p:spPr>
        <p:txBody>
          <a:bodyPr wrap="square" lIns="0" tIns="0" rIns="0" bIns="0" rtlCol="0" anchor="t"/>
          <a:lstStyle/>
          <a:p>
            <a:pPr algn="l" indent="0" marL="0">
              <a:buNone/>
            </a:pPr>
            <a:r>
              <a:rPr lang="en-US" sz="1300" b="1" dirty="0">
                <a:solidFill>
                  <a:srgbClr val="1B3A2F"/>
                </a:solidFill>
                <a:latin typeface="Calibri" pitchFamily="34" charset="0"/>
                <a:ea typeface="Calibri" pitchFamily="34" charset="-122"/>
                <a:cs typeface="Calibri" pitchFamily="34" charset="-120"/>
              </a:rPr>
              <a:t>Hujan = YA</a:t>
            </a:r>
            <a:endParaRPr lang="en-US" sz="1300" dirty="0"/>
          </a:p>
        </p:txBody>
      </p:sp>
      <p:sp>
        <p:nvSpPr>
          <p:cNvPr id="12" name="Text 10"/>
          <p:cNvSpPr txBox="1"/>
          <p:nvPr/>
        </p:nvSpPr>
        <p:spPr>
          <a:xfrm>
            <a:off x="960120" y="3438144"/>
            <a:ext cx="4572000" cy="274320"/>
          </a:xfrm>
          <a:prstGeom prst="rect">
            <a:avLst/>
          </a:prstGeom>
          <a:noFill/>
          <a:ln/>
        </p:spPr>
        <p:txBody>
          <a:bodyPr wrap="square" lIns="0" tIns="0" rIns="0" bIns="0" rtlCol="0" anchor="t"/>
          <a:lstStyle/>
          <a:p>
            <a:pPr algn="l" indent="0" marL="0">
              <a:buNone/>
            </a:pPr>
            <a:r>
              <a:rPr lang="en-US" sz="1200" dirty="0">
                <a:solidFill>
                  <a:srgbClr val="61756A"/>
                </a:solidFill>
                <a:latin typeface="Calibri" pitchFamily="34" charset="0"/>
                <a:ea typeface="Calibri" pitchFamily="34" charset="-122"/>
                <a:cs typeface="Calibri" pitchFamily="34" charset="-120"/>
              </a:rPr>
              <a:t>4 data · 3 terlambat, 1 tepat waktu</a:t>
            </a:r>
            <a:endParaRPr lang="en-US" sz="1200" dirty="0"/>
          </a:p>
        </p:txBody>
      </p:sp>
      <p:sp>
        <p:nvSpPr>
          <p:cNvPr id="13" name="Text 11"/>
          <p:cNvSpPr txBox="1"/>
          <p:nvPr/>
        </p:nvSpPr>
        <p:spPr>
          <a:xfrm>
            <a:off x="960120" y="3794760"/>
            <a:ext cx="2103120" cy="274320"/>
          </a:xfrm>
          <a:prstGeom prst="rect">
            <a:avLst/>
          </a:prstGeom>
          <a:noFill/>
          <a:ln/>
        </p:spPr>
        <p:txBody>
          <a:bodyPr wrap="square" lIns="0" tIns="0" rIns="0" bIns="0" rtlCol="0" anchor="t"/>
          <a:lstStyle/>
          <a:p>
            <a:pPr algn="l" indent="0" marL="0">
              <a:buNone/>
            </a:pPr>
            <a:r>
              <a:rPr lang="en-US" sz="1300" b="1" dirty="0">
                <a:solidFill>
                  <a:srgbClr val="1B3A2F"/>
                </a:solidFill>
                <a:latin typeface="Calibri" pitchFamily="34" charset="0"/>
                <a:ea typeface="Calibri" pitchFamily="34" charset="-122"/>
                <a:cs typeface="Calibri" pitchFamily="34" charset="-120"/>
              </a:rPr>
              <a:t>Hujan = TIDAK</a:t>
            </a:r>
            <a:endParaRPr lang="en-US" sz="1300" dirty="0"/>
          </a:p>
        </p:txBody>
      </p:sp>
      <p:sp>
        <p:nvSpPr>
          <p:cNvPr id="14" name="Text 12"/>
          <p:cNvSpPr txBox="1"/>
          <p:nvPr/>
        </p:nvSpPr>
        <p:spPr>
          <a:xfrm>
            <a:off x="960120" y="4032504"/>
            <a:ext cx="4572000" cy="274320"/>
          </a:xfrm>
          <a:prstGeom prst="rect">
            <a:avLst/>
          </a:prstGeom>
          <a:noFill/>
          <a:ln/>
        </p:spPr>
        <p:txBody>
          <a:bodyPr wrap="square" lIns="0" tIns="0" rIns="0" bIns="0" rtlCol="0" anchor="t"/>
          <a:lstStyle/>
          <a:p>
            <a:pPr algn="l" indent="0" marL="0">
              <a:buNone/>
            </a:pPr>
            <a:r>
              <a:rPr lang="en-US" sz="1200" dirty="0">
                <a:solidFill>
                  <a:srgbClr val="61756A"/>
                </a:solidFill>
                <a:latin typeface="Calibri" pitchFamily="34" charset="0"/>
                <a:ea typeface="Calibri" pitchFamily="34" charset="-122"/>
                <a:cs typeface="Calibri" pitchFamily="34" charset="-120"/>
              </a:rPr>
              <a:t>6 data · 2 terlambat, 4 tepat waktu</a:t>
            </a:r>
            <a:endParaRPr lang="en-US" sz="1200" dirty="0"/>
          </a:p>
        </p:txBody>
      </p:sp>
      <p:sp>
        <p:nvSpPr>
          <p:cNvPr id="15" name="Shape 13"/>
          <p:cNvSpPr/>
          <p:nvPr/>
        </p:nvSpPr>
        <p:spPr>
          <a:xfrm>
            <a:off x="6263640" y="2514600"/>
            <a:ext cx="5303520" cy="1965960"/>
          </a:xfrm>
          <a:prstGeom prst="roundRect">
            <a:avLst>
              <a:gd name="adj" fmla="val 4186"/>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16" name="Shape 14"/>
          <p:cNvSpPr/>
          <p:nvPr/>
        </p:nvSpPr>
        <p:spPr>
          <a:xfrm>
            <a:off x="6263640" y="2514600"/>
            <a:ext cx="5303520" cy="548640"/>
          </a:xfrm>
          <a:prstGeom prst="roundRect">
            <a:avLst>
              <a:gd name="adj" fmla="val 15000"/>
            </a:avLst>
          </a:prstGeom>
          <a:solidFill>
            <a:srgbClr val="A87C4F"/>
          </a:solidFill>
          <a:ln w="12700">
            <a:solidFill>
              <a:srgbClr val="333333"/>
            </a:solidFill>
            <a:prstDash val="solid"/>
          </a:ln>
        </p:spPr>
      </p:sp>
      <p:sp>
        <p:nvSpPr>
          <p:cNvPr id="17" name="Text 15"/>
          <p:cNvSpPr txBox="1"/>
          <p:nvPr/>
        </p:nvSpPr>
        <p:spPr>
          <a:xfrm>
            <a:off x="6263640" y="2514600"/>
            <a:ext cx="530352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Kandidat B — Jarak &gt; 10 km</a:t>
            </a:r>
            <a:endParaRPr lang="en-US" sz="1700" dirty="0"/>
          </a:p>
        </p:txBody>
      </p:sp>
      <p:sp>
        <p:nvSpPr>
          <p:cNvPr id="18" name="Text 16"/>
          <p:cNvSpPr txBox="1"/>
          <p:nvPr/>
        </p:nvSpPr>
        <p:spPr>
          <a:xfrm>
            <a:off x="6629400" y="3200400"/>
            <a:ext cx="2103120" cy="274320"/>
          </a:xfrm>
          <a:prstGeom prst="rect">
            <a:avLst/>
          </a:prstGeom>
          <a:noFill/>
          <a:ln/>
        </p:spPr>
        <p:txBody>
          <a:bodyPr wrap="square" lIns="0" tIns="0" rIns="0" bIns="0" rtlCol="0" anchor="t"/>
          <a:lstStyle/>
          <a:p>
            <a:pPr algn="l" indent="0" marL="0">
              <a:buNone/>
            </a:pPr>
            <a:r>
              <a:rPr lang="en-US" sz="1300" b="1" dirty="0">
                <a:solidFill>
                  <a:srgbClr val="1B3A2F"/>
                </a:solidFill>
                <a:latin typeface="Calibri" pitchFamily="34" charset="0"/>
                <a:ea typeface="Calibri" pitchFamily="34" charset="-122"/>
                <a:cs typeface="Calibri" pitchFamily="34" charset="-120"/>
              </a:rPr>
              <a:t>Jarak &gt; 10 km = YA</a:t>
            </a:r>
            <a:endParaRPr lang="en-US" sz="1300" dirty="0"/>
          </a:p>
        </p:txBody>
      </p:sp>
      <p:sp>
        <p:nvSpPr>
          <p:cNvPr id="19" name="Text 17"/>
          <p:cNvSpPr txBox="1"/>
          <p:nvPr/>
        </p:nvSpPr>
        <p:spPr>
          <a:xfrm>
            <a:off x="6629400" y="3438144"/>
            <a:ext cx="4572000" cy="274320"/>
          </a:xfrm>
          <a:prstGeom prst="rect">
            <a:avLst/>
          </a:prstGeom>
          <a:noFill/>
          <a:ln/>
        </p:spPr>
        <p:txBody>
          <a:bodyPr wrap="square" lIns="0" tIns="0" rIns="0" bIns="0" rtlCol="0" anchor="t"/>
          <a:lstStyle/>
          <a:p>
            <a:pPr algn="l" indent="0" marL="0">
              <a:buNone/>
            </a:pPr>
            <a:r>
              <a:rPr lang="en-US" sz="1200" dirty="0">
                <a:solidFill>
                  <a:srgbClr val="61756A"/>
                </a:solidFill>
                <a:latin typeface="Calibri" pitchFamily="34" charset="0"/>
                <a:ea typeface="Calibri" pitchFamily="34" charset="-122"/>
                <a:cs typeface="Calibri" pitchFamily="34" charset="-120"/>
              </a:rPr>
              <a:t>5 data · 3 terlambat, 2 tepat waktu</a:t>
            </a:r>
            <a:endParaRPr lang="en-US" sz="1200" dirty="0"/>
          </a:p>
        </p:txBody>
      </p:sp>
      <p:sp>
        <p:nvSpPr>
          <p:cNvPr id="20" name="Text 18"/>
          <p:cNvSpPr txBox="1"/>
          <p:nvPr/>
        </p:nvSpPr>
        <p:spPr>
          <a:xfrm>
            <a:off x="6629400" y="3794760"/>
            <a:ext cx="2103120" cy="274320"/>
          </a:xfrm>
          <a:prstGeom prst="rect">
            <a:avLst/>
          </a:prstGeom>
          <a:noFill/>
          <a:ln/>
        </p:spPr>
        <p:txBody>
          <a:bodyPr wrap="square" lIns="0" tIns="0" rIns="0" bIns="0" rtlCol="0" anchor="t"/>
          <a:lstStyle/>
          <a:p>
            <a:pPr algn="l" indent="0" marL="0">
              <a:buNone/>
            </a:pPr>
            <a:r>
              <a:rPr lang="en-US" sz="1300" b="1" dirty="0">
                <a:solidFill>
                  <a:srgbClr val="1B3A2F"/>
                </a:solidFill>
                <a:latin typeface="Calibri" pitchFamily="34" charset="0"/>
                <a:ea typeface="Calibri" pitchFamily="34" charset="-122"/>
                <a:cs typeface="Calibri" pitchFamily="34" charset="-120"/>
              </a:rPr>
              <a:t>Jarak &gt; 10 km = TIDAK</a:t>
            </a:r>
            <a:endParaRPr lang="en-US" sz="1300" dirty="0"/>
          </a:p>
        </p:txBody>
      </p:sp>
      <p:sp>
        <p:nvSpPr>
          <p:cNvPr id="21" name="Text 19"/>
          <p:cNvSpPr txBox="1"/>
          <p:nvPr/>
        </p:nvSpPr>
        <p:spPr>
          <a:xfrm>
            <a:off x="6629400" y="4032504"/>
            <a:ext cx="4572000" cy="274320"/>
          </a:xfrm>
          <a:prstGeom prst="rect">
            <a:avLst/>
          </a:prstGeom>
          <a:noFill/>
          <a:ln/>
        </p:spPr>
        <p:txBody>
          <a:bodyPr wrap="square" lIns="0" tIns="0" rIns="0" bIns="0" rtlCol="0" anchor="t"/>
          <a:lstStyle/>
          <a:p>
            <a:pPr algn="l" indent="0" marL="0">
              <a:buNone/>
            </a:pPr>
            <a:r>
              <a:rPr lang="en-US" sz="1200" dirty="0">
                <a:solidFill>
                  <a:srgbClr val="61756A"/>
                </a:solidFill>
                <a:latin typeface="Calibri" pitchFamily="34" charset="0"/>
                <a:ea typeface="Calibri" pitchFamily="34" charset="-122"/>
                <a:cs typeface="Calibri" pitchFamily="34" charset="-120"/>
              </a:rPr>
              <a:t>5 data · 2 terlambat, 3 tepat waktu</a:t>
            </a:r>
            <a:endParaRPr lang="en-US" sz="1200" dirty="0"/>
          </a:p>
        </p:txBody>
      </p:sp>
      <p:sp>
        <p:nvSpPr>
          <p:cNvPr id="22" name="Shape 20"/>
          <p:cNvSpPr/>
          <p:nvPr/>
        </p:nvSpPr>
        <p:spPr>
          <a:xfrm>
            <a:off x="594360" y="4709160"/>
            <a:ext cx="11002975" cy="1234440"/>
          </a:xfrm>
          <a:prstGeom prst="roundRect">
            <a:avLst>
              <a:gd name="adj" fmla="val 6667"/>
            </a:avLst>
          </a:prstGeom>
          <a:solidFill>
            <a:srgbClr val="1B3A2F"/>
          </a:solidFill>
          <a:ln w="12700">
            <a:solidFill>
              <a:srgbClr val="1B3A2F"/>
            </a:solidFill>
            <a:prstDash val="solid"/>
          </a:ln>
          <a:effectLst>
            <a:outerShdw sx="100000" sy="100000" kx="0" ky="0" algn="bl" rotWithShape="0" blurRad="101600" dist="508" dir="5400000">
              <a:srgbClr val="AFBCB0">
                <a:alpha val="30000"/>
              </a:srgbClr>
            </a:outerShdw>
          </a:effectLst>
        </p:spPr>
      </p:sp>
      <p:sp>
        <p:nvSpPr>
          <p:cNvPr id="23" name="Text 21"/>
          <p:cNvSpPr txBox="1"/>
          <p:nvPr/>
        </p:nvSpPr>
        <p:spPr>
          <a:xfrm>
            <a:off x="1005840" y="4873752"/>
            <a:ext cx="10180015" cy="274320"/>
          </a:xfrm>
          <a:prstGeom prst="rect">
            <a:avLst/>
          </a:prstGeom>
          <a:noFill/>
          <a:ln/>
        </p:spPr>
        <p:txBody>
          <a:bodyPr wrap="square" lIns="0" tIns="0" rIns="0" bIns="0" rtlCol="0" anchor="t"/>
          <a:lstStyle/>
          <a:p>
            <a:pPr algn="l" indent="0" marL="0">
              <a:buNone/>
            </a:pPr>
            <a:r>
              <a:rPr lang="en-US" sz="1700" b="1" dirty="0">
                <a:solidFill>
                  <a:srgbClr val="B5D45A"/>
                </a:solidFill>
                <a:latin typeface="Cambria" pitchFamily="34" charset="0"/>
                <a:ea typeface="Cambria" pitchFamily="34" charset="-122"/>
                <a:cs typeface="Cambria" pitchFamily="34" charset="-120"/>
              </a:rPr>
              <a:t>Setelah selesai, jawab tiga hal</a:t>
            </a:r>
            <a:endParaRPr lang="en-US" sz="1700" dirty="0"/>
          </a:p>
        </p:txBody>
      </p:sp>
      <p:sp>
        <p:nvSpPr>
          <p:cNvPr id="24" name="Text 22"/>
          <p:cNvSpPr txBox="1"/>
          <p:nvPr/>
        </p:nvSpPr>
        <p:spPr>
          <a:xfrm>
            <a:off x="1005840" y="5230368"/>
            <a:ext cx="10180015" cy="6858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FFFFFF"/>
                </a:solidFill>
                <a:latin typeface="Calibri" pitchFamily="34" charset="0"/>
                <a:ea typeface="Calibri" pitchFamily="34" charset="-122"/>
                <a:cs typeface="Calibri" pitchFamily="34" charset="-120"/>
              </a:rPr>
              <a:t>Fitur mana yang menjadi simpul akar? Tunjukkan angkanya.</a:t>
            </a:r>
            <a:endParaRPr lang="en-US" sz="1300" dirty="0"/>
          </a:p>
          <a:p>
            <a:pPr marL="342900" indent="-342900">
              <a:spcAft>
                <a:spcPts val="300"/>
              </a:spcAft>
              <a:buSzPct val="100000"/>
              <a:buChar char="•"/>
            </a:pPr>
            <a:r>
              <a:rPr lang="en-US" sz="1300" dirty="0">
                <a:solidFill>
                  <a:srgbClr val="FFFFFF"/>
                </a:solidFill>
                <a:latin typeface="Calibri" pitchFamily="34" charset="0"/>
                <a:ea typeface="Calibri" pitchFamily="34" charset="-122"/>
                <a:cs typeface="Calibri" pitchFamily="34" charset="-120"/>
              </a:rPr>
              <a:t>Kandidat B menghasilkan gain sangat kecil. Apa artinya secara praktis tentang fitur jarak?</a:t>
            </a:r>
            <a:endParaRPr lang="en-US" sz="1300" dirty="0"/>
          </a:p>
          <a:p>
            <a:pPr marL="342900" indent="-342900">
              <a:spcAft>
                <a:spcPts val="300"/>
              </a:spcAft>
              <a:buSzPct val="100000"/>
              <a:buChar char="•"/>
            </a:pPr>
            <a:r>
              <a:rPr lang="en-US" sz="1300" dirty="0">
                <a:solidFill>
                  <a:srgbClr val="FFFFFF"/>
                </a:solidFill>
                <a:latin typeface="Calibri" pitchFamily="34" charset="0"/>
                <a:ea typeface="Calibri" pitchFamily="34" charset="-122"/>
                <a:cs typeface="Calibri" pitchFamily="34" charset="-120"/>
              </a:rPr>
              <a:t>Bila dua fitur menghasilkan gain persis sama, apa yang sebaiknya dijadikan pertimbangan berikutnya?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3A2F"/>
        </a:solidFill>
      </p:bgPr>
    </p:bg>
    <p:spTree>
      <p:nvGrpSpPr>
        <p:cNvPr id="1" name=""/>
        <p:cNvGrpSpPr/>
        <p:nvPr/>
      </p:nvGrpSpPr>
      <p:grpSpPr>
        <a:xfrm>
          <a:off x="0" y="0"/>
          <a:ext cx="0" cy="0"/>
          <a:chOff x="0" y="0"/>
          <a:chExt cx="0" cy="0"/>
        </a:xfrm>
      </p:grpSpPr>
      <p:sp>
        <p:nvSpPr>
          <p:cNvPr id="2" name="Shape 0"/>
          <p:cNvSpPr/>
          <p:nvPr/>
        </p:nvSpPr>
        <p:spPr>
          <a:xfrm>
            <a:off x="9418320" y="-1371600"/>
            <a:ext cx="4754880" cy="4754880"/>
          </a:xfrm>
          <a:prstGeom prst="ellipse">
            <a:avLst/>
          </a:prstGeom>
          <a:solidFill>
            <a:srgbClr val="7FA327"/>
          </a:solidFill>
          <a:ln w="12700">
            <a:solidFill>
              <a:srgbClr val="333333"/>
            </a:solidFill>
            <a:prstDash val="solid"/>
          </a:ln>
        </p:spPr>
      </p:sp>
      <p:sp>
        <p:nvSpPr>
          <p:cNvPr id="3" name="Shape 1"/>
          <p:cNvSpPr/>
          <p:nvPr/>
        </p:nvSpPr>
        <p:spPr>
          <a:xfrm>
            <a:off x="10607040" y="4023360"/>
            <a:ext cx="3108960" cy="3108960"/>
          </a:xfrm>
          <a:prstGeom prst="ellipse">
            <a:avLst/>
          </a:prstGeom>
          <a:solidFill>
            <a:srgbClr val="8E4A6B"/>
          </a:solidFill>
          <a:ln w="12700">
            <a:solidFill>
              <a:srgbClr val="333333"/>
            </a:solidFill>
            <a:prstDash val="solid"/>
          </a:ln>
        </p:spPr>
      </p:sp>
      <p:sp>
        <p:nvSpPr>
          <p:cNvPr id="4" name="Text 2"/>
          <p:cNvSpPr txBox="1"/>
          <p:nvPr/>
        </p:nvSpPr>
        <p:spPr>
          <a:xfrm>
            <a:off x="594360" y="2286000"/>
            <a:ext cx="7315200" cy="365760"/>
          </a:xfrm>
          <a:prstGeom prst="rect">
            <a:avLst/>
          </a:prstGeom>
          <a:noFill/>
          <a:ln/>
        </p:spPr>
        <p:txBody>
          <a:bodyPr wrap="square" lIns="0" tIns="0" rIns="0" bIns="0" rtlCol="0" anchor="t"/>
          <a:lstStyle/>
          <a:p>
            <a:pPr algn="l" indent="0" marL="0">
              <a:buNone/>
            </a:pPr>
            <a:r>
              <a:rPr lang="en-US" sz="1300" b="1" dirty="0">
                <a:solidFill>
                  <a:srgbClr val="B5D45A"/>
                </a:solidFill>
                <a:latin typeface="Calibri" pitchFamily="34" charset="0"/>
                <a:ea typeface="Calibri" pitchFamily="34" charset="-122"/>
                <a:cs typeface="Calibri" pitchFamily="34" charset="-120"/>
              </a:rPr>
              <a:t>BAGIAN 2</a:t>
            </a:r>
            <a:endParaRPr lang="en-US" sz="1300" dirty="0"/>
          </a:p>
        </p:txBody>
      </p:sp>
      <p:sp>
        <p:nvSpPr>
          <p:cNvPr id="5" name="Text 3"/>
          <p:cNvSpPr txBox="1"/>
          <p:nvPr/>
        </p:nvSpPr>
        <p:spPr>
          <a:xfrm>
            <a:off x="594360" y="2697480"/>
            <a:ext cx="7863840" cy="137160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Kedalaman dan</a:t>
            </a:r>
            <a:endParaRPr lang="en-US" sz="3800" dirty="0"/>
          </a:p>
          <a:p>
            <a:pPr algn="l" indent="0" marL="0">
              <a:buNone/>
            </a:pPr>
            <a:r>
              <a:rPr lang="en-US" sz="3800" b="1" dirty="0">
                <a:solidFill>
                  <a:srgbClr val="FFFFFF"/>
                </a:solidFill>
                <a:latin typeface="Cambria" pitchFamily="34" charset="0"/>
                <a:ea typeface="Cambria" pitchFamily="34" charset="-122"/>
                <a:cs typeface="Cambria" pitchFamily="34" charset="-120"/>
              </a:rPr>
              <a:t>Pemangkasan</a:t>
            </a:r>
            <a:endParaRPr lang="en-US" sz="3800" dirty="0"/>
          </a:p>
        </p:txBody>
      </p:sp>
      <p:sp>
        <p:nvSpPr>
          <p:cNvPr id="6" name="Text 4"/>
          <p:cNvSpPr txBox="1"/>
          <p:nvPr/>
        </p:nvSpPr>
        <p:spPr>
          <a:xfrm>
            <a:off x="594360" y="4160520"/>
            <a:ext cx="7680960" cy="640080"/>
          </a:xfrm>
          <a:prstGeom prst="rect">
            <a:avLst/>
          </a:prstGeom>
          <a:noFill/>
          <a:ln/>
        </p:spPr>
        <p:txBody>
          <a:bodyPr wrap="square" lIns="0" tIns="0" rIns="0" bIns="0" rtlCol="0" anchor="t"/>
          <a:lstStyle/>
          <a:p>
            <a:pPr algn="l" indent="0" marL="0">
              <a:buNone/>
            </a:pPr>
            <a:r>
              <a:rPr lang="en-US" sz="1500" dirty="0">
                <a:solidFill>
                  <a:srgbClr val="BCCCC0"/>
                </a:solidFill>
                <a:latin typeface="Calibri" pitchFamily="34" charset="0"/>
                <a:ea typeface="Calibri" pitchFamily="34" charset="-122"/>
                <a:cs typeface="Calibri" pitchFamily="34" charset="-120"/>
              </a:rPr>
              <a:t>Pohon yang dibiarkan tumbuh akan menghafal</a:t>
            </a:r>
            <a:endParaRPr lang="en-US" sz="1500" dirty="0"/>
          </a:p>
        </p:txBody>
      </p:sp>
      <p:sp>
        <p:nvSpPr>
          <p:cNvPr id="7" name="Text 5"/>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86A09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5F1"/>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7FA327"/>
                </a:solidFill>
                <a:latin typeface="Calibri" pitchFamily="34" charset="0"/>
                <a:ea typeface="Calibri" pitchFamily="34" charset="-122"/>
                <a:cs typeface="Calibri" pitchFamily="34" charset="-120"/>
              </a:rPr>
              <a:t>BAHAYA</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B3A2F"/>
                </a:solidFill>
                <a:latin typeface="Cambria" pitchFamily="34" charset="0"/>
                <a:ea typeface="Cambria" pitchFamily="34" charset="-122"/>
                <a:cs typeface="Cambria" pitchFamily="34" charset="-120"/>
              </a:rPr>
              <a:t>Pohon yang tumbuh tanpa henti</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1756A"/>
                </a:solidFill>
                <a:latin typeface="Calibri" pitchFamily="34" charset="0"/>
                <a:ea typeface="Calibri" pitchFamily="34" charset="-122"/>
                <a:cs typeface="Calibri" pitchFamily="34" charset="-120"/>
              </a:rPr>
              <a:t>11</a:t>
            </a:r>
            <a:endParaRPr lang="en-US" sz="1000" dirty="0"/>
          </a:p>
        </p:txBody>
      </p:sp>
      <p:graphicFrame>
        <p:nvGraphicFramePr>
          <p:cNvPr id="5" name="Chart 0" descr=""/>
          <p:cNvGraphicFramePr/>
          <p:nvPr/>
        </p:nvGraphicFramePr>
        <p:xfrm>
          <a:off x="594360" y="1280160"/>
          <a:ext cx="6766560" cy="38404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635240" y="1280160"/>
            <a:ext cx="3931920" cy="868680"/>
          </a:xfrm>
          <a:prstGeom prst="roundRect">
            <a:avLst>
              <a:gd name="adj" fmla="val 9474"/>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7" name="Text 4"/>
          <p:cNvSpPr txBox="1"/>
          <p:nvPr/>
        </p:nvSpPr>
        <p:spPr>
          <a:xfrm>
            <a:off x="7882128" y="1371600"/>
            <a:ext cx="3474720" cy="237744"/>
          </a:xfrm>
          <a:prstGeom prst="rect">
            <a:avLst/>
          </a:prstGeom>
          <a:noFill/>
          <a:ln/>
        </p:spPr>
        <p:txBody>
          <a:bodyPr wrap="square" lIns="0" tIns="0" rIns="0" bIns="0" rtlCol="0" anchor="t"/>
          <a:lstStyle/>
          <a:p>
            <a:pPr algn="l" indent="0" marL="0">
              <a:buNone/>
            </a:pPr>
            <a:r>
              <a:rPr lang="en-US" sz="1300" b="1" dirty="0">
                <a:solidFill>
                  <a:srgbClr val="1B3A2F"/>
                </a:solidFill>
                <a:latin typeface="Calibri" pitchFamily="34" charset="0"/>
                <a:ea typeface="Calibri" pitchFamily="34" charset="-122"/>
                <a:cs typeface="Calibri" pitchFamily="34" charset="-120"/>
              </a:rPr>
              <a:t>Galat latih menuju nol</a:t>
            </a:r>
            <a:endParaRPr lang="en-US" sz="1300" dirty="0"/>
          </a:p>
        </p:txBody>
      </p:sp>
      <p:sp>
        <p:nvSpPr>
          <p:cNvPr id="8" name="Text 5"/>
          <p:cNvSpPr txBox="1"/>
          <p:nvPr/>
        </p:nvSpPr>
        <p:spPr>
          <a:xfrm>
            <a:off x="7882128" y="1609344"/>
            <a:ext cx="3474720" cy="475488"/>
          </a:xfrm>
          <a:prstGeom prst="rect">
            <a:avLst/>
          </a:prstGeom>
          <a:noFill/>
          <a:ln/>
        </p:spPr>
        <p:txBody>
          <a:bodyPr wrap="square" lIns="0" tIns="0" rIns="0" bIns="0" rtlCol="0" anchor="t"/>
          <a:lstStyle/>
          <a:p>
            <a:pPr algn="l" indent="0" marL="0">
              <a:lnSpc>
                <a:spcPct val="115000"/>
              </a:lnSpc>
              <a:buNone/>
            </a:pPr>
            <a:r>
              <a:rPr lang="en-US" sz="1100" dirty="0">
                <a:solidFill>
                  <a:srgbClr val="17261F"/>
                </a:solidFill>
                <a:latin typeface="Calibri" pitchFamily="34" charset="0"/>
                <a:ea typeface="Calibri" pitchFamily="34" charset="-122"/>
                <a:cs typeface="Calibri" pitchFamily="34" charset="-120"/>
              </a:rPr>
              <a:t>Pohon yang cukup dalam dapat memisahkan setiap baris data ke daunnya sendiri.</a:t>
            </a:r>
            <a:endParaRPr lang="en-US" sz="1100" dirty="0"/>
          </a:p>
        </p:txBody>
      </p:sp>
      <p:sp>
        <p:nvSpPr>
          <p:cNvPr id="9" name="Shape 6"/>
          <p:cNvSpPr/>
          <p:nvPr/>
        </p:nvSpPr>
        <p:spPr>
          <a:xfrm>
            <a:off x="7635240" y="2276856"/>
            <a:ext cx="3931920" cy="868680"/>
          </a:xfrm>
          <a:prstGeom prst="roundRect">
            <a:avLst>
              <a:gd name="adj" fmla="val 9474"/>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10" name="Text 7"/>
          <p:cNvSpPr txBox="1"/>
          <p:nvPr/>
        </p:nvSpPr>
        <p:spPr>
          <a:xfrm>
            <a:off x="7882128" y="2368296"/>
            <a:ext cx="3474720" cy="237744"/>
          </a:xfrm>
          <a:prstGeom prst="rect">
            <a:avLst/>
          </a:prstGeom>
          <a:noFill/>
          <a:ln/>
        </p:spPr>
        <p:txBody>
          <a:bodyPr wrap="square" lIns="0" tIns="0" rIns="0" bIns="0" rtlCol="0" anchor="t"/>
          <a:lstStyle/>
          <a:p>
            <a:pPr algn="l" indent="0" marL="0">
              <a:buNone/>
            </a:pPr>
            <a:r>
              <a:rPr lang="en-US" sz="1300" b="1" dirty="0">
                <a:solidFill>
                  <a:srgbClr val="8E4A6B"/>
                </a:solidFill>
                <a:latin typeface="Calibri" pitchFamily="34" charset="0"/>
                <a:ea typeface="Calibri" pitchFamily="34" charset="-122"/>
                <a:cs typeface="Calibri" pitchFamily="34" charset="-120"/>
              </a:rPr>
              <a:t>Galat validasi berbalik naik</a:t>
            </a:r>
            <a:endParaRPr lang="en-US" sz="1300" dirty="0"/>
          </a:p>
        </p:txBody>
      </p:sp>
      <p:sp>
        <p:nvSpPr>
          <p:cNvPr id="11" name="Text 8"/>
          <p:cNvSpPr txBox="1"/>
          <p:nvPr/>
        </p:nvSpPr>
        <p:spPr>
          <a:xfrm>
            <a:off x="7882128" y="2606040"/>
            <a:ext cx="3474720" cy="475488"/>
          </a:xfrm>
          <a:prstGeom prst="rect">
            <a:avLst/>
          </a:prstGeom>
          <a:noFill/>
          <a:ln/>
        </p:spPr>
        <p:txBody>
          <a:bodyPr wrap="square" lIns="0" tIns="0" rIns="0" bIns="0" rtlCol="0" anchor="t"/>
          <a:lstStyle/>
          <a:p>
            <a:pPr algn="l" indent="0" marL="0">
              <a:lnSpc>
                <a:spcPct val="115000"/>
              </a:lnSpc>
              <a:buNone/>
            </a:pPr>
            <a:r>
              <a:rPr lang="en-US" sz="1100" dirty="0">
                <a:solidFill>
                  <a:srgbClr val="17261F"/>
                </a:solidFill>
                <a:latin typeface="Calibri" pitchFamily="34" charset="0"/>
                <a:ea typeface="Calibri" pitchFamily="34" charset="-122"/>
                <a:cs typeface="Calibri" pitchFamily="34" charset="-120"/>
              </a:rPr>
              <a:t>Mulai kedalaman 6, pohon berhenti belajar pola dan mulai menghafal derau.</a:t>
            </a:r>
            <a:endParaRPr lang="en-US" sz="1100" dirty="0"/>
          </a:p>
        </p:txBody>
      </p:sp>
      <p:sp>
        <p:nvSpPr>
          <p:cNvPr id="12" name="Shape 9"/>
          <p:cNvSpPr/>
          <p:nvPr/>
        </p:nvSpPr>
        <p:spPr>
          <a:xfrm>
            <a:off x="7635240" y="3273552"/>
            <a:ext cx="3931920" cy="868680"/>
          </a:xfrm>
          <a:prstGeom prst="roundRect">
            <a:avLst>
              <a:gd name="adj" fmla="val 9474"/>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13" name="Text 10"/>
          <p:cNvSpPr txBox="1"/>
          <p:nvPr/>
        </p:nvSpPr>
        <p:spPr>
          <a:xfrm>
            <a:off x="7882128" y="3364992"/>
            <a:ext cx="3474720" cy="237744"/>
          </a:xfrm>
          <a:prstGeom prst="rect">
            <a:avLst/>
          </a:prstGeom>
          <a:noFill/>
          <a:ln/>
        </p:spPr>
        <p:txBody>
          <a:bodyPr wrap="square" lIns="0" tIns="0" rIns="0" bIns="0" rtlCol="0" anchor="t"/>
          <a:lstStyle/>
          <a:p>
            <a:pPr algn="l" indent="0" marL="0">
              <a:buNone/>
            </a:pPr>
            <a:r>
              <a:rPr lang="en-US" sz="1300" b="1" dirty="0">
                <a:solidFill>
                  <a:srgbClr val="7FA327"/>
                </a:solidFill>
                <a:latin typeface="Calibri" pitchFamily="34" charset="0"/>
                <a:ea typeface="Calibri" pitchFamily="34" charset="-122"/>
                <a:cs typeface="Calibri" pitchFamily="34" charset="-120"/>
              </a:rPr>
              <a:t>Titik terbaik di kedalaman 5</a:t>
            </a:r>
            <a:endParaRPr lang="en-US" sz="1300" dirty="0"/>
          </a:p>
        </p:txBody>
      </p:sp>
      <p:sp>
        <p:nvSpPr>
          <p:cNvPr id="14" name="Text 11"/>
          <p:cNvSpPr txBox="1"/>
          <p:nvPr/>
        </p:nvSpPr>
        <p:spPr>
          <a:xfrm>
            <a:off x="7882128" y="3602736"/>
            <a:ext cx="3474720" cy="475488"/>
          </a:xfrm>
          <a:prstGeom prst="rect">
            <a:avLst/>
          </a:prstGeom>
          <a:noFill/>
          <a:ln/>
        </p:spPr>
        <p:txBody>
          <a:bodyPr wrap="square" lIns="0" tIns="0" rIns="0" bIns="0" rtlCol="0" anchor="t"/>
          <a:lstStyle/>
          <a:p>
            <a:pPr algn="l" indent="0" marL="0">
              <a:lnSpc>
                <a:spcPct val="115000"/>
              </a:lnSpc>
              <a:buNone/>
            </a:pPr>
            <a:r>
              <a:rPr lang="en-US" sz="1100" dirty="0">
                <a:solidFill>
                  <a:srgbClr val="17261F"/>
                </a:solidFill>
                <a:latin typeface="Calibri" pitchFamily="34" charset="0"/>
                <a:ea typeface="Calibri" pitchFamily="34" charset="-122"/>
                <a:cs typeface="Calibri" pitchFamily="34" charset="-120"/>
              </a:rPr>
              <a:t>Bukan yang paling dalam, bukan pula yang paling dangkal.</a:t>
            </a:r>
            <a:endParaRPr lang="en-US" sz="1100" dirty="0"/>
          </a:p>
        </p:txBody>
      </p:sp>
      <p:sp>
        <p:nvSpPr>
          <p:cNvPr id="15" name="Shape 12"/>
          <p:cNvSpPr/>
          <p:nvPr/>
        </p:nvSpPr>
        <p:spPr>
          <a:xfrm>
            <a:off x="7635240" y="4270248"/>
            <a:ext cx="3931920" cy="868680"/>
          </a:xfrm>
          <a:prstGeom prst="roundRect">
            <a:avLst>
              <a:gd name="adj" fmla="val 9474"/>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16" name="Text 13"/>
          <p:cNvSpPr txBox="1"/>
          <p:nvPr/>
        </p:nvSpPr>
        <p:spPr>
          <a:xfrm>
            <a:off x="7882128" y="4361688"/>
            <a:ext cx="3474720" cy="237744"/>
          </a:xfrm>
          <a:prstGeom prst="rect">
            <a:avLst/>
          </a:prstGeom>
          <a:noFill/>
          <a:ln/>
        </p:spPr>
        <p:txBody>
          <a:bodyPr wrap="square" lIns="0" tIns="0" rIns="0" bIns="0" rtlCol="0" anchor="t"/>
          <a:lstStyle/>
          <a:p>
            <a:pPr algn="l" indent="0" marL="0">
              <a:buNone/>
            </a:pPr>
            <a:r>
              <a:rPr lang="en-US" sz="1300" b="1" dirty="0">
                <a:solidFill>
                  <a:srgbClr val="1B3A2F"/>
                </a:solidFill>
                <a:latin typeface="Calibri" pitchFamily="34" charset="0"/>
                <a:ea typeface="Calibri" pitchFamily="34" charset="-122"/>
                <a:cs typeface="Calibri" pitchFamily="34" charset="-120"/>
              </a:rPr>
              <a:t>Gejala yang sudah kita kenal</a:t>
            </a:r>
            <a:endParaRPr lang="en-US" sz="1300" dirty="0"/>
          </a:p>
        </p:txBody>
      </p:sp>
      <p:sp>
        <p:nvSpPr>
          <p:cNvPr id="17" name="Text 14"/>
          <p:cNvSpPr txBox="1"/>
          <p:nvPr/>
        </p:nvSpPr>
        <p:spPr>
          <a:xfrm>
            <a:off x="7882128" y="4599432"/>
            <a:ext cx="3474720" cy="475488"/>
          </a:xfrm>
          <a:prstGeom prst="rect">
            <a:avLst/>
          </a:prstGeom>
          <a:noFill/>
          <a:ln/>
        </p:spPr>
        <p:txBody>
          <a:bodyPr wrap="square" lIns="0" tIns="0" rIns="0" bIns="0" rtlCol="0" anchor="t"/>
          <a:lstStyle/>
          <a:p>
            <a:pPr algn="l" indent="0" marL="0">
              <a:lnSpc>
                <a:spcPct val="115000"/>
              </a:lnSpc>
              <a:buNone/>
            </a:pPr>
            <a:r>
              <a:rPr lang="en-US" sz="1100" dirty="0">
                <a:solidFill>
                  <a:srgbClr val="17261F"/>
                </a:solidFill>
                <a:latin typeface="Calibri" pitchFamily="34" charset="0"/>
                <a:ea typeface="Calibri" pitchFamily="34" charset="-122"/>
                <a:cs typeface="Calibri" pitchFamily="34" charset="-120"/>
              </a:rPr>
              <a:t>Ini overfitting persis seperti pertemuan 5 — hanya penyebabnya kini kedalaman pohon.</a:t>
            </a:r>
            <a:endParaRPr lang="en-US" sz="1100" dirty="0"/>
          </a:p>
        </p:txBody>
      </p:sp>
      <p:sp>
        <p:nvSpPr>
          <p:cNvPr id="18" name="Text 15"/>
          <p:cNvSpPr txBox="1"/>
          <p:nvPr/>
        </p:nvSpPr>
        <p:spPr>
          <a:xfrm>
            <a:off x="594360" y="5349240"/>
            <a:ext cx="11002975" cy="411480"/>
          </a:xfrm>
          <a:prstGeom prst="rect">
            <a:avLst/>
          </a:prstGeom>
          <a:noFill/>
          <a:ln/>
        </p:spPr>
        <p:txBody>
          <a:bodyPr wrap="square" lIns="0" tIns="0" rIns="0" bIns="0" rtlCol="0" anchor="t"/>
          <a:lstStyle/>
          <a:p>
            <a:pPr algn="ctr" indent="0" marL="0">
              <a:buNone/>
            </a:pPr>
            <a:r>
              <a:rPr lang="en-US" sz="1450" b="1" dirty="0">
                <a:solidFill>
                  <a:srgbClr val="7FA327"/>
                </a:solidFill>
                <a:latin typeface="Calibri" pitchFamily="34" charset="0"/>
                <a:ea typeface="Calibri" pitchFamily="34" charset="-122"/>
                <a:cs typeface="Calibri" pitchFamily="34" charset="-120"/>
              </a:rPr>
              <a:t>Kedalaman maksimum adalah hyperparameter — dan dipilih persis dengan cara yang kita pelajari pertemuan lalu.</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5F1"/>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7FA327"/>
                </a:solidFill>
                <a:latin typeface="Calibri" pitchFamily="34" charset="0"/>
                <a:ea typeface="Calibri" pitchFamily="34" charset="-122"/>
                <a:cs typeface="Calibri" pitchFamily="34" charset="-120"/>
              </a:rPr>
              <a:t>PENGENDALIAN</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B3A2F"/>
                </a:solidFill>
                <a:latin typeface="Cambria" pitchFamily="34" charset="0"/>
                <a:ea typeface="Cambria" pitchFamily="34" charset="-122"/>
                <a:cs typeface="Cambria" pitchFamily="34" charset="-120"/>
              </a:rPr>
              <a:t>Tiga cara menahan pohon</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1756A"/>
                </a:solidFill>
                <a:latin typeface="Calibri" pitchFamily="34" charset="0"/>
                <a:ea typeface="Calibri" pitchFamily="34" charset="-122"/>
                <a:cs typeface="Calibri" pitchFamily="34" charset="-120"/>
              </a:rPr>
              <a:t>12</a:t>
            </a:r>
            <a:endParaRPr lang="en-US" sz="1000" dirty="0"/>
          </a:p>
        </p:txBody>
      </p:sp>
      <p:sp>
        <p:nvSpPr>
          <p:cNvPr id="5" name="Shape 3"/>
          <p:cNvSpPr/>
          <p:nvPr/>
        </p:nvSpPr>
        <p:spPr>
          <a:xfrm>
            <a:off x="594360" y="1371600"/>
            <a:ext cx="3520440" cy="3520440"/>
          </a:xfrm>
          <a:prstGeom prst="roundRect">
            <a:avLst>
              <a:gd name="adj" fmla="val 2338"/>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6" name="Shape 4"/>
          <p:cNvSpPr/>
          <p:nvPr/>
        </p:nvSpPr>
        <p:spPr>
          <a:xfrm>
            <a:off x="594360" y="1371600"/>
            <a:ext cx="3520440" cy="658368"/>
          </a:xfrm>
          <a:prstGeom prst="roundRect">
            <a:avLst>
              <a:gd name="adj" fmla="val 12500"/>
            </a:avLst>
          </a:prstGeom>
          <a:solidFill>
            <a:srgbClr val="7FA327"/>
          </a:solidFill>
          <a:ln w="12700">
            <a:solidFill>
              <a:srgbClr val="333333"/>
            </a:solidFill>
            <a:prstDash val="solid"/>
          </a:ln>
        </p:spPr>
      </p:sp>
      <p:sp>
        <p:nvSpPr>
          <p:cNvPr id="7" name="Text 5"/>
          <p:cNvSpPr txBox="1"/>
          <p:nvPr/>
        </p:nvSpPr>
        <p:spPr>
          <a:xfrm>
            <a:off x="594360" y="1371600"/>
            <a:ext cx="3520440"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Batasi kedalaman</a:t>
            </a:r>
            <a:endParaRPr lang="en-US" sz="1800" dirty="0"/>
          </a:p>
        </p:txBody>
      </p:sp>
      <p:sp>
        <p:nvSpPr>
          <p:cNvPr id="8" name="Text 6"/>
          <p:cNvSpPr txBox="1"/>
          <p:nvPr/>
        </p:nvSpPr>
        <p:spPr>
          <a:xfrm>
            <a:off x="868680" y="2212848"/>
            <a:ext cx="2971800" cy="320040"/>
          </a:xfrm>
          <a:prstGeom prst="rect">
            <a:avLst/>
          </a:prstGeom>
          <a:noFill/>
          <a:ln/>
        </p:spPr>
        <p:txBody>
          <a:bodyPr wrap="square" lIns="0" tIns="0" rIns="0" bIns="0" rtlCol="0" anchor="t"/>
          <a:lstStyle/>
          <a:p>
            <a:pPr algn="ctr" indent="0" marL="0">
              <a:buNone/>
            </a:pPr>
            <a:r>
              <a:rPr lang="en-US" sz="1400" b="1" dirty="0">
                <a:solidFill>
                  <a:srgbClr val="7FA327"/>
                </a:solidFill>
                <a:latin typeface="Courier New" pitchFamily="34" charset="0"/>
                <a:ea typeface="Courier New" pitchFamily="34" charset="-122"/>
                <a:cs typeface="Courier New" pitchFamily="34" charset="-120"/>
              </a:rPr>
              <a:t>max_depth</a:t>
            </a:r>
            <a:endParaRPr lang="en-US" sz="1400" dirty="0"/>
          </a:p>
        </p:txBody>
      </p:sp>
      <p:sp>
        <p:nvSpPr>
          <p:cNvPr id="9" name="Text 7"/>
          <p:cNvSpPr txBox="1"/>
          <p:nvPr/>
        </p:nvSpPr>
        <p:spPr>
          <a:xfrm>
            <a:off x="914400" y="2697480"/>
            <a:ext cx="2880360" cy="1371600"/>
          </a:xfrm>
          <a:prstGeom prst="rect">
            <a:avLst/>
          </a:prstGeom>
          <a:noFill/>
          <a:ln/>
        </p:spPr>
        <p:txBody>
          <a:bodyPr wrap="square" lIns="0" tIns="0" rIns="0" bIns="0" rtlCol="0" anchor="t"/>
          <a:lstStyle/>
          <a:p>
            <a:pPr algn="l" indent="0" marL="0">
              <a:lnSpc>
                <a:spcPct val="130000"/>
              </a:lnSpc>
              <a:buNone/>
            </a:pPr>
            <a:r>
              <a:rPr lang="en-US" sz="1350" dirty="0">
                <a:solidFill>
                  <a:srgbClr val="17261F"/>
                </a:solidFill>
                <a:latin typeface="Calibri" pitchFamily="34" charset="0"/>
                <a:ea typeface="Calibri" pitchFamily="34" charset="-122"/>
                <a:cs typeface="Calibri" pitchFamily="34" charset="-120"/>
              </a:rPr>
              <a:t>Tetapkan berapa lapis pertanyaan yang boleh diajukan. Cara paling langsung dan paling mudah dijelaskan.</a:t>
            </a:r>
            <a:endParaRPr lang="en-US" sz="1350" dirty="0"/>
          </a:p>
        </p:txBody>
      </p:sp>
      <p:sp>
        <p:nvSpPr>
          <p:cNvPr id="10" name="Text 8"/>
          <p:cNvSpPr txBox="1"/>
          <p:nvPr/>
        </p:nvSpPr>
        <p:spPr>
          <a:xfrm>
            <a:off x="914400" y="4315968"/>
            <a:ext cx="2880360" cy="320040"/>
          </a:xfrm>
          <a:prstGeom prst="rect">
            <a:avLst/>
          </a:prstGeom>
          <a:noFill/>
          <a:ln/>
        </p:spPr>
        <p:txBody>
          <a:bodyPr wrap="square" lIns="0" tIns="0" rIns="0" bIns="0" rtlCol="0" anchor="t"/>
          <a:lstStyle/>
          <a:p>
            <a:pPr algn="ctr" indent="0" marL="0">
              <a:buNone/>
            </a:pPr>
            <a:r>
              <a:rPr lang="en-US" sz="1200" b="1" i="1" dirty="0">
                <a:solidFill>
                  <a:srgbClr val="61756A"/>
                </a:solidFill>
                <a:latin typeface="Calibri" pitchFamily="34" charset="0"/>
                <a:ea typeface="Calibri" pitchFamily="34" charset="-122"/>
                <a:cs typeface="Calibri" pitchFamily="34" charset="-120"/>
              </a:rPr>
              <a:t>Pra-pemangkasan</a:t>
            </a:r>
            <a:endParaRPr lang="en-US" sz="1200" dirty="0"/>
          </a:p>
        </p:txBody>
      </p:sp>
      <p:sp>
        <p:nvSpPr>
          <p:cNvPr id="11" name="Shape 9"/>
          <p:cNvSpPr/>
          <p:nvPr/>
        </p:nvSpPr>
        <p:spPr>
          <a:xfrm>
            <a:off x="4389120" y="1371600"/>
            <a:ext cx="3520440" cy="3520440"/>
          </a:xfrm>
          <a:prstGeom prst="roundRect">
            <a:avLst>
              <a:gd name="adj" fmla="val 2338"/>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12" name="Shape 10"/>
          <p:cNvSpPr/>
          <p:nvPr/>
        </p:nvSpPr>
        <p:spPr>
          <a:xfrm>
            <a:off x="4389120" y="1371600"/>
            <a:ext cx="3520440" cy="658368"/>
          </a:xfrm>
          <a:prstGeom prst="roundRect">
            <a:avLst>
              <a:gd name="adj" fmla="val 12500"/>
            </a:avLst>
          </a:prstGeom>
          <a:solidFill>
            <a:srgbClr val="A87C4F"/>
          </a:solidFill>
          <a:ln w="12700">
            <a:solidFill>
              <a:srgbClr val="333333"/>
            </a:solidFill>
            <a:prstDash val="solid"/>
          </a:ln>
        </p:spPr>
      </p:sp>
      <p:sp>
        <p:nvSpPr>
          <p:cNvPr id="13" name="Text 11"/>
          <p:cNvSpPr txBox="1"/>
          <p:nvPr/>
        </p:nvSpPr>
        <p:spPr>
          <a:xfrm>
            <a:off x="4389120" y="1371600"/>
            <a:ext cx="3520440"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Batasi ukuran daun</a:t>
            </a:r>
            <a:endParaRPr lang="en-US" sz="1800" dirty="0"/>
          </a:p>
        </p:txBody>
      </p:sp>
      <p:sp>
        <p:nvSpPr>
          <p:cNvPr id="14" name="Text 12"/>
          <p:cNvSpPr txBox="1"/>
          <p:nvPr/>
        </p:nvSpPr>
        <p:spPr>
          <a:xfrm>
            <a:off x="4663440" y="2212848"/>
            <a:ext cx="2971800" cy="320040"/>
          </a:xfrm>
          <a:prstGeom prst="rect">
            <a:avLst/>
          </a:prstGeom>
          <a:noFill/>
          <a:ln/>
        </p:spPr>
        <p:txBody>
          <a:bodyPr wrap="square" lIns="0" tIns="0" rIns="0" bIns="0" rtlCol="0" anchor="t"/>
          <a:lstStyle/>
          <a:p>
            <a:pPr algn="ctr" indent="0" marL="0">
              <a:buNone/>
            </a:pPr>
            <a:r>
              <a:rPr lang="en-US" sz="1400" b="1" dirty="0">
                <a:solidFill>
                  <a:srgbClr val="A87C4F"/>
                </a:solidFill>
                <a:latin typeface="Courier New" pitchFamily="34" charset="0"/>
                <a:ea typeface="Courier New" pitchFamily="34" charset="-122"/>
                <a:cs typeface="Courier New" pitchFamily="34" charset="-120"/>
              </a:rPr>
              <a:t>min_samples_leaf</a:t>
            </a:r>
            <a:endParaRPr lang="en-US" sz="1400" dirty="0"/>
          </a:p>
        </p:txBody>
      </p:sp>
      <p:sp>
        <p:nvSpPr>
          <p:cNvPr id="15" name="Text 13"/>
          <p:cNvSpPr txBox="1"/>
          <p:nvPr/>
        </p:nvSpPr>
        <p:spPr>
          <a:xfrm>
            <a:off x="4709160" y="2697480"/>
            <a:ext cx="2880360" cy="1371600"/>
          </a:xfrm>
          <a:prstGeom prst="rect">
            <a:avLst/>
          </a:prstGeom>
          <a:noFill/>
          <a:ln/>
        </p:spPr>
        <p:txBody>
          <a:bodyPr wrap="square" lIns="0" tIns="0" rIns="0" bIns="0" rtlCol="0" anchor="t"/>
          <a:lstStyle/>
          <a:p>
            <a:pPr algn="l" indent="0" marL="0">
              <a:lnSpc>
                <a:spcPct val="130000"/>
              </a:lnSpc>
              <a:buNone/>
            </a:pPr>
            <a:r>
              <a:rPr lang="en-US" sz="1350" dirty="0">
                <a:solidFill>
                  <a:srgbClr val="17261F"/>
                </a:solidFill>
                <a:latin typeface="Calibri" pitchFamily="34" charset="0"/>
                <a:ea typeface="Calibri" pitchFamily="34" charset="-122"/>
                <a:cs typeface="Calibri" pitchFamily="34" charset="-120"/>
              </a:rPr>
              <a:t>Sebuah daun harus memuat sekurang-kurangnya sejumlah data. Mencegah daun yang hanya berisi satu baris.</a:t>
            </a:r>
            <a:endParaRPr lang="en-US" sz="1350" dirty="0"/>
          </a:p>
        </p:txBody>
      </p:sp>
      <p:sp>
        <p:nvSpPr>
          <p:cNvPr id="16" name="Text 14"/>
          <p:cNvSpPr txBox="1"/>
          <p:nvPr/>
        </p:nvSpPr>
        <p:spPr>
          <a:xfrm>
            <a:off x="4709160" y="4315968"/>
            <a:ext cx="2880360" cy="320040"/>
          </a:xfrm>
          <a:prstGeom prst="rect">
            <a:avLst/>
          </a:prstGeom>
          <a:noFill/>
          <a:ln/>
        </p:spPr>
        <p:txBody>
          <a:bodyPr wrap="square" lIns="0" tIns="0" rIns="0" bIns="0" rtlCol="0" anchor="t"/>
          <a:lstStyle/>
          <a:p>
            <a:pPr algn="ctr" indent="0" marL="0">
              <a:buNone/>
            </a:pPr>
            <a:r>
              <a:rPr lang="en-US" sz="1200" b="1" i="1" dirty="0">
                <a:solidFill>
                  <a:srgbClr val="61756A"/>
                </a:solidFill>
                <a:latin typeface="Calibri" pitchFamily="34" charset="0"/>
                <a:ea typeface="Calibri" pitchFamily="34" charset="-122"/>
                <a:cs typeface="Calibri" pitchFamily="34" charset="-120"/>
              </a:rPr>
              <a:t>Pra-pemangkasan</a:t>
            </a:r>
            <a:endParaRPr lang="en-US" sz="1200" dirty="0"/>
          </a:p>
        </p:txBody>
      </p:sp>
      <p:sp>
        <p:nvSpPr>
          <p:cNvPr id="17" name="Shape 15"/>
          <p:cNvSpPr/>
          <p:nvPr/>
        </p:nvSpPr>
        <p:spPr>
          <a:xfrm>
            <a:off x="8183880" y="1371600"/>
            <a:ext cx="3520440" cy="3520440"/>
          </a:xfrm>
          <a:prstGeom prst="roundRect">
            <a:avLst>
              <a:gd name="adj" fmla="val 2338"/>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18" name="Shape 16"/>
          <p:cNvSpPr/>
          <p:nvPr/>
        </p:nvSpPr>
        <p:spPr>
          <a:xfrm>
            <a:off x="8183880" y="1371600"/>
            <a:ext cx="3520440" cy="658368"/>
          </a:xfrm>
          <a:prstGeom prst="roundRect">
            <a:avLst>
              <a:gd name="adj" fmla="val 12500"/>
            </a:avLst>
          </a:prstGeom>
          <a:solidFill>
            <a:srgbClr val="8E4A6B"/>
          </a:solidFill>
          <a:ln w="12700">
            <a:solidFill>
              <a:srgbClr val="333333"/>
            </a:solidFill>
            <a:prstDash val="solid"/>
          </a:ln>
        </p:spPr>
      </p:sp>
      <p:sp>
        <p:nvSpPr>
          <p:cNvPr id="19" name="Text 17"/>
          <p:cNvSpPr txBox="1"/>
          <p:nvPr/>
        </p:nvSpPr>
        <p:spPr>
          <a:xfrm>
            <a:off x="8183880" y="1371600"/>
            <a:ext cx="3520440" cy="65836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Pangkas setelah tumbuh</a:t>
            </a:r>
            <a:endParaRPr lang="en-US" sz="1800" dirty="0"/>
          </a:p>
        </p:txBody>
      </p:sp>
      <p:sp>
        <p:nvSpPr>
          <p:cNvPr id="20" name="Text 18"/>
          <p:cNvSpPr txBox="1"/>
          <p:nvPr/>
        </p:nvSpPr>
        <p:spPr>
          <a:xfrm>
            <a:off x="8458200" y="2212848"/>
            <a:ext cx="2971800" cy="320040"/>
          </a:xfrm>
          <a:prstGeom prst="rect">
            <a:avLst/>
          </a:prstGeom>
          <a:noFill/>
          <a:ln/>
        </p:spPr>
        <p:txBody>
          <a:bodyPr wrap="square" lIns="0" tIns="0" rIns="0" bIns="0" rtlCol="0" anchor="t"/>
          <a:lstStyle/>
          <a:p>
            <a:pPr algn="ctr" indent="0" marL="0">
              <a:buNone/>
            </a:pPr>
            <a:r>
              <a:rPr lang="en-US" sz="1400" b="1" dirty="0">
                <a:solidFill>
                  <a:srgbClr val="8E4A6B"/>
                </a:solidFill>
                <a:latin typeface="Courier New" pitchFamily="34" charset="0"/>
                <a:ea typeface="Courier New" pitchFamily="34" charset="-122"/>
                <a:cs typeface="Courier New" pitchFamily="34" charset="-120"/>
              </a:rPr>
              <a:t>pruning</a:t>
            </a:r>
            <a:endParaRPr lang="en-US" sz="1400" dirty="0"/>
          </a:p>
        </p:txBody>
      </p:sp>
      <p:sp>
        <p:nvSpPr>
          <p:cNvPr id="21" name="Text 19"/>
          <p:cNvSpPr txBox="1"/>
          <p:nvPr/>
        </p:nvSpPr>
        <p:spPr>
          <a:xfrm>
            <a:off x="8503920" y="2697480"/>
            <a:ext cx="2880360" cy="1371600"/>
          </a:xfrm>
          <a:prstGeom prst="rect">
            <a:avLst/>
          </a:prstGeom>
          <a:noFill/>
          <a:ln/>
        </p:spPr>
        <p:txBody>
          <a:bodyPr wrap="square" lIns="0" tIns="0" rIns="0" bIns="0" rtlCol="0" anchor="t"/>
          <a:lstStyle/>
          <a:p>
            <a:pPr algn="l" indent="0" marL="0">
              <a:lnSpc>
                <a:spcPct val="130000"/>
              </a:lnSpc>
              <a:buNone/>
            </a:pPr>
            <a:r>
              <a:rPr lang="en-US" sz="1350" dirty="0">
                <a:solidFill>
                  <a:srgbClr val="17261F"/>
                </a:solidFill>
                <a:latin typeface="Calibri" pitchFamily="34" charset="0"/>
                <a:ea typeface="Calibri" pitchFamily="34" charset="-122"/>
                <a:cs typeface="Calibri" pitchFamily="34" charset="-120"/>
              </a:rPr>
              <a:t>Biarkan pohon tumbuh penuh, lalu potong cabang yang tidak memperbaiki kinerja pada data validasi.</a:t>
            </a:r>
            <a:endParaRPr lang="en-US" sz="1350" dirty="0"/>
          </a:p>
        </p:txBody>
      </p:sp>
      <p:sp>
        <p:nvSpPr>
          <p:cNvPr id="22" name="Text 20"/>
          <p:cNvSpPr txBox="1"/>
          <p:nvPr/>
        </p:nvSpPr>
        <p:spPr>
          <a:xfrm>
            <a:off x="8503920" y="4315968"/>
            <a:ext cx="2880360" cy="320040"/>
          </a:xfrm>
          <a:prstGeom prst="rect">
            <a:avLst/>
          </a:prstGeom>
          <a:noFill/>
          <a:ln/>
        </p:spPr>
        <p:txBody>
          <a:bodyPr wrap="square" lIns="0" tIns="0" rIns="0" bIns="0" rtlCol="0" anchor="t"/>
          <a:lstStyle/>
          <a:p>
            <a:pPr algn="ctr" indent="0" marL="0">
              <a:buNone/>
            </a:pPr>
            <a:r>
              <a:rPr lang="en-US" sz="1200" b="1" i="1" dirty="0">
                <a:solidFill>
                  <a:srgbClr val="61756A"/>
                </a:solidFill>
                <a:latin typeface="Calibri" pitchFamily="34" charset="0"/>
                <a:ea typeface="Calibri" pitchFamily="34" charset="-122"/>
                <a:cs typeface="Calibri" pitchFamily="34" charset="-120"/>
              </a:rPr>
              <a:t>Pasca-pemangkasan</a:t>
            </a:r>
            <a:endParaRPr lang="en-US" sz="1200" dirty="0"/>
          </a:p>
        </p:txBody>
      </p:sp>
      <p:sp>
        <p:nvSpPr>
          <p:cNvPr id="23" name="Shape 21"/>
          <p:cNvSpPr/>
          <p:nvPr/>
        </p:nvSpPr>
        <p:spPr>
          <a:xfrm>
            <a:off x="594360" y="5120640"/>
            <a:ext cx="11002975" cy="822960"/>
          </a:xfrm>
          <a:prstGeom prst="roundRect">
            <a:avLst>
              <a:gd name="adj" fmla="val 10000"/>
            </a:avLst>
          </a:prstGeom>
          <a:solidFill>
            <a:srgbClr val="EDF2E4"/>
          </a:solidFill>
          <a:ln w="12700">
            <a:solidFill>
              <a:srgbClr val="D5E2BC"/>
            </a:solidFill>
            <a:prstDash val="solid"/>
          </a:ln>
          <a:effectLst>
            <a:outerShdw sx="100000" sy="100000" kx="0" ky="0" algn="bl" rotWithShape="0" blurRad="101600" dist="508" dir="5400000">
              <a:srgbClr val="AFBCB0">
                <a:alpha val="30000"/>
              </a:srgbClr>
            </a:outerShdw>
          </a:effectLst>
        </p:spPr>
      </p:sp>
      <p:sp>
        <p:nvSpPr>
          <p:cNvPr id="24" name="Text 22"/>
          <p:cNvSpPr txBox="1"/>
          <p:nvPr/>
        </p:nvSpPr>
        <p:spPr>
          <a:xfrm>
            <a:off x="1005840" y="5321808"/>
            <a:ext cx="10180015" cy="457200"/>
          </a:xfrm>
          <a:prstGeom prst="rect">
            <a:avLst/>
          </a:prstGeom>
          <a:noFill/>
          <a:ln/>
        </p:spPr>
        <p:txBody>
          <a:bodyPr wrap="square" lIns="0" tIns="0" rIns="0" bIns="0" rtlCol="0" anchor="t"/>
          <a:lstStyle/>
          <a:p>
            <a:pPr algn="l" indent="0" marL="0">
              <a:buNone/>
            </a:pPr>
            <a:r>
              <a:rPr lang="en-US" sz="1450" b="1" dirty="0">
                <a:solidFill>
                  <a:srgbClr val="4E6614"/>
                </a:solidFill>
                <a:latin typeface="Calibri" pitchFamily="34" charset="0"/>
                <a:ea typeface="Calibri" pitchFamily="34" charset="-122"/>
                <a:cs typeface="Calibri" pitchFamily="34" charset="-120"/>
              </a:rPr>
              <a:t>Ada cara keempat yang jauh lebih ampuh, dan itulah isi bagian berikutnya: alih-alih menahan satu pohon, tanamlah banyak pohon sekaligus.</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3A2F"/>
        </a:solidFill>
      </p:bgPr>
    </p:bg>
    <p:spTree>
      <p:nvGrpSpPr>
        <p:cNvPr id="1" name=""/>
        <p:cNvGrpSpPr/>
        <p:nvPr/>
      </p:nvGrpSpPr>
      <p:grpSpPr>
        <a:xfrm>
          <a:off x="0" y="0"/>
          <a:ext cx="0" cy="0"/>
          <a:chOff x="0" y="0"/>
          <a:chExt cx="0" cy="0"/>
        </a:xfrm>
      </p:grpSpPr>
      <p:sp>
        <p:nvSpPr>
          <p:cNvPr id="2" name="Shape 0"/>
          <p:cNvSpPr/>
          <p:nvPr/>
        </p:nvSpPr>
        <p:spPr>
          <a:xfrm>
            <a:off x="9418320" y="-1371600"/>
            <a:ext cx="4754880" cy="4754880"/>
          </a:xfrm>
          <a:prstGeom prst="ellipse">
            <a:avLst/>
          </a:prstGeom>
          <a:solidFill>
            <a:srgbClr val="7FA327"/>
          </a:solidFill>
          <a:ln w="12700">
            <a:solidFill>
              <a:srgbClr val="333333"/>
            </a:solidFill>
            <a:prstDash val="solid"/>
          </a:ln>
        </p:spPr>
      </p:sp>
      <p:sp>
        <p:nvSpPr>
          <p:cNvPr id="3" name="Shape 1"/>
          <p:cNvSpPr/>
          <p:nvPr/>
        </p:nvSpPr>
        <p:spPr>
          <a:xfrm>
            <a:off x="10607040" y="4023360"/>
            <a:ext cx="3108960" cy="3108960"/>
          </a:xfrm>
          <a:prstGeom prst="ellipse">
            <a:avLst/>
          </a:prstGeom>
          <a:solidFill>
            <a:srgbClr val="8E4A6B"/>
          </a:solidFill>
          <a:ln w="12700">
            <a:solidFill>
              <a:srgbClr val="333333"/>
            </a:solidFill>
            <a:prstDash val="solid"/>
          </a:ln>
        </p:spPr>
      </p:sp>
      <p:sp>
        <p:nvSpPr>
          <p:cNvPr id="4" name="Text 2"/>
          <p:cNvSpPr txBox="1"/>
          <p:nvPr/>
        </p:nvSpPr>
        <p:spPr>
          <a:xfrm>
            <a:off x="594360" y="2286000"/>
            <a:ext cx="7315200" cy="365760"/>
          </a:xfrm>
          <a:prstGeom prst="rect">
            <a:avLst/>
          </a:prstGeom>
          <a:noFill/>
          <a:ln/>
        </p:spPr>
        <p:txBody>
          <a:bodyPr wrap="square" lIns="0" tIns="0" rIns="0" bIns="0" rtlCol="0" anchor="t"/>
          <a:lstStyle/>
          <a:p>
            <a:pPr algn="l" indent="0" marL="0">
              <a:buNone/>
            </a:pPr>
            <a:r>
              <a:rPr lang="en-US" sz="1300" b="1" dirty="0">
                <a:solidFill>
                  <a:srgbClr val="B5D45A"/>
                </a:solidFill>
                <a:latin typeface="Calibri" pitchFamily="34" charset="0"/>
                <a:ea typeface="Calibri" pitchFamily="34" charset="-122"/>
                <a:cs typeface="Calibri" pitchFamily="34" charset="-120"/>
              </a:rPr>
              <a:t>BAGIAN 3</a:t>
            </a:r>
            <a:endParaRPr lang="en-US" sz="1300" dirty="0"/>
          </a:p>
        </p:txBody>
      </p:sp>
      <p:sp>
        <p:nvSpPr>
          <p:cNvPr id="5" name="Text 3"/>
          <p:cNvSpPr txBox="1"/>
          <p:nvPr/>
        </p:nvSpPr>
        <p:spPr>
          <a:xfrm>
            <a:off x="594360" y="2697480"/>
            <a:ext cx="7863840" cy="137160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Ensemble</a:t>
            </a:r>
            <a:endParaRPr lang="en-US" sz="3800" dirty="0"/>
          </a:p>
        </p:txBody>
      </p:sp>
      <p:sp>
        <p:nvSpPr>
          <p:cNvPr id="6" name="Text 4"/>
          <p:cNvSpPr txBox="1"/>
          <p:nvPr/>
        </p:nvSpPr>
        <p:spPr>
          <a:xfrm>
            <a:off x="594360" y="4160520"/>
            <a:ext cx="7680960" cy="640080"/>
          </a:xfrm>
          <a:prstGeom prst="rect">
            <a:avLst/>
          </a:prstGeom>
          <a:noFill/>
          <a:ln/>
        </p:spPr>
        <p:txBody>
          <a:bodyPr wrap="square" lIns="0" tIns="0" rIns="0" bIns="0" rtlCol="0" anchor="t"/>
          <a:lstStyle/>
          <a:p>
            <a:pPr algn="l" indent="0" marL="0">
              <a:buNone/>
            </a:pPr>
            <a:r>
              <a:rPr lang="en-US" sz="1500" dirty="0">
                <a:solidFill>
                  <a:srgbClr val="BCCCC0"/>
                </a:solidFill>
                <a:latin typeface="Calibri" pitchFamily="34" charset="0"/>
                <a:ea typeface="Calibri" pitchFamily="34" charset="-122"/>
                <a:cs typeface="Calibri" pitchFamily="34" charset="-120"/>
              </a:rPr>
              <a:t>Banyak model biasa mengalahkan satu model hebat</a:t>
            </a:r>
            <a:endParaRPr lang="en-US" sz="1500" dirty="0"/>
          </a:p>
        </p:txBody>
      </p:sp>
      <p:sp>
        <p:nvSpPr>
          <p:cNvPr id="7" name="Text 5"/>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86A093"/>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5F1"/>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7FA327"/>
                </a:solidFill>
                <a:latin typeface="Calibri" pitchFamily="34" charset="0"/>
                <a:ea typeface="Calibri" pitchFamily="34" charset="-122"/>
                <a:cs typeface="Calibri" pitchFamily="34" charset="-120"/>
              </a:rPr>
              <a:t>GAGASAN INTI</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B3A2F"/>
                </a:solidFill>
                <a:latin typeface="Cambria" pitchFamily="34" charset="0"/>
                <a:ea typeface="Cambria" pitchFamily="34" charset="-122"/>
                <a:cs typeface="Cambria" pitchFamily="34" charset="-120"/>
              </a:rPr>
              <a:t>Kebijaksanaan orang banyak</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1756A"/>
                </a:solidFill>
                <a:latin typeface="Calibri" pitchFamily="34" charset="0"/>
                <a:ea typeface="Calibri" pitchFamily="34" charset="-122"/>
                <a:cs typeface="Calibri" pitchFamily="34" charset="-120"/>
              </a:rPr>
              <a:t>14</a:t>
            </a:r>
            <a:endParaRPr lang="en-US" sz="1000" dirty="0"/>
          </a:p>
        </p:txBody>
      </p:sp>
      <p:sp>
        <p:nvSpPr>
          <p:cNvPr id="5" name="Shape 3"/>
          <p:cNvSpPr/>
          <p:nvPr/>
        </p:nvSpPr>
        <p:spPr>
          <a:xfrm>
            <a:off x="594360" y="1280160"/>
            <a:ext cx="5577840" cy="2148840"/>
          </a:xfrm>
          <a:prstGeom prst="roundRect">
            <a:avLst>
              <a:gd name="adj" fmla="val 3830"/>
            </a:avLst>
          </a:prstGeom>
          <a:solidFill>
            <a:srgbClr val="1B3A2F"/>
          </a:solidFill>
          <a:ln w="12700">
            <a:solidFill>
              <a:srgbClr val="1B3A2F"/>
            </a:solidFill>
            <a:prstDash val="solid"/>
          </a:ln>
          <a:effectLst>
            <a:outerShdw sx="100000" sy="100000" kx="0" ky="0" algn="bl" rotWithShape="0" blurRad="101600" dist="508" dir="5400000">
              <a:srgbClr val="AFBCB0">
                <a:alpha val="30000"/>
              </a:srgbClr>
            </a:outerShdw>
          </a:effectLst>
        </p:spPr>
      </p:sp>
      <p:sp>
        <p:nvSpPr>
          <p:cNvPr id="6" name="Text 4"/>
          <p:cNvSpPr txBox="1"/>
          <p:nvPr/>
        </p:nvSpPr>
        <p:spPr>
          <a:xfrm>
            <a:off x="960120" y="1554480"/>
            <a:ext cx="4846320" cy="914400"/>
          </a:xfrm>
          <a:prstGeom prst="rect">
            <a:avLst/>
          </a:prstGeom>
          <a:noFill/>
          <a:ln/>
        </p:spPr>
        <p:txBody>
          <a:bodyPr wrap="square" lIns="0" tIns="0" rIns="0" bIns="0" rtlCol="0" anchor="t"/>
          <a:lstStyle/>
          <a:p>
            <a:pPr algn="l" indent="0" marL="0">
              <a:lnSpc>
                <a:spcPct val="130000"/>
              </a:lnSpc>
              <a:buNone/>
            </a:pPr>
            <a:r>
              <a:rPr lang="en-US" sz="1550" dirty="0">
                <a:solidFill>
                  <a:srgbClr val="FFFFFF"/>
                </a:solidFill>
                <a:latin typeface="Calibri" pitchFamily="34" charset="0"/>
                <a:ea typeface="Calibri" pitchFamily="34" charset="-122"/>
                <a:cs typeface="Calibri" pitchFamily="34" charset="-120"/>
              </a:rPr>
              <a:t>Satu pohon tunggal punya variance tinggi — ganti sedikit datanya, bentuk pohonnya berubah drastis. Kelemahan itu justru menjadi bahan bakunya.</a:t>
            </a:r>
            <a:endParaRPr lang="en-US" sz="1550" dirty="0"/>
          </a:p>
        </p:txBody>
      </p:sp>
      <p:sp>
        <p:nvSpPr>
          <p:cNvPr id="7" name="Text 5"/>
          <p:cNvSpPr txBox="1"/>
          <p:nvPr/>
        </p:nvSpPr>
        <p:spPr>
          <a:xfrm>
            <a:off x="960120" y="2514600"/>
            <a:ext cx="4846320" cy="822960"/>
          </a:xfrm>
          <a:prstGeom prst="rect">
            <a:avLst/>
          </a:prstGeom>
          <a:noFill/>
          <a:ln/>
        </p:spPr>
        <p:txBody>
          <a:bodyPr wrap="square" lIns="0" tIns="0" rIns="0" bIns="0" rtlCol="0" anchor="t"/>
          <a:lstStyle/>
          <a:p>
            <a:pPr algn="l" indent="0" marL="0">
              <a:lnSpc>
                <a:spcPct val="130000"/>
              </a:lnSpc>
              <a:buNone/>
            </a:pPr>
            <a:r>
              <a:rPr lang="en-US" sz="1500" dirty="0">
                <a:solidFill>
                  <a:srgbClr val="B5D45A"/>
                </a:solidFill>
                <a:latin typeface="Calibri" pitchFamily="34" charset="0"/>
                <a:ea typeface="Calibri" pitchFamily="34" charset="-122"/>
                <a:cs typeface="Calibri" pitchFamily="34" charset="-120"/>
              </a:rPr>
              <a:t>Bila kita menanam banyak pohon yang saling berbeda, lalu menggabungkan suaranya, kesalahan masing-masing cenderung saling meniadakan — sementara pola yang benar saling menguatkan.</a:t>
            </a:r>
            <a:endParaRPr lang="en-US" sz="1500" dirty="0"/>
          </a:p>
        </p:txBody>
      </p:sp>
      <p:sp>
        <p:nvSpPr>
          <p:cNvPr id="8" name="Shape 6"/>
          <p:cNvSpPr/>
          <p:nvPr/>
        </p:nvSpPr>
        <p:spPr>
          <a:xfrm>
            <a:off x="6537960" y="1280160"/>
            <a:ext cx="5029200" cy="1005840"/>
          </a:xfrm>
          <a:prstGeom prst="roundRect">
            <a:avLst>
              <a:gd name="adj" fmla="val 8182"/>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9" name="Shape 7"/>
          <p:cNvSpPr/>
          <p:nvPr/>
        </p:nvSpPr>
        <p:spPr>
          <a:xfrm>
            <a:off x="6858000" y="1481328"/>
            <a:ext cx="457200" cy="45720"/>
          </a:xfrm>
          <a:prstGeom prst="rect">
            <a:avLst/>
          </a:prstGeom>
          <a:solidFill>
            <a:srgbClr val="7FA327"/>
          </a:solidFill>
          <a:ln w="12700">
            <a:solidFill>
              <a:srgbClr val="333333"/>
            </a:solidFill>
            <a:prstDash val="solid"/>
          </a:ln>
        </p:spPr>
      </p:sp>
      <p:sp>
        <p:nvSpPr>
          <p:cNvPr id="10" name="Text 8"/>
          <p:cNvSpPr txBox="1"/>
          <p:nvPr/>
        </p:nvSpPr>
        <p:spPr>
          <a:xfrm>
            <a:off x="6858000" y="1609344"/>
            <a:ext cx="4389120" cy="274320"/>
          </a:xfrm>
          <a:prstGeom prst="rect">
            <a:avLst/>
          </a:prstGeom>
          <a:noFill/>
          <a:ln/>
        </p:spPr>
        <p:txBody>
          <a:bodyPr wrap="square" lIns="0" tIns="0" rIns="0" bIns="0" rtlCol="0" anchor="t"/>
          <a:lstStyle/>
          <a:p>
            <a:pPr algn="l" indent="0" marL="0">
              <a:buNone/>
            </a:pPr>
            <a:r>
              <a:rPr lang="en-US" sz="1800" b="1" dirty="0">
                <a:solidFill>
                  <a:srgbClr val="1B3A2F"/>
                </a:solidFill>
                <a:latin typeface="Cambria" pitchFamily="34" charset="0"/>
                <a:ea typeface="Cambria" pitchFamily="34" charset="-122"/>
                <a:cs typeface="Cambria" pitchFamily="34" charset="-120"/>
              </a:rPr>
              <a:t>Klasifikasi</a:t>
            </a:r>
            <a:endParaRPr lang="en-US" sz="1800" dirty="0"/>
          </a:p>
        </p:txBody>
      </p:sp>
      <p:sp>
        <p:nvSpPr>
          <p:cNvPr id="11" name="Text 9"/>
          <p:cNvSpPr txBox="1"/>
          <p:nvPr/>
        </p:nvSpPr>
        <p:spPr>
          <a:xfrm>
            <a:off x="6858000" y="1920240"/>
            <a:ext cx="4389120" cy="274320"/>
          </a:xfrm>
          <a:prstGeom prst="rect">
            <a:avLst/>
          </a:prstGeom>
          <a:noFill/>
          <a:ln/>
        </p:spPr>
        <p:txBody>
          <a:bodyPr wrap="square" lIns="0" tIns="0" rIns="0" bIns="0" rtlCol="0" anchor="t"/>
          <a:lstStyle/>
          <a:p>
            <a:pPr algn="l" indent="0" marL="0">
              <a:buNone/>
            </a:pPr>
            <a:r>
              <a:rPr lang="en-US" sz="1350" dirty="0">
                <a:solidFill>
                  <a:srgbClr val="17261F"/>
                </a:solidFill>
                <a:latin typeface="Calibri" pitchFamily="34" charset="0"/>
                <a:ea typeface="Calibri" pitchFamily="34" charset="-122"/>
                <a:cs typeface="Calibri" pitchFamily="34" charset="-120"/>
              </a:rPr>
              <a:t>Ambil suara terbanyak dari seluruh pohon.</a:t>
            </a:r>
            <a:endParaRPr lang="en-US" sz="1350" dirty="0"/>
          </a:p>
        </p:txBody>
      </p:sp>
      <p:sp>
        <p:nvSpPr>
          <p:cNvPr id="12" name="Shape 10"/>
          <p:cNvSpPr/>
          <p:nvPr/>
        </p:nvSpPr>
        <p:spPr>
          <a:xfrm>
            <a:off x="6537960" y="2423160"/>
            <a:ext cx="5029200" cy="1005840"/>
          </a:xfrm>
          <a:prstGeom prst="roundRect">
            <a:avLst>
              <a:gd name="adj" fmla="val 8182"/>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13" name="Shape 11"/>
          <p:cNvSpPr/>
          <p:nvPr/>
        </p:nvSpPr>
        <p:spPr>
          <a:xfrm>
            <a:off x="6858000" y="2624328"/>
            <a:ext cx="457200" cy="45720"/>
          </a:xfrm>
          <a:prstGeom prst="rect">
            <a:avLst/>
          </a:prstGeom>
          <a:solidFill>
            <a:srgbClr val="A87C4F"/>
          </a:solidFill>
          <a:ln w="12700">
            <a:solidFill>
              <a:srgbClr val="333333"/>
            </a:solidFill>
            <a:prstDash val="solid"/>
          </a:ln>
        </p:spPr>
      </p:sp>
      <p:sp>
        <p:nvSpPr>
          <p:cNvPr id="14" name="Text 12"/>
          <p:cNvSpPr txBox="1"/>
          <p:nvPr/>
        </p:nvSpPr>
        <p:spPr>
          <a:xfrm>
            <a:off x="6858000" y="2752344"/>
            <a:ext cx="4389120" cy="274320"/>
          </a:xfrm>
          <a:prstGeom prst="rect">
            <a:avLst/>
          </a:prstGeom>
          <a:noFill/>
          <a:ln/>
        </p:spPr>
        <p:txBody>
          <a:bodyPr wrap="square" lIns="0" tIns="0" rIns="0" bIns="0" rtlCol="0" anchor="t"/>
          <a:lstStyle/>
          <a:p>
            <a:pPr algn="l" indent="0" marL="0">
              <a:buNone/>
            </a:pPr>
            <a:r>
              <a:rPr lang="en-US" sz="1800" b="1" dirty="0">
                <a:solidFill>
                  <a:srgbClr val="1B3A2F"/>
                </a:solidFill>
                <a:latin typeface="Cambria" pitchFamily="34" charset="0"/>
                <a:ea typeface="Cambria" pitchFamily="34" charset="-122"/>
                <a:cs typeface="Cambria" pitchFamily="34" charset="-120"/>
              </a:rPr>
              <a:t>Regresi</a:t>
            </a:r>
            <a:endParaRPr lang="en-US" sz="1800" dirty="0"/>
          </a:p>
        </p:txBody>
      </p:sp>
      <p:sp>
        <p:nvSpPr>
          <p:cNvPr id="15" name="Text 13"/>
          <p:cNvSpPr txBox="1"/>
          <p:nvPr/>
        </p:nvSpPr>
        <p:spPr>
          <a:xfrm>
            <a:off x="6858000" y="3063240"/>
            <a:ext cx="4389120" cy="274320"/>
          </a:xfrm>
          <a:prstGeom prst="rect">
            <a:avLst/>
          </a:prstGeom>
          <a:noFill/>
          <a:ln/>
        </p:spPr>
        <p:txBody>
          <a:bodyPr wrap="square" lIns="0" tIns="0" rIns="0" bIns="0" rtlCol="0" anchor="t"/>
          <a:lstStyle/>
          <a:p>
            <a:pPr algn="l" indent="0" marL="0">
              <a:buNone/>
            </a:pPr>
            <a:r>
              <a:rPr lang="en-US" sz="1350" dirty="0">
                <a:solidFill>
                  <a:srgbClr val="17261F"/>
                </a:solidFill>
                <a:latin typeface="Calibri" pitchFamily="34" charset="0"/>
                <a:ea typeface="Calibri" pitchFamily="34" charset="-122"/>
                <a:cs typeface="Calibri" pitchFamily="34" charset="-120"/>
              </a:rPr>
              <a:t>Ambil rata-rata prediksi seluruh pohon.</a:t>
            </a:r>
            <a:endParaRPr lang="en-US" sz="1350" dirty="0"/>
          </a:p>
        </p:txBody>
      </p:sp>
      <p:sp>
        <p:nvSpPr>
          <p:cNvPr id="16" name="Shape 14"/>
          <p:cNvSpPr/>
          <p:nvPr/>
        </p:nvSpPr>
        <p:spPr>
          <a:xfrm>
            <a:off x="6537960" y="3566160"/>
            <a:ext cx="5029200" cy="1737360"/>
          </a:xfrm>
          <a:prstGeom prst="roundRect">
            <a:avLst>
              <a:gd name="adj" fmla="val 4737"/>
            </a:avLst>
          </a:prstGeom>
          <a:solidFill>
            <a:srgbClr val="EDF2E4"/>
          </a:solidFill>
          <a:ln w="12700">
            <a:solidFill>
              <a:srgbClr val="D5E2BC"/>
            </a:solidFill>
            <a:prstDash val="solid"/>
          </a:ln>
          <a:effectLst>
            <a:outerShdw sx="100000" sy="100000" kx="0" ky="0" algn="bl" rotWithShape="0" blurRad="101600" dist="508" dir="5400000">
              <a:srgbClr val="AFBCB0">
                <a:alpha val="30000"/>
              </a:srgbClr>
            </a:outerShdw>
          </a:effectLst>
        </p:spPr>
      </p:sp>
      <p:sp>
        <p:nvSpPr>
          <p:cNvPr id="17" name="Text 15"/>
          <p:cNvSpPr txBox="1"/>
          <p:nvPr/>
        </p:nvSpPr>
        <p:spPr>
          <a:xfrm>
            <a:off x="6858000" y="3749040"/>
            <a:ext cx="4389120" cy="274320"/>
          </a:xfrm>
          <a:prstGeom prst="rect">
            <a:avLst/>
          </a:prstGeom>
          <a:noFill/>
          <a:ln/>
        </p:spPr>
        <p:txBody>
          <a:bodyPr wrap="square" lIns="0" tIns="0" rIns="0" bIns="0" rtlCol="0" anchor="t"/>
          <a:lstStyle/>
          <a:p>
            <a:pPr algn="l" indent="0" marL="0">
              <a:buNone/>
            </a:pPr>
            <a:r>
              <a:rPr lang="en-US" sz="1700" b="1" dirty="0">
                <a:solidFill>
                  <a:srgbClr val="4E6614"/>
                </a:solidFill>
                <a:latin typeface="Cambria" pitchFamily="34" charset="0"/>
                <a:ea typeface="Cambria" pitchFamily="34" charset="-122"/>
                <a:cs typeface="Cambria" pitchFamily="34" charset="-120"/>
              </a:rPr>
              <a:t>Syarat mutlak</a:t>
            </a:r>
            <a:endParaRPr lang="en-US" sz="1700" dirty="0"/>
          </a:p>
        </p:txBody>
      </p:sp>
      <p:sp>
        <p:nvSpPr>
          <p:cNvPr id="18" name="Text 16"/>
          <p:cNvSpPr txBox="1"/>
          <p:nvPr/>
        </p:nvSpPr>
        <p:spPr>
          <a:xfrm>
            <a:off x="6858000" y="4069080"/>
            <a:ext cx="4389120" cy="1097280"/>
          </a:xfrm>
          <a:prstGeom prst="rect">
            <a:avLst/>
          </a:prstGeom>
          <a:noFill/>
          <a:ln/>
        </p:spPr>
        <p:txBody>
          <a:bodyPr wrap="square" lIns="0" tIns="0" rIns="0" bIns="0" rtlCol="0" anchor="t"/>
          <a:lstStyle/>
          <a:p>
            <a:pPr algn="l" indent="0" marL="0">
              <a:lnSpc>
                <a:spcPct val="130000"/>
              </a:lnSpc>
              <a:buNone/>
            </a:pPr>
            <a:r>
              <a:rPr lang="en-US" sz="1350" dirty="0">
                <a:solidFill>
                  <a:srgbClr val="4E6614"/>
                </a:solidFill>
                <a:latin typeface="Calibri" pitchFamily="34" charset="0"/>
                <a:ea typeface="Calibri" pitchFamily="34" charset="-122"/>
                <a:cs typeface="Calibri" pitchFamily="34" charset="-120"/>
              </a:rPr>
              <a:t>Pohon-pohon itu harus benar-benar berbeda satu sama lain. Seribu pohon yang identik tidak lebih baik dari satu pohon — mereka akan salah bersama-sama.</a:t>
            </a:r>
            <a:endParaRPr lang="en-US" sz="1350" dirty="0"/>
          </a:p>
        </p:txBody>
      </p:sp>
      <p:sp>
        <p:nvSpPr>
          <p:cNvPr id="19" name="Text 17"/>
          <p:cNvSpPr txBox="1"/>
          <p:nvPr/>
        </p:nvSpPr>
        <p:spPr>
          <a:xfrm>
            <a:off x="594360" y="5486400"/>
            <a:ext cx="11002975" cy="411480"/>
          </a:xfrm>
          <a:prstGeom prst="rect">
            <a:avLst/>
          </a:prstGeom>
          <a:noFill/>
          <a:ln/>
        </p:spPr>
        <p:txBody>
          <a:bodyPr wrap="square" lIns="0" tIns="0" rIns="0" bIns="0" rtlCol="0" anchor="t"/>
          <a:lstStyle/>
          <a:p>
            <a:pPr algn="ctr" indent="0" marL="0">
              <a:buNone/>
            </a:pPr>
            <a:r>
              <a:rPr lang="en-US" sz="1450" b="1" dirty="0">
                <a:solidFill>
                  <a:srgbClr val="1B3A2F"/>
                </a:solidFill>
                <a:latin typeface="Calibri" pitchFamily="34" charset="0"/>
                <a:ea typeface="Calibri" pitchFamily="34" charset="-122"/>
                <a:cs typeface="Calibri" pitchFamily="34" charset="-120"/>
              </a:rPr>
              <a:t>Dua cara menciptakan perbedaan itu — bagging dan boosting — melahirkan dua keluarga algoritma yang sangat berbeda watak.</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5F1"/>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7FA327"/>
                </a:solidFill>
                <a:latin typeface="Calibri" pitchFamily="34" charset="0"/>
                <a:ea typeface="Calibri" pitchFamily="34" charset="-122"/>
                <a:cs typeface="Calibri" pitchFamily="34" charset="-120"/>
              </a:rPr>
              <a:t>KELUARGA PERTAMA</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B3A2F"/>
                </a:solidFill>
                <a:latin typeface="Cambria" pitchFamily="34" charset="0"/>
                <a:ea typeface="Cambria" pitchFamily="34" charset="-122"/>
                <a:cs typeface="Cambria" pitchFamily="34" charset="-120"/>
              </a:rPr>
              <a:t>Bagging dan Random Forest</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1756A"/>
                </a:solidFill>
                <a:latin typeface="Calibri" pitchFamily="34" charset="0"/>
                <a:ea typeface="Calibri" pitchFamily="34" charset="-122"/>
                <a:cs typeface="Calibri" pitchFamily="34" charset="-120"/>
              </a:rPr>
              <a:t>15</a:t>
            </a:r>
            <a:endParaRPr lang="en-US" sz="1000" dirty="0"/>
          </a:p>
        </p:txBody>
      </p:sp>
      <p:sp>
        <p:nvSpPr>
          <p:cNvPr id="5" name="Text 3"/>
          <p:cNvSpPr txBox="1"/>
          <p:nvPr/>
        </p:nvSpPr>
        <p:spPr>
          <a:xfrm>
            <a:off x="594360" y="1234440"/>
            <a:ext cx="11002975" cy="365760"/>
          </a:xfrm>
          <a:prstGeom prst="rect">
            <a:avLst/>
          </a:prstGeom>
          <a:noFill/>
          <a:ln/>
        </p:spPr>
        <p:txBody>
          <a:bodyPr wrap="square" lIns="0" tIns="0" rIns="0" bIns="0" rtlCol="0" anchor="t"/>
          <a:lstStyle/>
          <a:p>
            <a:pPr algn="l" indent="0" marL="0">
              <a:buNone/>
            </a:pPr>
            <a:r>
              <a:rPr lang="en-US" sz="1600" dirty="0">
                <a:solidFill>
                  <a:srgbClr val="17261F"/>
                </a:solidFill>
                <a:latin typeface="Calibri" pitchFamily="34" charset="0"/>
                <a:ea typeface="Calibri" pitchFamily="34" charset="-122"/>
                <a:cs typeface="Calibri" pitchFamily="34" charset="-120"/>
              </a:rPr>
              <a:t>Latih banyak pohon secara sejajar dan saling bebas, masing-masing pada versi data yang sedikit berbeda.</a:t>
            </a:r>
            <a:endParaRPr lang="en-US" sz="1600" dirty="0"/>
          </a:p>
        </p:txBody>
      </p:sp>
      <p:sp>
        <p:nvSpPr>
          <p:cNvPr id="6" name="Shape 4"/>
          <p:cNvSpPr/>
          <p:nvPr/>
        </p:nvSpPr>
        <p:spPr>
          <a:xfrm>
            <a:off x="594360" y="1737360"/>
            <a:ext cx="6949440" cy="868680"/>
          </a:xfrm>
          <a:prstGeom prst="roundRect">
            <a:avLst>
              <a:gd name="adj" fmla="val 9474"/>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7" name="Shape 5"/>
          <p:cNvSpPr/>
          <p:nvPr/>
        </p:nvSpPr>
        <p:spPr>
          <a:xfrm>
            <a:off x="868680" y="1911096"/>
            <a:ext cx="530352" cy="530352"/>
          </a:xfrm>
          <a:prstGeom prst="ellipse">
            <a:avLst/>
          </a:prstGeom>
          <a:solidFill>
            <a:srgbClr val="7FA327"/>
          </a:solidFill>
          <a:ln w="12700">
            <a:solidFill>
              <a:srgbClr val="333333"/>
            </a:solidFill>
            <a:prstDash val="solid"/>
          </a:ln>
        </p:spPr>
      </p:sp>
      <p:sp>
        <p:nvSpPr>
          <p:cNvPr id="8" name="Text 6"/>
          <p:cNvSpPr txBox="1"/>
          <p:nvPr/>
        </p:nvSpPr>
        <p:spPr>
          <a:xfrm>
            <a:off x="868680" y="1911096"/>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9" name="Text 7"/>
          <p:cNvSpPr txBox="1"/>
          <p:nvPr/>
        </p:nvSpPr>
        <p:spPr>
          <a:xfrm>
            <a:off x="1554480" y="1828800"/>
            <a:ext cx="2194560" cy="685800"/>
          </a:xfrm>
          <a:prstGeom prst="rect">
            <a:avLst/>
          </a:prstGeom>
          <a:noFill/>
          <a:ln/>
        </p:spPr>
        <p:txBody>
          <a:bodyPr wrap="square" lIns="0" tIns="0" rIns="0" bIns="0" rtlCol="0" anchor="ctr"/>
          <a:lstStyle/>
          <a:p>
            <a:pPr algn="l" indent="0" marL="0">
              <a:lnSpc>
                <a:spcPct val="110000"/>
              </a:lnSpc>
              <a:buNone/>
            </a:pPr>
            <a:r>
              <a:rPr lang="en-US" sz="1400" b="1" dirty="0">
                <a:solidFill>
                  <a:srgbClr val="1B3A2F"/>
                </a:solidFill>
                <a:latin typeface="Calibri" pitchFamily="34" charset="0"/>
                <a:ea typeface="Calibri" pitchFamily="34" charset="-122"/>
                <a:cs typeface="Calibri" pitchFamily="34" charset="-120"/>
              </a:rPr>
              <a:t>Ambil sampel data</a:t>
            </a:r>
            <a:endParaRPr lang="en-US" sz="1400" dirty="0"/>
          </a:p>
        </p:txBody>
      </p:sp>
      <p:sp>
        <p:nvSpPr>
          <p:cNvPr id="10" name="Text 8"/>
          <p:cNvSpPr txBox="1"/>
          <p:nvPr/>
        </p:nvSpPr>
        <p:spPr>
          <a:xfrm>
            <a:off x="3840480" y="1810512"/>
            <a:ext cx="3977640" cy="731520"/>
          </a:xfrm>
          <a:prstGeom prst="rect">
            <a:avLst/>
          </a:prstGeom>
          <a:noFill/>
          <a:ln/>
        </p:spPr>
        <p:txBody>
          <a:bodyPr wrap="square" lIns="0" tIns="0" rIns="0" bIns="0" rtlCol="0" anchor="ctr"/>
          <a:lstStyle/>
          <a:p>
            <a:pPr algn="l" indent="0" marL="0">
              <a:lnSpc>
                <a:spcPct val="118000"/>
              </a:lnSpc>
              <a:buNone/>
            </a:pPr>
            <a:r>
              <a:rPr lang="en-US" sz="1150" dirty="0">
                <a:solidFill>
                  <a:srgbClr val="17261F"/>
                </a:solidFill>
                <a:latin typeface="Calibri" pitchFamily="34" charset="0"/>
                <a:ea typeface="Calibri" pitchFamily="34" charset="-122"/>
                <a:cs typeface="Calibri" pitchFamily="34" charset="-120"/>
              </a:rPr>
              <a:t>Dari data latih, ambil contoh acak dengan pengembalian — sebagian baris terambil berulang, sebagian tidak terambil sama sekali.</a:t>
            </a:r>
            <a:endParaRPr lang="en-US" sz="1150" dirty="0"/>
          </a:p>
        </p:txBody>
      </p:sp>
      <p:sp>
        <p:nvSpPr>
          <p:cNvPr id="11" name="Shape 9"/>
          <p:cNvSpPr/>
          <p:nvPr/>
        </p:nvSpPr>
        <p:spPr>
          <a:xfrm>
            <a:off x="594360" y="2715768"/>
            <a:ext cx="6949440" cy="868680"/>
          </a:xfrm>
          <a:prstGeom prst="roundRect">
            <a:avLst>
              <a:gd name="adj" fmla="val 9474"/>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12" name="Shape 10"/>
          <p:cNvSpPr/>
          <p:nvPr/>
        </p:nvSpPr>
        <p:spPr>
          <a:xfrm>
            <a:off x="868680" y="2889504"/>
            <a:ext cx="530352" cy="530352"/>
          </a:xfrm>
          <a:prstGeom prst="ellipse">
            <a:avLst/>
          </a:prstGeom>
          <a:solidFill>
            <a:srgbClr val="7FA327"/>
          </a:solidFill>
          <a:ln w="12700">
            <a:solidFill>
              <a:srgbClr val="333333"/>
            </a:solidFill>
            <a:prstDash val="solid"/>
          </a:ln>
        </p:spPr>
      </p:sp>
      <p:sp>
        <p:nvSpPr>
          <p:cNvPr id="13" name="Text 11"/>
          <p:cNvSpPr txBox="1"/>
          <p:nvPr/>
        </p:nvSpPr>
        <p:spPr>
          <a:xfrm>
            <a:off x="868680" y="2889504"/>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4" name="Text 12"/>
          <p:cNvSpPr txBox="1"/>
          <p:nvPr/>
        </p:nvSpPr>
        <p:spPr>
          <a:xfrm>
            <a:off x="1554480" y="2807208"/>
            <a:ext cx="2194560" cy="685800"/>
          </a:xfrm>
          <a:prstGeom prst="rect">
            <a:avLst/>
          </a:prstGeom>
          <a:noFill/>
          <a:ln/>
        </p:spPr>
        <p:txBody>
          <a:bodyPr wrap="square" lIns="0" tIns="0" rIns="0" bIns="0" rtlCol="0" anchor="ctr"/>
          <a:lstStyle/>
          <a:p>
            <a:pPr algn="l" indent="0" marL="0">
              <a:lnSpc>
                <a:spcPct val="110000"/>
              </a:lnSpc>
              <a:buNone/>
            </a:pPr>
            <a:r>
              <a:rPr lang="en-US" sz="1400" b="1" dirty="0">
                <a:solidFill>
                  <a:srgbClr val="1B3A2F"/>
                </a:solidFill>
                <a:latin typeface="Calibri" pitchFamily="34" charset="0"/>
                <a:ea typeface="Calibri" pitchFamily="34" charset="-122"/>
                <a:cs typeface="Calibri" pitchFamily="34" charset="-120"/>
              </a:rPr>
              <a:t>Acak juga fiturnya</a:t>
            </a:r>
            <a:endParaRPr lang="en-US" sz="1400" dirty="0"/>
          </a:p>
        </p:txBody>
      </p:sp>
      <p:sp>
        <p:nvSpPr>
          <p:cNvPr id="15" name="Text 13"/>
          <p:cNvSpPr txBox="1"/>
          <p:nvPr/>
        </p:nvSpPr>
        <p:spPr>
          <a:xfrm>
            <a:off x="3840480" y="2788920"/>
            <a:ext cx="3977640" cy="731520"/>
          </a:xfrm>
          <a:prstGeom prst="rect">
            <a:avLst/>
          </a:prstGeom>
          <a:noFill/>
          <a:ln/>
        </p:spPr>
        <p:txBody>
          <a:bodyPr wrap="square" lIns="0" tIns="0" rIns="0" bIns="0" rtlCol="0" anchor="ctr"/>
          <a:lstStyle/>
          <a:p>
            <a:pPr algn="l" indent="0" marL="0">
              <a:lnSpc>
                <a:spcPct val="118000"/>
              </a:lnSpc>
              <a:buNone/>
            </a:pPr>
            <a:r>
              <a:rPr lang="en-US" sz="1150" dirty="0">
                <a:solidFill>
                  <a:srgbClr val="17261F"/>
                </a:solidFill>
                <a:latin typeface="Calibri" pitchFamily="34" charset="0"/>
                <a:ea typeface="Calibri" pitchFamily="34" charset="-122"/>
                <a:cs typeface="Calibri" pitchFamily="34" charset="-120"/>
              </a:rPr>
              <a:t>Pada tiap simpul, hanya sebagian fitur yang boleh dipertimbangkan. Inilah yang membedakan Random Forest dari bagging biasa.</a:t>
            </a:r>
            <a:endParaRPr lang="en-US" sz="1150" dirty="0"/>
          </a:p>
        </p:txBody>
      </p:sp>
      <p:sp>
        <p:nvSpPr>
          <p:cNvPr id="16" name="Shape 14"/>
          <p:cNvSpPr/>
          <p:nvPr/>
        </p:nvSpPr>
        <p:spPr>
          <a:xfrm>
            <a:off x="594360" y="3694176"/>
            <a:ext cx="6949440" cy="868680"/>
          </a:xfrm>
          <a:prstGeom prst="roundRect">
            <a:avLst>
              <a:gd name="adj" fmla="val 9474"/>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17" name="Shape 15"/>
          <p:cNvSpPr/>
          <p:nvPr/>
        </p:nvSpPr>
        <p:spPr>
          <a:xfrm>
            <a:off x="868680" y="3867912"/>
            <a:ext cx="530352" cy="530352"/>
          </a:xfrm>
          <a:prstGeom prst="ellipse">
            <a:avLst/>
          </a:prstGeom>
          <a:solidFill>
            <a:srgbClr val="7FA327"/>
          </a:solidFill>
          <a:ln w="12700">
            <a:solidFill>
              <a:srgbClr val="333333"/>
            </a:solidFill>
            <a:prstDash val="solid"/>
          </a:ln>
        </p:spPr>
      </p:sp>
      <p:sp>
        <p:nvSpPr>
          <p:cNvPr id="18" name="Text 16"/>
          <p:cNvSpPr txBox="1"/>
          <p:nvPr/>
        </p:nvSpPr>
        <p:spPr>
          <a:xfrm>
            <a:off x="868680" y="3867912"/>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9" name="Text 17"/>
          <p:cNvSpPr txBox="1"/>
          <p:nvPr/>
        </p:nvSpPr>
        <p:spPr>
          <a:xfrm>
            <a:off x="1554480" y="3785616"/>
            <a:ext cx="2194560" cy="685800"/>
          </a:xfrm>
          <a:prstGeom prst="rect">
            <a:avLst/>
          </a:prstGeom>
          <a:noFill/>
          <a:ln/>
        </p:spPr>
        <p:txBody>
          <a:bodyPr wrap="square" lIns="0" tIns="0" rIns="0" bIns="0" rtlCol="0" anchor="ctr"/>
          <a:lstStyle/>
          <a:p>
            <a:pPr algn="l" indent="0" marL="0">
              <a:lnSpc>
                <a:spcPct val="110000"/>
              </a:lnSpc>
              <a:buNone/>
            </a:pPr>
            <a:r>
              <a:rPr lang="en-US" sz="1400" b="1" dirty="0">
                <a:solidFill>
                  <a:srgbClr val="1B3A2F"/>
                </a:solidFill>
                <a:latin typeface="Calibri" pitchFamily="34" charset="0"/>
                <a:ea typeface="Calibri" pitchFamily="34" charset="-122"/>
                <a:cs typeface="Calibri" pitchFamily="34" charset="-120"/>
              </a:rPr>
              <a:t>Tanam pohon penuh</a:t>
            </a:r>
            <a:endParaRPr lang="en-US" sz="1400" dirty="0"/>
          </a:p>
        </p:txBody>
      </p:sp>
      <p:sp>
        <p:nvSpPr>
          <p:cNvPr id="20" name="Text 18"/>
          <p:cNvSpPr txBox="1"/>
          <p:nvPr/>
        </p:nvSpPr>
        <p:spPr>
          <a:xfrm>
            <a:off x="3840480" y="3767328"/>
            <a:ext cx="3977640" cy="731520"/>
          </a:xfrm>
          <a:prstGeom prst="rect">
            <a:avLst/>
          </a:prstGeom>
          <a:noFill/>
          <a:ln/>
        </p:spPr>
        <p:txBody>
          <a:bodyPr wrap="square" lIns="0" tIns="0" rIns="0" bIns="0" rtlCol="0" anchor="ctr"/>
          <a:lstStyle/>
          <a:p>
            <a:pPr algn="l" indent="0" marL="0">
              <a:lnSpc>
                <a:spcPct val="118000"/>
              </a:lnSpc>
              <a:buNone/>
            </a:pPr>
            <a:r>
              <a:rPr lang="en-US" sz="1150" dirty="0">
                <a:solidFill>
                  <a:srgbClr val="17261F"/>
                </a:solidFill>
                <a:latin typeface="Calibri" pitchFamily="34" charset="0"/>
                <a:ea typeface="Calibri" pitchFamily="34" charset="-122"/>
                <a:cs typeface="Calibri" pitchFamily="34" charset="-120"/>
              </a:rPr>
              <a:t>Tiap pohon dibiarkan tumbuh dalam. Overfitting satu pohon tidak masalah karena akan diredam oleh yang lain.</a:t>
            </a:r>
            <a:endParaRPr lang="en-US" sz="1150" dirty="0"/>
          </a:p>
        </p:txBody>
      </p:sp>
      <p:sp>
        <p:nvSpPr>
          <p:cNvPr id="21" name="Shape 19"/>
          <p:cNvSpPr/>
          <p:nvPr/>
        </p:nvSpPr>
        <p:spPr>
          <a:xfrm>
            <a:off x="594360" y="4672584"/>
            <a:ext cx="6949440" cy="868680"/>
          </a:xfrm>
          <a:prstGeom prst="roundRect">
            <a:avLst>
              <a:gd name="adj" fmla="val 9474"/>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22" name="Shape 20"/>
          <p:cNvSpPr/>
          <p:nvPr/>
        </p:nvSpPr>
        <p:spPr>
          <a:xfrm>
            <a:off x="868680" y="4846320"/>
            <a:ext cx="530352" cy="530352"/>
          </a:xfrm>
          <a:prstGeom prst="ellipse">
            <a:avLst/>
          </a:prstGeom>
          <a:solidFill>
            <a:srgbClr val="7FA327"/>
          </a:solidFill>
          <a:ln w="12700">
            <a:solidFill>
              <a:srgbClr val="333333"/>
            </a:solidFill>
            <a:prstDash val="solid"/>
          </a:ln>
        </p:spPr>
      </p:sp>
      <p:sp>
        <p:nvSpPr>
          <p:cNvPr id="23" name="Text 21"/>
          <p:cNvSpPr txBox="1"/>
          <p:nvPr/>
        </p:nvSpPr>
        <p:spPr>
          <a:xfrm>
            <a:off x="868680" y="4846320"/>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4" name="Text 22"/>
          <p:cNvSpPr txBox="1"/>
          <p:nvPr/>
        </p:nvSpPr>
        <p:spPr>
          <a:xfrm>
            <a:off x="1554480" y="4764024"/>
            <a:ext cx="2194560" cy="685800"/>
          </a:xfrm>
          <a:prstGeom prst="rect">
            <a:avLst/>
          </a:prstGeom>
          <a:noFill/>
          <a:ln/>
        </p:spPr>
        <p:txBody>
          <a:bodyPr wrap="square" lIns="0" tIns="0" rIns="0" bIns="0" rtlCol="0" anchor="ctr"/>
          <a:lstStyle/>
          <a:p>
            <a:pPr algn="l" indent="0" marL="0">
              <a:lnSpc>
                <a:spcPct val="110000"/>
              </a:lnSpc>
              <a:buNone/>
            </a:pPr>
            <a:r>
              <a:rPr lang="en-US" sz="1400" b="1" dirty="0">
                <a:solidFill>
                  <a:srgbClr val="1B3A2F"/>
                </a:solidFill>
                <a:latin typeface="Calibri" pitchFamily="34" charset="0"/>
                <a:ea typeface="Calibri" pitchFamily="34" charset="-122"/>
                <a:cs typeface="Calibri" pitchFamily="34" charset="-120"/>
              </a:rPr>
              <a:t>Gabungkan suaranya</a:t>
            </a:r>
            <a:endParaRPr lang="en-US" sz="1400" dirty="0"/>
          </a:p>
        </p:txBody>
      </p:sp>
      <p:sp>
        <p:nvSpPr>
          <p:cNvPr id="25" name="Text 23"/>
          <p:cNvSpPr txBox="1"/>
          <p:nvPr/>
        </p:nvSpPr>
        <p:spPr>
          <a:xfrm>
            <a:off x="3840480" y="4745736"/>
            <a:ext cx="3977640" cy="731520"/>
          </a:xfrm>
          <a:prstGeom prst="rect">
            <a:avLst/>
          </a:prstGeom>
          <a:noFill/>
          <a:ln/>
        </p:spPr>
        <p:txBody>
          <a:bodyPr wrap="square" lIns="0" tIns="0" rIns="0" bIns="0" rtlCol="0" anchor="ctr"/>
          <a:lstStyle/>
          <a:p>
            <a:pPr algn="l" indent="0" marL="0">
              <a:lnSpc>
                <a:spcPct val="118000"/>
              </a:lnSpc>
              <a:buNone/>
            </a:pPr>
            <a:r>
              <a:rPr lang="en-US" sz="1150" dirty="0">
                <a:solidFill>
                  <a:srgbClr val="17261F"/>
                </a:solidFill>
                <a:latin typeface="Calibri" pitchFamily="34" charset="0"/>
                <a:ea typeface="Calibri" pitchFamily="34" charset="-122"/>
                <a:cs typeface="Calibri" pitchFamily="34" charset="-120"/>
              </a:rPr>
              <a:t>Suara terbanyak untuk klasifikasi, rata-rata untuk regresi.</a:t>
            </a:r>
            <a:endParaRPr lang="en-US" sz="1150" dirty="0"/>
          </a:p>
        </p:txBody>
      </p:sp>
      <p:sp>
        <p:nvSpPr>
          <p:cNvPr id="26" name="Shape 24"/>
          <p:cNvSpPr/>
          <p:nvPr/>
        </p:nvSpPr>
        <p:spPr>
          <a:xfrm>
            <a:off x="7818120" y="1737360"/>
            <a:ext cx="3749040" cy="1965960"/>
          </a:xfrm>
          <a:prstGeom prst="roundRect">
            <a:avLst>
              <a:gd name="adj" fmla="val 4186"/>
            </a:avLst>
          </a:prstGeom>
          <a:solidFill>
            <a:srgbClr val="1B3A2F"/>
          </a:solidFill>
          <a:ln w="12700">
            <a:solidFill>
              <a:srgbClr val="1B3A2F"/>
            </a:solidFill>
            <a:prstDash val="solid"/>
          </a:ln>
          <a:effectLst>
            <a:outerShdw sx="100000" sy="100000" kx="0" ky="0" algn="bl" rotWithShape="0" blurRad="101600" dist="508" dir="5400000">
              <a:srgbClr val="AFBCB0">
                <a:alpha val="30000"/>
              </a:srgbClr>
            </a:outerShdw>
          </a:effectLst>
        </p:spPr>
      </p:sp>
      <p:sp>
        <p:nvSpPr>
          <p:cNvPr id="27" name="Text 25"/>
          <p:cNvSpPr txBox="1"/>
          <p:nvPr/>
        </p:nvSpPr>
        <p:spPr>
          <a:xfrm>
            <a:off x="8092440" y="1920240"/>
            <a:ext cx="3200400" cy="274320"/>
          </a:xfrm>
          <a:prstGeom prst="rect">
            <a:avLst/>
          </a:prstGeom>
          <a:noFill/>
          <a:ln/>
        </p:spPr>
        <p:txBody>
          <a:bodyPr wrap="square" lIns="0" tIns="0" rIns="0" bIns="0" rtlCol="0" anchor="t"/>
          <a:lstStyle/>
          <a:p>
            <a:pPr algn="l" indent="0" marL="0">
              <a:buNone/>
            </a:pPr>
            <a:r>
              <a:rPr lang="en-US" sz="1700" b="1" dirty="0">
                <a:solidFill>
                  <a:srgbClr val="B5D45A"/>
                </a:solidFill>
                <a:latin typeface="Cambria" pitchFamily="34" charset="0"/>
                <a:ea typeface="Cambria" pitchFamily="34" charset="-122"/>
                <a:cs typeface="Cambria" pitchFamily="34" charset="-120"/>
              </a:rPr>
              <a:t>Apa yang diperbaiki</a:t>
            </a:r>
            <a:endParaRPr lang="en-US" sz="1700" dirty="0"/>
          </a:p>
        </p:txBody>
      </p:sp>
      <p:sp>
        <p:nvSpPr>
          <p:cNvPr id="28" name="Text 26"/>
          <p:cNvSpPr txBox="1"/>
          <p:nvPr/>
        </p:nvSpPr>
        <p:spPr>
          <a:xfrm>
            <a:off x="8092440" y="2267712"/>
            <a:ext cx="3200400" cy="1280160"/>
          </a:xfrm>
          <a:prstGeom prst="rect">
            <a:avLst/>
          </a:prstGeom>
          <a:noFill/>
          <a:ln/>
        </p:spPr>
        <p:txBody>
          <a:bodyPr wrap="square" lIns="0" tIns="0" rIns="0" bIns="0" rtlCol="0" anchor="t"/>
          <a:lstStyle/>
          <a:p>
            <a:pPr algn="l" indent="0" marL="0">
              <a:lnSpc>
                <a:spcPct val="130000"/>
              </a:lnSpc>
              <a:buNone/>
            </a:pPr>
            <a:r>
              <a:rPr lang="en-US" sz="1300" dirty="0">
                <a:solidFill>
                  <a:srgbClr val="FFFFFF"/>
                </a:solidFill>
                <a:latin typeface="Calibri" pitchFamily="34" charset="0"/>
                <a:ea typeface="Calibri" pitchFamily="34" charset="-122"/>
                <a:cs typeface="Calibri" pitchFamily="34" charset="-120"/>
              </a:rPr>
              <a:t>Variance turun tajam tanpa menaikkan bias — satu-satunya perbaikan tanpa kompromi yang kita bahas di pertemuan 5.</a:t>
            </a:r>
            <a:endParaRPr lang="en-US" sz="1300" dirty="0"/>
          </a:p>
        </p:txBody>
      </p:sp>
      <p:sp>
        <p:nvSpPr>
          <p:cNvPr id="29" name="Shape 27"/>
          <p:cNvSpPr/>
          <p:nvPr/>
        </p:nvSpPr>
        <p:spPr>
          <a:xfrm>
            <a:off x="7818120" y="3840480"/>
            <a:ext cx="3749040" cy="1828800"/>
          </a:xfrm>
          <a:prstGeom prst="roundRect">
            <a:avLst>
              <a:gd name="adj" fmla="val 4500"/>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30" name="Text 28"/>
          <p:cNvSpPr txBox="1"/>
          <p:nvPr/>
        </p:nvSpPr>
        <p:spPr>
          <a:xfrm>
            <a:off x="8092440" y="4023360"/>
            <a:ext cx="3200400" cy="274320"/>
          </a:xfrm>
          <a:prstGeom prst="rect">
            <a:avLst/>
          </a:prstGeom>
          <a:noFill/>
          <a:ln/>
        </p:spPr>
        <p:txBody>
          <a:bodyPr wrap="square" lIns="0" tIns="0" rIns="0" bIns="0" rtlCol="0" anchor="t"/>
          <a:lstStyle/>
          <a:p>
            <a:pPr algn="l" indent="0" marL="0">
              <a:buNone/>
            </a:pPr>
            <a:r>
              <a:rPr lang="en-US" sz="1700" b="1" dirty="0">
                <a:solidFill>
                  <a:srgbClr val="7FA327"/>
                </a:solidFill>
                <a:latin typeface="Cambria" pitchFamily="34" charset="0"/>
                <a:ea typeface="Cambria" pitchFamily="34" charset="-122"/>
                <a:cs typeface="Cambria" pitchFamily="34" charset="-120"/>
              </a:rPr>
              <a:t>Sifat praktis</a:t>
            </a:r>
            <a:endParaRPr lang="en-US" sz="1700" dirty="0"/>
          </a:p>
        </p:txBody>
      </p:sp>
      <p:sp>
        <p:nvSpPr>
          <p:cNvPr id="31" name="Text 29"/>
          <p:cNvSpPr txBox="1"/>
          <p:nvPr/>
        </p:nvSpPr>
        <p:spPr>
          <a:xfrm>
            <a:off x="8092440" y="4343400"/>
            <a:ext cx="3200400" cy="12344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7261F"/>
                </a:solidFill>
                <a:latin typeface="Calibri" pitchFamily="34" charset="0"/>
                <a:ea typeface="Calibri" pitchFamily="34" charset="-122"/>
                <a:cs typeface="Calibri" pitchFamily="34" charset="-120"/>
              </a:rPr>
              <a:t>Sangat sulit dibuat overfitting</a:t>
            </a:r>
            <a:endParaRPr lang="en-US" sz="1250" dirty="0"/>
          </a:p>
          <a:p>
            <a:pPr marL="342900" indent="-342900">
              <a:spcAft>
                <a:spcPts val="500"/>
              </a:spcAft>
              <a:buSzPct val="100000"/>
              <a:buChar char="•"/>
            </a:pPr>
            <a:r>
              <a:rPr lang="en-US" sz="1250" dirty="0">
                <a:solidFill>
                  <a:srgbClr val="17261F"/>
                </a:solidFill>
                <a:latin typeface="Calibri" pitchFamily="34" charset="0"/>
                <a:ea typeface="Calibri" pitchFamily="34" charset="-122"/>
                <a:cs typeface="Calibri" pitchFamily="34" charset="-120"/>
              </a:rPr>
              <a:t>Dapat dilatih paralel</a:t>
            </a:r>
            <a:endParaRPr lang="en-US" sz="1250" dirty="0"/>
          </a:p>
          <a:p>
            <a:pPr marL="342900" indent="-342900">
              <a:spcAft>
                <a:spcPts val="500"/>
              </a:spcAft>
              <a:buSzPct val="100000"/>
              <a:buChar char="•"/>
            </a:pPr>
            <a:r>
              <a:rPr lang="en-US" sz="1250" dirty="0">
                <a:solidFill>
                  <a:srgbClr val="17261F"/>
                </a:solidFill>
                <a:latin typeface="Calibri" pitchFamily="34" charset="0"/>
                <a:ea typeface="Calibri" pitchFamily="34" charset="-122"/>
                <a:cs typeface="Calibri" pitchFamily="34" charset="-120"/>
              </a:rPr>
              <a:t>Hampir tidak perlu tuning</a:t>
            </a:r>
            <a:endParaRPr lang="en-US" sz="1250" dirty="0"/>
          </a:p>
          <a:p>
            <a:pPr marL="342900" indent="-342900">
              <a:spcAft>
                <a:spcPts val="500"/>
              </a:spcAft>
              <a:buSzPct val="100000"/>
              <a:buChar char="•"/>
            </a:pPr>
            <a:r>
              <a:rPr lang="en-US" sz="1250" dirty="0">
                <a:solidFill>
                  <a:srgbClr val="17261F"/>
                </a:solidFill>
                <a:latin typeface="Calibri" pitchFamily="34" charset="0"/>
                <a:ea typeface="Calibri" pitchFamily="34" charset="-122"/>
                <a:cs typeface="Calibri" pitchFamily="34" charset="-120"/>
              </a:rPr>
              <a:t>Kehilangan keterbacaan</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3A2F"/>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B5D45A"/>
                </a:solidFill>
                <a:latin typeface="Calibri" pitchFamily="34" charset="0"/>
                <a:ea typeface="Calibri" pitchFamily="34" charset="-122"/>
                <a:cs typeface="Calibri" pitchFamily="34" charset="-120"/>
              </a:rPr>
              <a:t>KELUARGA KEDUA</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Boosting: belajar dari kesalahan</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86A093"/>
                </a:solidFill>
                <a:latin typeface="Calibri" pitchFamily="34" charset="0"/>
                <a:ea typeface="Calibri" pitchFamily="34" charset="-122"/>
                <a:cs typeface="Calibri" pitchFamily="34" charset="-120"/>
              </a:rPr>
              <a:t>16</a:t>
            </a:r>
            <a:endParaRPr lang="en-US" sz="1000" dirty="0"/>
          </a:p>
        </p:txBody>
      </p:sp>
      <p:sp>
        <p:nvSpPr>
          <p:cNvPr id="5" name="Text 3"/>
          <p:cNvSpPr txBox="1"/>
          <p:nvPr/>
        </p:nvSpPr>
        <p:spPr>
          <a:xfrm>
            <a:off x="594360" y="1234440"/>
            <a:ext cx="11002975" cy="457200"/>
          </a:xfrm>
          <a:prstGeom prst="rect">
            <a:avLst/>
          </a:prstGeom>
          <a:noFill/>
          <a:ln/>
        </p:spPr>
        <p:txBody>
          <a:bodyPr wrap="square" lIns="0" tIns="0" rIns="0" bIns="0" rtlCol="0" anchor="t"/>
          <a:lstStyle/>
          <a:p>
            <a:pPr algn="l" indent="0" marL="0">
              <a:lnSpc>
                <a:spcPct val="130000"/>
              </a:lnSpc>
              <a:buNone/>
            </a:pPr>
            <a:r>
              <a:rPr lang="en-US" sz="1600" dirty="0">
                <a:solidFill>
                  <a:srgbClr val="D3DDD6"/>
                </a:solidFill>
                <a:latin typeface="Calibri" pitchFamily="34" charset="0"/>
                <a:ea typeface="Calibri" pitchFamily="34" charset="-122"/>
                <a:cs typeface="Calibri" pitchFamily="34" charset="-120"/>
              </a:rPr>
              <a:t>Latih pohon secara berurutan. Setiap pohon baru dibangun khusus untuk memperbaiki kesalahan yang ditinggalkan pohon-pohon sebelumnya.</a:t>
            </a:r>
            <a:endParaRPr lang="en-US" sz="1600" dirty="0"/>
          </a:p>
        </p:txBody>
      </p:sp>
      <p:sp>
        <p:nvSpPr>
          <p:cNvPr id="6" name="Shape 4"/>
          <p:cNvSpPr/>
          <p:nvPr/>
        </p:nvSpPr>
        <p:spPr>
          <a:xfrm>
            <a:off x="594360" y="1828800"/>
            <a:ext cx="2606040" cy="1371600"/>
          </a:xfrm>
          <a:prstGeom prst="roundRect">
            <a:avLst>
              <a:gd name="adj" fmla="val 6000"/>
            </a:avLst>
          </a:prstGeom>
          <a:solidFill>
            <a:srgbClr val="27503F"/>
          </a:solidFill>
          <a:ln w="12700">
            <a:solidFill>
              <a:srgbClr val="3A6B57"/>
            </a:solidFill>
            <a:prstDash val="solid"/>
          </a:ln>
          <a:effectLst>
            <a:outerShdw sx="100000" sy="100000" kx="0" ky="0" algn="bl" rotWithShape="0" blurRad="101600" dist="508" dir="5400000">
              <a:srgbClr val="AFBCB0">
                <a:alpha val="30000"/>
              </a:srgbClr>
            </a:outerShdw>
          </a:effectLst>
        </p:spPr>
      </p:sp>
      <p:sp>
        <p:nvSpPr>
          <p:cNvPr id="7" name="Text 5"/>
          <p:cNvSpPr txBox="1"/>
          <p:nvPr/>
        </p:nvSpPr>
        <p:spPr>
          <a:xfrm>
            <a:off x="777240" y="2011680"/>
            <a:ext cx="2240280" cy="320040"/>
          </a:xfrm>
          <a:prstGeom prst="rect">
            <a:avLst/>
          </a:prstGeom>
          <a:noFill/>
          <a:ln/>
        </p:spPr>
        <p:txBody>
          <a:bodyPr wrap="square" lIns="0" tIns="0" rIns="0" bIns="0" rtlCol="0" anchor="t"/>
          <a:lstStyle/>
          <a:p>
            <a:pPr algn="ctr" indent="0" marL="0">
              <a:buNone/>
            </a:pPr>
            <a:r>
              <a:rPr lang="en-US" sz="1600" b="1" dirty="0">
                <a:solidFill>
                  <a:srgbClr val="B5D45A"/>
                </a:solidFill>
                <a:latin typeface="Cambria" pitchFamily="34" charset="0"/>
                <a:ea typeface="Cambria" pitchFamily="34" charset="-122"/>
                <a:cs typeface="Cambria" pitchFamily="34" charset="-120"/>
              </a:rPr>
              <a:t>Pohon 1</a:t>
            </a:r>
            <a:endParaRPr lang="en-US" sz="1600" dirty="0"/>
          </a:p>
        </p:txBody>
      </p:sp>
      <p:sp>
        <p:nvSpPr>
          <p:cNvPr id="8" name="Text 6"/>
          <p:cNvSpPr txBox="1"/>
          <p:nvPr/>
        </p:nvSpPr>
        <p:spPr>
          <a:xfrm>
            <a:off x="777240" y="2377440"/>
            <a:ext cx="2240280" cy="685800"/>
          </a:xfrm>
          <a:prstGeom prst="rect">
            <a:avLst/>
          </a:prstGeom>
          <a:noFill/>
          <a:ln/>
        </p:spPr>
        <p:txBody>
          <a:bodyPr wrap="square" lIns="0" tIns="0" rIns="0" bIns="0" rtlCol="0" anchor="t"/>
          <a:lstStyle/>
          <a:p>
            <a:pPr algn="ctr" indent="0" marL="0">
              <a:lnSpc>
                <a:spcPct val="125000"/>
              </a:lnSpc>
              <a:buNone/>
            </a:pPr>
            <a:r>
              <a:rPr lang="en-US" sz="1200" dirty="0">
                <a:solidFill>
                  <a:srgbClr val="D3DDD6"/>
                </a:solidFill>
                <a:latin typeface="Calibri" pitchFamily="34" charset="0"/>
                <a:ea typeface="Calibri" pitchFamily="34" charset="-122"/>
                <a:cs typeface="Calibri" pitchFamily="34" charset="-120"/>
              </a:rPr>
              <a:t>Menebak kasar. Banyak yang keliru.</a:t>
            </a:r>
            <a:endParaRPr lang="en-US" sz="1200" dirty="0"/>
          </a:p>
        </p:txBody>
      </p:sp>
      <p:sp>
        <p:nvSpPr>
          <p:cNvPr id="9" name="Text 7"/>
          <p:cNvSpPr txBox="1"/>
          <p:nvPr/>
        </p:nvSpPr>
        <p:spPr>
          <a:xfrm>
            <a:off x="3218688" y="2286000"/>
            <a:ext cx="219456" cy="457200"/>
          </a:xfrm>
          <a:prstGeom prst="rect">
            <a:avLst/>
          </a:prstGeom>
          <a:noFill/>
          <a:ln/>
        </p:spPr>
        <p:txBody>
          <a:bodyPr wrap="square" lIns="0" tIns="0" rIns="0" bIns="0" rtlCol="0" anchor="ctr"/>
          <a:lstStyle/>
          <a:p>
            <a:pPr algn="ctr" indent="0" marL="0">
              <a:buNone/>
            </a:pPr>
            <a:r>
              <a:rPr lang="en-US" sz="2400" b="1" dirty="0">
                <a:solidFill>
                  <a:srgbClr val="B5D45A"/>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3419856" y="1828800"/>
            <a:ext cx="2606040" cy="1371600"/>
          </a:xfrm>
          <a:prstGeom prst="roundRect">
            <a:avLst>
              <a:gd name="adj" fmla="val 6000"/>
            </a:avLst>
          </a:prstGeom>
          <a:solidFill>
            <a:srgbClr val="27503F"/>
          </a:solidFill>
          <a:ln w="12700">
            <a:solidFill>
              <a:srgbClr val="3A6B57"/>
            </a:solidFill>
            <a:prstDash val="solid"/>
          </a:ln>
          <a:effectLst>
            <a:outerShdw sx="100000" sy="100000" kx="0" ky="0" algn="bl" rotWithShape="0" blurRad="101600" dist="508" dir="5400000">
              <a:srgbClr val="AFBCB0">
                <a:alpha val="30000"/>
              </a:srgbClr>
            </a:outerShdw>
          </a:effectLst>
        </p:spPr>
      </p:sp>
      <p:sp>
        <p:nvSpPr>
          <p:cNvPr id="11" name="Text 9"/>
          <p:cNvSpPr txBox="1"/>
          <p:nvPr/>
        </p:nvSpPr>
        <p:spPr>
          <a:xfrm>
            <a:off x="3602736" y="2011680"/>
            <a:ext cx="2240280" cy="320040"/>
          </a:xfrm>
          <a:prstGeom prst="rect">
            <a:avLst/>
          </a:prstGeom>
          <a:noFill/>
          <a:ln/>
        </p:spPr>
        <p:txBody>
          <a:bodyPr wrap="square" lIns="0" tIns="0" rIns="0" bIns="0" rtlCol="0" anchor="t"/>
          <a:lstStyle/>
          <a:p>
            <a:pPr algn="ctr" indent="0" marL="0">
              <a:buNone/>
            </a:pPr>
            <a:r>
              <a:rPr lang="en-US" sz="1600" b="1" dirty="0">
                <a:solidFill>
                  <a:srgbClr val="B5D45A"/>
                </a:solidFill>
                <a:latin typeface="Cambria" pitchFamily="34" charset="0"/>
                <a:ea typeface="Cambria" pitchFamily="34" charset="-122"/>
                <a:cs typeface="Cambria" pitchFamily="34" charset="-120"/>
              </a:rPr>
              <a:t>Pohon 2</a:t>
            </a:r>
            <a:endParaRPr lang="en-US" sz="1600" dirty="0"/>
          </a:p>
        </p:txBody>
      </p:sp>
      <p:sp>
        <p:nvSpPr>
          <p:cNvPr id="12" name="Text 10"/>
          <p:cNvSpPr txBox="1"/>
          <p:nvPr/>
        </p:nvSpPr>
        <p:spPr>
          <a:xfrm>
            <a:off x="3602736" y="2377440"/>
            <a:ext cx="2240280" cy="685800"/>
          </a:xfrm>
          <a:prstGeom prst="rect">
            <a:avLst/>
          </a:prstGeom>
          <a:noFill/>
          <a:ln/>
        </p:spPr>
        <p:txBody>
          <a:bodyPr wrap="square" lIns="0" tIns="0" rIns="0" bIns="0" rtlCol="0" anchor="t"/>
          <a:lstStyle/>
          <a:p>
            <a:pPr algn="ctr" indent="0" marL="0">
              <a:lnSpc>
                <a:spcPct val="125000"/>
              </a:lnSpc>
              <a:buNone/>
            </a:pPr>
            <a:r>
              <a:rPr lang="en-US" sz="1200" dirty="0">
                <a:solidFill>
                  <a:srgbClr val="D3DDD6"/>
                </a:solidFill>
                <a:latin typeface="Calibri" pitchFamily="34" charset="0"/>
                <a:ea typeface="Calibri" pitchFamily="34" charset="-122"/>
                <a:cs typeface="Calibri" pitchFamily="34" charset="-120"/>
              </a:rPr>
              <a:t>Fokus pada kasus yang keliru tadi.</a:t>
            </a:r>
            <a:endParaRPr lang="en-US" sz="1200" dirty="0"/>
          </a:p>
        </p:txBody>
      </p:sp>
      <p:sp>
        <p:nvSpPr>
          <p:cNvPr id="13" name="Text 11"/>
          <p:cNvSpPr txBox="1"/>
          <p:nvPr/>
        </p:nvSpPr>
        <p:spPr>
          <a:xfrm>
            <a:off x="6044184" y="2286000"/>
            <a:ext cx="219456" cy="457200"/>
          </a:xfrm>
          <a:prstGeom prst="rect">
            <a:avLst/>
          </a:prstGeom>
          <a:noFill/>
          <a:ln/>
        </p:spPr>
        <p:txBody>
          <a:bodyPr wrap="square" lIns="0" tIns="0" rIns="0" bIns="0" rtlCol="0" anchor="ctr"/>
          <a:lstStyle/>
          <a:p>
            <a:pPr algn="ctr" indent="0" marL="0">
              <a:buNone/>
            </a:pPr>
            <a:r>
              <a:rPr lang="en-US" sz="2400" b="1" dirty="0">
                <a:solidFill>
                  <a:srgbClr val="B5D45A"/>
                </a:solidFill>
                <a:latin typeface="Calibri" pitchFamily="34" charset="0"/>
                <a:ea typeface="Calibri" pitchFamily="34" charset="-122"/>
                <a:cs typeface="Calibri" pitchFamily="34" charset="-120"/>
              </a:rPr>
              <a:t>›</a:t>
            </a:r>
            <a:endParaRPr lang="en-US" sz="2400" dirty="0"/>
          </a:p>
        </p:txBody>
      </p:sp>
      <p:sp>
        <p:nvSpPr>
          <p:cNvPr id="14" name="Shape 12"/>
          <p:cNvSpPr/>
          <p:nvPr/>
        </p:nvSpPr>
        <p:spPr>
          <a:xfrm>
            <a:off x="6245352" y="1828800"/>
            <a:ext cx="2606040" cy="1371600"/>
          </a:xfrm>
          <a:prstGeom prst="roundRect">
            <a:avLst>
              <a:gd name="adj" fmla="val 6000"/>
            </a:avLst>
          </a:prstGeom>
          <a:solidFill>
            <a:srgbClr val="27503F"/>
          </a:solidFill>
          <a:ln w="12700">
            <a:solidFill>
              <a:srgbClr val="3A6B57"/>
            </a:solidFill>
            <a:prstDash val="solid"/>
          </a:ln>
          <a:effectLst>
            <a:outerShdw sx="100000" sy="100000" kx="0" ky="0" algn="bl" rotWithShape="0" blurRad="101600" dist="508" dir="5400000">
              <a:srgbClr val="AFBCB0">
                <a:alpha val="30000"/>
              </a:srgbClr>
            </a:outerShdw>
          </a:effectLst>
        </p:spPr>
      </p:sp>
      <p:sp>
        <p:nvSpPr>
          <p:cNvPr id="15" name="Text 13"/>
          <p:cNvSpPr txBox="1"/>
          <p:nvPr/>
        </p:nvSpPr>
        <p:spPr>
          <a:xfrm>
            <a:off x="6428232" y="2011680"/>
            <a:ext cx="2240280" cy="320040"/>
          </a:xfrm>
          <a:prstGeom prst="rect">
            <a:avLst/>
          </a:prstGeom>
          <a:noFill/>
          <a:ln/>
        </p:spPr>
        <p:txBody>
          <a:bodyPr wrap="square" lIns="0" tIns="0" rIns="0" bIns="0" rtlCol="0" anchor="t"/>
          <a:lstStyle/>
          <a:p>
            <a:pPr algn="ctr" indent="0" marL="0">
              <a:buNone/>
            </a:pPr>
            <a:r>
              <a:rPr lang="en-US" sz="1600" b="1" dirty="0">
                <a:solidFill>
                  <a:srgbClr val="B5D45A"/>
                </a:solidFill>
                <a:latin typeface="Cambria" pitchFamily="34" charset="0"/>
                <a:ea typeface="Cambria" pitchFamily="34" charset="-122"/>
                <a:cs typeface="Cambria" pitchFamily="34" charset="-120"/>
              </a:rPr>
              <a:t>Pohon 3</a:t>
            </a:r>
            <a:endParaRPr lang="en-US" sz="1600" dirty="0"/>
          </a:p>
        </p:txBody>
      </p:sp>
      <p:sp>
        <p:nvSpPr>
          <p:cNvPr id="16" name="Text 14"/>
          <p:cNvSpPr txBox="1"/>
          <p:nvPr/>
        </p:nvSpPr>
        <p:spPr>
          <a:xfrm>
            <a:off x="6428232" y="2377440"/>
            <a:ext cx="2240280" cy="685800"/>
          </a:xfrm>
          <a:prstGeom prst="rect">
            <a:avLst/>
          </a:prstGeom>
          <a:noFill/>
          <a:ln/>
        </p:spPr>
        <p:txBody>
          <a:bodyPr wrap="square" lIns="0" tIns="0" rIns="0" bIns="0" rtlCol="0" anchor="t"/>
          <a:lstStyle/>
          <a:p>
            <a:pPr algn="ctr" indent="0" marL="0">
              <a:lnSpc>
                <a:spcPct val="125000"/>
              </a:lnSpc>
              <a:buNone/>
            </a:pPr>
            <a:r>
              <a:rPr lang="en-US" sz="1200" dirty="0">
                <a:solidFill>
                  <a:srgbClr val="D3DDD6"/>
                </a:solidFill>
                <a:latin typeface="Calibri" pitchFamily="34" charset="0"/>
                <a:ea typeface="Calibri" pitchFamily="34" charset="-122"/>
                <a:cs typeface="Calibri" pitchFamily="34" charset="-120"/>
              </a:rPr>
              <a:t>Fokus pada sisa kesalahan berikutnya.</a:t>
            </a:r>
            <a:endParaRPr lang="en-US" sz="1200" dirty="0"/>
          </a:p>
        </p:txBody>
      </p:sp>
      <p:sp>
        <p:nvSpPr>
          <p:cNvPr id="17" name="Text 15"/>
          <p:cNvSpPr txBox="1"/>
          <p:nvPr/>
        </p:nvSpPr>
        <p:spPr>
          <a:xfrm>
            <a:off x="8869680" y="2286000"/>
            <a:ext cx="219456" cy="457200"/>
          </a:xfrm>
          <a:prstGeom prst="rect">
            <a:avLst/>
          </a:prstGeom>
          <a:noFill/>
          <a:ln/>
        </p:spPr>
        <p:txBody>
          <a:bodyPr wrap="square" lIns="0" tIns="0" rIns="0" bIns="0" rtlCol="0" anchor="ctr"/>
          <a:lstStyle/>
          <a:p>
            <a:pPr algn="ctr" indent="0" marL="0">
              <a:buNone/>
            </a:pPr>
            <a:r>
              <a:rPr lang="en-US" sz="2400" b="1" dirty="0">
                <a:solidFill>
                  <a:srgbClr val="B5D45A"/>
                </a:solidFill>
                <a:latin typeface="Calibri" pitchFamily="34" charset="0"/>
                <a:ea typeface="Calibri" pitchFamily="34" charset="-122"/>
                <a:cs typeface="Calibri" pitchFamily="34" charset="-120"/>
              </a:rPr>
              <a:t>›</a:t>
            </a:r>
            <a:endParaRPr lang="en-US" sz="2400" dirty="0"/>
          </a:p>
        </p:txBody>
      </p:sp>
      <p:sp>
        <p:nvSpPr>
          <p:cNvPr id="18" name="Shape 16"/>
          <p:cNvSpPr/>
          <p:nvPr/>
        </p:nvSpPr>
        <p:spPr>
          <a:xfrm>
            <a:off x="9070848" y="1828800"/>
            <a:ext cx="2606040" cy="1371600"/>
          </a:xfrm>
          <a:prstGeom prst="roundRect">
            <a:avLst>
              <a:gd name="adj" fmla="val 6000"/>
            </a:avLst>
          </a:prstGeom>
          <a:solidFill>
            <a:srgbClr val="27503F"/>
          </a:solidFill>
          <a:ln w="12700">
            <a:solidFill>
              <a:srgbClr val="3A6B57"/>
            </a:solidFill>
            <a:prstDash val="solid"/>
          </a:ln>
          <a:effectLst>
            <a:outerShdw sx="100000" sy="100000" kx="0" ky="0" algn="bl" rotWithShape="0" blurRad="101600" dist="508" dir="5400000">
              <a:srgbClr val="AFBCB0">
                <a:alpha val="30000"/>
              </a:srgbClr>
            </a:outerShdw>
          </a:effectLst>
        </p:spPr>
      </p:sp>
      <p:sp>
        <p:nvSpPr>
          <p:cNvPr id="19" name="Text 17"/>
          <p:cNvSpPr txBox="1"/>
          <p:nvPr/>
        </p:nvSpPr>
        <p:spPr>
          <a:xfrm>
            <a:off x="9253728" y="2011680"/>
            <a:ext cx="2240280" cy="320040"/>
          </a:xfrm>
          <a:prstGeom prst="rect">
            <a:avLst/>
          </a:prstGeom>
          <a:noFill/>
          <a:ln/>
        </p:spPr>
        <p:txBody>
          <a:bodyPr wrap="square" lIns="0" tIns="0" rIns="0" bIns="0" rtlCol="0" anchor="t"/>
          <a:lstStyle/>
          <a:p>
            <a:pPr algn="ctr" indent="0" marL="0">
              <a:buNone/>
            </a:pPr>
            <a:r>
              <a:rPr lang="en-US" sz="1600" b="1" dirty="0">
                <a:solidFill>
                  <a:srgbClr val="B5D45A"/>
                </a:solidFill>
                <a:latin typeface="Cambria" pitchFamily="34" charset="0"/>
                <a:ea typeface="Cambria" pitchFamily="34" charset="-122"/>
                <a:cs typeface="Cambria" pitchFamily="34" charset="-120"/>
              </a:rPr>
              <a:t>Pohon n</a:t>
            </a:r>
            <a:endParaRPr lang="en-US" sz="1600" dirty="0"/>
          </a:p>
        </p:txBody>
      </p:sp>
      <p:sp>
        <p:nvSpPr>
          <p:cNvPr id="20" name="Text 18"/>
          <p:cNvSpPr txBox="1"/>
          <p:nvPr/>
        </p:nvSpPr>
        <p:spPr>
          <a:xfrm>
            <a:off x="9253728" y="2377440"/>
            <a:ext cx="2240280" cy="685800"/>
          </a:xfrm>
          <a:prstGeom prst="rect">
            <a:avLst/>
          </a:prstGeom>
          <a:noFill/>
          <a:ln/>
        </p:spPr>
        <p:txBody>
          <a:bodyPr wrap="square" lIns="0" tIns="0" rIns="0" bIns="0" rtlCol="0" anchor="t"/>
          <a:lstStyle/>
          <a:p>
            <a:pPr algn="ctr" indent="0" marL="0">
              <a:lnSpc>
                <a:spcPct val="125000"/>
              </a:lnSpc>
              <a:buNone/>
            </a:pPr>
            <a:r>
              <a:rPr lang="en-US" sz="1200" dirty="0">
                <a:solidFill>
                  <a:srgbClr val="D3DDD6"/>
                </a:solidFill>
                <a:latin typeface="Calibri" pitchFamily="34" charset="0"/>
                <a:ea typeface="Calibri" pitchFamily="34" charset="-122"/>
                <a:cs typeface="Calibri" pitchFamily="34" charset="-120"/>
              </a:rPr>
              <a:t>Sisa kesalahan tinggal sedikit.</a:t>
            </a:r>
            <a:endParaRPr lang="en-US" sz="1200" dirty="0"/>
          </a:p>
        </p:txBody>
      </p:sp>
      <p:sp>
        <p:nvSpPr>
          <p:cNvPr id="21" name="Shape 19"/>
          <p:cNvSpPr/>
          <p:nvPr/>
        </p:nvSpPr>
        <p:spPr>
          <a:xfrm>
            <a:off x="594360" y="3429000"/>
            <a:ext cx="5303520" cy="1600200"/>
          </a:xfrm>
          <a:prstGeom prst="roundRect">
            <a:avLst>
              <a:gd name="adj" fmla="val 5143"/>
            </a:avLst>
          </a:prstGeom>
          <a:solidFill>
            <a:srgbClr val="27503F"/>
          </a:solidFill>
          <a:ln w="12700">
            <a:solidFill>
              <a:srgbClr val="3A6B57"/>
            </a:solidFill>
            <a:prstDash val="solid"/>
          </a:ln>
          <a:effectLst>
            <a:outerShdw sx="100000" sy="100000" kx="0" ky="0" algn="bl" rotWithShape="0" blurRad="101600" dist="508" dir="5400000">
              <a:srgbClr val="AFBCB0">
                <a:alpha val="30000"/>
              </a:srgbClr>
            </a:outerShdw>
          </a:effectLst>
        </p:spPr>
      </p:sp>
      <p:sp>
        <p:nvSpPr>
          <p:cNvPr id="22" name="Shape 20"/>
          <p:cNvSpPr/>
          <p:nvPr/>
        </p:nvSpPr>
        <p:spPr>
          <a:xfrm>
            <a:off x="960120" y="3657600"/>
            <a:ext cx="457200" cy="45720"/>
          </a:xfrm>
          <a:prstGeom prst="rect">
            <a:avLst/>
          </a:prstGeom>
          <a:solidFill>
            <a:srgbClr val="B5D45A"/>
          </a:solidFill>
          <a:ln w="12700">
            <a:solidFill>
              <a:srgbClr val="333333"/>
            </a:solidFill>
            <a:prstDash val="solid"/>
          </a:ln>
        </p:spPr>
      </p:sp>
      <p:sp>
        <p:nvSpPr>
          <p:cNvPr id="23" name="Text 21"/>
          <p:cNvSpPr txBox="1"/>
          <p:nvPr/>
        </p:nvSpPr>
        <p:spPr>
          <a:xfrm>
            <a:off x="960120" y="3794760"/>
            <a:ext cx="4572000" cy="320040"/>
          </a:xfrm>
          <a:prstGeom prst="rect">
            <a:avLst/>
          </a:prstGeom>
          <a:noFill/>
          <a:ln/>
        </p:spPr>
        <p:txBody>
          <a:bodyPr wrap="square" lIns="0" tIns="0" rIns="0" bIns="0" rtlCol="0" anchor="t"/>
          <a:lstStyle/>
          <a:p>
            <a:pPr algn="l" indent="0" marL="0">
              <a:buNone/>
            </a:pPr>
            <a:r>
              <a:rPr lang="en-US" sz="1800" b="1" dirty="0">
                <a:solidFill>
                  <a:srgbClr val="B5D45A"/>
                </a:solidFill>
                <a:latin typeface="Cambria" pitchFamily="34" charset="0"/>
                <a:ea typeface="Cambria" pitchFamily="34" charset="-122"/>
                <a:cs typeface="Cambria" pitchFamily="34" charset="-120"/>
              </a:rPr>
              <a:t>Yang diperbaiki</a:t>
            </a:r>
            <a:endParaRPr lang="en-US" sz="1800" dirty="0"/>
          </a:p>
        </p:txBody>
      </p:sp>
      <p:sp>
        <p:nvSpPr>
          <p:cNvPr id="24" name="Text 22"/>
          <p:cNvSpPr txBox="1"/>
          <p:nvPr/>
        </p:nvSpPr>
        <p:spPr>
          <a:xfrm>
            <a:off x="960120" y="4160520"/>
            <a:ext cx="4572000" cy="777240"/>
          </a:xfrm>
          <a:prstGeom prst="rect">
            <a:avLst/>
          </a:prstGeom>
          <a:noFill/>
          <a:ln/>
        </p:spPr>
        <p:txBody>
          <a:bodyPr wrap="square" lIns="0" tIns="0" rIns="0" bIns="0" rtlCol="0" anchor="t"/>
          <a:lstStyle/>
          <a:p>
            <a:pPr algn="l" indent="0" marL="0">
              <a:lnSpc>
                <a:spcPct val="130000"/>
              </a:lnSpc>
              <a:buNone/>
            </a:pPr>
            <a:r>
              <a:rPr lang="en-US" sz="1350" dirty="0">
                <a:solidFill>
                  <a:srgbClr val="FFFFFF"/>
                </a:solidFill>
                <a:latin typeface="Calibri" pitchFamily="34" charset="0"/>
                <a:ea typeface="Calibri" pitchFamily="34" charset="-122"/>
                <a:cs typeface="Calibri" pitchFamily="34" charset="-120"/>
              </a:rPr>
              <a:t>Bias turun tajam. Boosting mengubah sekumpulan pohon dangkal yang lemah menjadi satu model yang sangat akurat.</a:t>
            </a:r>
            <a:endParaRPr lang="en-US" sz="1350" dirty="0"/>
          </a:p>
        </p:txBody>
      </p:sp>
      <p:sp>
        <p:nvSpPr>
          <p:cNvPr id="25" name="Shape 23"/>
          <p:cNvSpPr/>
          <p:nvPr/>
        </p:nvSpPr>
        <p:spPr>
          <a:xfrm>
            <a:off x="6263640" y="3429000"/>
            <a:ext cx="5303520" cy="1600200"/>
          </a:xfrm>
          <a:prstGeom prst="roundRect">
            <a:avLst>
              <a:gd name="adj" fmla="val 5143"/>
            </a:avLst>
          </a:prstGeom>
          <a:solidFill>
            <a:srgbClr val="27503F"/>
          </a:solidFill>
          <a:ln w="12700">
            <a:solidFill>
              <a:srgbClr val="3A6B57"/>
            </a:solidFill>
            <a:prstDash val="solid"/>
          </a:ln>
          <a:effectLst>
            <a:outerShdw sx="100000" sy="100000" kx="0" ky="0" algn="bl" rotWithShape="0" blurRad="101600" dist="508" dir="5400000">
              <a:srgbClr val="AFBCB0">
                <a:alpha val="30000"/>
              </a:srgbClr>
            </a:outerShdw>
          </a:effectLst>
        </p:spPr>
      </p:sp>
      <p:sp>
        <p:nvSpPr>
          <p:cNvPr id="26" name="Shape 24"/>
          <p:cNvSpPr/>
          <p:nvPr/>
        </p:nvSpPr>
        <p:spPr>
          <a:xfrm>
            <a:off x="6629400" y="3657600"/>
            <a:ext cx="457200" cy="45720"/>
          </a:xfrm>
          <a:prstGeom prst="rect">
            <a:avLst/>
          </a:prstGeom>
          <a:solidFill>
            <a:srgbClr val="8E4A6B"/>
          </a:solidFill>
          <a:ln w="12700">
            <a:solidFill>
              <a:srgbClr val="333333"/>
            </a:solidFill>
            <a:prstDash val="solid"/>
          </a:ln>
        </p:spPr>
      </p:sp>
      <p:sp>
        <p:nvSpPr>
          <p:cNvPr id="27" name="Text 25"/>
          <p:cNvSpPr txBox="1"/>
          <p:nvPr/>
        </p:nvSpPr>
        <p:spPr>
          <a:xfrm>
            <a:off x="6629400" y="3794760"/>
            <a:ext cx="4572000" cy="320040"/>
          </a:xfrm>
          <a:prstGeom prst="rect">
            <a:avLst/>
          </a:prstGeom>
          <a:noFill/>
          <a:ln/>
        </p:spPr>
        <p:txBody>
          <a:bodyPr wrap="square" lIns="0" tIns="0" rIns="0" bIns="0" rtlCol="0" anchor="t"/>
          <a:lstStyle/>
          <a:p>
            <a:pPr algn="l" indent="0" marL="0">
              <a:buNone/>
            </a:pPr>
            <a:r>
              <a:rPr lang="en-US" sz="1800" b="1" dirty="0">
                <a:solidFill>
                  <a:srgbClr val="8E4A6B"/>
                </a:solidFill>
                <a:latin typeface="Cambria" pitchFamily="34" charset="0"/>
                <a:ea typeface="Cambria" pitchFamily="34" charset="-122"/>
                <a:cs typeface="Cambria" pitchFamily="34" charset="-120"/>
              </a:rPr>
              <a:t>Harga yang dibayar</a:t>
            </a:r>
            <a:endParaRPr lang="en-US" sz="1800" dirty="0"/>
          </a:p>
        </p:txBody>
      </p:sp>
      <p:sp>
        <p:nvSpPr>
          <p:cNvPr id="28" name="Text 26"/>
          <p:cNvSpPr txBox="1"/>
          <p:nvPr/>
        </p:nvSpPr>
        <p:spPr>
          <a:xfrm>
            <a:off x="6629400" y="4160520"/>
            <a:ext cx="4572000" cy="777240"/>
          </a:xfrm>
          <a:prstGeom prst="rect">
            <a:avLst/>
          </a:prstGeom>
          <a:noFill/>
          <a:ln/>
        </p:spPr>
        <p:txBody>
          <a:bodyPr wrap="square" lIns="0" tIns="0" rIns="0" bIns="0" rtlCol="0" anchor="t"/>
          <a:lstStyle/>
          <a:p>
            <a:pPr algn="l" indent="0" marL="0">
              <a:lnSpc>
                <a:spcPct val="130000"/>
              </a:lnSpc>
              <a:buNone/>
            </a:pPr>
            <a:r>
              <a:rPr lang="en-US" sz="1350" dirty="0">
                <a:solidFill>
                  <a:srgbClr val="FFFFFF"/>
                </a:solidFill>
                <a:latin typeface="Calibri" pitchFamily="34" charset="0"/>
                <a:ea typeface="Calibri" pitchFamily="34" charset="-122"/>
                <a:cs typeface="Calibri" pitchFamily="34" charset="-120"/>
              </a:rPr>
              <a:t>Rentan overfitting bila dibiarkan terlalu lama. Tidak bisa diparalelkan karena tiap pohon menunggu pendahulunya. Butuh tuning yang cermat.</a:t>
            </a:r>
            <a:endParaRPr lang="en-US" sz="1350" dirty="0"/>
          </a:p>
        </p:txBody>
      </p:sp>
      <p:sp>
        <p:nvSpPr>
          <p:cNvPr id="29" name="Text 27"/>
          <p:cNvSpPr txBox="1"/>
          <p:nvPr/>
        </p:nvSpPr>
        <p:spPr>
          <a:xfrm>
            <a:off x="594360" y="5257800"/>
            <a:ext cx="11002975" cy="411480"/>
          </a:xfrm>
          <a:prstGeom prst="rect">
            <a:avLst/>
          </a:prstGeom>
          <a:noFill/>
          <a:ln/>
        </p:spPr>
        <p:txBody>
          <a:bodyPr wrap="square" lIns="0" tIns="0" rIns="0" bIns="0" rtlCol="0" anchor="t"/>
          <a:lstStyle/>
          <a:p>
            <a:pPr algn="ctr" indent="0" marL="0">
              <a:buNone/>
            </a:pPr>
            <a:r>
              <a:rPr lang="en-US" sz="1400" i="1" dirty="0">
                <a:solidFill>
                  <a:srgbClr val="BCCCC0"/>
                </a:solidFill>
                <a:latin typeface="Calibri" pitchFamily="34" charset="0"/>
                <a:ea typeface="Calibri" pitchFamily="34" charset="-122"/>
                <a:cs typeface="Calibri" pitchFamily="34" charset="-120"/>
              </a:rPr>
              <a:t>Nama yang akan Anda temui: Gradient Boosting, XGBoost, LightGBM, CatBoost. Keempatnya varian dari gagasan yang sama.</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5F1"/>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7FA327"/>
                </a:solidFill>
                <a:latin typeface="Calibri" pitchFamily="34" charset="0"/>
                <a:ea typeface="Calibri" pitchFamily="34" charset="-122"/>
                <a:cs typeface="Calibri" pitchFamily="34" charset="-120"/>
              </a:rPr>
              <a:t>PERBANDINGAN</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B3A2F"/>
                </a:solidFill>
                <a:latin typeface="Cambria" pitchFamily="34" charset="0"/>
                <a:ea typeface="Cambria" pitchFamily="34" charset="-122"/>
                <a:cs typeface="Cambria" pitchFamily="34" charset="-120"/>
              </a:rPr>
              <a:t>Bagging atau boosting?</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1756A"/>
                </a:solidFill>
                <a:latin typeface="Calibri" pitchFamily="34" charset="0"/>
                <a:ea typeface="Calibri" pitchFamily="34" charset="-122"/>
                <a:cs typeface="Calibri"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94360" y="1371600"/>
          <a:ext cx="11002975" cy="914400"/>
        </p:xfrm>
        <a:graphic>
          <a:graphicData uri="http://schemas.openxmlformats.org/drawingml/2006/table">
            <a:tbl>
              <a:tblPr/>
              <a:tblGrid>
                <a:gridCol w="2651760"/>
                <a:gridCol w="4206240"/>
                <a:gridCol w="4142232"/>
              </a:tblGrid>
              <a:tr h="457200">
                <a:tc>
                  <a:txBody>
                    <a:bodyPr/>
                    <a:lstStyle/>
                    <a:p>
                      <a:pPr indent="0" marL="0">
                        <a:buNone/>
                      </a:pPr>
                      <a:endParaRPr lang="en-US" sz="130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1B3A2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Bagging  ·  Random Forest</a:t>
                      </a:r>
                      <a:endParaRPr lang="en-US" sz="130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1B3A2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Boosting  ·  XGBoost dan sejenisnya</a:t>
                      </a:r>
                      <a:endParaRPr lang="en-US" sz="130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1B3A2F"/>
                    </a:solidFill>
                  </a:tcPr>
                </a:tc>
              </a:tr>
              <a:tr h="457200">
                <a:tc>
                  <a:txBody>
                    <a:bodyPr/>
                    <a:lstStyle/>
                    <a:p>
                      <a:pPr indent="0" marL="0">
                        <a:buNone/>
                      </a:pPr>
                      <a:r>
                        <a:rPr lang="en-US" sz="1300" dirty="0">
                          <a:solidFill>
                            <a:srgbClr val="17261F"/>
                          </a:solidFill>
                          <a:latin typeface="Calibri" pitchFamily="34" charset="0"/>
                          <a:ea typeface="Calibri" pitchFamily="34" charset="-122"/>
                          <a:cs typeface="Calibri" pitchFamily="34" charset="-120"/>
                        </a:rPr>
                        <a:t>Cara melatih</a:t>
                      </a:r>
                      <a:endParaRPr lang="en-US" sz="130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c>
                  <a:txBody>
                    <a:bodyPr/>
                    <a:lstStyle/>
                    <a:p>
                      <a:pPr indent="0" marL="0">
                        <a:buNone/>
                      </a:pPr>
                      <a:r>
                        <a:rPr lang="en-US" sz="1300" dirty="0">
                          <a:solidFill>
                            <a:srgbClr val="17261F"/>
                          </a:solidFill>
                          <a:latin typeface="Calibri" pitchFamily="34" charset="0"/>
                          <a:ea typeface="Calibri" pitchFamily="34" charset="-122"/>
                          <a:cs typeface="Calibri" pitchFamily="34" charset="-120"/>
                        </a:rPr>
                        <a:t>Sejajar dan saling bebas</a:t>
                      </a:r>
                      <a:endParaRPr lang="en-US" sz="130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c>
                  <a:txBody>
                    <a:bodyPr/>
                    <a:lstStyle/>
                    <a:p>
                      <a:pPr indent="0" marL="0">
                        <a:buNone/>
                      </a:pPr>
                      <a:r>
                        <a:rPr lang="en-US" sz="1300" dirty="0">
                          <a:solidFill>
                            <a:srgbClr val="17261F"/>
                          </a:solidFill>
                          <a:latin typeface="Calibri" pitchFamily="34" charset="0"/>
                          <a:ea typeface="Calibri" pitchFamily="34" charset="-122"/>
                          <a:cs typeface="Calibri" pitchFamily="34" charset="-120"/>
                        </a:rPr>
                        <a:t>Berurutan, saling bergantung</a:t>
                      </a:r>
                      <a:endParaRPr lang="en-US" sz="130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7261F"/>
                          </a:solidFill>
                          <a:latin typeface="Calibri" pitchFamily="34" charset="0"/>
                          <a:ea typeface="Calibri" pitchFamily="34" charset="-122"/>
                          <a:cs typeface="Calibri" pitchFamily="34" charset="-120"/>
                        </a:rPr>
                        <a:t>Sumber perbedaan</a:t>
                      </a:r>
                      <a:endParaRPr lang="en-US" sz="130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c>
                  <a:txBody>
                    <a:bodyPr/>
                    <a:lstStyle/>
                    <a:p>
                      <a:pPr indent="0" marL="0">
                        <a:buNone/>
                      </a:pPr>
                      <a:r>
                        <a:rPr lang="en-US" sz="1300" dirty="0">
                          <a:solidFill>
                            <a:srgbClr val="17261F"/>
                          </a:solidFill>
                          <a:latin typeface="Calibri" pitchFamily="34" charset="0"/>
                          <a:ea typeface="Calibri" pitchFamily="34" charset="-122"/>
                          <a:cs typeface="Calibri" pitchFamily="34" charset="-120"/>
                        </a:rPr>
                        <a:t>Sampel data dan fitur yang diacak</a:t>
                      </a:r>
                      <a:endParaRPr lang="en-US" sz="130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c>
                  <a:txBody>
                    <a:bodyPr/>
                    <a:lstStyle/>
                    <a:p>
                      <a:pPr indent="0" marL="0">
                        <a:buNone/>
                      </a:pPr>
                      <a:r>
                        <a:rPr lang="en-US" sz="1300" dirty="0">
                          <a:solidFill>
                            <a:srgbClr val="17261F"/>
                          </a:solidFill>
                          <a:latin typeface="Calibri" pitchFamily="34" charset="0"/>
                          <a:ea typeface="Calibri" pitchFamily="34" charset="-122"/>
                          <a:cs typeface="Calibri" pitchFamily="34" charset="-120"/>
                        </a:rPr>
                        <a:t>Fokus pada sisa kesalahan sebelumnya</a:t>
                      </a:r>
                      <a:endParaRPr lang="en-US" sz="130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7261F"/>
                          </a:solidFill>
                          <a:latin typeface="Calibri" pitchFamily="34" charset="0"/>
                          <a:ea typeface="Calibri" pitchFamily="34" charset="-122"/>
                          <a:cs typeface="Calibri" pitchFamily="34" charset="-120"/>
                        </a:rPr>
                        <a:t>Bentuk tiap pohon</a:t>
                      </a:r>
                      <a:endParaRPr lang="en-US" sz="130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c>
                  <a:txBody>
                    <a:bodyPr/>
                    <a:lstStyle/>
                    <a:p>
                      <a:pPr indent="0" marL="0">
                        <a:buNone/>
                      </a:pPr>
                      <a:r>
                        <a:rPr lang="en-US" sz="1300" dirty="0">
                          <a:solidFill>
                            <a:srgbClr val="17261F"/>
                          </a:solidFill>
                          <a:latin typeface="Calibri" pitchFamily="34" charset="0"/>
                          <a:ea typeface="Calibri" pitchFamily="34" charset="-122"/>
                          <a:cs typeface="Calibri" pitchFamily="34" charset="-120"/>
                        </a:rPr>
                        <a:t>Dalam dan penuh</a:t>
                      </a:r>
                      <a:endParaRPr lang="en-US" sz="130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c>
                  <a:txBody>
                    <a:bodyPr/>
                    <a:lstStyle/>
                    <a:p>
                      <a:pPr indent="0" marL="0">
                        <a:buNone/>
                      </a:pPr>
                      <a:r>
                        <a:rPr lang="en-US" sz="1300" dirty="0">
                          <a:solidFill>
                            <a:srgbClr val="17261F"/>
                          </a:solidFill>
                          <a:latin typeface="Calibri" pitchFamily="34" charset="0"/>
                          <a:ea typeface="Calibri" pitchFamily="34" charset="-122"/>
                          <a:cs typeface="Calibri" pitchFamily="34" charset="-120"/>
                        </a:rPr>
                        <a:t>Dangkal dan lemah</a:t>
                      </a:r>
                      <a:endParaRPr lang="en-US" sz="130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7261F"/>
                          </a:solidFill>
                          <a:latin typeface="Calibri" pitchFamily="34" charset="0"/>
                          <a:ea typeface="Calibri" pitchFamily="34" charset="-122"/>
                          <a:cs typeface="Calibri" pitchFamily="34" charset="-120"/>
                        </a:rPr>
                        <a:t>Yang diperbaiki</a:t>
                      </a:r>
                      <a:endParaRPr lang="en-US" sz="130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c>
                  <a:txBody>
                    <a:bodyPr/>
                    <a:lstStyle/>
                    <a:p>
                      <a:pPr indent="0" marL="0">
                        <a:buNone/>
                      </a:pPr>
                      <a:r>
                        <a:rPr lang="en-US" sz="1300" dirty="0">
                          <a:solidFill>
                            <a:srgbClr val="17261F"/>
                          </a:solidFill>
                          <a:latin typeface="Calibri" pitchFamily="34" charset="0"/>
                          <a:ea typeface="Calibri" pitchFamily="34" charset="-122"/>
                          <a:cs typeface="Calibri" pitchFamily="34" charset="-120"/>
                        </a:rPr>
                        <a:t>Variance</a:t>
                      </a:r>
                      <a:endParaRPr lang="en-US" sz="130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c>
                  <a:txBody>
                    <a:bodyPr/>
                    <a:lstStyle/>
                    <a:p>
                      <a:pPr indent="0" marL="0">
                        <a:buNone/>
                      </a:pPr>
                      <a:r>
                        <a:rPr lang="en-US" sz="1300" dirty="0">
                          <a:solidFill>
                            <a:srgbClr val="17261F"/>
                          </a:solidFill>
                          <a:latin typeface="Calibri" pitchFamily="34" charset="0"/>
                          <a:ea typeface="Calibri" pitchFamily="34" charset="-122"/>
                          <a:cs typeface="Calibri" pitchFamily="34" charset="-120"/>
                        </a:rPr>
                        <a:t>Bias</a:t>
                      </a:r>
                      <a:endParaRPr lang="en-US" sz="130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7261F"/>
                          </a:solidFill>
                          <a:latin typeface="Calibri" pitchFamily="34" charset="0"/>
                          <a:ea typeface="Calibri" pitchFamily="34" charset="-122"/>
                          <a:cs typeface="Calibri" pitchFamily="34" charset="-120"/>
                        </a:rPr>
                        <a:t>Risiko overfitting</a:t>
                      </a:r>
                      <a:endParaRPr lang="en-US" sz="130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c>
                  <a:txBody>
                    <a:bodyPr/>
                    <a:lstStyle/>
                    <a:p>
                      <a:pPr indent="0" marL="0">
                        <a:buNone/>
                      </a:pPr>
                      <a:r>
                        <a:rPr lang="en-US" sz="1300" dirty="0">
                          <a:solidFill>
                            <a:srgbClr val="17261F"/>
                          </a:solidFill>
                          <a:latin typeface="Calibri" pitchFamily="34" charset="0"/>
                          <a:ea typeface="Calibri" pitchFamily="34" charset="-122"/>
                          <a:cs typeface="Calibri" pitchFamily="34" charset="-120"/>
                        </a:rPr>
                        <a:t>Sangat rendah</a:t>
                      </a:r>
                      <a:endParaRPr lang="en-US" sz="130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c>
                  <a:txBody>
                    <a:bodyPr/>
                    <a:lstStyle/>
                    <a:p>
                      <a:pPr indent="0" marL="0">
                        <a:buNone/>
                      </a:pPr>
                      <a:r>
                        <a:rPr lang="en-US" sz="1300" dirty="0">
                          <a:solidFill>
                            <a:srgbClr val="17261F"/>
                          </a:solidFill>
                          <a:latin typeface="Calibri" pitchFamily="34" charset="0"/>
                          <a:ea typeface="Calibri" pitchFamily="34" charset="-122"/>
                          <a:cs typeface="Calibri" pitchFamily="34" charset="-120"/>
                        </a:rPr>
                        <a:t>Nyata bila iterasi berlebihan</a:t>
                      </a:r>
                      <a:endParaRPr lang="en-US" sz="130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7261F"/>
                          </a:solidFill>
                          <a:latin typeface="Calibri" pitchFamily="34" charset="0"/>
                          <a:ea typeface="Calibri" pitchFamily="34" charset="-122"/>
                          <a:cs typeface="Calibri" pitchFamily="34" charset="-120"/>
                        </a:rPr>
                        <a:t>Kebutuhan tuning</a:t>
                      </a:r>
                      <a:endParaRPr lang="en-US" sz="130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c>
                  <a:txBody>
                    <a:bodyPr/>
                    <a:lstStyle/>
                    <a:p>
                      <a:pPr indent="0" marL="0">
                        <a:buNone/>
                      </a:pPr>
                      <a:r>
                        <a:rPr lang="en-US" sz="1300" dirty="0">
                          <a:solidFill>
                            <a:srgbClr val="17261F"/>
                          </a:solidFill>
                          <a:latin typeface="Calibri" pitchFamily="34" charset="0"/>
                          <a:ea typeface="Calibri" pitchFamily="34" charset="-122"/>
                          <a:cs typeface="Calibri" pitchFamily="34" charset="-120"/>
                        </a:rPr>
                        <a:t>Ringan</a:t>
                      </a:r>
                      <a:endParaRPr lang="en-US" sz="130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c>
                  <a:txBody>
                    <a:bodyPr/>
                    <a:lstStyle/>
                    <a:p>
                      <a:pPr indent="0" marL="0">
                        <a:buNone/>
                      </a:pPr>
                      <a:r>
                        <a:rPr lang="en-US" sz="1300" dirty="0">
                          <a:solidFill>
                            <a:srgbClr val="17261F"/>
                          </a:solidFill>
                          <a:latin typeface="Calibri" pitchFamily="34" charset="0"/>
                          <a:ea typeface="Calibri" pitchFamily="34" charset="-122"/>
                          <a:cs typeface="Calibri" pitchFamily="34" charset="-120"/>
                        </a:rPr>
                        <a:t>Cermat — terutama learning rate</a:t>
                      </a:r>
                      <a:endParaRPr lang="en-US" sz="130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7261F"/>
                          </a:solidFill>
                          <a:latin typeface="Calibri" pitchFamily="34" charset="0"/>
                          <a:ea typeface="Calibri" pitchFamily="34" charset="-122"/>
                          <a:cs typeface="Calibri" pitchFamily="34" charset="-120"/>
                        </a:rPr>
                        <a:t>Waktu pelatihan</a:t>
                      </a:r>
                      <a:endParaRPr lang="en-US" sz="130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c>
                  <a:txBody>
                    <a:bodyPr/>
                    <a:lstStyle/>
                    <a:p>
                      <a:pPr indent="0" marL="0">
                        <a:buNone/>
                      </a:pPr>
                      <a:r>
                        <a:rPr lang="en-US" sz="1300" dirty="0">
                          <a:solidFill>
                            <a:srgbClr val="17261F"/>
                          </a:solidFill>
                          <a:latin typeface="Calibri" pitchFamily="34" charset="0"/>
                          <a:ea typeface="Calibri" pitchFamily="34" charset="-122"/>
                          <a:cs typeface="Calibri" pitchFamily="34" charset="-120"/>
                        </a:rPr>
                        <a:t>Dapat diparalelkan</a:t>
                      </a:r>
                      <a:endParaRPr lang="en-US" sz="130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c>
                  <a:txBody>
                    <a:bodyPr/>
                    <a:lstStyle/>
                    <a:p>
                      <a:pPr indent="0" marL="0">
                        <a:buNone/>
                      </a:pPr>
                      <a:r>
                        <a:rPr lang="en-US" sz="1300" dirty="0">
                          <a:solidFill>
                            <a:srgbClr val="17261F"/>
                          </a:solidFill>
                          <a:latin typeface="Calibri" pitchFamily="34" charset="0"/>
                          <a:ea typeface="Calibri" pitchFamily="34" charset="-122"/>
                          <a:cs typeface="Calibri" pitchFamily="34" charset="-120"/>
                        </a:rPr>
                        <a:t>Harus berurutan</a:t>
                      </a:r>
                      <a:endParaRPr lang="en-US" sz="130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94360" y="5120640"/>
            <a:ext cx="11002975" cy="457200"/>
          </a:xfrm>
          <a:prstGeom prst="rect">
            <a:avLst/>
          </a:prstGeom>
          <a:noFill/>
          <a:ln/>
        </p:spPr>
        <p:txBody>
          <a:bodyPr wrap="square" lIns="0" tIns="0" rIns="0" bIns="0" rtlCol="0" anchor="t"/>
          <a:lstStyle/>
          <a:p>
            <a:pPr algn="ctr" indent="0" marL="0">
              <a:lnSpc>
                <a:spcPct val="120000"/>
              </a:lnSpc>
              <a:buNone/>
            </a:pPr>
            <a:r>
              <a:rPr lang="en-US" sz="1500" b="1" dirty="0">
                <a:solidFill>
                  <a:srgbClr val="7FA327"/>
                </a:solidFill>
                <a:latin typeface="Calibri" pitchFamily="34" charset="0"/>
                <a:ea typeface="Calibri" pitchFamily="34" charset="-122"/>
                <a:cs typeface="Calibri" pitchFamily="34" charset="-120"/>
              </a:rPr>
              <a:t>Anjuran praktis: mulai dari Random Forest karena hampir bebas tuning. Beralih ke boosting hanya bila Anda punya waktu untuk menyetelnya dengan benar.</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3A2F"/>
        </a:solidFill>
      </p:bgPr>
    </p:bg>
    <p:spTree>
      <p:nvGrpSpPr>
        <p:cNvPr id="1" name=""/>
        <p:cNvGrpSpPr/>
        <p:nvPr/>
      </p:nvGrpSpPr>
      <p:grpSpPr>
        <a:xfrm>
          <a:off x="0" y="0"/>
          <a:ext cx="0" cy="0"/>
          <a:chOff x="0" y="0"/>
          <a:chExt cx="0" cy="0"/>
        </a:xfrm>
      </p:grpSpPr>
      <p:sp>
        <p:nvSpPr>
          <p:cNvPr id="2" name="Shape 0"/>
          <p:cNvSpPr/>
          <p:nvPr/>
        </p:nvSpPr>
        <p:spPr>
          <a:xfrm>
            <a:off x="9418320" y="-1371600"/>
            <a:ext cx="4754880" cy="4754880"/>
          </a:xfrm>
          <a:prstGeom prst="ellipse">
            <a:avLst/>
          </a:prstGeom>
          <a:solidFill>
            <a:srgbClr val="7FA327"/>
          </a:solidFill>
          <a:ln w="12700">
            <a:solidFill>
              <a:srgbClr val="333333"/>
            </a:solidFill>
            <a:prstDash val="solid"/>
          </a:ln>
        </p:spPr>
      </p:sp>
      <p:sp>
        <p:nvSpPr>
          <p:cNvPr id="3" name="Shape 1"/>
          <p:cNvSpPr/>
          <p:nvPr/>
        </p:nvSpPr>
        <p:spPr>
          <a:xfrm>
            <a:off x="10607040" y="4023360"/>
            <a:ext cx="3108960" cy="3108960"/>
          </a:xfrm>
          <a:prstGeom prst="ellipse">
            <a:avLst/>
          </a:prstGeom>
          <a:solidFill>
            <a:srgbClr val="8E4A6B"/>
          </a:solidFill>
          <a:ln w="12700">
            <a:solidFill>
              <a:srgbClr val="333333"/>
            </a:solidFill>
            <a:prstDash val="solid"/>
          </a:ln>
        </p:spPr>
      </p:sp>
      <p:sp>
        <p:nvSpPr>
          <p:cNvPr id="4" name="Text 2"/>
          <p:cNvSpPr txBox="1"/>
          <p:nvPr/>
        </p:nvSpPr>
        <p:spPr>
          <a:xfrm>
            <a:off x="594360" y="2286000"/>
            <a:ext cx="7315200" cy="365760"/>
          </a:xfrm>
          <a:prstGeom prst="rect">
            <a:avLst/>
          </a:prstGeom>
          <a:noFill/>
          <a:ln/>
        </p:spPr>
        <p:txBody>
          <a:bodyPr wrap="square" lIns="0" tIns="0" rIns="0" bIns="0" rtlCol="0" anchor="t"/>
          <a:lstStyle/>
          <a:p>
            <a:pPr algn="l" indent="0" marL="0">
              <a:buNone/>
            </a:pPr>
            <a:r>
              <a:rPr lang="en-US" sz="1300" b="1" dirty="0">
                <a:solidFill>
                  <a:srgbClr val="B5D45A"/>
                </a:solidFill>
                <a:latin typeface="Calibri" pitchFamily="34" charset="0"/>
                <a:ea typeface="Calibri" pitchFamily="34" charset="-122"/>
                <a:cs typeface="Calibri" pitchFamily="34" charset="-120"/>
              </a:rPr>
              <a:t>BAGIAN 4</a:t>
            </a:r>
            <a:endParaRPr lang="en-US" sz="1300" dirty="0"/>
          </a:p>
        </p:txBody>
      </p:sp>
      <p:sp>
        <p:nvSpPr>
          <p:cNvPr id="5" name="Text 3"/>
          <p:cNvSpPr txBox="1"/>
          <p:nvPr/>
        </p:nvSpPr>
        <p:spPr>
          <a:xfrm>
            <a:off x="594360" y="2697480"/>
            <a:ext cx="7863840" cy="137160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Pohon atau Garis?</a:t>
            </a:r>
            <a:endParaRPr lang="en-US" sz="3800" dirty="0"/>
          </a:p>
        </p:txBody>
      </p:sp>
      <p:sp>
        <p:nvSpPr>
          <p:cNvPr id="6" name="Text 4"/>
          <p:cNvSpPr txBox="1"/>
          <p:nvPr/>
        </p:nvSpPr>
        <p:spPr>
          <a:xfrm>
            <a:off x="594360" y="4160520"/>
            <a:ext cx="7680960" cy="640080"/>
          </a:xfrm>
          <a:prstGeom prst="rect">
            <a:avLst/>
          </a:prstGeom>
          <a:noFill/>
          <a:ln/>
        </p:spPr>
        <p:txBody>
          <a:bodyPr wrap="square" lIns="0" tIns="0" rIns="0" bIns="0" rtlCol="0" anchor="t"/>
          <a:lstStyle/>
          <a:p>
            <a:pPr algn="l" indent="0" marL="0">
              <a:buNone/>
            </a:pPr>
            <a:r>
              <a:rPr lang="en-US" sz="1500" dirty="0">
                <a:solidFill>
                  <a:srgbClr val="BCCCC0"/>
                </a:solidFill>
                <a:latin typeface="Calibri" pitchFamily="34" charset="0"/>
                <a:ea typeface="Calibri" pitchFamily="34" charset="-122"/>
                <a:cs typeface="Calibri" pitchFamily="34" charset="-120"/>
              </a:rPr>
              <a:t>Memilih keluarga model dengan alasan</a:t>
            </a:r>
            <a:endParaRPr lang="en-US" sz="1500" dirty="0"/>
          </a:p>
        </p:txBody>
      </p:sp>
      <p:sp>
        <p:nvSpPr>
          <p:cNvPr id="7" name="Text 5"/>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86A093"/>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5F1"/>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7FA327"/>
                </a:solidFill>
                <a:latin typeface="Calibri" pitchFamily="34" charset="0"/>
                <a:ea typeface="Calibri" pitchFamily="34" charset="-122"/>
                <a:cs typeface="Calibri" pitchFamily="34" charset="-120"/>
              </a:rPr>
              <a:t>PERBANDINGAN</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B3A2F"/>
                </a:solidFill>
                <a:latin typeface="Cambria" pitchFamily="34" charset="0"/>
                <a:ea typeface="Cambria" pitchFamily="34" charset="-122"/>
                <a:cs typeface="Cambria" pitchFamily="34" charset="-120"/>
              </a:rPr>
              <a:t>Model linier dan model berbasis pohon</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1756A"/>
                </a:solidFill>
                <a:latin typeface="Calibri" pitchFamily="34" charset="0"/>
                <a:ea typeface="Calibri" pitchFamily="34" charset="-122"/>
                <a:cs typeface="Calibri" pitchFamily="34" charset="-120"/>
              </a:rPr>
              <a:t>19</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94360" y="1371600"/>
          <a:ext cx="11002975" cy="914400"/>
        </p:xfrm>
        <a:graphic>
          <a:graphicData uri="http://schemas.openxmlformats.org/drawingml/2006/table">
            <a:tbl>
              <a:tblPr/>
              <a:tblGrid>
                <a:gridCol w="2286000"/>
                <a:gridCol w="4343400"/>
                <a:gridCol w="4370832"/>
              </a:tblGrid>
              <a:tr h="512064">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Aspek</a:t>
                      </a:r>
                      <a:endParaRPr lang="en-US" sz="125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1B3A2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Model linier</a:t>
                      </a:r>
                      <a:endParaRPr lang="en-US" sz="125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1B3A2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Model berbasis pohon</a:t>
                      </a:r>
                      <a:endParaRPr lang="en-US" sz="125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1B3A2F"/>
                    </a:solidFill>
                  </a:tcPr>
                </a:tc>
              </a:tr>
              <a:tr h="512064">
                <a:tc>
                  <a:txBody>
                    <a:bodyPr/>
                    <a:lstStyle/>
                    <a:p>
                      <a:pPr indent="0" marL="0">
                        <a:buNone/>
                      </a:pPr>
                      <a:r>
                        <a:rPr lang="en-US" sz="1250" dirty="0">
                          <a:solidFill>
                            <a:srgbClr val="17261F"/>
                          </a:solidFill>
                          <a:latin typeface="Calibri" pitchFamily="34" charset="0"/>
                          <a:ea typeface="Calibri" pitchFamily="34" charset="-122"/>
                          <a:cs typeface="Calibri" pitchFamily="34" charset="-120"/>
                        </a:rPr>
                        <a:t>Bentuk hubungan</a:t>
                      </a:r>
                      <a:endParaRPr lang="en-US" sz="125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c>
                  <a:txBody>
                    <a:bodyPr/>
                    <a:lstStyle/>
                    <a:p>
                      <a:pPr indent="0" marL="0">
                        <a:buNone/>
                      </a:pPr>
                      <a:r>
                        <a:rPr lang="en-US" sz="1250" dirty="0">
                          <a:solidFill>
                            <a:srgbClr val="17261F"/>
                          </a:solidFill>
                          <a:latin typeface="Calibri" pitchFamily="34" charset="0"/>
                          <a:ea typeface="Calibri" pitchFamily="34" charset="-122"/>
                          <a:cs typeface="Calibri" pitchFamily="34" charset="-120"/>
                        </a:rPr>
                        <a:t>Hanya lurus. Non-linearitas harus</a:t>
                      </a:r>
                      <a:endParaRPr lang="en-US" sz="1250" dirty="0">
                        <a:latin typeface="Calibri" charset="0"/>
                        <a:ea typeface="Calibri" charset="0"/>
                        <a:cs typeface="Calibri" charset="0"/>
                      </a:endParaRPr>
                    </a:p>
                    <a:p>
                      <a:pPr indent="0" marL="0">
                        <a:buNone/>
                      </a:pPr>
                      <a:r>
                        <a:rPr lang="en-US" sz="1250" dirty="0">
                          <a:solidFill>
                            <a:srgbClr val="17261F"/>
                          </a:solidFill>
                          <a:latin typeface="Calibri" pitchFamily="34" charset="0"/>
                          <a:ea typeface="Calibri" pitchFamily="34" charset="-122"/>
                          <a:cs typeface="Calibri" pitchFamily="34" charset="-120"/>
                        </a:rPr>
                        <a:t>dibuatkan fitur sendiri.</a:t>
                      </a:r>
                      <a:endParaRPr lang="en-US" sz="125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c>
                  <a:txBody>
                    <a:bodyPr/>
                    <a:lstStyle/>
                    <a:p>
                      <a:pPr indent="0" marL="0">
                        <a:buNone/>
                      </a:pPr>
                      <a:r>
                        <a:rPr lang="en-US" sz="1250" dirty="0">
                          <a:solidFill>
                            <a:srgbClr val="17261F"/>
                          </a:solidFill>
                          <a:latin typeface="Calibri" pitchFamily="34" charset="0"/>
                          <a:ea typeface="Calibri" pitchFamily="34" charset="-122"/>
                          <a:cs typeface="Calibri" pitchFamily="34" charset="-120"/>
                        </a:rPr>
                        <a:t>Menangkap non-linearitas dan interaksi</a:t>
                      </a:r>
                      <a:endParaRPr lang="en-US" sz="1250" dirty="0">
                        <a:latin typeface="Calibri" charset="0"/>
                        <a:ea typeface="Calibri" charset="0"/>
                        <a:cs typeface="Calibri" charset="0"/>
                      </a:endParaRPr>
                    </a:p>
                    <a:p>
                      <a:pPr indent="0" marL="0">
                        <a:buNone/>
                      </a:pPr>
                      <a:r>
                        <a:rPr lang="en-US" sz="1250" dirty="0">
                          <a:solidFill>
                            <a:srgbClr val="17261F"/>
                          </a:solidFill>
                          <a:latin typeface="Calibri" pitchFamily="34" charset="0"/>
                          <a:ea typeface="Calibri" pitchFamily="34" charset="-122"/>
                          <a:cs typeface="Calibri" pitchFamily="34" charset="-120"/>
                        </a:rPr>
                        <a:t>antar-fitur secara otomatis.</a:t>
                      </a:r>
                      <a:endParaRPr lang="en-US" sz="125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r>
              <a:tr h="512064">
                <a:tc>
                  <a:txBody>
                    <a:bodyPr/>
                    <a:lstStyle/>
                    <a:p>
                      <a:pPr indent="0" marL="0">
                        <a:buNone/>
                      </a:pPr>
                      <a:r>
                        <a:rPr lang="en-US" sz="1250" dirty="0">
                          <a:solidFill>
                            <a:srgbClr val="17261F"/>
                          </a:solidFill>
                          <a:latin typeface="Calibri" pitchFamily="34" charset="0"/>
                          <a:ea typeface="Calibri" pitchFamily="34" charset="-122"/>
                          <a:cs typeface="Calibri" pitchFamily="34" charset="-120"/>
                        </a:rPr>
                        <a:t>Variabel kategorik</a:t>
                      </a:r>
                      <a:endParaRPr lang="en-US" sz="125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c>
                  <a:txBody>
                    <a:bodyPr/>
                    <a:lstStyle/>
                    <a:p>
                      <a:pPr indent="0" marL="0">
                        <a:buNone/>
                      </a:pPr>
                      <a:r>
                        <a:rPr lang="en-US" sz="1250" dirty="0">
                          <a:solidFill>
                            <a:srgbClr val="17261F"/>
                          </a:solidFill>
                          <a:latin typeface="Calibri" pitchFamily="34" charset="0"/>
                          <a:ea typeface="Calibri" pitchFamily="34" charset="-122"/>
                          <a:cs typeface="Calibri" pitchFamily="34" charset="-120"/>
                        </a:rPr>
                        <a:t>Harus di-encode lebih dulu.</a:t>
                      </a:r>
                      <a:endParaRPr lang="en-US" sz="125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c>
                  <a:txBody>
                    <a:bodyPr/>
                    <a:lstStyle/>
                    <a:p>
                      <a:pPr indent="0" marL="0">
                        <a:buNone/>
                      </a:pPr>
                      <a:r>
                        <a:rPr lang="en-US" sz="1250" dirty="0">
                          <a:solidFill>
                            <a:srgbClr val="17261F"/>
                          </a:solidFill>
                          <a:latin typeface="Calibri" pitchFamily="34" charset="0"/>
                          <a:ea typeface="Calibri" pitchFamily="34" charset="-122"/>
                          <a:cs typeface="Calibri" pitchFamily="34" charset="-120"/>
                        </a:rPr>
                        <a:t>Ditangani langsung tanpa encoding.</a:t>
                      </a:r>
                      <a:endParaRPr lang="en-US" sz="125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r>
              <a:tr h="512064">
                <a:tc>
                  <a:txBody>
                    <a:bodyPr/>
                    <a:lstStyle/>
                    <a:p>
                      <a:pPr indent="0" marL="0">
                        <a:buNone/>
                      </a:pPr>
                      <a:r>
                        <a:rPr lang="en-US" sz="1250" dirty="0">
                          <a:solidFill>
                            <a:srgbClr val="17261F"/>
                          </a:solidFill>
                          <a:latin typeface="Calibri" pitchFamily="34" charset="0"/>
                          <a:ea typeface="Calibri" pitchFamily="34" charset="-122"/>
                          <a:cs typeface="Calibri" pitchFamily="34" charset="-120"/>
                        </a:rPr>
                        <a:t>Penskalaan fitur</a:t>
                      </a:r>
                      <a:endParaRPr lang="en-US" sz="125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c>
                  <a:txBody>
                    <a:bodyPr/>
                    <a:lstStyle/>
                    <a:p>
                      <a:pPr indent="0" marL="0">
                        <a:buNone/>
                      </a:pPr>
                      <a:r>
                        <a:rPr lang="en-US" sz="1250" dirty="0">
                          <a:solidFill>
                            <a:srgbClr val="17261F"/>
                          </a:solidFill>
                          <a:latin typeface="Calibri" pitchFamily="34" charset="0"/>
                          <a:ea typeface="Calibri" pitchFamily="34" charset="-122"/>
                          <a:cs typeface="Calibri" pitchFamily="34" charset="-120"/>
                        </a:rPr>
                        <a:t>Wajib, terutama bila diregularisasi.</a:t>
                      </a:r>
                      <a:endParaRPr lang="en-US" sz="125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c>
                  <a:txBody>
                    <a:bodyPr/>
                    <a:lstStyle/>
                    <a:p>
                      <a:pPr indent="0" marL="0">
                        <a:buNone/>
                      </a:pPr>
                      <a:r>
                        <a:rPr lang="en-US" sz="1250" dirty="0">
                          <a:solidFill>
                            <a:srgbClr val="17261F"/>
                          </a:solidFill>
                          <a:latin typeface="Calibri" pitchFamily="34" charset="0"/>
                          <a:ea typeface="Calibri" pitchFamily="34" charset="-122"/>
                          <a:cs typeface="Calibri" pitchFamily="34" charset="-120"/>
                        </a:rPr>
                        <a:t>Tidak diperlukan sama sekali.</a:t>
                      </a:r>
                      <a:endParaRPr lang="en-US" sz="125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r>
              <a:tr h="512064">
                <a:tc>
                  <a:txBody>
                    <a:bodyPr/>
                    <a:lstStyle/>
                    <a:p>
                      <a:pPr indent="0" marL="0">
                        <a:buNone/>
                      </a:pPr>
                      <a:r>
                        <a:rPr lang="en-US" sz="1250" dirty="0">
                          <a:solidFill>
                            <a:srgbClr val="17261F"/>
                          </a:solidFill>
                          <a:latin typeface="Calibri" pitchFamily="34" charset="0"/>
                          <a:ea typeface="Calibri" pitchFamily="34" charset="-122"/>
                          <a:cs typeface="Calibri" pitchFamily="34" charset="-120"/>
                        </a:rPr>
                        <a:t>Keterbacaan</a:t>
                      </a:r>
                      <a:endParaRPr lang="en-US" sz="125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c>
                  <a:txBody>
                    <a:bodyPr/>
                    <a:lstStyle/>
                    <a:p>
                      <a:pPr indent="0" marL="0">
                        <a:buNone/>
                      </a:pPr>
                      <a:r>
                        <a:rPr lang="en-US" sz="1250" dirty="0">
                          <a:solidFill>
                            <a:srgbClr val="17261F"/>
                          </a:solidFill>
                          <a:latin typeface="Calibri" pitchFamily="34" charset="0"/>
                          <a:ea typeface="Calibri" pitchFamily="34" charset="-122"/>
                          <a:cs typeface="Calibri" pitchFamily="34" charset="-120"/>
                        </a:rPr>
                        <a:t>Koefisien terbaca, tetapi maknanya</a:t>
                      </a:r>
                      <a:endParaRPr lang="en-US" sz="1250" dirty="0">
                        <a:latin typeface="Calibri" charset="0"/>
                        <a:ea typeface="Calibri" charset="0"/>
                        <a:cs typeface="Calibri" charset="0"/>
                      </a:endParaRPr>
                    </a:p>
                    <a:p>
                      <a:pPr indent="0" marL="0">
                        <a:buNone/>
                      </a:pPr>
                      <a:r>
                        <a:rPr lang="en-US" sz="1250" dirty="0">
                          <a:solidFill>
                            <a:srgbClr val="17261F"/>
                          </a:solidFill>
                          <a:latin typeface="Calibri" pitchFamily="34" charset="0"/>
                          <a:ea typeface="Calibri" pitchFamily="34" charset="-122"/>
                          <a:cs typeface="Calibri" pitchFamily="34" charset="-120"/>
                        </a:rPr>
                        <a:t>perlu diterjemahkan (log-odds).</a:t>
                      </a:r>
                      <a:endParaRPr lang="en-US" sz="125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c>
                  <a:txBody>
                    <a:bodyPr/>
                    <a:lstStyle/>
                    <a:p>
                      <a:pPr indent="0" marL="0">
                        <a:buNone/>
                      </a:pPr>
                      <a:r>
                        <a:rPr lang="en-US" sz="1250" dirty="0">
                          <a:solidFill>
                            <a:srgbClr val="17261F"/>
                          </a:solidFill>
                          <a:latin typeface="Calibri" pitchFamily="34" charset="0"/>
                          <a:ea typeface="Calibri" pitchFamily="34" charset="-122"/>
                          <a:cs typeface="Calibri" pitchFamily="34" charset="-120"/>
                        </a:rPr>
                        <a:t>Pohon tunggal sangat terbaca.</a:t>
                      </a:r>
                      <a:endParaRPr lang="en-US" sz="1250" dirty="0">
                        <a:latin typeface="Calibri" charset="0"/>
                        <a:ea typeface="Calibri" charset="0"/>
                        <a:cs typeface="Calibri" charset="0"/>
                      </a:endParaRPr>
                    </a:p>
                    <a:p>
                      <a:pPr indent="0" marL="0">
                        <a:buNone/>
                      </a:pPr>
                      <a:r>
                        <a:rPr lang="en-US" sz="1250" dirty="0">
                          <a:solidFill>
                            <a:srgbClr val="17261F"/>
                          </a:solidFill>
                          <a:latin typeface="Calibri" pitchFamily="34" charset="0"/>
                          <a:ea typeface="Calibri" pitchFamily="34" charset="-122"/>
                          <a:cs typeface="Calibri" pitchFamily="34" charset="-120"/>
                        </a:rPr>
                        <a:t>Ensemble justru sulit dibaca.</a:t>
                      </a:r>
                      <a:endParaRPr lang="en-US" sz="125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r>
              <a:tr h="512064">
                <a:tc>
                  <a:txBody>
                    <a:bodyPr/>
                    <a:lstStyle/>
                    <a:p>
                      <a:pPr indent="0" marL="0">
                        <a:buNone/>
                      </a:pPr>
                      <a:r>
                        <a:rPr lang="en-US" sz="1250" dirty="0">
                          <a:solidFill>
                            <a:srgbClr val="17261F"/>
                          </a:solidFill>
                          <a:latin typeface="Calibri" pitchFamily="34" charset="0"/>
                          <a:ea typeface="Calibri" pitchFamily="34" charset="-122"/>
                          <a:cs typeface="Calibri" pitchFamily="34" charset="-120"/>
                        </a:rPr>
                        <a:t>Ekstrapolasi</a:t>
                      </a:r>
                      <a:endParaRPr lang="en-US" sz="125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c>
                  <a:txBody>
                    <a:bodyPr/>
                    <a:lstStyle/>
                    <a:p>
                      <a:pPr indent="0" marL="0">
                        <a:buNone/>
                      </a:pPr>
                      <a:r>
                        <a:rPr lang="en-US" sz="1250" dirty="0">
                          <a:solidFill>
                            <a:srgbClr val="17261F"/>
                          </a:solidFill>
                          <a:latin typeface="Calibri" pitchFamily="34" charset="0"/>
                          <a:ea typeface="Calibri" pitchFamily="34" charset="-122"/>
                          <a:cs typeface="Calibri" pitchFamily="34" charset="-120"/>
                        </a:rPr>
                        <a:t>Dapat memprediksi di luar rentang</a:t>
                      </a:r>
                      <a:endParaRPr lang="en-US" sz="1250" dirty="0">
                        <a:latin typeface="Calibri" charset="0"/>
                        <a:ea typeface="Calibri" charset="0"/>
                        <a:cs typeface="Calibri" charset="0"/>
                      </a:endParaRPr>
                    </a:p>
                    <a:p>
                      <a:pPr indent="0" marL="0">
                        <a:buNone/>
                      </a:pPr>
                      <a:r>
                        <a:rPr lang="en-US" sz="1250" dirty="0">
                          <a:solidFill>
                            <a:srgbClr val="17261F"/>
                          </a:solidFill>
                          <a:latin typeface="Calibri" pitchFamily="34" charset="0"/>
                          <a:ea typeface="Calibri" pitchFamily="34" charset="-122"/>
                          <a:cs typeface="Calibri" pitchFamily="34" charset="-120"/>
                        </a:rPr>
                        <a:t>data latih.</a:t>
                      </a:r>
                      <a:endParaRPr lang="en-US" sz="125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c>
                  <a:txBody>
                    <a:bodyPr/>
                    <a:lstStyle/>
                    <a:p>
                      <a:pPr indent="0" marL="0">
                        <a:buNone/>
                      </a:pPr>
                      <a:r>
                        <a:rPr lang="en-US" sz="1250" dirty="0">
                          <a:solidFill>
                            <a:srgbClr val="17261F"/>
                          </a:solidFill>
                          <a:latin typeface="Calibri" pitchFamily="34" charset="0"/>
                          <a:ea typeface="Calibri" pitchFamily="34" charset="-122"/>
                          <a:cs typeface="Calibri" pitchFamily="34" charset="-120"/>
                        </a:rPr>
                        <a:t>Tidak bisa — prediksi terkunci pada</a:t>
                      </a:r>
                      <a:endParaRPr lang="en-US" sz="1250" dirty="0">
                        <a:latin typeface="Calibri" charset="0"/>
                        <a:ea typeface="Calibri" charset="0"/>
                        <a:cs typeface="Calibri" charset="0"/>
                      </a:endParaRPr>
                    </a:p>
                    <a:p>
                      <a:pPr indent="0" marL="0">
                        <a:buNone/>
                      </a:pPr>
                      <a:r>
                        <a:rPr lang="en-US" sz="1250" dirty="0">
                          <a:solidFill>
                            <a:srgbClr val="17261F"/>
                          </a:solidFill>
                          <a:latin typeface="Calibri" pitchFamily="34" charset="0"/>
                          <a:ea typeface="Calibri" pitchFamily="34" charset="-122"/>
                          <a:cs typeface="Calibri" pitchFamily="34" charset="-120"/>
                        </a:rPr>
                        <a:t>rentang yang pernah dilihat.</a:t>
                      </a:r>
                      <a:endParaRPr lang="en-US" sz="125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r>
              <a:tr h="512064">
                <a:tc>
                  <a:txBody>
                    <a:bodyPr/>
                    <a:lstStyle/>
                    <a:p>
                      <a:pPr indent="0" marL="0">
                        <a:buNone/>
                      </a:pPr>
                      <a:r>
                        <a:rPr lang="en-US" sz="1250" dirty="0">
                          <a:solidFill>
                            <a:srgbClr val="17261F"/>
                          </a:solidFill>
                          <a:latin typeface="Calibri" pitchFamily="34" charset="0"/>
                          <a:ea typeface="Calibri" pitchFamily="34" charset="-122"/>
                          <a:cs typeface="Calibri" pitchFamily="34" charset="-120"/>
                        </a:rPr>
                        <a:t>Data sedikit</a:t>
                      </a:r>
                      <a:endParaRPr lang="en-US" sz="125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c>
                  <a:txBody>
                    <a:bodyPr/>
                    <a:lstStyle/>
                    <a:p>
                      <a:pPr indent="0" marL="0">
                        <a:buNone/>
                      </a:pPr>
                      <a:r>
                        <a:rPr lang="en-US" sz="1250" dirty="0">
                          <a:solidFill>
                            <a:srgbClr val="17261F"/>
                          </a:solidFill>
                          <a:latin typeface="Calibri" pitchFamily="34" charset="0"/>
                          <a:ea typeface="Calibri" pitchFamily="34" charset="-122"/>
                          <a:cs typeface="Calibri" pitchFamily="34" charset="-120"/>
                        </a:rPr>
                        <a:t>Lebih tahan.</a:t>
                      </a:r>
                      <a:endParaRPr lang="en-US" sz="125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c>
                  <a:txBody>
                    <a:bodyPr/>
                    <a:lstStyle/>
                    <a:p>
                      <a:pPr indent="0" marL="0">
                        <a:buNone/>
                      </a:pPr>
                      <a:r>
                        <a:rPr lang="en-US" sz="1250" dirty="0">
                          <a:solidFill>
                            <a:srgbClr val="17261F"/>
                          </a:solidFill>
                          <a:latin typeface="Calibri" pitchFamily="34" charset="0"/>
                          <a:ea typeface="Calibri" pitchFamily="34" charset="-122"/>
                          <a:cs typeface="Calibri" pitchFamily="34" charset="-120"/>
                        </a:rPr>
                        <a:t>Mudah menghafal.</a:t>
                      </a:r>
                      <a:endParaRPr lang="en-US" sz="1250" dirty="0">
                        <a:latin typeface="Calibri" charset="0"/>
                        <a:ea typeface="Calibri" charset="0"/>
                        <a:cs typeface="Calibri" charset="0"/>
                      </a:endParaRPr>
                    </a:p>
                  </a:txBody>
                  <a:tcPr marL="76200" marR="76200" marT="76200" marB="76200" anchor="ctr">
                    <a:lnL w="12700" cap="flat" cmpd="sng" algn="ctr">
                      <a:solidFill>
                        <a:srgbClr val="D6DED3"/>
                      </a:solidFill>
                      <a:prstDash val="solid"/>
                      <a:round/>
                      <a:headEnd type="none" w="med" len="med"/>
                      <a:tailEnd type="none" w="med" len="med"/>
                    </a:lnL>
                    <a:lnR w="12700" cap="flat" cmpd="sng" algn="ctr">
                      <a:solidFill>
                        <a:srgbClr val="D6DED3"/>
                      </a:solidFill>
                      <a:prstDash val="solid"/>
                      <a:round/>
                      <a:headEnd type="none" w="med" len="med"/>
                      <a:tailEnd type="none" w="med" len="med"/>
                    </a:lnR>
                    <a:lnT w="12700" cap="flat" cmpd="sng" algn="ctr">
                      <a:solidFill>
                        <a:srgbClr val="D6DED3"/>
                      </a:solidFill>
                      <a:prstDash val="solid"/>
                      <a:round/>
                      <a:headEnd type="none" w="med" len="med"/>
                      <a:tailEnd type="none" w="med" len="med"/>
                    </a:lnT>
                    <a:lnB w="12700" cap="flat" cmpd="sng" algn="ctr">
                      <a:solidFill>
                        <a:srgbClr val="D6DED3"/>
                      </a:solidFill>
                      <a:prstDash val="solid"/>
                      <a:round/>
                      <a:headEnd type="none" w="med" len="med"/>
                      <a:tailEnd type="none" w="med" len="med"/>
                    </a:lnB>
                    <a:solidFill>
                      <a:srgbClr val="FFFFFF"/>
                    </a:solidFill>
                  </a:tcPr>
                </a:tc>
              </a:tr>
            </a:tbl>
          </a:graphicData>
        </a:graphic>
      </p:graphicFrame>
      <p:sp>
        <p:nvSpPr>
          <p:cNvPr id="6" name="Shape 3"/>
          <p:cNvSpPr/>
          <p:nvPr/>
        </p:nvSpPr>
        <p:spPr>
          <a:xfrm>
            <a:off x="594360" y="5257800"/>
            <a:ext cx="11002975" cy="777240"/>
          </a:xfrm>
          <a:prstGeom prst="roundRect">
            <a:avLst>
              <a:gd name="adj" fmla="val 10588"/>
            </a:avLst>
          </a:prstGeom>
          <a:solidFill>
            <a:srgbClr val="F3E8EE"/>
          </a:solidFill>
          <a:ln w="12700">
            <a:solidFill>
              <a:srgbClr val="E2CBD6"/>
            </a:solidFill>
            <a:prstDash val="solid"/>
          </a:ln>
          <a:effectLst>
            <a:outerShdw sx="100000" sy="100000" kx="0" ky="0" algn="bl" rotWithShape="0" blurRad="101600" dist="508" dir="5400000">
              <a:srgbClr val="AFBCB0">
                <a:alpha val="30000"/>
              </a:srgbClr>
            </a:outerShdw>
          </a:effectLst>
        </p:spPr>
      </p:sp>
      <p:sp>
        <p:nvSpPr>
          <p:cNvPr id="7" name="Text 4"/>
          <p:cNvSpPr txBox="1"/>
          <p:nvPr/>
        </p:nvSpPr>
        <p:spPr>
          <a:xfrm>
            <a:off x="1005840" y="5440680"/>
            <a:ext cx="10180015" cy="457200"/>
          </a:xfrm>
          <a:prstGeom prst="rect">
            <a:avLst/>
          </a:prstGeom>
          <a:noFill/>
          <a:ln/>
        </p:spPr>
        <p:txBody>
          <a:bodyPr wrap="square" lIns="0" tIns="0" rIns="0" bIns="0" rtlCol="0" anchor="t"/>
          <a:lstStyle/>
          <a:p>
            <a:pPr algn="l" indent="0" marL="0">
              <a:buNone/>
            </a:pPr>
            <a:r>
              <a:rPr lang="en-US" sz="1350" b="1" dirty="0">
                <a:solidFill>
                  <a:srgbClr val="6B3550"/>
                </a:solidFill>
                <a:latin typeface="Calibri" pitchFamily="34" charset="0"/>
                <a:ea typeface="Calibri" pitchFamily="34" charset="-122"/>
                <a:cs typeface="Calibri" pitchFamily="34" charset="-120"/>
              </a:rPr>
              <a:t>Baris ekstrapolasi sering terlewat: model pohon yang dilatih pada rute 2–15 km tidak akan pernah memprediksi apa pun di luar rentang nilai target yang pernah ia lihat.</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F5F1"/>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7FA327"/>
                </a:solidFill>
                <a:latin typeface="Calibri" pitchFamily="34" charset="0"/>
                <a:ea typeface="Calibri" pitchFamily="34" charset="-122"/>
                <a:cs typeface="Calibri" pitchFamily="34" charset="-120"/>
              </a:rPr>
              <a:t>PANDUAN MEMILIH</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B3A2F"/>
                </a:solidFill>
                <a:latin typeface="Cambria" pitchFamily="34" charset="0"/>
                <a:ea typeface="Cambria" pitchFamily="34" charset="-122"/>
                <a:cs typeface="Cambria" pitchFamily="34" charset="-120"/>
              </a:rPr>
              <a:t>Empat pertanyaan sebelum memutuskan</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1756A"/>
                </a:solidFill>
                <a:latin typeface="Calibri" pitchFamily="34" charset="0"/>
                <a:ea typeface="Calibri" pitchFamily="34" charset="-122"/>
                <a:cs typeface="Calibri" pitchFamily="34" charset="-120"/>
              </a:rPr>
              <a:t>20</a:t>
            </a:r>
            <a:endParaRPr lang="en-US" sz="1000" dirty="0"/>
          </a:p>
        </p:txBody>
      </p:sp>
      <p:sp>
        <p:nvSpPr>
          <p:cNvPr id="5" name="Shape 3"/>
          <p:cNvSpPr/>
          <p:nvPr/>
        </p:nvSpPr>
        <p:spPr>
          <a:xfrm>
            <a:off x="594360" y="1371600"/>
            <a:ext cx="11002975" cy="1024128"/>
          </a:xfrm>
          <a:prstGeom prst="roundRect">
            <a:avLst>
              <a:gd name="adj" fmla="val 8036"/>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6" name="Shape 4"/>
          <p:cNvSpPr/>
          <p:nvPr/>
        </p:nvSpPr>
        <p:spPr>
          <a:xfrm>
            <a:off x="868680" y="1627632"/>
            <a:ext cx="530352" cy="530352"/>
          </a:xfrm>
          <a:prstGeom prst="ellipse">
            <a:avLst/>
          </a:prstGeom>
          <a:solidFill>
            <a:srgbClr val="7FA327"/>
          </a:solidFill>
          <a:ln w="12700">
            <a:solidFill>
              <a:srgbClr val="333333"/>
            </a:solidFill>
            <a:prstDash val="solid"/>
          </a:ln>
        </p:spPr>
      </p:sp>
      <p:sp>
        <p:nvSpPr>
          <p:cNvPr id="7" name="Text 5"/>
          <p:cNvSpPr txBox="1"/>
          <p:nvPr/>
        </p:nvSpPr>
        <p:spPr>
          <a:xfrm>
            <a:off x="868680" y="1627632"/>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8" name="Text 6"/>
          <p:cNvSpPr txBox="1"/>
          <p:nvPr/>
        </p:nvSpPr>
        <p:spPr>
          <a:xfrm>
            <a:off x="1554480" y="1517904"/>
            <a:ext cx="5029200" cy="731520"/>
          </a:xfrm>
          <a:prstGeom prst="rect">
            <a:avLst/>
          </a:prstGeom>
          <a:noFill/>
          <a:ln/>
        </p:spPr>
        <p:txBody>
          <a:bodyPr wrap="square" lIns="0" tIns="0" rIns="0" bIns="0" rtlCol="0" anchor="ctr"/>
          <a:lstStyle/>
          <a:p>
            <a:pPr algn="l" indent="0" marL="0">
              <a:lnSpc>
                <a:spcPct val="115000"/>
              </a:lnSpc>
              <a:buNone/>
            </a:pPr>
            <a:r>
              <a:rPr lang="en-US" sz="1450" b="1" dirty="0">
                <a:solidFill>
                  <a:srgbClr val="1B3A2F"/>
                </a:solidFill>
                <a:latin typeface="Calibri" pitchFamily="34" charset="0"/>
                <a:ea typeface="Calibri" pitchFamily="34" charset="-122"/>
                <a:cs typeface="Calibri" pitchFamily="34" charset="-120"/>
              </a:rPr>
              <a:t>Apakah hasilnya harus bisa dijelaskan kepada orang awam?</a:t>
            </a:r>
            <a:endParaRPr lang="en-US" sz="1450" dirty="0"/>
          </a:p>
        </p:txBody>
      </p:sp>
      <p:sp>
        <p:nvSpPr>
          <p:cNvPr id="9" name="Text 7"/>
          <p:cNvSpPr txBox="1"/>
          <p:nvPr/>
        </p:nvSpPr>
        <p:spPr>
          <a:xfrm>
            <a:off x="6766560" y="1517904"/>
            <a:ext cx="4754880" cy="731520"/>
          </a:xfrm>
          <a:prstGeom prst="rect">
            <a:avLst/>
          </a:prstGeom>
          <a:noFill/>
          <a:ln/>
        </p:spPr>
        <p:txBody>
          <a:bodyPr wrap="square" lIns="0" tIns="0" rIns="0" bIns="0" rtlCol="0" anchor="ctr"/>
          <a:lstStyle/>
          <a:p>
            <a:pPr algn="l" indent="0" marL="0">
              <a:lnSpc>
                <a:spcPct val="120000"/>
              </a:lnSpc>
              <a:buNone/>
            </a:pPr>
            <a:r>
              <a:rPr lang="en-US" sz="1300" dirty="0">
                <a:solidFill>
                  <a:srgbClr val="17261F"/>
                </a:solidFill>
                <a:latin typeface="Calibri" pitchFamily="34" charset="0"/>
                <a:ea typeface="Calibri" pitchFamily="34" charset="-122"/>
                <a:cs typeface="Calibri" pitchFamily="34" charset="-120"/>
              </a:rPr>
              <a:t>Ya → pohon tunggal.  Cukup dijelaskan kepada sesama teknisi → ensemble boleh.</a:t>
            </a:r>
            <a:endParaRPr lang="en-US" sz="1300" dirty="0"/>
          </a:p>
        </p:txBody>
      </p:sp>
      <p:sp>
        <p:nvSpPr>
          <p:cNvPr id="10" name="Shape 8"/>
          <p:cNvSpPr/>
          <p:nvPr/>
        </p:nvSpPr>
        <p:spPr>
          <a:xfrm>
            <a:off x="594360" y="2542032"/>
            <a:ext cx="11002975" cy="1024128"/>
          </a:xfrm>
          <a:prstGeom prst="roundRect">
            <a:avLst>
              <a:gd name="adj" fmla="val 8036"/>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11" name="Shape 9"/>
          <p:cNvSpPr/>
          <p:nvPr/>
        </p:nvSpPr>
        <p:spPr>
          <a:xfrm>
            <a:off x="868680" y="2798064"/>
            <a:ext cx="530352" cy="530352"/>
          </a:xfrm>
          <a:prstGeom prst="ellipse">
            <a:avLst/>
          </a:prstGeom>
          <a:solidFill>
            <a:srgbClr val="A87C4F"/>
          </a:solidFill>
          <a:ln w="12700">
            <a:solidFill>
              <a:srgbClr val="333333"/>
            </a:solidFill>
            <a:prstDash val="solid"/>
          </a:ln>
        </p:spPr>
      </p:sp>
      <p:sp>
        <p:nvSpPr>
          <p:cNvPr id="12" name="Text 10"/>
          <p:cNvSpPr txBox="1"/>
          <p:nvPr/>
        </p:nvSpPr>
        <p:spPr>
          <a:xfrm>
            <a:off x="868680" y="2798064"/>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3" name="Text 11"/>
          <p:cNvSpPr txBox="1"/>
          <p:nvPr/>
        </p:nvSpPr>
        <p:spPr>
          <a:xfrm>
            <a:off x="1554480" y="2688336"/>
            <a:ext cx="5029200" cy="731520"/>
          </a:xfrm>
          <a:prstGeom prst="rect">
            <a:avLst/>
          </a:prstGeom>
          <a:noFill/>
          <a:ln/>
        </p:spPr>
        <p:txBody>
          <a:bodyPr wrap="square" lIns="0" tIns="0" rIns="0" bIns="0" rtlCol="0" anchor="ctr"/>
          <a:lstStyle/>
          <a:p>
            <a:pPr algn="l" indent="0" marL="0">
              <a:lnSpc>
                <a:spcPct val="115000"/>
              </a:lnSpc>
              <a:buNone/>
            </a:pPr>
            <a:r>
              <a:rPr lang="en-US" sz="1450" b="1" dirty="0">
                <a:solidFill>
                  <a:srgbClr val="1B3A2F"/>
                </a:solidFill>
                <a:latin typeface="Calibri" pitchFamily="34" charset="0"/>
                <a:ea typeface="Calibri" pitchFamily="34" charset="-122"/>
                <a:cs typeface="Calibri" pitchFamily="34" charset="-120"/>
              </a:rPr>
              <a:t>Apakah datanya berbentuk tabel dengan banyak variabel kategorik?</a:t>
            </a:r>
            <a:endParaRPr lang="en-US" sz="1450" dirty="0"/>
          </a:p>
        </p:txBody>
      </p:sp>
      <p:sp>
        <p:nvSpPr>
          <p:cNvPr id="14" name="Text 12"/>
          <p:cNvSpPr txBox="1"/>
          <p:nvPr/>
        </p:nvSpPr>
        <p:spPr>
          <a:xfrm>
            <a:off x="6766560" y="2688336"/>
            <a:ext cx="4754880" cy="731520"/>
          </a:xfrm>
          <a:prstGeom prst="rect">
            <a:avLst/>
          </a:prstGeom>
          <a:noFill/>
          <a:ln/>
        </p:spPr>
        <p:txBody>
          <a:bodyPr wrap="square" lIns="0" tIns="0" rIns="0" bIns="0" rtlCol="0" anchor="ctr"/>
          <a:lstStyle/>
          <a:p>
            <a:pPr algn="l" indent="0" marL="0">
              <a:lnSpc>
                <a:spcPct val="120000"/>
              </a:lnSpc>
              <a:buNone/>
            </a:pPr>
            <a:r>
              <a:rPr lang="en-US" sz="1300" dirty="0">
                <a:solidFill>
                  <a:srgbClr val="17261F"/>
                </a:solidFill>
                <a:latin typeface="Calibri" pitchFamily="34" charset="0"/>
                <a:ea typeface="Calibri" pitchFamily="34" charset="-122"/>
                <a:cs typeface="Calibri" pitchFamily="34" charset="-120"/>
              </a:rPr>
              <a:t>Ya → pohon dan ensemble hampir selalu unggul tanpa perlu banyak persiapan data.</a:t>
            </a:r>
            <a:endParaRPr lang="en-US" sz="1300" dirty="0"/>
          </a:p>
        </p:txBody>
      </p:sp>
      <p:sp>
        <p:nvSpPr>
          <p:cNvPr id="15" name="Shape 13"/>
          <p:cNvSpPr/>
          <p:nvPr/>
        </p:nvSpPr>
        <p:spPr>
          <a:xfrm>
            <a:off x="594360" y="3712464"/>
            <a:ext cx="11002975" cy="1024128"/>
          </a:xfrm>
          <a:prstGeom prst="roundRect">
            <a:avLst>
              <a:gd name="adj" fmla="val 8036"/>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16" name="Shape 14"/>
          <p:cNvSpPr/>
          <p:nvPr/>
        </p:nvSpPr>
        <p:spPr>
          <a:xfrm>
            <a:off x="868680" y="3968496"/>
            <a:ext cx="530352" cy="530352"/>
          </a:xfrm>
          <a:prstGeom prst="ellipse">
            <a:avLst/>
          </a:prstGeom>
          <a:solidFill>
            <a:srgbClr val="1B3A2F"/>
          </a:solidFill>
          <a:ln w="12700">
            <a:solidFill>
              <a:srgbClr val="333333"/>
            </a:solidFill>
            <a:prstDash val="solid"/>
          </a:ln>
        </p:spPr>
      </p:sp>
      <p:sp>
        <p:nvSpPr>
          <p:cNvPr id="17" name="Text 15"/>
          <p:cNvSpPr txBox="1"/>
          <p:nvPr/>
        </p:nvSpPr>
        <p:spPr>
          <a:xfrm>
            <a:off x="868680" y="3968496"/>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8" name="Text 16"/>
          <p:cNvSpPr txBox="1"/>
          <p:nvPr/>
        </p:nvSpPr>
        <p:spPr>
          <a:xfrm>
            <a:off x="1554480" y="3858768"/>
            <a:ext cx="5029200" cy="731520"/>
          </a:xfrm>
          <a:prstGeom prst="rect">
            <a:avLst/>
          </a:prstGeom>
          <a:noFill/>
          <a:ln/>
        </p:spPr>
        <p:txBody>
          <a:bodyPr wrap="square" lIns="0" tIns="0" rIns="0" bIns="0" rtlCol="0" anchor="ctr"/>
          <a:lstStyle/>
          <a:p>
            <a:pPr algn="l" indent="0" marL="0">
              <a:lnSpc>
                <a:spcPct val="115000"/>
              </a:lnSpc>
              <a:buNone/>
            </a:pPr>
            <a:r>
              <a:rPr lang="en-US" sz="1450" b="1" dirty="0">
                <a:solidFill>
                  <a:srgbClr val="1B3A2F"/>
                </a:solidFill>
                <a:latin typeface="Calibri" pitchFamily="34" charset="0"/>
                <a:ea typeface="Calibri" pitchFamily="34" charset="-122"/>
                <a:cs typeface="Calibri" pitchFamily="34" charset="-120"/>
              </a:rPr>
              <a:t>Apakah hubungan antar-variabel diduga lurus dan sederhana?</a:t>
            </a:r>
            <a:endParaRPr lang="en-US" sz="1450" dirty="0"/>
          </a:p>
        </p:txBody>
      </p:sp>
      <p:sp>
        <p:nvSpPr>
          <p:cNvPr id="19" name="Text 17"/>
          <p:cNvSpPr txBox="1"/>
          <p:nvPr/>
        </p:nvSpPr>
        <p:spPr>
          <a:xfrm>
            <a:off x="6766560" y="3858768"/>
            <a:ext cx="4754880" cy="731520"/>
          </a:xfrm>
          <a:prstGeom prst="rect">
            <a:avLst/>
          </a:prstGeom>
          <a:noFill/>
          <a:ln/>
        </p:spPr>
        <p:txBody>
          <a:bodyPr wrap="square" lIns="0" tIns="0" rIns="0" bIns="0" rtlCol="0" anchor="ctr"/>
          <a:lstStyle/>
          <a:p>
            <a:pPr algn="l" indent="0" marL="0">
              <a:lnSpc>
                <a:spcPct val="120000"/>
              </a:lnSpc>
              <a:buNone/>
            </a:pPr>
            <a:r>
              <a:rPr lang="en-US" sz="1300" dirty="0">
                <a:solidFill>
                  <a:srgbClr val="17261F"/>
                </a:solidFill>
                <a:latin typeface="Calibri" pitchFamily="34" charset="0"/>
                <a:ea typeface="Calibri" pitchFamily="34" charset="-122"/>
                <a:cs typeface="Calibri" pitchFamily="34" charset="-120"/>
              </a:rPr>
              <a:t>Ya → model linier lebih hemat, lebih stabil, dan lebih mudah dipertanggungjawabkan.</a:t>
            </a:r>
            <a:endParaRPr lang="en-US" sz="1300" dirty="0"/>
          </a:p>
        </p:txBody>
      </p:sp>
      <p:sp>
        <p:nvSpPr>
          <p:cNvPr id="20" name="Shape 18"/>
          <p:cNvSpPr/>
          <p:nvPr/>
        </p:nvSpPr>
        <p:spPr>
          <a:xfrm>
            <a:off x="594360" y="4882896"/>
            <a:ext cx="11002975" cy="1024128"/>
          </a:xfrm>
          <a:prstGeom prst="roundRect">
            <a:avLst>
              <a:gd name="adj" fmla="val 8036"/>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21" name="Shape 19"/>
          <p:cNvSpPr/>
          <p:nvPr/>
        </p:nvSpPr>
        <p:spPr>
          <a:xfrm>
            <a:off x="868680" y="5138928"/>
            <a:ext cx="530352" cy="530352"/>
          </a:xfrm>
          <a:prstGeom prst="ellipse">
            <a:avLst/>
          </a:prstGeom>
          <a:solidFill>
            <a:srgbClr val="8E4A6B"/>
          </a:solidFill>
          <a:ln w="12700">
            <a:solidFill>
              <a:srgbClr val="333333"/>
            </a:solidFill>
            <a:prstDash val="solid"/>
          </a:ln>
        </p:spPr>
      </p:sp>
      <p:sp>
        <p:nvSpPr>
          <p:cNvPr id="22" name="Text 20"/>
          <p:cNvSpPr txBox="1"/>
          <p:nvPr/>
        </p:nvSpPr>
        <p:spPr>
          <a:xfrm>
            <a:off x="868680" y="5138928"/>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3" name="Text 21"/>
          <p:cNvSpPr txBox="1"/>
          <p:nvPr/>
        </p:nvSpPr>
        <p:spPr>
          <a:xfrm>
            <a:off x="1554480" y="5029200"/>
            <a:ext cx="5029200" cy="731520"/>
          </a:xfrm>
          <a:prstGeom prst="rect">
            <a:avLst/>
          </a:prstGeom>
          <a:noFill/>
          <a:ln/>
        </p:spPr>
        <p:txBody>
          <a:bodyPr wrap="square" lIns="0" tIns="0" rIns="0" bIns="0" rtlCol="0" anchor="ctr"/>
          <a:lstStyle/>
          <a:p>
            <a:pPr algn="l" indent="0" marL="0">
              <a:lnSpc>
                <a:spcPct val="115000"/>
              </a:lnSpc>
              <a:buNone/>
            </a:pPr>
            <a:r>
              <a:rPr lang="en-US" sz="1450" b="1" dirty="0">
                <a:solidFill>
                  <a:srgbClr val="1B3A2F"/>
                </a:solidFill>
                <a:latin typeface="Calibri" pitchFamily="34" charset="0"/>
                <a:ea typeface="Calibri" pitchFamily="34" charset="-122"/>
                <a:cs typeface="Calibri" pitchFamily="34" charset="-120"/>
              </a:rPr>
              <a:t>Apakah Anda perlu memprediksi di luar rentang data yang ada?</a:t>
            </a:r>
            <a:endParaRPr lang="en-US" sz="1450" dirty="0"/>
          </a:p>
        </p:txBody>
      </p:sp>
      <p:sp>
        <p:nvSpPr>
          <p:cNvPr id="24" name="Text 22"/>
          <p:cNvSpPr txBox="1"/>
          <p:nvPr/>
        </p:nvSpPr>
        <p:spPr>
          <a:xfrm>
            <a:off x="6766560" y="5029200"/>
            <a:ext cx="4754880" cy="731520"/>
          </a:xfrm>
          <a:prstGeom prst="rect">
            <a:avLst/>
          </a:prstGeom>
          <a:noFill/>
          <a:ln/>
        </p:spPr>
        <p:txBody>
          <a:bodyPr wrap="square" lIns="0" tIns="0" rIns="0" bIns="0" rtlCol="0" anchor="ctr"/>
          <a:lstStyle/>
          <a:p>
            <a:pPr algn="l" indent="0" marL="0">
              <a:lnSpc>
                <a:spcPct val="120000"/>
              </a:lnSpc>
              <a:buNone/>
            </a:pPr>
            <a:r>
              <a:rPr lang="en-US" sz="1300" dirty="0">
                <a:solidFill>
                  <a:srgbClr val="17261F"/>
                </a:solidFill>
                <a:latin typeface="Calibri" pitchFamily="34" charset="0"/>
                <a:ea typeface="Calibri" pitchFamily="34" charset="-122"/>
                <a:cs typeface="Calibri" pitchFamily="34" charset="-120"/>
              </a:rPr>
              <a:t>Ya → model pohon tidak bisa melakukannya. Gunakan model linier.</a:t>
            </a:r>
            <a:endParaRPr lang="en-US" sz="1300" dirty="0"/>
          </a:p>
        </p:txBody>
      </p:sp>
      <p:sp>
        <p:nvSpPr>
          <p:cNvPr id="25" name="Text 23"/>
          <p:cNvSpPr txBox="1"/>
          <p:nvPr/>
        </p:nvSpPr>
        <p:spPr>
          <a:xfrm>
            <a:off x="594360" y="5806440"/>
            <a:ext cx="11002975" cy="365760"/>
          </a:xfrm>
          <a:prstGeom prst="rect">
            <a:avLst/>
          </a:prstGeom>
          <a:noFill/>
          <a:ln/>
        </p:spPr>
        <p:txBody>
          <a:bodyPr wrap="square" lIns="0" tIns="0" rIns="0" bIns="0" rtlCol="0" anchor="t"/>
          <a:lstStyle/>
          <a:p>
            <a:pPr algn="ctr" indent="0" marL="0">
              <a:buNone/>
            </a:pPr>
            <a:r>
              <a:rPr lang="en-US" sz="1400" i="1" dirty="0">
                <a:solidFill>
                  <a:srgbClr val="61756A"/>
                </a:solidFill>
                <a:latin typeface="Calibri" pitchFamily="34" charset="0"/>
                <a:ea typeface="Calibri" pitchFamily="34" charset="-122"/>
                <a:cs typeface="Calibri" pitchFamily="34" charset="-120"/>
              </a:rPr>
              <a:t>Jawaban yang benar hampir selalu: coba keduanya, bandingkan dengan cross-validation, lalu pilih dengan alasan.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F5F1"/>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7FA327"/>
                </a:solidFill>
                <a:latin typeface="Calibri" pitchFamily="34" charset="0"/>
                <a:ea typeface="Calibri" pitchFamily="34" charset="-122"/>
                <a:cs typeface="Calibri" pitchFamily="34" charset="-120"/>
              </a:rPr>
              <a:t>DISKUSI KASUS</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B3A2F"/>
                </a:solidFill>
                <a:latin typeface="Cambria" pitchFamily="34" charset="0"/>
                <a:ea typeface="Cambria" pitchFamily="34" charset="-122"/>
                <a:cs typeface="Cambria" pitchFamily="34" charset="-120"/>
              </a:rPr>
              <a:t>Empat situasi, empat pilihan</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1756A"/>
                </a:solidFill>
                <a:latin typeface="Calibri" pitchFamily="34" charset="0"/>
                <a:ea typeface="Calibri" pitchFamily="34" charset="-122"/>
                <a:cs typeface="Calibri" pitchFamily="34" charset="-120"/>
              </a:rPr>
              <a:t>21</a:t>
            </a:r>
            <a:endParaRPr lang="en-US" sz="1000" dirty="0"/>
          </a:p>
        </p:txBody>
      </p:sp>
      <p:sp>
        <p:nvSpPr>
          <p:cNvPr id="5" name="Shape 3"/>
          <p:cNvSpPr/>
          <p:nvPr/>
        </p:nvSpPr>
        <p:spPr>
          <a:xfrm>
            <a:off x="594360" y="1371600"/>
            <a:ext cx="5303520" cy="1353312"/>
          </a:xfrm>
          <a:prstGeom prst="roundRect">
            <a:avLst>
              <a:gd name="adj" fmla="val 6081"/>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6" name="Shape 4"/>
          <p:cNvSpPr/>
          <p:nvPr/>
        </p:nvSpPr>
        <p:spPr>
          <a:xfrm>
            <a:off x="914400" y="1755648"/>
            <a:ext cx="566928" cy="566928"/>
          </a:xfrm>
          <a:prstGeom prst="ellipse">
            <a:avLst/>
          </a:prstGeom>
          <a:solidFill>
            <a:srgbClr val="7FA327"/>
          </a:solidFill>
          <a:ln w="12700">
            <a:solidFill>
              <a:srgbClr val="333333"/>
            </a:solidFill>
            <a:prstDash val="solid"/>
          </a:ln>
        </p:spPr>
      </p:sp>
      <p:sp>
        <p:nvSpPr>
          <p:cNvPr id="7" name="Text 5"/>
          <p:cNvSpPr txBox="1"/>
          <p:nvPr/>
        </p:nvSpPr>
        <p:spPr>
          <a:xfrm>
            <a:off x="914400" y="1755648"/>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A</a:t>
            </a:r>
            <a:endParaRPr lang="en-US" sz="1900" dirty="0"/>
          </a:p>
        </p:txBody>
      </p:sp>
      <p:sp>
        <p:nvSpPr>
          <p:cNvPr id="8" name="Text 6"/>
          <p:cNvSpPr txBox="1"/>
          <p:nvPr/>
        </p:nvSpPr>
        <p:spPr>
          <a:xfrm>
            <a:off x="1645920" y="1572768"/>
            <a:ext cx="4023360" cy="960120"/>
          </a:xfrm>
          <a:prstGeom prst="rect">
            <a:avLst/>
          </a:prstGeom>
          <a:noFill/>
          <a:ln/>
        </p:spPr>
        <p:txBody>
          <a:bodyPr wrap="square" lIns="0" tIns="0" rIns="0" bIns="0" rtlCol="0" anchor="ctr"/>
          <a:lstStyle/>
          <a:p>
            <a:pPr algn="l" indent="0" marL="0">
              <a:lnSpc>
                <a:spcPct val="125000"/>
              </a:lnSpc>
              <a:buNone/>
            </a:pPr>
            <a:r>
              <a:rPr lang="en-US" sz="1300" dirty="0">
                <a:solidFill>
                  <a:srgbClr val="17261F"/>
                </a:solidFill>
                <a:latin typeface="Calibri" pitchFamily="34" charset="0"/>
                <a:ea typeface="Calibri" pitchFamily="34" charset="-122"/>
                <a:cs typeface="Calibri" pitchFamily="34" charset="-120"/>
              </a:rPr>
              <a:t>Sistem penentu prioritas perbaikan halte yang keputusannya harus dapat diaudit dan dijelaskan kepada DPRD.</a:t>
            </a:r>
            <a:endParaRPr lang="en-US" sz="1300" dirty="0"/>
          </a:p>
        </p:txBody>
      </p:sp>
      <p:sp>
        <p:nvSpPr>
          <p:cNvPr id="9" name="Shape 7"/>
          <p:cNvSpPr/>
          <p:nvPr/>
        </p:nvSpPr>
        <p:spPr>
          <a:xfrm>
            <a:off x="6263640" y="1371600"/>
            <a:ext cx="5303520" cy="1353312"/>
          </a:xfrm>
          <a:prstGeom prst="roundRect">
            <a:avLst>
              <a:gd name="adj" fmla="val 6081"/>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10" name="Shape 8"/>
          <p:cNvSpPr/>
          <p:nvPr/>
        </p:nvSpPr>
        <p:spPr>
          <a:xfrm>
            <a:off x="6583680" y="1755648"/>
            <a:ext cx="566928" cy="566928"/>
          </a:xfrm>
          <a:prstGeom prst="ellipse">
            <a:avLst/>
          </a:prstGeom>
          <a:solidFill>
            <a:srgbClr val="8E4A6B"/>
          </a:solidFill>
          <a:ln w="12700">
            <a:solidFill>
              <a:srgbClr val="333333"/>
            </a:solidFill>
            <a:prstDash val="solid"/>
          </a:ln>
        </p:spPr>
      </p:sp>
      <p:sp>
        <p:nvSpPr>
          <p:cNvPr id="11" name="Text 9"/>
          <p:cNvSpPr txBox="1"/>
          <p:nvPr/>
        </p:nvSpPr>
        <p:spPr>
          <a:xfrm>
            <a:off x="6583680" y="1755648"/>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B</a:t>
            </a:r>
            <a:endParaRPr lang="en-US" sz="1900" dirty="0"/>
          </a:p>
        </p:txBody>
      </p:sp>
      <p:sp>
        <p:nvSpPr>
          <p:cNvPr id="12" name="Text 10"/>
          <p:cNvSpPr txBox="1"/>
          <p:nvPr/>
        </p:nvSpPr>
        <p:spPr>
          <a:xfrm>
            <a:off x="7315200" y="1572768"/>
            <a:ext cx="4023360" cy="960120"/>
          </a:xfrm>
          <a:prstGeom prst="rect">
            <a:avLst/>
          </a:prstGeom>
          <a:noFill/>
          <a:ln/>
        </p:spPr>
        <p:txBody>
          <a:bodyPr wrap="square" lIns="0" tIns="0" rIns="0" bIns="0" rtlCol="0" anchor="ctr"/>
          <a:lstStyle/>
          <a:p>
            <a:pPr algn="l" indent="0" marL="0">
              <a:lnSpc>
                <a:spcPct val="125000"/>
              </a:lnSpc>
              <a:buNone/>
            </a:pPr>
            <a:r>
              <a:rPr lang="en-US" sz="1300" dirty="0">
                <a:solidFill>
                  <a:srgbClr val="17261F"/>
                </a:solidFill>
                <a:latin typeface="Calibri" pitchFamily="34" charset="0"/>
                <a:ea typeface="Calibri" pitchFamily="34" charset="-122"/>
                <a:cs typeface="Calibri" pitchFamily="34" charset="-120"/>
              </a:rPr>
              <a:t>Prediksi jumlah penumpang harian dari 40 variabel campuran: cuaca, hari libur, jenis armada, dan wilayah.</a:t>
            </a:r>
            <a:endParaRPr lang="en-US" sz="1300" dirty="0"/>
          </a:p>
        </p:txBody>
      </p:sp>
      <p:sp>
        <p:nvSpPr>
          <p:cNvPr id="13" name="Shape 11"/>
          <p:cNvSpPr/>
          <p:nvPr/>
        </p:nvSpPr>
        <p:spPr>
          <a:xfrm>
            <a:off x="594360" y="2944368"/>
            <a:ext cx="5303520" cy="1353312"/>
          </a:xfrm>
          <a:prstGeom prst="roundRect">
            <a:avLst>
              <a:gd name="adj" fmla="val 6081"/>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14" name="Shape 12"/>
          <p:cNvSpPr/>
          <p:nvPr/>
        </p:nvSpPr>
        <p:spPr>
          <a:xfrm>
            <a:off x="914400" y="3328416"/>
            <a:ext cx="566928" cy="566928"/>
          </a:xfrm>
          <a:prstGeom prst="ellipse">
            <a:avLst/>
          </a:prstGeom>
          <a:solidFill>
            <a:srgbClr val="7FA327"/>
          </a:solidFill>
          <a:ln w="12700">
            <a:solidFill>
              <a:srgbClr val="333333"/>
            </a:solidFill>
            <a:prstDash val="solid"/>
          </a:ln>
        </p:spPr>
      </p:sp>
      <p:sp>
        <p:nvSpPr>
          <p:cNvPr id="15" name="Text 13"/>
          <p:cNvSpPr txBox="1"/>
          <p:nvPr/>
        </p:nvSpPr>
        <p:spPr>
          <a:xfrm>
            <a:off x="914400" y="3328416"/>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C</a:t>
            </a:r>
            <a:endParaRPr lang="en-US" sz="1900" dirty="0"/>
          </a:p>
        </p:txBody>
      </p:sp>
      <p:sp>
        <p:nvSpPr>
          <p:cNvPr id="16" name="Text 14"/>
          <p:cNvSpPr txBox="1"/>
          <p:nvPr/>
        </p:nvSpPr>
        <p:spPr>
          <a:xfrm>
            <a:off x="1645920" y="3145536"/>
            <a:ext cx="4023360" cy="960120"/>
          </a:xfrm>
          <a:prstGeom prst="rect">
            <a:avLst/>
          </a:prstGeom>
          <a:noFill/>
          <a:ln/>
        </p:spPr>
        <p:txBody>
          <a:bodyPr wrap="square" lIns="0" tIns="0" rIns="0" bIns="0" rtlCol="0" anchor="ctr"/>
          <a:lstStyle/>
          <a:p>
            <a:pPr algn="l" indent="0" marL="0">
              <a:lnSpc>
                <a:spcPct val="125000"/>
              </a:lnSpc>
              <a:buNone/>
            </a:pPr>
            <a:r>
              <a:rPr lang="en-US" sz="1300" dirty="0">
                <a:solidFill>
                  <a:srgbClr val="17261F"/>
                </a:solidFill>
                <a:latin typeface="Calibri" pitchFamily="34" charset="0"/>
                <a:ea typeface="Calibri" pitchFamily="34" charset="-122"/>
                <a:cs typeface="Calibri" pitchFamily="34" charset="-120"/>
              </a:rPr>
              <a:t>Model memperkirakan biaya perawatan armada baru yang harganya jauh di atas seluruh armada dalam data latih.</a:t>
            </a:r>
            <a:endParaRPr lang="en-US" sz="1300" dirty="0"/>
          </a:p>
        </p:txBody>
      </p:sp>
      <p:sp>
        <p:nvSpPr>
          <p:cNvPr id="17" name="Shape 15"/>
          <p:cNvSpPr/>
          <p:nvPr/>
        </p:nvSpPr>
        <p:spPr>
          <a:xfrm>
            <a:off x="6263640" y="2944368"/>
            <a:ext cx="5303520" cy="1353312"/>
          </a:xfrm>
          <a:prstGeom prst="roundRect">
            <a:avLst>
              <a:gd name="adj" fmla="val 6081"/>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18" name="Shape 16"/>
          <p:cNvSpPr/>
          <p:nvPr/>
        </p:nvSpPr>
        <p:spPr>
          <a:xfrm>
            <a:off x="6583680" y="3328416"/>
            <a:ext cx="566928" cy="566928"/>
          </a:xfrm>
          <a:prstGeom prst="ellipse">
            <a:avLst/>
          </a:prstGeom>
          <a:solidFill>
            <a:srgbClr val="8E4A6B"/>
          </a:solidFill>
          <a:ln w="12700">
            <a:solidFill>
              <a:srgbClr val="333333"/>
            </a:solidFill>
            <a:prstDash val="solid"/>
          </a:ln>
        </p:spPr>
      </p:sp>
      <p:sp>
        <p:nvSpPr>
          <p:cNvPr id="19" name="Text 17"/>
          <p:cNvSpPr txBox="1"/>
          <p:nvPr/>
        </p:nvSpPr>
        <p:spPr>
          <a:xfrm>
            <a:off x="6583680" y="3328416"/>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D</a:t>
            </a:r>
            <a:endParaRPr lang="en-US" sz="1900" dirty="0"/>
          </a:p>
        </p:txBody>
      </p:sp>
      <p:sp>
        <p:nvSpPr>
          <p:cNvPr id="20" name="Text 18"/>
          <p:cNvSpPr txBox="1"/>
          <p:nvPr/>
        </p:nvSpPr>
        <p:spPr>
          <a:xfrm>
            <a:off x="7315200" y="3145536"/>
            <a:ext cx="4023360" cy="960120"/>
          </a:xfrm>
          <a:prstGeom prst="rect">
            <a:avLst/>
          </a:prstGeom>
          <a:noFill/>
          <a:ln/>
        </p:spPr>
        <p:txBody>
          <a:bodyPr wrap="square" lIns="0" tIns="0" rIns="0" bIns="0" rtlCol="0" anchor="ctr"/>
          <a:lstStyle/>
          <a:p>
            <a:pPr algn="l" indent="0" marL="0">
              <a:lnSpc>
                <a:spcPct val="125000"/>
              </a:lnSpc>
              <a:buNone/>
            </a:pPr>
            <a:r>
              <a:rPr lang="en-US" sz="1300" dirty="0">
                <a:solidFill>
                  <a:srgbClr val="17261F"/>
                </a:solidFill>
                <a:latin typeface="Calibri" pitchFamily="34" charset="0"/>
                <a:ea typeface="Calibri" pitchFamily="34" charset="-122"/>
                <a:cs typeface="Calibri" pitchFamily="34" charset="-120"/>
              </a:rPr>
              <a:t>Random Forest mencapai akurasi 0,91; satu pohon tunggal 0,84. Tim memilih pohon tunggal untuk dipakai.</a:t>
            </a:r>
            <a:endParaRPr lang="en-US" sz="1300" dirty="0"/>
          </a:p>
        </p:txBody>
      </p:sp>
      <p:sp>
        <p:nvSpPr>
          <p:cNvPr id="21" name="Shape 19"/>
          <p:cNvSpPr/>
          <p:nvPr/>
        </p:nvSpPr>
        <p:spPr>
          <a:xfrm>
            <a:off x="594360" y="4663440"/>
            <a:ext cx="11002975" cy="1097280"/>
          </a:xfrm>
          <a:prstGeom prst="roundRect">
            <a:avLst>
              <a:gd name="adj" fmla="val 7500"/>
            </a:avLst>
          </a:prstGeom>
          <a:solidFill>
            <a:srgbClr val="1B3A2F"/>
          </a:solidFill>
          <a:ln w="12700">
            <a:solidFill>
              <a:srgbClr val="1B3A2F"/>
            </a:solidFill>
            <a:prstDash val="solid"/>
          </a:ln>
          <a:effectLst>
            <a:outerShdw sx="100000" sy="100000" kx="0" ky="0" algn="bl" rotWithShape="0" blurRad="101600" dist="508" dir="5400000">
              <a:srgbClr val="AFBCB0">
                <a:alpha val="30000"/>
              </a:srgbClr>
            </a:outerShdw>
          </a:effectLst>
        </p:spPr>
      </p:sp>
      <p:sp>
        <p:nvSpPr>
          <p:cNvPr id="22" name="Text 20"/>
          <p:cNvSpPr txBox="1"/>
          <p:nvPr/>
        </p:nvSpPr>
        <p:spPr>
          <a:xfrm>
            <a:off x="1005840" y="4846320"/>
            <a:ext cx="10180015" cy="777240"/>
          </a:xfrm>
          <a:prstGeom prst="rect">
            <a:avLst/>
          </a:prstGeom>
          <a:noFill/>
          <a:ln/>
        </p:spPr>
        <p:txBody>
          <a:bodyPr wrap="square" lIns="0" tIns="0" rIns="0" bIns="0" rtlCol="0" anchor="t"/>
          <a:lstStyle/>
          <a:p>
            <a:pPr algn="l" indent="0" marL="0">
              <a:lnSpc>
                <a:spcPct val="130000"/>
              </a:lnSpc>
              <a:buNone/>
            </a:pPr>
            <a:r>
              <a:rPr lang="en-US" sz="1450" b="1" dirty="0">
                <a:solidFill>
                  <a:srgbClr val="FFFFFF"/>
                </a:solidFill>
                <a:latin typeface="Calibri" pitchFamily="34" charset="0"/>
                <a:ea typeface="Calibri" pitchFamily="34" charset="-122"/>
                <a:cs typeface="Calibri" pitchFamily="34" charset="-120"/>
              </a:rPr>
              <a:t>Untuk tiap situasi: keluarga model apa yang Anda pilih, dan apa satu alasan yang paling menentukan? Untuk kasus D, apakah keputusan tim dapat dibenarkan?</a:t>
            </a:r>
            <a:endParaRPr lang="en-US" sz="1450" dirty="0"/>
          </a:p>
          <a:p>
            <a:pPr algn="l" indent="0" marL="0">
              <a:lnSpc>
                <a:spcPct val="130000"/>
              </a:lnSpc>
              <a:buNone/>
            </a:pPr>
            <a:r>
              <a:rPr lang="en-US" sz="1450" b="1" dirty="0">
                <a:solidFill>
                  <a:srgbClr val="FFFFFF"/>
                </a:solidFill>
                <a:latin typeface="Calibri" pitchFamily="34" charset="0"/>
                <a:ea typeface="Calibri" pitchFamily="34" charset="-122"/>
                <a:cs typeface="Calibri" pitchFamily="34" charset="-120"/>
              </a:rPr>
              <a:t>Diskusi kelompok 4 orang · 12 menit.</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3A2F"/>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B5D45A"/>
                </a:solidFill>
                <a:latin typeface="Calibri" pitchFamily="34" charset="0"/>
                <a:ea typeface="Calibri" pitchFamily="34" charset="-122"/>
                <a:cs typeface="Calibri" pitchFamily="34" charset="-120"/>
              </a:rPr>
              <a:t>KEGIATAN KELAS</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Presentasi Kilat Algoritma · Sesi 1</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86A093"/>
                </a:solidFill>
                <a:latin typeface="Calibri" pitchFamily="34" charset="0"/>
                <a:ea typeface="Calibri" pitchFamily="34" charset="-122"/>
                <a:cs typeface="Calibri" pitchFamily="34" charset="-120"/>
              </a:rPr>
              <a:t>22</a:t>
            </a:r>
            <a:endParaRPr lang="en-US" sz="1000" dirty="0"/>
          </a:p>
        </p:txBody>
      </p:sp>
      <p:sp>
        <p:nvSpPr>
          <p:cNvPr id="5" name="Text 3"/>
          <p:cNvSpPr txBox="1"/>
          <p:nvPr/>
        </p:nvSpPr>
        <p:spPr>
          <a:xfrm>
            <a:off x="594360" y="1234440"/>
            <a:ext cx="11002975" cy="457200"/>
          </a:xfrm>
          <a:prstGeom prst="rect">
            <a:avLst/>
          </a:prstGeom>
          <a:noFill/>
          <a:ln/>
        </p:spPr>
        <p:txBody>
          <a:bodyPr wrap="square" lIns="0" tIns="0" rIns="0" bIns="0" rtlCol="0" anchor="t"/>
          <a:lstStyle/>
          <a:p>
            <a:pPr algn="l" indent="0" marL="0">
              <a:lnSpc>
                <a:spcPct val="130000"/>
              </a:lnSpc>
              <a:buNone/>
            </a:pPr>
            <a:r>
              <a:rPr lang="en-US" sz="1500" dirty="0">
                <a:solidFill>
                  <a:srgbClr val="D3DDD6"/>
                </a:solidFill>
                <a:latin typeface="Calibri" pitchFamily="34" charset="0"/>
                <a:ea typeface="Calibri" pitchFamily="34" charset="-122"/>
                <a:cs typeface="Calibri" pitchFamily="34" charset="-120"/>
              </a:rPr>
              <a:t>Tiap kelompok memaparkan satu algoritma yang diundi selama 5–7 menit. Rujukan utama: dokumentasi scikit-learn User Guide, ISL [11], dan catatan kuliah CS 189 [10].</a:t>
            </a:r>
            <a:endParaRPr lang="en-US" sz="1500" dirty="0"/>
          </a:p>
        </p:txBody>
      </p:sp>
      <p:sp>
        <p:nvSpPr>
          <p:cNvPr id="6" name="Shape 4"/>
          <p:cNvSpPr/>
          <p:nvPr/>
        </p:nvSpPr>
        <p:spPr>
          <a:xfrm>
            <a:off x="594360" y="1828800"/>
            <a:ext cx="5486400" cy="2286000"/>
          </a:xfrm>
          <a:prstGeom prst="roundRect">
            <a:avLst>
              <a:gd name="adj" fmla="val 3600"/>
            </a:avLst>
          </a:prstGeom>
          <a:solidFill>
            <a:srgbClr val="27503F"/>
          </a:solidFill>
          <a:ln w="12700">
            <a:solidFill>
              <a:srgbClr val="3A6B57"/>
            </a:solidFill>
            <a:prstDash val="solid"/>
          </a:ln>
          <a:effectLst>
            <a:outerShdw sx="100000" sy="100000" kx="0" ky="0" algn="bl" rotWithShape="0" blurRad="101600" dist="508" dir="5400000">
              <a:srgbClr val="AFBCB0">
                <a:alpha val="30000"/>
              </a:srgbClr>
            </a:outerShdw>
          </a:effectLst>
        </p:spPr>
      </p:sp>
      <p:sp>
        <p:nvSpPr>
          <p:cNvPr id="7" name="Text 5"/>
          <p:cNvSpPr txBox="1"/>
          <p:nvPr/>
        </p:nvSpPr>
        <p:spPr>
          <a:xfrm>
            <a:off x="960120" y="2011680"/>
            <a:ext cx="4754880" cy="274320"/>
          </a:xfrm>
          <a:prstGeom prst="rect">
            <a:avLst/>
          </a:prstGeom>
          <a:noFill/>
          <a:ln/>
        </p:spPr>
        <p:txBody>
          <a:bodyPr wrap="square" lIns="0" tIns="0" rIns="0" bIns="0" rtlCol="0" anchor="t"/>
          <a:lstStyle/>
          <a:p>
            <a:pPr algn="l" indent="0" marL="0">
              <a:buNone/>
            </a:pPr>
            <a:r>
              <a:rPr lang="en-US" sz="1700" b="1" dirty="0">
                <a:solidFill>
                  <a:srgbClr val="B5D45A"/>
                </a:solidFill>
                <a:latin typeface="Cambria" pitchFamily="34" charset="0"/>
                <a:ea typeface="Cambria" pitchFamily="34" charset="-122"/>
                <a:cs typeface="Cambria" pitchFamily="34" charset="-120"/>
              </a:rPr>
              <a:t>Daftar topik sesi 1</a:t>
            </a:r>
            <a:endParaRPr lang="en-US" sz="1700" dirty="0"/>
          </a:p>
        </p:txBody>
      </p:sp>
      <p:sp>
        <p:nvSpPr>
          <p:cNvPr id="8" name="Text 6"/>
          <p:cNvSpPr txBox="1"/>
          <p:nvPr/>
        </p:nvSpPr>
        <p:spPr>
          <a:xfrm>
            <a:off x="960120" y="2377440"/>
            <a:ext cx="4754880" cy="1645920"/>
          </a:xfrm>
          <a:prstGeom prst="rect">
            <a:avLst/>
          </a:prstGeom>
          <a:noFill/>
          <a:ln/>
        </p:spPr>
        <p:txBody>
          <a:bodyPr wrap="square" lIns="0" tIns="0" rIns="0" bIns="0" rtlCol="0" anchor="t"/>
          <a:lstStyle/>
          <a:p>
            <a:pPr marL="342900" indent="-342900">
              <a:spcAft>
                <a:spcPts val="200"/>
              </a:spcAft>
              <a:buSzPct val="100000"/>
              <a:buChar char="•"/>
            </a:pPr>
            <a:r>
              <a:rPr lang="en-US" sz="1250" dirty="0">
                <a:solidFill>
                  <a:srgbClr val="FFFFFF"/>
                </a:solidFill>
                <a:latin typeface="Calibri" pitchFamily="34" charset="0"/>
                <a:ea typeface="Calibri" pitchFamily="34" charset="-122"/>
                <a:cs typeface="Calibri" pitchFamily="34" charset="-120"/>
              </a:rPr>
              <a:t>Support Vector Machines (SVM)</a:t>
            </a:r>
            <a:endParaRPr lang="en-US" sz="1250" dirty="0"/>
          </a:p>
          <a:p>
            <a:pPr marL="342900" indent="-342900">
              <a:spcAft>
                <a:spcPts val="200"/>
              </a:spcAft>
              <a:buSzPct val="100000"/>
              <a:buChar char="•"/>
            </a:pPr>
            <a:r>
              <a:rPr lang="en-US" sz="1250" dirty="0">
                <a:solidFill>
                  <a:srgbClr val="FFFFFF"/>
                </a:solidFill>
                <a:latin typeface="Calibri" pitchFamily="34" charset="0"/>
                <a:ea typeface="Calibri" pitchFamily="34" charset="-122"/>
                <a:cs typeface="Calibri" pitchFamily="34" charset="-120"/>
              </a:rPr>
              <a:t>Generalized Linear Models</a:t>
            </a:r>
            <a:endParaRPr lang="en-US" sz="1250" dirty="0"/>
          </a:p>
          <a:p>
            <a:pPr marL="342900" indent="-342900">
              <a:spcAft>
                <a:spcPts val="200"/>
              </a:spcAft>
              <a:buSzPct val="100000"/>
              <a:buChar char="•"/>
            </a:pPr>
            <a:r>
              <a:rPr lang="en-US" sz="1250" dirty="0">
                <a:solidFill>
                  <a:srgbClr val="FFFFFF"/>
                </a:solidFill>
                <a:latin typeface="Calibri" pitchFamily="34" charset="0"/>
                <a:ea typeface="Calibri" pitchFamily="34" charset="-122"/>
                <a:cs typeface="Calibri" pitchFamily="34" charset="-120"/>
              </a:rPr>
              <a:t>Naive Bayes</a:t>
            </a:r>
            <a:endParaRPr lang="en-US" sz="1250" dirty="0"/>
          </a:p>
          <a:p>
            <a:pPr marL="342900" indent="-342900">
              <a:spcAft>
                <a:spcPts val="200"/>
              </a:spcAft>
              <a:buSzPct val="100000"/>
              <a:buChar char="•"/>
            </a:pPr>
            <a:r>
              <a:rPr lang="en-US" sz="1250" dirty="0">
                <a:solidFill>
                  <a:srgbClr val="FFFFFF"/>
                </a:solidFill>
                <a:latin typeface="Calibri" pitchFamily="34" charset="0"/>
                <a:ea typeface="Calibri" pitchFamily="34" charset="-122"/>
                <a:cs typeface="Calibri" pitchFamily="34" charset="-120"/>
              </a:rPr>
              <a:t>Nearest Neighbors</a:t>
            </a:r>
            <a:endParaRPr lang="en-US" sz="1250" dirty="0"/>
          </a:p>
          <a:p>
            <a:pPr marL="342900" indent="-342900">
              <a:spcAft>
                <a:spcPts val="200"/>
              </a:spcAft>
              <a:buSzPct val="100000"/>
              <a:buChar char="•"/>
            </a:pPr>
            <a:r>
              <a:rPr lang="en-US" sz="1250" dirty="0">
                <a:solidFill>
                  <a:srgbClr val="FFFFFF"/>
                </a:solidFill>
                <a:latin typeface="Calibri" pitchFamily="34" charset="0"/>
                <a:ea typeface="Calibri" pitchFamily="34" charset="-122"/>
                <a:cs typeface="Calibri" pitchFamily="34" charset="-120"/>
              </a:rPr>
              <a:t>Kernel Ridge Regression</a:t>
            </a:r>
            <a:endParaRPr lang="en-US" sz="1250" dirty="0"/>
          </a:p>
          <a:p>
            <a:pPr marL="342900" indent="-342900">
              <a:spcAft>
                <a:spcPts val="200"/>
              </a:spcAft>
              <a:buSzPct val="100000"/>
              <a:buChar char="•"/>
            </a:pPr>
            <a:r>
              <a:rPr lang="en-US" sz="1250" dirty="0">
                <a:solidFill>
                  <a:srgbClr val="FFFFFF"/>
                </a:solidFill>
                <a:latin typeface="Calibri" pitchFamily="34" charset="0"/>
                <a:ea typeface="Calibri" pitchFamily="34" charset="-122"/>
                <a:cs typeface="Calibri" pitchFamily="34" charset="-120"/>
              </a:rPr>
              <a:t>Stochastic Gradient Descent</a:t>
            </a:r>
            <a:endParaRPr lang="en-US" sz="1250" dirty="0"/>
          </a:p>
          <a:p>
            <a:pPr marL="342900" indent="-342900">
              <a:spcAft>
                <a:spcPts val="200"/>
              </a:spcAft>
              <a:buSzPct val="100000"/>
              <a:buChar char="•"/>
            </a:pPr>
            <a:r>
              <a:rPr lang="en-US" sz="1250" dirty="0">
                <a:solidFill>
                  <a:srgbClr val="FFFFFF"/>
                </a:solidFill>
                <a:latin typeface="Calibri" pitchFamily="34" charset="0"/>
                <a:ea typeface="Calibri" pitchFamily="34" charset="-122"/>
                <a:cs typeface="Calibri" pitchFamily="34" charset="-120"/>
              </a:rPr>
              <a:t>Gradient Boosting</a:t>
            </a:r>
            <a:endParaRPr lang="en-US" sz="1250" dirty="0"/>
          </a:p>
          <a:p>
            <a:pPr marL="342900" indent="-342900">
              <a:spcAft>
                <a:spcPts val="200"/>
              </a:spcAft>
              <a:buSzPct val="100000"/>
              <a:buChar char="•"/>
            </a:pPr>
            <a:r>
              <a:rPr lang="en-US" sz="1250" dirty="0">
                <a:solidFill>
                  <a:srgbClr val="FFFFFF"/>
                </a:solidFill>
                <a:latin typeface="Calibri" pitchFamily="34" charset="0"/>
                <a:ea typeface="Calibri" pitchFamily="34" charset="-122"/>
                <a:cs typeface="Calibri" pitchFamily="34" charset="-120"/>
              </a:rPr>
              <a:t>AdaBoost</a:t>
            </a:r>
            <a:endParaRPr lang="en-US" sz="1250" dirty="0"/>
          </a:p>
        </p:txBody>
      </p:sp>
      <p:sp>
        <p:nvSpPr>
          <p:cNvPr id="9" name="Shape 7"/>
          <p:cNvSpPr/>
          <p:nvPr/>
        </p:nvSpPr>
        <p:spPr>
          <a:xfrm>
            <a:off x="6537960" y="1828800"/>
            <a:ext cx="5029200" cy="2286000"/>
          </a:xfrm>
          <a:prstGeom prst="roundRect">
            <a:avLst>
              <a:gd name="adj" fmla="val 3600"/>
            </a:avLst>
          </a:prstGeom>
          <a:solidFill>
            <a:srgbClr val="27503F"/>
          </a:solidFill>
          <a:ln w="12700">
            <a:solidFill>
              <a:srgbClr val="3A6B57"/>
            </a:solidFill>
            <a:prstDash val="solid"/>
          </a:ln>
          <a:effectLst>
            <a:outerShdw sx="100000" sy="100000" kx="0" ky="0" algn="bl" rotWithShape="0" blurRad="101600" dist="508" dir="5400000">
              <a:srgbClr val="AFBCB0">
                <a:alpha val="30000"/>
              </a:srgbClr>
            </a:outerShdw>
          </a:effectLst>
        </p:spPr>
      </p:sp>
      <p:sp>
        <p:nvSpPr>
          <p:cNvPr id="10" name="Text 8"/>
          <p:cNvSpPr txBox="1"/>
          <p:nvPr/>
        </p:nvSpPr>
        <p:spPr>
          <a:xfrm>
            <a:off x="6858000" y="2011680"/>
            <a:ext cx="4389120" cy="274320"/>
          </a:xfrm>
          <a:prstGeom prst="rect">
            <a:avLst/>
          </a:prstGeom>
          <a:noFill/>
          <a:ln/>
        </p:spPr>
        <p:txBody>
          <a:bodyPr wrap="square" lIns="0" tIns="0" rIns="0" bIns="0" rtlCol="0" anchor="t"/>
          <a:lstStyle/>
          <a:p>
            <a:pPr algn="l" indent="0" marL="0">
              <a:buNone/>
            </a:pPr>
            <a:r>
              <a:rPr lang="en-US" sz="1700" b="1" dirty="0">
                <a:solidFill>
                  <a:srgbClr val="B5D45A"/>
                </a:solidFill>
                <a:latin typeface="Cambria" pitchFamily="34" charset="0"/>
                <a:ea typeface="Cambria" pitchFamily="34" charset="-122"/>
                <a:cs typeface="Cambria" pitchFamily="34" charset="-120"/>
              </a:rPr>
              <a:t>Struktur yang wajib dipenuhi</a:t>
            </a:r>
            <a:endParaRPr lang="en-US" sz="1700" dirty="0"/>
          </a:p>
        </p:txBody>
      </p:sp>
      <p:sp>
        <p:nvSpPr>
          <p:cNvPr id="11" name="Text 9"/>
          <p:cNvSpPr txBox="1"/>
          <p:nvPr/>
        </p:nvSpPr>
        <p:spPr>
          <a:xfrm>
            <a:off x="6903720" y="2395728"/>
            <a:ext cx="274320" cy="274320"/>
          </a:xfrm>
          <a:prstGeom prst="rect">
            <a:avLst/>
          </a:prstGeom>
          <a:noFill/>
          <a:ln/>
        </p:spPr>
        <p:txBody>
          <a:bodyPr wrap="square" lIns="0" tIns="0" rIns="0" bIns="0" rtlCol="0" anchor="t"/>
          <a:lstStyle/>
          <a:p>
            <a:pPr algn="l" indent="0" marL="0">
              <a:buNone/>
            </a:pPr>
            <a:r>
              <a:rPr lang="en-US" sz="1300" b="1" dirty="0">
                <a:solidFill>
                  <a:srgbClr val="B5D45A"/>
                </a:solidFill>
                <a:latin typeface="Courier New" pitchFamily="34" charset="0"/>
                <a:ea typeface="Courier New" pitchFamily="34" charset="-122"/>
                <a:cs typeface="Courier New" pitchFamily="34" charset="-120"/>
              </a:rPr>
              <a:t>1</a:t>
            </a:r>
            <a:endParaRPr lang="en-US" sz="1300" dirty="0"/>
          </a:p>
        </p:txBody>
      </p:sp>
      <p:sp>
        <p:nvSpPr>
          <p:cNvPr id="12" name="Text 10"/>
          <p:cNvSpPr txBox="1"/>
          <p:nvPr/>
        </p:nvSpPr>
        <p:spPr>
          <a:xfrm>
            <a:off x="7269480" y="2395728"/>
            <a:ext cx="4023360" cy="274320"/>
          </a:xfrm>
          <a:prstGeom prst="rect">
            <a:avLst/>
          </a:prstGeom>
          <a:noFill/>
          <a:ln/>
        </p:spPr>
        <p:txBody>
          <a:bodyPr wrap="square" lIns="0" tIns="0" rIns="0" bIns="0" rtlCol="0" anchor="t"/>
          <a:lstStyle/>
          <a:p>
            <a:pPr algn="l" indent="0" marL="0">
              <a:buNone/>
            </a:pPr>
            <a:r>
              <a:rPr lang="en-US" sz="1350" dirty="0">
                <a:solidFill>
                  <a:srgbClr val="FFFFFF"/>
                </a:solidFill>
                <a:latin typeface="Calibri" pitchFamily="34" charset="0"/>
                <a:ea typeface="Calibri" pitchFamily="34" charset="-122"/>
                <a:cs typeface="Calibri" pitchFamily="34" charset="-120"/>
              </a:rPr>
              <a:t>Prinsip kerja algoritma</a:t>
            </a:r>
            <a:endParaRPr lang="en-US" sz="1350" dirty="0"/>
          </a:p>
        </p:txBody>
      </p:sp>
      <p:sp>
        <p:nvSpPr>
          <p:cNvPr id="13" name="Text 11"/>
          <p:cNvSpPr txBox="1"/>
          <p:nvPr/>
        </p:nvSpPr>
        <p:spPr>
          <a:xfrm>
            <a:off x="6903720" y="2724912"/>
            <a:ext cx="274320" cy="274320"/>
          </a:xfrm>
          <a:prstGeom prst="rect">
            <a:avLst/>
          </a:prstGeom>
          <a:noFill/>
          <a:ln/>
        </p:spPr>
        <p:txBody>
          <a:bodyPr wrap="square" lIns="0" tIns="0" rIns="0" bIns="0" rtlCol="0" anchor="t"/>
          <a:lstStyle/>
          <a:p>
            <a:pPr algn="l" indent="0" marL="0">
              <a:buNone/>
            </a:pPr>
            <a:r>
              <a:rPr lang="en-US" sz="1300" b="1" dirty="0">
                <a:solidFill>
                  <a:srgbClr val="B5D45A"/>
                </a:solidFill>
                <a:latin typeface="Courier New" pitchFamily="34" charset="0"/>
                <a:ea typeface="Courier New" pitchFamily="34" charset="-122"/>
                <a:cs typeface="Courier New" pitchFamily="34" charset="-120"/>
              </a:rPr>
              <a:t>2</a:t>
            </a:r>
            <a:endParaRPr lang="en-US" sz="1300" dirty="0"/>
          </a:p>
        </p:txBody>
      </p:sp>
      <p:sp>
        <p:nvSpPr>
          <p:cNvPr id="14" name="Text 12"/>
          <p:cNvSpPr txBox="1"/>
          <p:nvPr/>
        </p:nvSpPr>
        <p:spPr>
          <a:xfrm>
            <a:off x="7269480" y="2724912"/>
            <a:ext cx="4023360" cy="274320"/>
          </a:xfrm>
          <a:prstGeom prst="rect">
            <a:avLst/>
          </a:prstGeom>
          <a:noFill/>
          <a:ln/>
        </p:spPr>
        <p:txBody>
          <a:bodyPr wrap="square" lIns="0" tIns="0" rIns="0" bIns="0" rtlCol="0" anchor="t"/>
          <a:lstStyle/>
          <a:p>
            <a:pPr algn="l" indent="0" marL="0">
              <a:buNone/>
            </a:pPr>
            <a:r>
              <a:rPr lang="en-US" sz="1350" dirty="0">
                <a:solidFill>
                  <a:srgbClr val="FFFFFF"/>
                </a:solidFill>
                <a:latin typeface="Calibri" pitchFamily="34" charset="0"/>
                <a:ea typeface="Calibri" pitchFamily="34" charset="-122"/>
                <a:cs typeface="Calibri" pitchFamily="34" charset="-120"/>
              </a:rPr>
              <a:t>Asumsi yang mendasarinya</a:t>
            </a:r>
            <a:endParaRPr lang="en-US" sz="1350" dirty="0"/>
          </a:p>
        </p:txBody>
      </p:sp>
      <p:sp>
        <p:nvSpPr>
          <p:cNvPr id="15" name="Text 13"/>
          <p:cNvSpPr txBox="1"/>
          <p:nvPr/>
        </p:nvSpPr>
        <p:spPr>
          <a:xfrm>
            <a:off x="6903720" y="3054096"/>
            <a:ext cx="274320" cy="274320"/>
          </a:xfrm>
          <a:prstGeom prst="rect">
            <a:avLst/>
          </a:prstGeom>
          <a:noFill/>
          <a:ln/>
        </p:spPr>
        <p:txBody>
          <a:bodyPr wrap="square" lIns="0" tIns="0" rIns="0" bIns="0" rtlCol="0" anchor="t"/>
          <a:lstStyle/>
          <a:p>
            <a:pPr algn="l" indent="0" marL="0">
              <a:buNone/>
            </a:pPr>
            <a:r>
              <a:rPr lang="en-US" sz="1300" b="1" dirty="0">
                <a:solidFill>
                  <a:srgbClr val="B5D45A"/>
                </a:solidFill>
                <a:latin typeface="Courier New" pitchFamily="34" charset="0"/>
                <a:ea typeface="Courier New" pitchFamily="34" charset="-122"/>
                <a:cs typeface="Courier New" pitchFamily="34" charset="-120"/>
              </a:rPr>
              <a:t>3</a:t>
            </a:r>
            <a:endParaRPr lang="en-US" sz="1300" dirty="0"/>
          </a:p>
        </p:txBody>
      </p:sp>
      <p:sp>
        <p:nvSpPr>
          <p:cNvPr id="16" name="Text 14"/>
          <p:cNvSpPr txBox="1"/>
          <p:nvPr/>
        </p:nvSpPr>
        <p:spPr>
          <a:xfrm>
            <a:off x="7269480" y="3054096"/>
            <a:ext cx="4023360" cy="274320"/>
          </a:xfrm>
          <a:prstGeom prst="rect">
            <a:avLst/>
          </a:prstGeom>
          <a:noFill/>
          <a:ln/>
        </p:spPr>
        <p:txBody>
          <a:bodyPr wrap="square" lIns="0" tIns="0" rIns="0" bIns="0" rtlCol="0" anchor="t"/>
          <a:lstStyle/>
          <a:p>
            <a:pPr algn="l" indent="0" marL="0">
              <a:buNone/>
            </a:pPr>
            <a:r>
              <a:rPr lang="en-US" sz="1350" dirty="0">
                <a:solidFill>
                  <a:srgbClr val="FFFFFF"/>
                </a:solidFill>
                <a:latin typeface="Calibri" pitchFamily="34" charset="0"/>
                <a:ea typeface="Calibri" pitchFamily="34" charset="-122"/>
                <a:cs typeface="Calibri" pitchFamily="34" charset="-120"/>
              </a:rPr>
              <a:t>Kelebihan dan keterbatasan</a:t>
            </a:r>
            <a:endParaRPr lang="en-US" sz="1350" dirty="0"/>
          </a:p>
        </p:txBody>
      </p:sp>
      <p:sp>
        <p:nvSpPr>
          <p:cNvPr id="17" name="Text 15"/>
          <p:cNvSpPr txBox="1"/>
          <p:nvPr/>
        </p:nvSpPr>
        <p:spPr>
          <a:xfrm>
            <a:off x="6903720" y="3383280"/>
            <a:ext cx="274320" cy="274320"/>
          </a:xfrm>
          <a:prstGeom prst="rect">
            <a:avLst/>
          </a:prstGeom>
          <a:noFill/>
          <a:ln/>
        </p:spPr>
        <p:txBody>
          <a:bodyPr wrap="square" lIns="0" tIns="0" rIns="0" bIns="0" rtlCol="0" anchor="t"/>
          <a:lstStyle/>
          <a:p>
            <a:pPr algn="l" indent="0" marL="0">
              <a:buNone/>
            </a:pPr>
            <a:r>
              <a:rPr lang="en-US" sz="1300" b="1" dirty="0">
                <a:solidFill>
                  <a:srgbClr val="B5D45A"/>
                </a:solidFill>
                <a:latin typeface="Courier New" pitchFamily="34" charset="0"/>
                <a:ea typeface="Courier New" pitchFamily="34" charset="-122"/>
                <a:cs typeface="Courier New" pitchFamily="34" charset="-120"/>
              </a:rPr>
              <a:t>4</a:t>
            </a:r>
            <a:endParaRPr lang="en-US" sz="1300" dirty="0"/>
          </a:p>
        </p:txBody>
      </p:sp>
      <p:sp>
        <p:nvSpPr>
          <p:cNvPr id="18" name="Text 16"/>
          <p:cNvSpPr txBox="1"/>
          <p:nvPr/>
        </p:nvSpPr>
        <p:spPr>
          <a:xfrm>
            <a:off x="7269480" y="3383280"/>
            <a:ext cx="4023360" cy="274320"/>
          </a:xfrm>
          <a:prstGeom prst="rect">
            <a:avLst/>
          </a:prstGeom>
          <a:noFill/>
          <a:ln/>
        </p:spPr>
        <p:txBody>
          <a:bodyPr wrap="square" lIns="0" tIns="0" rIns="0" bIns="0" rtlCol="0" anchor="t"/>
          <a:lstStyle/>
          <a:p>
            <a:pPr algn="l" indent="0" marL="0">
              <a:buNone/>
            </a:pPr>
            <a:r>
              <a:rPr lang="en-US" sz="1350" dirty="0">
                <a:solidFill>
                  <a:srgbClr val="FFFFFF"/>
                </a:solidFill>
                <a:latin typeface="Calibri" pitchFamily="34" charset="0"/>
                <a:ea typeface="Calibri" pitchFamily="34" charset="-122"/>
                <a:cs typeface="Calibri" pitchFamily="34" charset="-120"/>
              </a:rPr>
              <a:t>Kapan tepat digunakan</a:t>
            </a:r>
            <a:endParaRPr lang="en-US" sz="1350" dirty="0"/>
          </a:p>
        </p:txBody>
      </p:sp>
      <p:sp>
        <p:nvSpPr>
          <p:cNvPr id="19" name="Text 17"/>
          <p:cNvSpPr txBox="1"/>
          <p:nvPr/>
        </p:nvSpPr>
        <p:spPr>
          <a:xfrm>
            <a:off x="6903720" y="3712464"/>
            <a:ext cx="274320" cy="274320"/>
          </a:xfrm>
          <a:prstGeom prst="rect">
            <a:avLst/>
          </a:prstGeom>
          <a:noFill/>
          <a:ln/>
        </p:spPr>
        <p:txBody>
          <a:bodyPr wrap="square" lIns="0" tIns="0" rIns="0" bIns="0" rtlCol="0" anchor="t"/>
          <a:lstStyle/>
          <a:p>
            <a:pPr algn="l" indent="0" marL="0">
              <a:buNone/>
            </a:pPr>
            <a:r>
              <a:rPr lang="en-US" sz="1300" b="1" dirty="0">
                <a:solidFill>
                  <a:srgbClr val="B5D45A"/>
                </a:solidFill>
                <a:latin typeface="Courier New" pitchFamily="34" charset="0"/>
                <a:ea typeface="Courier New" pitchFamily="34" charset="-122"/>
                <a:cs typeface="Courier New" pitchFamily="34" charset="-120"/>
              </a:rPr>
              <a:t>5</a:t>
            </a:r>
            <a:endParaRPr lang="en-US" sz="1300" dirty="0"/>
          </a:p>
        </p:txBody>
      </p:sp>
      <p:sp>
        <p:nvSpPr>
          <p:cNvPr id="20" name="Text 18"/>
          <p:cNvSpPr txBox="1"/>
          <p:nvPr/>
        </p:nvSpPr>
        <p:spPr>
          <a:xfrm>
            <a:off x="7269480" y="3712464"/>
            <a:ext cx="4023360" cy="274320"/>
          </a:xfrm>
          <a:prstGeom prst="rect">
            <a:avLst/>
          </a:prstGeom>
          <a:noFill/>
          <a:ln/>
        </p:spPr>
        <p:txBody>
          <a:bodyPr wrap="square" lIns="0" tIns="0" rIns="0" bIns="0" rtlCol="0" anchor="t"/>
          <a:lstStyle/>
          <a:p>
            <a:pPr algn="l" indent="0" marL="0">
              <a:buNone/>
            </a:pPr>
            <a:r>
              <a:rPr lang="en-US" sz="1350" dirty="0">
                <a:solidFill>
                  <a:srgbClr val="FFFFFF"/>
                </a:solidFill>
                <a:latin typeface="Calibri" pitchFamily="34" charset="0"/>
                <a:ea typeface="Calibri" pitchFamily="34" charset="-122"/>
                <a:cs typeface="Calibri" pitchFamily="34" charset="-120"/>
              </a:rPr>
              <a:t>Satu contoh penerapan nyata</a:t>
            </a:r>
            <a:endParaRPr lang="en-US" sz="1350" dirty="0"/>
          </a:p>
        </p:txBody>
      </p:sp>
      <p:sp>
        <p:nvSpPr>
          <p:cNvPr id="21" name="Shape 19"/>
          <p:cNvSpPr/>
          <p:nvPr/>
        </p:nvSpPr>
        <p:spPr>
          <a:xfrm>
            <a:off x="594360" y="4343400"/>
            <a:ext cx="11002975" cy="1280160"/>
          </a:xfrm>
          <a:prstGeom prst="roundRect">
            <a:avLst>
              <a:gd name="adj" fmla="val 6429"/>
            </a:avLst>
          </a:prstGeom>
          <a:solidFill>
            <a:srgbClr val="7FA327"/>
          </a:solidFill>
          <a:ln w="12700">
            <a:solidFill>
              <a:srgbClr val="7FA327"/>
            </a:solidFill>
            <a:prstDash val="solid"/>
          </a:ln>
          <a:effectLst>
            <a:outerShdw sx="100000" sy="100000" kx="0" ky="0" algn="bl" rotWithShape="0" blurRad="101600" dist="508" dir="5400000">
              <a:srgbClr val="AFBCB0">
                <a:alpha val="30000"/>
              </a:srgbClr>
            </a:outerShdw>
          </a:effectLst>
        </p:spPr>
      </p:sp>
      <p:sp>
        <p:nvSpPr>
          <p:cNvPr id="22" name="Text 20"/>
          <p:cNvSpPr txBox="1"/>
          <p:nvPr/>
        </p:nvSpPr>
        <p:spPr>
          <a:xfrm>
            <a:off x="1005840" y="4526280"/>
            <a:ext cx="10180015" cy="274320"/>
          </a:xfrm>
          <a:prstGeom prst="rect">
            <a:avLst/>
          </a:prstGeom>
          <a:noFill/>
          <a:ln/>
        </p:spPr>
        <p:txBody>
          <a:bodyPr wrap="square" lIns="0" tIns="0" rIns="0" bIns="0" rtlCol="0" anchor="t"/>
          <a:lstStyle/>
          <a:p>
            <a:pPr algn="l" indent="0" marL="0">
              <a:buNone/>
            </a:pPr>
            <a:r>
              <a:rPr lang="en-US" sz="1700" b="1" dirty="0">
                <a:solidFill>
                  <a:srgbClr val="FFFFFF"/>
                </a:solidFill>
                <a:latin typeface="Cambria" pitchFamily="34" charset="0"/>
                <a:ea typeface="Cambria" pitchFamily="34" charset="-122"/>
                <a:cs typeface="Cambria" pitchFamily="34" charset="-120"/>
              </a:rPr>
              <a:t>Penilaian</a:t>
            </a:r>
            <a:endParaRPr lang="en-US" sz="1700" dirty="0"/>
          </a:p>
        </p:txBody>
      </p:sp>
      <p:sp>
        <p:nvSpPr>
          <p:cNvPr id="23" name="Text 21"/>
          <p:cNvSpPr txBox="1"/>
          <p:nvPr/>
        </p:nvSpPr>
        <p:spPr>
          <a:xfrm>
            <a:off x="1005840" y="4864608"/>
            <a:ext cx="10180015" cy="640080"/>
          </a:xfrm>
          <a:prstGeom prst="rect">
            <a:avLst/>
          </a:prstGeom>
          <a:noFill/>
          <a:ln/>
        </p:spPr>
        <p:txBody>
          <a:bodyPr wrap="square" lIns="0" tIns="0" rIns="0" bIns="0" rtlCol="0" anchor="t"/>
          <a:lstStyle/>
          <a:p>
            <a:pPr algn="l" indent="0" marL="0">
              <a:lnSpc>
                <a:spcPct val="125000"/>
              </a:lnSpc>
              <a:buNone/>
            </a:pPr>
            <a:r>
              <a:rPr lang="en-US" sz="1400" dirty="0">
                <a:solidFill>
                  <a:srgbClr val="F4F8EC"/>
                </a:solidFill>
                <a:latin typeface="Calibri" pitchFamily="34" charset="0"/>
                <a:ea typeface="Calibri" pitchFamily="34" charset="-122"/>
                <a:cs typeface="Calibri" pitchFamily="34" charset="-120"/>
              </a:rPr>
              <a:t>Sesi ini masuk komponen Aktivitas Partisipatif pertemuan 10 dan dinilai dengan rubrik partisipasi. Yang dinilai bukan kelancaran berbicara, melainkan ketepatan menjelaskan prinsip kerja dan kejujuran menyebut keterbatasan algoritma.</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F5F1"/>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7FA327"/>
                </a:solidFill>
                <a:latin typeface="Calibri" pitchFamily="34" charset="0"/>
                <a:ea typeface="Calibri" pitchFamily="34" charset="-122"/>
                <a:cs typeface="Calibri" pitchFamily="34" charset="-120"/>
              </a:rPr>
              <a:t>WASPADAI</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B3A2F"/>
                </a:solidFill>
                <a:latin typeface="Cambria" pitchFamily="34" charset="0"/>
                <a:ea typeface="Cambria" pitchFamily="34" charset="-122"/>
                <a:cs typeface="Cambria" pitchFamily="34" charset="-120"/>
              </a:rPr>
              <a:t>Empat salah kaprah yang paling sering</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1756A"/>
                </a:solidFill>
                <a:latin typeface="Calibri" pitchFamily="34" charset="0"/>
                <a:ea typeface="Calibri" pitchFamily="34" charset="-122"/>
                <a:cs typeface="Calibri" pitchFamily="34" charset="-120"/>
              </a:rPr>
              <a:t>23</a:t>
            </a:r>
            <a:endParaRPr lang="en-US" sz="1000" dirty="0"/>
          </a:p>
        </p:txBody>
      </p:sp>
      <p:sp>
        <p:nvSpPr>
          <p:cNvPr id="5" name="Shape 3"/>
          <p:cNvSpPr/>
          <p:nvPr/>
        </p:nvSpPr>
        <p:spPr>
          <a:xfrm>
            <a:off x="594360" y="1325880"/>
            <a:ext cx="11002975" cy="932688"/>
          </a:xfrm>
          <a:prstGeom prst="roundRect">
            <a:avLst>
              <a:gd name="adj" fmla="val 8824"/>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6" name="Shape 4"/>
          <p:cNvSpPr/>
          <p:nvPr/>
        </p:nvSpPr>
        <p:spPr>
          <a:xfrm>
            <a:off x="868680" y="1545336"/>
            <a:ext cx="502920" cy="502920"/>
          </a:xfrm>
          <a:prstGeom prst="ellipse">
            <a:avLst/>
          </a:prstGeom>
          <a:solidFill>
            <a:srgbClr val="8E4A6B"/>
          </a:solidFill>
          <a:ln w="12700">
            <a:solidFill>
              <a:srgbClr val="333333"/>
            </a:solidFill>
            <a:prstDash val="solid"/>
          </a:ln>
        </p:spPr>
      </p:sp>
      <p:sp>
        <p:nvSpPr>
          <p:cNvPr id="7" name="Text 5"/>
          <p:cNvSpPr txBox="1"/>
          <p:nvPr/>
        </p:nvSpPr>
        <p:spPr>
          <a:xfrm>
            <a:off x="868680" y="154533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8" name="Text 6"/>
          <p:cNvSpPr txBox="1"/>
          <p:nvPr/>
        </p:nvSpPr>
        <p:spPr>
          <a:xfrm>
            <a:off x="1554480" y="1453896"/>
            <a:ext cx="4206240" cy="685800"/>
          </a:xfrm>
          <a:prstGeom prst="rect">
            <a:avLst/>
          </a:prstGeom>
          <a:noFill/>
          <a:ln/>
        </p:spPr>
        <p:txBody>
          <a:bodyPr wrap="square" lIns="0" tIns="0" rIns="0" bIns="0" rtlCol="0" anchor="ctr"/>
          <a:lstStyle/>
          <a:p>
            <a:pPr algn="l" indent="0" marL="0">
              <a:lnSpc>
                <a:spcPct val="115000"/>
              </a:lnSpc>
              <a:buNone/>
            </a:pPr>
            <a:r>
              <a:rPr lang="en-US" sz="1450" b="1" dirty="0">
                <a:solidFill>
                  <a:srgbClr val="8E4A6B"/>
                </a:solidFill>
                <a:latin typeface="Calibri" pitchFamily="34" charset="0"/>
                <a:ea typeface="Calibri" pitchFamily="34" charset="-122"/>
                <a:cs typeface="Calibri" pitchFamily="34" charset="-120"/>
              </a:rPr>
              <a:t>Decision tree selalu mudah dibaca</a:t>
            </a:r>
            <a:endParaRPr lang="en-US" sz="1450" dirty="0"/>
          </a:p>
        </p:txBody>
      </p:sp>
      <p:sp>
        <p:nvSpPr>
          <p:cNvPr id="9" name="Text 7"/>
          <p:cNvSpPr txBox="1"/>
          <p:nvPr/>
        </p:nvSpPr>
        <p:spPr>
          <a:xfrm>
            <a:off x="5943600" y="1435608"/>
            <a:ext cx="5577840" cy="731520"/>
          </a:xfrm>
          <a:prstGeom prst="rect">
            <a:avLst/>
          </a:prstGeom>
          <a:noFill/>
          <a:ln/>
        </p:spPr>
        <p:txBody>
          <a:bodyPr wrap="square" lIns="0" tIns="0" rIns="0" bIns="0" rtlCol="0" anchor="ctr"/>
          <a:lstStyle/>
          <a:p>
            <a:pPr algn="l" indent="0" marL="0">
              <a:lnSpc>
                <a:spcPct val="120000"/>
              </a:lnSpc>
              <a:buNone/>
            </a:pPr>
            <a:r>
              <a:rPr lang="en-US" sz="1300" dirty="0">
                <a:solidFill>
                  <a:srgbClr val="17261F"/>
                </a:solidFill>
                <a:latin typeface="Calibri" pitchFamily="34" charset="0"/>
                <a:ea typeface="Calibri" pitchFamily="34" charset="-122"/>
                <a:cs typeface="Calibri" pitchFamily="34" charset="-120"/>
              </a:rPr>
              <a:t>Hanya bila dangkal. Pohon berkedalaman 15 punya ribuan aturan dan sama tidak terbacanya dengan model lain.</a:t>
            </a:r>
            <a:endParaRPr lang="en-US" sz="1300" dirty="0"/>
          </a:p>
        </p:txBody>
      </p:sp>
      <p:sp>
        <p:nvSpPr>
          <p:cNvPr id="10" name="Shape 8"/>
          <p:cNvSpPr/>
          <p:nvPr/>
        </p:nvSpPr>
        <p:spPr>
          <a:xfrm>
            <a:off x="594360" y="2404872"/>
            <a:ext cx="11002975" cy="932688"/>
          </a:xfrm>
          <a:prstGeom prst="roundRect">
            <a:avLst>
              <a:gd name="adj" fmla="val 8824"/>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11" name="Shape 9"/>
          <p:cNvSpPr/>
          <p:nvPr/>
        </p:nvSpPr>
        <p:spPr>
          <a:xfrm>
            <a:off x="868680" y="2624328"/>
            <a:ext cx="502920" cy="502920"/>
          </a:xfrm>
          <a:prstGeom prst="ellipse">
            <a:avLst/>
          </a:prstGeom>
          <a:solidFill>
            <a:srgbClr val="8E4A6B"/>
          </a:solidFill>
          <a:ln w="12700">
            <a:solidFill>
              <a:srgbClr val="333333"/>
            </a:solidFill>
            <a:prstDash val="solid"/>
          </a:ln>
        </p:spPr>
      </p:sp>
      <p:sp>
        <p:nvSpPr>
          <p:cNvPr id="12" name="Text 10"/>
          <p:cNvSpPr txBox="1"/>
          <p:nvPr/>
        </p:nvSpPr>
        <p:spPr>
          <a:xfrm>
            <a:off x="868680" y="262432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3" name="Text 11"/>
          <p:cNvSpPr txBox="1"/>
          <p:nvPr/>
        </p:nvSpPr>
        <p:spPr>
          <a:xfrm>
            <a:off x="1554480" y="2532888"/>
            <a:ext cx="4206240" cy="685800"/>
          </a:xfrm>
          <a:prstGeom prst="rect">
            <a:avLst/>
          </a:prstGeom>
          <a:noFill/>
          <a:ln/>
        </p:spPr>
        <p:txBody>
          <a:bodyPr wrap="square" lIns="0" tIns="0" rIns="0" bIns="0" rtlCol="0" anchor="ctr"/>
          <a:lstStyle/>
          <a:p>
            <a:pPr algn="l" indent="0" marL="0">
              <a:lnSpc>
                <a:spcPct val="115000"/>
              </a:lnSpc>
              <a:buNone/>
            </a:pPr>
            <a:r>
              <a:rPr lang="en-US" sz="1450" b="1" dirty="0">
                <a:solidFill>
                  <a:srgbClr val="8E4A6B"/>
                </a:solidFill>
                <a:latin typeface="Calibri" pitchFamily="34" charset="0"/>
                <a:ea typeface="Calibri" pitchFamily="34" charset="-122"/>
                <a:cs typeface="Calibri" pitchFamily="34" charset="-120"/>
              </a:rPr>
              <a:t>Random Forest tidak bisa overfitting</a:t>
            </a:r>
            <a:endParaRPr lang="en-US" sz="1450" dirty="0"/>
          </a:p>
        </p:txBody>
      </p:sp>
      <p:sp>
        <p:nvSpPr>
          <p:cNvPr id="14" name="Text 12"/>
          <p:cNvSpPr txBox="1"/>
          <p:nvPr/>
        </p:nvSpPr>
        <p:spPr>
          <a:xfrm>
            <a:off x="5943600" y="2514600"/>
            <a:ext cx="5577840" cy="731520"/>
          </a:xfrm>
          <a:prstGeom prst="rect">
            <a:avLst/>
          </a:prstGeom>
          <a:noFill/>
          <a:ln/>
        </p:spPr>
        <p:txBody>
          <a:bodyPr wrap="square" lIns="0" tIns="0" rIns="0" bIns="0" rtlCol="0" anchor="ctr"/>
          <a:lstStyle/>
          <a:p>
            <a:pPr algn="l" indent="0" marL="0">
              <a:lnSpc>
                <a:spcPct val="120000"/>
              </a:lnSpc>
              <a:buNone/>
            </a:pPr>
            <a:r>
              <a:rPr lang="en-US" sz="1300" dirty="0">
                <a:solidFill>
                  <a:srgbClr val="17261F"/>
                </a:solidFill>
                <a:latin typeface="Calibri" pitchFamily="34" charset="0"/>
                <a:ea typeface="Calibri" pitchFamily="34" charset="-122"/>
                <a:cs typeface="Calibri" pitchFamily="34" charset="-120"/>
              </a:rPr>
              <a:t>Ia sangat tahan, tetapi bukan kebal — terutama pada data yang sangat sedikit atau sangat berderau.</a:t>
            </a:r>
            <a:endParaRPr lang="en-US" sz="1300" dirty="0"/>
          </a:p>
        </p:txBody>
      </p:sp>
      <p:sp>
        <p:nvSpPr>
          <p:cNvPr id="15" name="Shape 13"/>
          <p:cNvSpPr/>
          <p:nvPr/>
        </p:nvSpPr>
        <p:spPr>
          <a:xfrm>
            <a:off x="594360" y="3483864"/>
            <a:ext cx="11002975" cy="932688"/>
          </a:xfrm>
          <a:prstGeom prst="roundRect">
            <a:avLst>
              <a:gd name="adj" fmla="val 8824"/>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16" name="Shape 14"/>
          <p:cNvSpPr/>
          <p:nvPr/>
        </p:nvSpPr>
        <p:spPr>
          <a:xfrm>
            <a:off x="868680" y="3703320"/>
            <a:ext cx="502920" cy="502920"/>
          </a:xfrm>
          <a:prstGeom prst="ellipse">
            <a:avLst/>
          </a:prstGeom>
          <a:solidFill>
            <a:srgbClr val="8E4A6B"/>
          </a:solidFill>
          <a:ln w="12700">
            <a:solidFill>
              <a:srgbClr val="333333"/>
            </a:solidFill>
            <a:prstDash val="solid"/>
          </a:ln>
        </p:spPr>
      </p:sp>
      <p:sp>
        <p:nvSpPr>
          <p:cNvPr id="17" name="Text 15"/>
          <p:cNvSpPr txBox="1"/>
          <p:nvPr/>
        </p:nvSpPr>
        <p:spPr>
          <a:xfrm>
            <a:off x="868680" y="37033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8" name="Text 16"/>
          <p:cNvSpPr txBox="1"/>
          <p:nvPr/>
        </p:nvSpPr>
        <p:spPr>
          <a:xfrm>
            <a:off x="1554480" y="3611880"/>
            <a:ext cx="4206240" cy="685800"/>
          </a:xfrm>
          <a:prstGeom prst="rect">
            <a:avLst/>
          </a:prstGeom>
          <a:noFill/>
          <a:ln/>
        </p:spPr>
        <p:txBody>
          <a:bodyPr wrap="square" lIns="0" tIns="0" rIns="0" bIns="0" rtlCol="0" anchor="ctr"/>
          <a:lstStyle/>
          <a:p>
            <a:pPr algn="l" indent="0" marL="0">
              <a:lnSpc>
                <a:spcPct val="115000"/>
              </a:lnSpc>
              <a:buNone/>
            </a:pPr>
            <a:r>
              <a:rPr lang="en-US" sz="1450" b="1" dirty="0">
                <a:solidFill>
                  <a:srgbClr val="8E4A6B"/>
                </a:solidFill>
                <a:latin typeface="Calibri" pitchFamily="34" charset="0"/>
                <a:ea typeface="Calibri" pitchFamily="34" charset="-122"/>
                <a:cs typeface="Calibri" pitchFamily="34" charset="-120"/>
              </a:rPr>
              <a:t>Pohon lebih baik karena lebih canggih</a:t>
            </a:r>
            <a:endParaRPr lang="en-US" sz="1450" dirty="0"/>
          </a:p>
        </p:txBody>
      </p:sp>
      <p:sp>
        <p:nvSpPr>
          <p:cNvPr id="19" name="Text 17"/>
          <p:cNvSpPr txBox="1"/>
          <p:nvPr/>
        </p:nvSpPr>
        <p:spPr>
          <a:xfrm>
            <a:off x="5943600" y="3593592"/>
            <a:ext cx="5577840" cy="731520"/>
          </a:xfrm>
          <a:prstGeom prst="rect">
            <a:avLst/>
          </a:prstGeom>
          <a:noFill/>
          <a:ln/>
        </p:spPr>
        <p:txBody>
          <a:bodyPr wrap="square" lIns="0" tIns="0" rIns="0" bIns="0" rtlCol="0" anchor="ctr"/>
          <a:lstStyle/>
          <a:p>
            <a:pPr algn="l" indent="0" marL="0">
              <a:lnSpc>
                <a:spcPct val="120000"/>
              </a:lnSpc>
              <a:buNone/>
            </a:pPr>
            <a:r>
              <a:rPr lang="en-US" sz="1300" dirty="0">
                <a:solidFill>
                  <a:srgbClr val="17261F"/>
                </a:solidFill>
                <a:latin typeface="Calibri" pitchFamily="34" charset="0"/>
                <a:ea typeface="Calibri" pitchFamily="34" charset="-122"/>
                <a:cs typeface="Calibri" pitchFamily="34" charset="-120"/>
              </a:rPr>
              <a:t>Tidak ada keluarga model yang unggul secara mutlak. Pada hubungan yang memang lurus, model linier lebih tepat.</a:t>
            </a:r>
            <a:endParaRPr lang="en-US" sz="1300" dirty="0"/>
          </a:p>
        </p:txBody>
      </p:sp>
      <p:sp>
        <p:nvSpPr>
          <p:cNvPr id="20" name="Shape 18"/>
          <p:cNvSpPr/>
          <p:nvPr/>
        </p:nvSpPr>
        <p:spPr>
          <a:xfrm>
            <a:off x="594360" y="4562856"/>
            <a:ext cx="11002975" cy="932688"/>
          </a:xfrm>
          <a:prstGeom prst="roundRect">
            <a:avLst>
              <a:gd name="adj" fmla="val 8824"/>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21" name="Shape 19"/>
          <p:cNvSpPr/>
          <p:nvPr/>
        </p:nvSpPr>
        <p:spPr>
          <a:xfrm>
            <a:off x="868680" y="4782312"/>
            <a:ext cx="502920" cy="502920"/>
          </a:xfrm>
          <a:prstGeom prst="ellipse">
            <a:avLst/>
          </a:prstGeom>
          <a:solidFill>
            <a:srgbClr val="8E4A6B"/>
          </a:solidFill>
          <a:ln w="12700">
            <a:solidFill>
              <a:srgbClr val="333333"/>
            </a:solidFill>
            <a:prstDash val="solid"/>
          </a:ln>
        </p:spPr>
      </p:sp>
      <p:sp>
        <p:nvSpPr>
          <p:cNvPr id="22" name="Text 20"/>
          <p:cNvSpPr txBox="1"/>
          <p:nvPr/>
        </p:nvSpPr>
        <p:spPr>
          <a:xfrm>
            <a:off x="868680" y="478231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3" name="Text 21"/>
          <p:cNvSpPr txBox="1"/>
          <p:nvPr/>
        </p:nvSpPr>
        <p:spPr>
          <a:xfrm>
            <a:off x="1554480" y="4690872"/>
            <a:ext cx="4206240" cy="685800"/>
          </a:xfrm>
          <a:prstGeom prst="rect">
            <a:avLst/>
          </a:prstGeom>
          <a:noFill/>
          <a:ln/>
        </p:spPr>
        <p:txBody>
          <a:bodyPr wrap="square" lIns="0" tIns="0" rIns="0" bIns="0" rtlCol="0" anchor="ctr"/>
          <a:lstStyle/>
          <a:p>
            <a:pPr algn="l" indent="0" marL="0">
              <a:lnSpc>
                <a:spcPct val="115000"/>
              </a:lnSpc>
              <a:buNone/>
            </a:pPr>
            <a:r>
              <a:rPr lang="en-US" sz="1450" b="1" dirty="0">
                <a:solidFill>
                  <a:srgbClr val="8E4A6B"/>
                </a:solidFill>
                <a:latin typeface="Calibri" pitchFamily="34" charset="0"/>
                <a:ea typeface="Calibri" pitchFamily="34" charset="-122"/>
                <a:cs typeface="Calibri" pitchFamily="34" charset="-120"/>
              </a:rPr>
              <a:t>Feature importance menunjukkan sebab-akibat</a:t>
            </a:r>
            <a:endParaRPr lang="en-US" sz="1450" dirty="0"/>
          </a:p>
        </p:txBody>
      </p:sp>
      <p:sp>
        <p:nvSpPr>
          <p:cNvPr id="24" name="Text 22"/>
          <p:cNvSpPr txBox="1"/>
          <p:nvPr/>
        </p:nvSpPr>
        <p:spPr>
          <a:xfrm>
            <a:off x="5943600" y="4672584"/>
            <a:ext cx="5577840" cy="731520"/>
          </a:xfrm>
          <a:prstGeom prst="rect">
            <a:avLst/>
          </a:prstGeom>
          <a:noFill/>
          <a:ln/>
        </p:spPr>
        <p:txBody>
          <a:bodyPr wrap="square" lIns="0" tIns="0" rIns="0" bIns="0" rtlCol="0" anchor="ctr"/>
          <a:lstStyle/>
          <a:p>
            <a:pPr algn="l" indent="0" marL="0">
              <a:lnSpc>
                <a:spcPct val="120000"/>
              </a:lnSpc>
              <a:buNone/>
            </a:pPr>
            <a:r>
              <a:rPr lang="en-US" sz="1300" dirty="0">
                <a:solidFill>
                  <a:srgbClr val="17261F"/>
                </a:solidFill>
                <a:latin typeface="Calibri" pitchFamily="34" charset="0"/>
                <a:ea typeface="Calibri" pitchFamily="34" charset="-122"/>
                <a:cs typeface="Calibri" pitchFamily="34" charset="-120"/>
              </a:rPr>
              <a:t>Ia hanya menunjukkan fitur mana yang banyak dipakai memisahkan data. Itu bukan bukti hubungan sebab-akibat.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3A2F"/>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B5D45A"/>
                </a:solidFill>
                <a:latin typeface="Calibri" pitchFamily="34" charset="0"/>
                <a:ea typeface="Calibri" pitchFamily="34" charset="-122"/>
                <a:cs typeface="Calibri" pitchFamily="34" charset="-120"/>
              </a:rPr>
              <a:t>RINGKASAN</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Yang perlu Anda bawa pulang</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86A093"/>
                </a:solidFill>
                <a:latin typeface="Calibri" pitchFamily="34" charset="0"/>
                <a:ea typeface="Calibri" pitchFamily="34" charset="-122"/>
                <a:cs typeface="Calibri" pitchFamily="34" charset="-120"/>
              </a:rPr>
              <a:t>24</a:t>
            </a:r>
            <a:endParaRPr lang="en-US" sz="1000" dirty="0"/>
          </a:p>
        </p:txBody>
      </p:sp>
      <p:sp>
        <p:nvSpPr>
          <p:cNvPr id="5" name="Shape 3"/>
          <p:cNvSpPr/>
          <p:nvPr/>
        </p:nvSpPr>
        <p:spPr>
          <a:xfrm>
            <a:off x="594360" y="1371600"/>
            <a:ext cx="3520440" cy="1737360"/>
          </a:xfrm>
          <a:prstGeom prst="roundRect">
            <a:avLst>
              <a:gd name="adj" fmla="val 4737"/>
            </a:avLst>
          </a:prstGeom>
          <a:solidFill>
            <a:srgbClr val="27503F"/>
          </a:solidFill>
          <a:ln w="12700">
            <a:solidFill>
              <a:srgbClr val="3A6B57"/>
            </a:solidFill>
            <a:prstDash val="solid"/>
          </a:ln>
          <a:effectLst>
            <a:outerShdw sx="100000" sy="100000" kx="0" ky="0" algn="bl" rotWithShape="0" blurRad="101600" dist="508" dir="5400000">
              <a:srgbClr val="AFBCB0">
                <a:alpha val="30000"/>
              </a:srgbClr>
            </a:outerShdw>
          </a:effectLst>
        </p:spPr>
      </p:sp>
      <p:sp>
        <p:nvSpPr>
          <p:cNvPr id="6" name="Shape 4"/>
          <p:cNvSpPr/>
          <p:nvPr/>
        </p:nvSpPr>
        <p:spPr>
          <a:xfrm>
            <a:off x="914400" y="1664208"/>
            <a:ext cx="457200" cy="41148"/>
          </a:xfrm>
          <a:prstGeom prst="rect">
            <a:avLst/>
          </a:prstGeom>
          <a:solidFill>
            <a:srgbClr val="B5D45A"/>
          </a:solidFill>
          <a:ln w="12700">
            <a:solidFill>
              <a:srgbClr val="333333"/>
            </a:solidFill>
            <a:prstDash val="solid"/>
          </a:ln>
        </p:spPr>
      </p:sp>
      <p:sp>
        <p:nvSpPr>
          <p:cNvPr id="7" name="Text 5"/>
          <p:cNvSpPr txBox="1"/>
          <p:nvPr/>
        </p:nvSpPr>
        <p:spPr>
          <a:xfrm>
            <a:off x="914400" y="1810512"/>
            <a:ext cx="2880360" cy="320040"/>
          </a:xfrm>
          <a:prstGeom prst="rect">
            <a:avLst/>
          </a:prstGeom>
          <a:noFill/>
          <a:ln/>
        </p:spPr>
        <p:txBody>
          <a:bodyPr wrap="square" lIns="0" tIns="0" rIns="0" bIns="0" rtlCol="0" anchor="t"/>
          <a:lstStyle/>
          <a:p>
            <a:pPr algn="l" indent="0" marL="0">
              <a:buNone/>
            </a:pPr>
            <a:r>
              <a:rPr lang="en-US" sz="1600" b="1" dirty="0">
                <a:solidFill>
                  <a:srgbClr val="B5D45A"/>
                </a:solidFill>
                <a:latin typeface="Cambria" pitchFamily="34" charset="0"/>
                <a:ea typeface="Cambria" pitchFamily="34" charset="-122"/>
                <a:cs typeface="Cambria" pitchFamily="34" charset="-120"/>
              </a:rPr>
              <a:t>Decision tree</a:t>
            </a:r>
            <a:endParaRPr lang="en-US" sz="1600" dirty="0"/>
          </a:p>
        </p:txBody>
      </p:sp>
      <p:sp>
        <p:nvSpPr>
          <p:cNvPr id="8" name="Text 6"/>
          <p:cNvSpPr txBox="1"/>
          <p:nvPr/>
        </p:nvSpPr>
        <p:spPr>
          <a:xfrm>
            <a:off x="914400" y="2194560"/>
            <a:ext cx="2880360" cy="777240"/>
          </a:xfrm>
          <a:prstGeom prst="rect">
            <a:avLst/>
          </a:prstGeom>
          <a:noFill/>
          <a:ln/>
        </p:spPr>
        <p:txBody>
          <a:bodyPr wrap="square" lIns="0" tIns="0" rIns="0" bIns="0" rtlCol="0" anchor="t"/>
          <a:lstStyle/>
          <a:p>
            <a:pPr algn="l" indent="0" marL="0">
              <a:lnSpc>
                <a:spcPct val="125000"/>
              </a:lnSpc>
              <a:buNone/>
            </a:pPr>
            <a:r>
              <a:rPr lang="en-US" sz="1250" dirty="0">
                <a:solidFill>
                  <a:srgbClr val="BCCCC0"/>
                </a:solidFill>
                <a:latin typeface="Calibri" pitchFamily="34" charset="0"/>
                <a:ea typeface="Calibri" pitchFamily="34" charset="-122"/>
                <a:cs typeface="Calibri" pitchFamily="34" charset="-120"/>
              </a:rPr>
              <a:t>Mengajukan pertanyaan berjenjang.</a:t>
            </a:r>
            <a:endParaRPr lang="en-US" sz="1250" dirty="0"/>
          </a:p>
          <a:p>
            <a:pPr algn="l" indent="0" marL="0">
              <a:lnSpc>
                <a:spcPct val="125000"/>
              </a:lnSpc>
              <a:buNone/>
            </a:pPr>
            <a:r>
              <a:rPr lang="en-US" sz="1250" dirty="0">
                <a:solidFill>
                  <a:srgbClr val="BCCCC0"/>
                </a:solidFill>
                <a:latin typeface="Calibri" pitchFamily="34" charset="0"/>
                <a:ea typeface="Calibri" pitchFamily="34" charset="-122"/>
                <a:cs typeface="Calibri" pitchFamily="34" charset="-120"/>
              </a:rPr>
              <a:t>Setiap jalur adalah satu aturan.</a:t>
            </a:r>
            <a:endParaRPr lang="en-US" sz="1250" dirty="0"/>
          </a:p>
        </p:txBody>
      </p:sp>
      <p:sp>
        <p:nvSpPr>
          <p:cNvPr id="9" name="Shape 7"/>
          <p:cNvSpPr/>
          <p:nvPr/>
        </p:nvSpPr>
        <p:spPr>
          <a:xfrm>
            <a:off x="4389120" y="1371600"/>
            <a:ext cx="3520440" cy="1737360"/>
          </a:xfrm>
          <a:prstGeom prst="roundRect">
            <a:avLst>
              <a:gd name="adj" fmla="val 4737"/>
            </a:avLst>
          </a:prstGeom>
          <a:solidFill>
            <a:srgbClr val="27503F"/>
          </a:solidFill>
          <a:ln w="12700">
            <a:solidFill>
              <a:srgbClr val="3A6B57"/>
            </a:solidFill>
            <a:prstDash val="solid"/>
          </a:ln>
          <a:effectLst>
            <a:outerShdw sx="100000" sy="100000" kx="0" ky="0" algn="bl" rotWithShape="0" blurRad="101600" dist="508" dir="5400000">
              <a:srgbClr val="AFBCB0">
                <a:alpha val="30000"/>
              </a:srgbClr>
            </a:outerShdw>
          </a:effectLst>
        </p:spPr>
      </p:sp>
      <p:sp>
        <p:nvSpPr>
          <p:cNvPr id="10" name="Shape 8"/>
          <p:cNvSpPr/>
          <p:nvPr/>
        </p:nvSpPr>
        <p:spPr>
          <a:xfrm>
            <a:off x="4709160" y="1664208"/>
            <a:ext cx="457200" cy="41148"/>
          </a:xfrm>
          <a:prstGeom prst="rect">
            <a:avLst/>
          </a:prstGeom>
          <a:solidFill>
            <a:srgbClr val="B5D45A"/>
          </a:solidFill>
          <a:ln w="12700">
            <a:solidFill>
              <a:srgbClr val="333333"/>
            </a:solidFill>
            <a:prstDash val="solid"/>
          </a:ln>
        </p:spPr>
      </p:sp>
      <p:sp>
        <p:nvSpPr>
          <p:cNvPr id="11" name="Text 9"/>
          <p:cNvSpPr txBox="1"/>
          <p:nvPr/>
        </p:nvSpPr>
        <p:spPr>
          <a:xfrm>
            <a:off x="4709160" y="1810512"/>
            <a:ext cx="2880360" cy="320040"/>
          </a:xfrm>
          <a:prstGeom prst="rect">
            <a:avLst/>
          </a:prstGeom>
          <a:noFill/>
          <a:ln/>
        </p:spPr>
        <p:txBody>
          <a:bodyPr wrap="square" lIns="0" tIns="0" rIns="0" bIns="0" rtlCol="0" anchor="t"/>
          <a:lstStyle/>
          <a:p>
            <a:pPr algn="l" indent="0" marL="0">
              <a:buNone/>
            </a:pPr>
            <a:r>
              <a:rPr lang="en-US" sz="1600" b="1" dirty="0">
                <a:solidFill>
                  <a:srgbClr val="B5D45A"/>
                </a:solidFill>
                <a:latin typeface="Cambria" pitchFamily="34" charset="0"/>
                <a:ea typeface="Cambria" pitchFamily="34" charset="-122"/>
                <a:cs typeface="Cambria" pitchFamily="34" charset="-120"/>
              </a:rPr>
              <a:t>Kriteria pemisahan</a:t>
            </a:r>
            <a:endParaRPr lang="en-US" sz="1600" dirty="0"/>
          </a:p>
        </p:txBody>
      </p:sp>
      <p:sp>
        <p:nvSpPr>
          <p:cNvPr id="12" name="Text 10"/>
          <p:cNvSpPr txBox="1"/>
          <p:nvPr/>
        </p:nvSpPr>
        <p:spPr>
          <a:xfrm>
            <a:off x="4709160" y="2194560"/>
            <a:ext cx="2880360" cy="777240"/>
          </a:xfrm>
          <a:prstGeom prst="rect">
            <a:avLst/>
          </a:prstGeom>
          <a:noFill/>
          <a:ln/>
        </p:spPr>
        <p:txBody>
          <a:bodyPr wrap="square" lIns="0" tIns="0" rIns="0" bIns="0" rtlCol="0" anchor="t"/>
          <a:lstStyle/>
          <a:p>
            <a:pPr algn="l" indent="0" marL="0">
              <a:lnSpc>
                <a:spcPct val="125000"/>
              </a:lnSpc>
              <a:buNone/>
            </a:pPr>
            <a:r>
              <a:rPr lang="en-US" sz="1250" dirty="0">
                <a:solidFill>
                  <a:srgbClr val="BCCCC0"/>
                </a:solidFill>
                <a:latin typeface="Calibri" pitchFamily="34" charset="0"/>
                <a:ea typeface="Calibri" pitchFamily="34" charset="-122"/>
                <a:cs typeface="Calibri" pitchFamily="34" charset="-120"/>
              </a:rPr>
              <a:t>Gini atau entropy. Pilih fitur</a:t>
            </a:r>
            <a:endParaRPr lang="en-US" sz="1250" dirty="0"/>
          </a:p>
          <a:p>
            <a:pPr algn="l" indent="0" marL="0">
              <a:lnSpc>
                <a:spcPct val="125000"/>
              </a:lnSpc>
              <a:buNone/>
            </a:pPr>
            <a:r>
              <a:rPr lang="en-US" sz="1250" dirty="0">
                <a:solidFill>
                  <a:srgbClr val="BCCCC0"/>
                </a:solidFill>
                <a:latin typeface="Calibri" pitchFamily="34" charset="0"/>
                <a:ea typeface="Calibri" pitchFamily="34" charset="-122"/>
                <a:cs typeface="Calibri" pitchFamily="34" charset="-120"/>
              </a:rPr>
              <a:t>dengan penurunan terbesar.</a:t>
            </a:r>
            <a:endParaRPr lang="en-US" sz="1250" dirty="0"/>
          </a:p>
        </p:txBody>
      </p:sp>
      <p:sp>
        <p:nvSpPr>
          <p:cNvPr id="13" name="Shape 11"/>
          <p:cNvSpPr/>
          <p:nvPr/>
        </p:nvSpPr>
        <p:spPr>
          <a:xfrm>
            <a:off x="8183880" y="1371600"/>
            <a:ext cx="3520440" cy="1737360"/>
          </a:xfrm>
          <a:prstGeom prst="roundRect">
            <a:avLst>
              <a:gd name="adj" fmla="val 4737"/>
            </a:avLst>
          </a:prstGeom>
          <a:solidFill>
            <a:srgbClr val="27503F"/>
          </a:solidFill>
          <a:ln w="12700">
            <a:solidFill>
              <a:srgbClr val="3A6B57"/>
            </a:solidFill>
            <a:prstDash val="solid"/>
          </a:ln>
          <a:effectLst>
            <a:outerShdw sx="100000" sy="100000" kx="0" ky="0" algn="bl" rotWithShape="0" blurRad="101600" dist="508" dir="5400000">
              <a:srgbClr val="AFBCB0">
                <a:alpha val="30000"/>
              </a:srgbClr>
            </a:outerShdw>
          </a:effectLst>
        </p:spPr>
      </p:sp>
      <p:sp>
        <p:nvSpPr>
          <p:cNvPr id="14" name="Shape 12"/>
          <p:cNvSpPr/>
          <p:nvPr/>
        </p:nvSpPr>
        <p:spPr>
          <a:xfrm>
            <a:off x="8503920" y="1664208"/>
            <a:ext cx="457200" cy="41148"/>
          </a:xfrm>
          <a:prstGeom prst="rect">
            <a:avLst/>
          </a:prstGeom>
          <a:solidFill>
            <a:srgbClr val="B5D45A"/>
          </a:solidFill>
          <a:ln w="12700">
            <a:solidFill>
              <a:srgbClr val="333333"/>
            </a:solidFill>
            <a:prstDash val="solid"/>
          </a:ln>
        </p:spPr>
      </p:sp>
      <p:sp>
        <p:nvSpPr>
          <p:cNvPr id="15" name="Text 13"/>
          <p:cNvSpPr txBox="1"/>
          <p:nvPr/>
        </p:nvSpPr>
        <p:spPr>
          <a:xfrm>
            <a:off x="8503920" y="1810512"/>
            <a:ext cx="2880360" cy="320040"/>
          </a:xfrm>
          <a:prstGeom prst="rect">
            <a:avLst/>
          </a:prstGeom>
          <a:noFill/>
          <a:ln/>
        </p:spPr>
        <p:txBody>
          <a:bodyPr wrap="square" lIns="0" tIns="0" rIns="0" bIns="0" rtlCol="0" anchor="t"/>
          <a:lstStyle/>
          <a:p>
            <a:pPr algn="l" indent="0" marL="0">
              <a:buNone/>
            </a:pPr>
            <a:r>
              <a:rPr lang="en-US" sz="1600" b="1" dirty="0">
                <a:solidFill>
                  <a:srgbClr val="B5D45A"/>
                </a:solidFill>
                <a:latin typeface="Cambria" pitchFamily="34" charset="0"/>
                <a:ea typeface="Cambria" pitchFamily="34" charset="-122"/>
                <a:cs typeface="Cambria" pitchFamily="34" charset="-120"/>
              </a:rPr>
              <a:t>Kedalaman</a:t>
            </a:r>
            <a:endParaRPr lang="en-US" sz="1600" dirty="0"/>
          </a:p>
        </p:txBody>
      </p:sp>
      <p:sp>
        <p:nvSpPr>
          <p:cNvPr id="16" name="Text 14"/>
          <p:cNvSpPr txBox="1"/>
          <p:nvPr/>
        </p:nvSpPr>
        <p:spPr>
          <a:xfrm>
            <a:off x="8503920" y="2194560"/>
            <a:ext cx="2880360" cy="777240"/>
          </a:xfrm>
          <a:prstGeom prst="rect">
            <a:avLst/>
          </a:prstGeom>
          <a:noFill/>
          <a:ln/>
        </p:spPr>
        <p:txBody>
          <a:bodyPr wrap="square" lIns="0" tIns="0" rIns="0" bIns="0" rtlCol="0" anchor="t"/>
          <a:lstStyle/>
          <a:p>
            <a:pPr algn="l" indent="0" marL="0">
              <a:lnSpc>
                <a:spcPct val="125000"/>
              </a:lnSpc>
              <a:buNone/>
            </a:pPr>
            <a:r>
              <a:rPr lang="en-US" sz="1250" dirty="0">
                <a:solidFill>
                  <a:srgbClr val="BCCCC0"/>
                </a:solidFill>
                <a:latin typeface="Calibri" pitchFamily="34" charset="0"/>
                <a:ea typeface="Calibri" pitchFamily="34" charset="-122"/>
                <a:cs typeface="Calibri" pitchFamily="34" charset="-120"/>
              </a:rPr>
              <a:t>Hyperparameter. Terlalu dalam</a:t>
            </a:r>
            <a:endParaRPr lang="en-US" sz="1250" dirty="0"/>
          </a:p>
          <a:p>
            <a:pPr algn="l" indent="0" marL="0">
              <a:lnSpc>
                <a:spcPct val="125000"/>
              </a:lnSpc>
              <a:buNone/>
            </a:pPr>
            <a:r>
              <a:rPr lang="en-US" sz="1250" dirty="0">
                <a:solidFill>
                  <a:srgbClr val="BCCCC0"/>
                </a:solidFill>
                <a:latin typeface="Calibri" pitchFamily="34" charset="0"/>
                <a:ea typeface="Calibri" pitchFamily="34" charset="-122"/>
                <a:cs typeface="Calibri" pitchFamily="34" charset="-120"/>
              </a:rPr>
              <a:t>berarti menghafal derau.</a:t>
            </a:r>
            <a:endParaRPr lang="en-US" sz="1250" dirty="0"/>
          </a:p>
        </p:txBody>
      </p:sp>
      <p:sp>
        <p:nvSpPr>
          <p:cNvPr id="17" name="Shape 15"/>
          <p:cNvSpPr/>
          <p:nvPr/>
        </p:nvSpPr>
        <p:spPr>
          <a:xfrm>
            <a:off x="594360" y="3337560"/>
            <a:ext cx="3520440" cy="1737360"/>
          </a:xfrm>
          <a:prstGeom prst="roundRect">
            <a:avLst>
              <a:gd name="adj" fmla="val 4737"/>
            </a:avLst>
          </a:prstGeom>
          <a:solidFill>
            <a:srgbClr val="27503F"/>
          </a:solidFill>
          <a:ln w="12700">
            <a:solidFill>
              <a:srgbClr val="3A6B57"/>
            </a:solidFill>
            <a:prstDash val="solid"/>
          </a:ln>
          <a:effectLst>
            <a:outerShdw sx="100000" sy="100000" kx="0" ky="0" algn="bl" rotWithShape="0" blurRad="101600" dist="508" dir="5400000">
              <a:srgbClr val="AFBCB0">
                <a:alpha val="30000"/>
              </a:srgbClr>
            </a:outerShdw>
          </a:effectLst>
        </p:spPr>
      </p:sp>
      <p:sp>
        <p:nvSpPr>
          <p:cNvPr id="18" name="Shape 16"/>
          <p:cNvSpPr/>
          <p:nvPr/>
        </p:nvSpPr>
        <p:spPr>
          <a:xfrm>
            <a:off x="914400" y="3630168"/>
            <a:ext cx="457200" cy="41148"/>
          </a:xfrm>
          <a:prstGeom prst="rect">
            <a:avLst/>
          </a:prstGeom>
          <a:solidFill>
            <a:srgbClr val="B5D45A"/>
          </a:solidFill>
          <a:ln w="12700">
            <a:solidFill>
              <a:srgbClr val="333333"/>
            </a:solidFill>
            <a:prstDash val="solid"/>
          </a:ln>
        </p:spPr>
      </p:sp>
      <p:sp>
        <p:nvSpPr>
          <p:cNvPr id="19" name="Text 17"/>
          <p:cNvSpPr txBox="1"/>
          <p:nvPr/>
        </p:nvSpPr>
        <p:spPr>
          <a:xfrm>
            <a:off x="914400" y="3776472"/>
            <a:ext cx="2880360" cy="320040"/>
          </a:xfrm>
          <a:prstGeom prst="rect">
            <a:avLst/>
          </a:prstGeom>
          <a:noFill/>
          <a:ln/>
        </p:spPr>
        <p:txBody>
          <a:bodyPr wrap="square" lIns="0" tIns="0" rIns="0" bIns="0" rtlCol="0" anchor="t"/>
          <a:lstStyle/>
          <a:p>
            <a:pPr algn="l" indent="0" marL="0">
              <a:buNone/>
            </a:pPr>
            <a:r>
              <a:rPr lang="en-US" sz="1600" b="1" dirty="0">
                <a:solidFill>
                  <a:srgbClr val="B5D45A"/>
                </a:solidFill>
                <a:latin typeface="Cambria" pitchFamily="34" charset="0"/>
                <a:ea typeface="Cambria" pitchFamily="34" charset="-122"/>
                <a:cs typeface="Cambria" pitchFamily="34" charset="-120"/>
              </a:rPr>
              <a:t>Bagging</a:t>
            </a:r>
            <a:endParaRPr lang="en-US" sz="1600" dirty="0"/>
          </a:p>
        </p:txBody>
      </p:sp>
      <p:sp>
        <p:nvSpPr>
          <p:cNvPr id="20" name="Text 18"/>
          <p:cNvSpPr txBox="1"/>
          <p:nvPr/>
        </p:nvSpPr>
        <p:spPr>
          <a:xfrm>
            <a:off x="914400" y="4160520"/>
            <a:ext cx="2880360" cy="777240"/>
          </a:xfrm>
          <a:prstGeom prst="rect">
            <a:avLst/>
          </a:prstGeom>
          <a:noFill/>
          <a:ln/>
        </p:spPr>
        <p:txBody>
          <a:bodyPr wrap="square" lIns="0" tIns="0" rIns="0" bIns="0" rtlCol="0" anchor="t"/>
          <a:lstStyle/>
          <a:p>
            <a:pPr algn="l" indent="0" marL="0">
              <a:lnSpc>
                <a:spcPct val="125000"/>
              </a:lnSpc>
              <a:buNone/>
            </a:pPr>
            <a:r>
              <a:rPr lang="en-US" sz="1250" dirty="0">
                <a:solidFill>
                  <a:srgbClr val="BCCCC0"/>
                </a:solidFill>
                <a:latin typeface="Calibri" pitchFamily="34" charset="0"/>
                <a:ea typeface="Calibri" pitchFamily="34" charset="-122"/>
                <a:cs typeface="Calibri" pitchFamily="34" charset="-120"/>
              </a:rPr>
              <a:t>Pohon sejajar dan saling bebas.</a:t>
            </a:r>
            <a:endParaRPr lang="en-US" sz="1250" dirty="0"/>
          </a:p>
          <a:p>
            <a:pPr algn="l" indent="0" marL="0">
              <a:lnSpc>
                <a:spcPct val="125000"/>
              </a:lnSpc>
              <a:buNone/>
            </a:pPr>
            <a:r>
              <a:rPr lang="en-US" sz="1250" dirty="0">
                <a:solidFill>
                  <a:srgbClr val="BCCCC0"/>
                </a:solidFill>
                <a:latin typeface="Calibri" pitchFamily="34" charset="0"/>
                <a:ea typeface="Calibri" pitchFamily="34" charset="-122"/>
                <a:cs typeface="Calibri" pitchFamily="34" charset="-120"/>
              </a:rPr>
              <a:t>Menurunkan variance.</a:t>
            </a:r>
            <a:endParaRPr lang="en-US" sz="1250" dirty="0"/>
          </a:p>
        </p:txBody>
      </p:sp>
      <p:sp>
        <p:nvSpPr>
          <p:cNvPr id="21" name="Shape 19"/>
          <p:cNvSpPr/>
          <p:nvPr/>
        </p:nvSpPr>
        <p:spPr>
          <a:xfrm>
            <a:off x="4389120" y="3337560"/>
            <a:ext cx="3520440" cy="1737360"/>
          </a:xfrm>
          <a:prstGeom prst="roundRect">
            <a:avLst>
              <a:gd name="adj" fmla="val 4737"/>
            </a:avLst>
          </a:prstGeom>
          <a:solidFill>
            <a:srgbClr val="27503F"/>
          </a:solidFill>
          <a:ln w="12700">
            <a:solidFill>
              <a:srgbClr val="3A6B57"/>
            </a:solidFill>
            <a:prstDash val="solid"/>
          </a:ln>
          <a:effectLst>
            <a:outerShdw sx="100000" sy="100000" kx="0" ky="0" algn="bl" rotWithShape="0" blurRad="101600" dist="508" dir="5400000">
              <a:srgbClr val="AFBCB0">
                <a:alpha val="30000"/>
              </a:srgbClr>
            </a:outerShdw>
          </a:effectLst>
        </p:spPr>
      </p:sp>
      <p:sp>
        <p:nvSpPr>
          <p:cNvPr id="22" name="Shape 20"/>
          <p:cNvSpPr/>
          <p:nvPr/>
        </p:nvSpPr>
        <p:spPr>
          <a:xfrm>
            <a:off x="4709160" y="3630168"/>
            <a:ext cx="457200" cy="41148"/>
          </a:xfrm>
          <a:prstGeom prst="rect">
            <a:avLst/>
          </a:prstGeom>
          <a:solidFill>
            <a:srgbClr val="B5D45A"/>
          </a:solidFill>
          <a:ln w="12700">
            <a:solidFill>
              <a:srgbClr val="333333"/>
            </a:solidFill>
            <a:prstDash val="solid"/>
          </a:ln>
        </p:spPr>
      </p:sp>
      <p:sp>
        <p:nvSpPr>
          <p:cNvPr id="23" name="Text 21"/>
          <p:cNvSpPr txBox="1"/>
          <p:nvPr/>
        </p:nvSpPr>
        <p:spPr>
          <a:xfrm>
            <a:off x="4709160" y="3776472"/>
            <a:ext cx="2880360" cy="320040"/>
          </a:xfrm>
          <a:prstGeom prst="rect">
            <a:avLst/>
          </a:prstGeom>
          <a:noFill/>
          <a:ln/>
        </p:spPr>
        <p:txBody>
          <a:bodyPr wrap="square" lIns="0" tIns="0" rIns="0" bIns="0" rtlCol="0" anchor="t"/>
          <a:lstStyle/>
          <a:p>
            <a:pPr algn="l" indent="0" marL="0">
              <a:buNone/>
            </a:pPr>
            <a:r>
              <a:rPr lang="en-US" sz="1600" b="1" dirty="0">
                <a:solidFill>
                  <a:srgbClr val="B5D45A"/>
                </a:solidFill>
                <a:latin typeface="Cambria" pitchFamily="34" charset="0"/>
                <a:ea typeface="Cambria" pitchFamily="34" charset="-122"/>
                <a:cs typeface="Cambria" pitchFamily="34" charset="-120"/>
              </a:rPr>
              <a:t>Boosting</a:t>
            </a:r>
            <a:endParaRPr lang="en-US" sz="1600" dirty="0"/>
          </a:p>
        </p:txBody>
      </p:sp>
      <p:sp>
        <p:nvSpPr>
          <p:cNvPr id="24" name="Text 22"/>
          <p:cNvSpPr txBox="1"/>
          <p:nvPr/>
        </p:nvSpPr>
        <p:spPr>
          <a:xfrm>
            <a:off x="4709160" y="4160520"/>
            <a:ext cx="2880360" cy="777240"/>
          </a:xfrm>
          <a:prstGeom prst="rect">
            <a:avLst/>
          </a:prstGeom>
          <a:noFill/>
          <a:ln/>
        </p:spPr>
        <p:txBody>
          <a:bodyPr wrap="square" lIns="0" tIns="0" rIns="0" bIns="0" rtlCol="0" anchor="t"/>
          <a:lstStyle/>
          <a:p>
            <a:pPr algn="l" indent="0" marL="0">
              <a:lnSpc>
                <a:spcPct val="125000"/>
              </a:lnSpc>
              <a:buNone/>
            </a:pPr>
            <a:r>
              <a:rPr lang="en-US" sz="1250" dirty="0">
                <a:solidFill>
                  <a:srgbClr val="BCCCC0"/>
                </a:solidFill>
                <a:latin typeface="Calibri" pitchFamily="34" charset="0"/>
                <a:ea typeface="Calibri" pitchFamily="34" charset="-122"/>
                <a:cs typeface="Calibri" pitchFamily="34" charset="-120"/>
              </a:rPr>
              <a:t>Pohon berurutan yang memperbaiki</a:t>
            </a:r>
            <a:endParaRPr lang="en-US" sz="1250" dirty="0"/>
          </a:p>
          <a:p>
            <a:pPr algn="l" indent="0" marL="0">
              <a:lnSpc>
                <a:spcPct val="125000"/>
              </a:lnSpc>
              <a:buNone/>
            </a:pPr>
            <a:r>
              <a:rPr lang="en-US" sz="1250" dirty="0">
                <a:solidFill>
                  <a:srgbClr val="BCCCC0"/>
                </a:solidFill>
                <a:latin typeface="Calibri" pitchFamily="34" charset="0"/>
                <a:ea typeface="Calibri" pitchFamily="34" charset="-122"/>
                <a:cs typeface="Calibri" pitchFamily="34" charset="-120"/>
              </a:rPr>
              <a:t>kesalahan. Menurunkan bias.</a:t>
            </a:r>
            <a:endParaRPr lang="en-US" sz="1250" dirty="0"/>
          </a:p>
        </p:txBody>
      </p:sp>
      <p:sp>
        <p:nvSpPr>
          <p:cNvPr id="25" name="Shape 23"/>
          <p:cNvSpPr/>
          <p:nvPr/>
        </p:nvSpPr>
        <p:spPr>
          <a:xfrm>
            <a:off x="8183880" y="3337560"/>
            <a:ext cx="3520440" cy="1737360"/>
          </a:xfrm>
          <a:prstGeom prst="roundRect">
            <a:avLst>
              <a:gd name="adj" fmla="val 4737"/>
            </a:avLst>
          </a:prstGeom>
          <a:solidFill>
            <a:srgbClr val="27503F"/>
          </a:solidFill>
          <a:ln w="12700">
            <a:solidFill>
              <a:srgbClr val="3A6B57"/>
            </a:solidFill>
            <a:prstDash val="solid"/>
          </a:ln>
          <a:effectLst>
            <a:outerShdw sx="100000" sy="100000" kx="0" ky="0" algn="bl" rotWithShape="0" blurRad="101600" dist="508" dir="5400000">
              <a:srgbClr val="AFBCB0">
                <a:alpha val="30000"/>
              </a:srgbClr>
            </a:outerShdw>
          </a:effectLst>
        </p:spPr>
      </p:sp>
      <p:sp>
        <p:nvSpPr>
          <p:cNvPr id="26" name="Shape 24"/>
          <p:cNvSpPr/>
          <p:nvPr/>
        </p:nvSpPr>
        <p:spPr>
          <a:xfrm>
            <a:off x="8503920" y="3630168"/>
            <a:ext cx="457200" cy="41148"/>
          </a:xfrm>
          <a:prstGeom prst="rect">
            <a:avLst/>
          </a:prstGeom>
          <a:solidFill>
            <a:srgbClr val="B5D45A"/>
          </a:solidFill>
          <a:ln w="12700">
            <a:solidFill>
              <a:srgbClr val="333333"/>
            </a:solidFill>
            <a:prstDash val="solid"/>
          </a:ln>
        </p:spPr>
      </p:sp>
      <p:sp>
        <p:nvSpPr>
          <p:cNvPr id="27" name="Text 25"/>
          <p:cNvSpPr txBox="1"/>
          <p:nvPr/>
        </p:nvSpPr>
        <p:spPr>
          <a:xfrm>
            <a:off x="8503920" y="3776472"/>
            <a:ext cx="2880360" cy="320040"/>
          </a:xfrm>
          <a:prstGeom prst="rect">
            <a:avLst/>
          </a:prstGeom>
          <a:noFill/>
          <a:ln/>
        </p:spPr>
        <p:txBody>
          <a:bodyPr wrap="square" lIns="0" tIns="0" rIns="0" bIns="0" rtlCol="0" anchor="t"/>
          <a:lstStyle/>
          <a:p>
            <a:pPr algn="l" indent="0" marL="0">
              <a:buNone/>
            </a:pPr>
            <a:r>
              <a:rPr lang="en-US" sz="1600" b="1" dirty="0">
                <a:solidFill>
                  <a:srgbClr val="B5D45A"/>
                </a:solidFill>
                <a:latin typeface="Cambria" pitchFamily="34" charset="0"/>
                <a:ea typeface="Cambria" pitchFamily="34" charset="-122"/>
                <a:cs typeface="Cambria" pitchFamily="34" charset="-120"/>
              </a:rPr>
              <a:t>Pohon vs linier</a:t>
            </a:r>
            <a:endParaRPr lang="en-US" sz="1600" dirty="0"/>
          </a:p>
        </p:txBody>
      </p:sp>
      <p:sp>
        <p:nvSpPr>
          <p:cNvPr id="28" name="Text 26"/>
          <p:cNvSpPr txBox="1"/>
          <p:nvPr/>
        </p:nvSpPr>
        <p:spPr>
          <a:xfrm>
            <a:off x="8503920" y="4160520"/>
            <a:ext cx="2880360" cy="777240"/>
          </a:xfrm>
          <a:prstGeom prst="rect">
            <a:avLst/>
          </a:prstGeom>
          <a:noFill/>
          <a:ln/>
        </p:spPr>
        <p:txBody>
          <a:bodyPr wrap="square" lIns="0" tIns="0" rIns="0" bIns="0" rtlCol="0" anchor="t"/>
          <a:lstStyle/>
          <a:p>
            <a:pPr algn="l" indent="0" marL="0">
              <a:lnSpc>
                <a:spcPct val="125000"/>
              </a:lnSpc>
              <a:buNone/>
            </a:pPr>
            <a:r>
              <a:rPr lang="en-US" sz="1250" dirty="0">
                <a:solidFill>
                  <a:srgbClr val="BCCCC0"/>
                </a:solidFill>
                <a:latin typeface="Calibri" pitchFamily="34" charset="0"/>
                <a:ea typeface="Calibri" pitchFamily="34" charset="-122"/>
                <a:cs typeface="Calibri" pitchFamily="34" charset="-120"/>
              </a:rPr>
              <a:t>Pohon unggul pada data tabel.</a:t>
            </a:r>
            <a:endParaRPr lang="en-US" sz="1250" dirty="0"/>
          </a:p>
          <a:p>
            <a:pPr algn="l" indent="0" marL="0">
              <a:lnSpc>
                <a:spcPct val="125000"/>
              </a:lnSpc>
              <a:buNone/>
            </a:pPr>
            <a:r>
              <a:rPr lang="en-US" sz="1250" dirty="0">
                <a:solidFill>
                  <a:srgbClr val="BCCCC0"/>
                </a:solidFill>
                <a:latin typeface="Calibri" pitchFamily="34" charset="0"/>
                <a:ea typeface="Calibri" pitchFamily="34" charset="-122"/>
                <a:cs typeface="Calibri" pitchFamily="34" charset="-120"/>
              </a:rPr>
              <a:t>Linier unggul untuk ekstrapolasi.</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F5F1"/>
        </a:solidFill>
      </p:bgPr>
    </p:bg>
    <p:spTree>
      <p:nvGrpSpPr>
        <p:cNvPr id="1" name=""/>
        <p:cNvGrpSpPr/>
        <p:nvPr/>
      </p:nvGrpSpPr>
      <p:grpSpPr>
        <a:xfrm>
          <a:off x="0" y="0"/>
          <a:ext cx="0" cy="0"/>
          <a:chOff x="0" y="0"/>
          <a:chExt cx="0" cy="0"/>
        </a:xfrm>
      </p:grpSpPr>
      <p:sp>
        <p:nvSpPr>
          <p:cNvPr id="2" name="Text 0"/>
          <p:cNvSpPr txBox="1"/>
          <p:nvPr/>
        </p:nvSpPr>
        <p:spPr>
          <a:xfrm>
            <a:off x="594360" y="128016"/>
            <a:ext cx="11002975" cy="274320"/>
          </a:xfrm>
          <a:prstGeom prst="rect">
            <a:avLst/>
          </a:prstGeom>
          <a:noFill/>
          <a:ln/>
        </p:spPr>
        <p:txBody>
          <a:bodyPr wrap="square" lIns="0" tIns="0" rIns="0" bIns="0" rtlCol="0" anchor="ctr"/>
          <a:lstStyle/>
          <a:p>
            <a:pPr indent="0" marL="0">
              <a:buNone/>
            </a:pPr>
            <a:r>
              <a:rPr lang="en-US" sz="1100" b="1" spc="200" kern="0" dirty="0">
                <a:solidFill>
                  <a:srgbClr val="7FA327"/>
                </a:solidFill>
                <a:latin typeface="Calibri" pitchFamily="34" charset="0"/>
                <a:ea typeface="Calibri" pitchFamily="34" charset="-122"/>
                <a:cs typeface="Calibri" pitchFamily="34" charset="-120"/>
              </a:rPr>
              <a:t>TINDAK LANJUT</a:t>
            </a:r>
            <a:endParaRPr lang="en-US" sz="1100" dirty="0"/>
          </a:p>
        </p:txBody>
      </p:sp>
      <p:sp>
        <p:nvSpPr>
          <p:cNvPr id="3" name="Text 1"/>
          <p:cNvSpPr txBox="1"/>
          <p:nvPr/>
        </p:nvSpPr>
        <p:spPr>
          <a:xfrm>
            <a:off x="594360" y="384048"/>
            <a:ext cx="11002975" cy="658368"/>
          </a:xfrm>
          <a:prstGeom prst="rect">
            <a:avLst/>
          </a:prstGeom>
          <a:noFill/>
          <a:ln/>
        </p:spPr>
        <p:txBody>
          <a:bodyPr wrap="square" lIns="0" tIns="0" rIns="0" bIns="0" rtlCol="0" anchor="ctr"/>
          <a:lstStyle/>
          <a:p>
            <a:pPr indent="0" marL="0">
              <a:buNone/>
            </a:pPr>
            <a:r>
              <a:rPr lang="en-US" sz="3000" b="1" dirty="0">
                <a:solidFill>
                  <a:srgbClr val="1B3A2F"/>
                </a:solidFill>
                <a:latin typeface="Cambria" pitchFamily="34" charset="0"/>
                <a:ea typeface="Cambria" pitchFamily="34" charset="-122"/>
                <a:cs typeface="Cambria" pitchFamily="34" charset="-120"/>
              </a:rPr>
              <a:t>Tugas Terstruktur 4</a:t>
            </a:r>
            <a:endParaRPr lang="en-US" sz="3000" dirty="0"/>
          </a:p>
        </p:txBody>
      </p:sp>
      <p:sp>
        <p:nvSpPr>
          <p:cNvPr id="4" name="Text 2"/>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61756A"/>
                </a:solidFill>
                <a:latin typeface="Calibri" pitchFamily="34" charset="0"/>
                <a:ea typeface="Calibri" pitchFamily="34" charset="-122"/>
                <a:cs typeface="Calibri" pitchFamily="34" charset="-120"/>
              </a:rPr>
              <a:t>25</a:t>
            </a:r>
            <a:endParaRPr lang="en-US" sz="1000" dirty="0"/>
          </a:p>
        </p:txBody>
      </p:sp>
      <p:sp>
        <p:nvSpPr>
          <p:cNvPr id="5" name="Shape 3"/>
          <p:cNvSpPr/>
          <p:nvPr/>
        </p:nvSpPr>
        <p:spPr>
          <a:xfrm>
            <a:off x="594360" y="1280160"/>
            <a:ext cx="5486400" cy="2103120"/>
          </a:xfrm>
          <a:prstGeom prst="roundRect">
            <a:avLst>
              <a:gd name="adj" fmla="val 3913"/>
            </a:avLst>
          </a:prstGeom>
          <a:solidFill>
            <a:srgbClr val="7FA327"/>
          </a:solidFill>
          <a:ln w="12700">
            <a:solidFill>
              <a:srgbClr val="7FA327"/>
            </a:solidFill>
            <a:prstDash val="solid"/>
          </a:ln>
          <a:effectLst>
            <a:outerShdw sx="100000" sy="100000" kx="0" ky="0" algn="bl" rotWithShape="0" blurRad="101600" dist="508" dir="5400000">
              <a:srgbClr val="AFBCB0">
                <a:alpha val="30000"/>
              </a:srgbClr>
            </a:outerShdw>
          </a:effectLst>
        </p:spPr>
      </p:sp>
      <p:sp>
        <p:nvSpPr>
          <p:cNvPr id="6" name="Shape 4"/>
          <p:cNvSpPr/>
          <p:nvPr/>
        </p:nvSpPr>
        <p:spPr>
          <a:xfrm>
            <a:off x="914400" y="1536192"/>
            <a:ext cx="530352" cy="530352"/>
          </a:xfrm>
          <a:prstGeom prst="ellipse">
            <a:avLst/>
          </a:prstGeom>
          <a:solidFill>
            <a:srgbClr val="FFFFFF"/>
          </a:solidFill>
          <a:ln w="12700">
            <a:solidFill>
              <a:srgbClr val="333333"/>
            </a:solidFill>
            <a:prstDash val="solid"/>
          </a:ln>
        </p:spPr>
      </p:sp>
      <p:sp>
        <p:nvSpPr>
          <p:cNvPr id="7" name="Text 5"/>
          <p:cNvSpPr txBox="1"/>
          <p:nvPr/>
        </p:nvSpPr>
        <p:spPr>
          <a:xfrm>
            <a:off x="914400" y="1536192"/>
            <a:ext cx="530352" cy="530352"/>
          </a:xfrm>
          <a:prstGeom prst="rect">
            <a:avLst/>
          </a:prstGeom>
          <a:noFill/>
          <a:ln/>
        </p:spPr>
        <p:txBody>
          <a:bodyPr wrap="square" lIns="0" tIns="0" rIns="0" bIns="0" rtlCol="0" anchor="ctr"/>
          <a:lstStyle/>
          <a:p>
            <a:pPr algn="ctr" indent="0" marL="0">
              <a:buNone/>
            </a:pPr>
            <a:r>
              <a:rPr lang="en-US" sz="1300" b="1" dirty="0">
                <a:solidFill>
                  <a:srgbClr val="7FA327"/>
                </a:solidFill>
                <a:latin typeface="Cambria" pitchFamily="34" charset="0"/>
                <a:ea typeface="Cambria" pitchFamily="34" charset="-122"/>
                <a:cs typeface="Cambria" pitchFamily="34" charset="-120"/>
              </a:rPr>
              <a:t>PT</a:t>
            </a:r>
            <a:endParaRPr lang="en-US" sz="1300" dirty="0"/>
          </a:p>
        </p:txBody>
      </p:sp>
      <p:sp>
        <p:nvSpPr>
          <p:cNvPr id="8" name="Text 6"/>
          <p:cNvSpPr txBox="1"/>
          <p:nvPr/>
        </p:nvSpPr>
        <p:spPr>
          <a:xfrm>
            <a:off x="1600200" y="1591056"/>
            <a:ext cx="4114800" cy="365760"/>
          </a:xfrm>
          <a:prstGeom prst="rect">
            <a:avLst/>
          </a:prstGeom>
          <a:noFill/>
          <a:ln/>
        </p:spPr>
        <p:txBody>
          <a:bodyPr wrap="square" lIns="0" tIns="0" rIns="0" bIns="0" rtlCol="0" anchor="t"/>
          <a:lstStyle/>
          <a:p>
            <a:pPr algn="l" indent="0" marL="0">
              <a:buNone/>
            </a:pPr>
            <a:r>
              <a:rPr lang="en-US" sz="1700" b="1" dirty="0">
                <a:solidFill>
                  <a:srgbClr val="FFFFFF"/>
                </a:solidFill>
                <a:latin typeface="Cambria" pitchFamily="34" charset="0"/>
                <a:ea typeface="Cambria" pitchFamily="34" charset="-122"/>
                <a:cs typeface="Cambria" pitchFamily="34" charset="-120"/>
              </a:rPr>
              <a:t>Tugas Terstruktur 4  ·  Bobot 4%</a:t>
            </a:r>
            <a:endParaRPr lang="en-US" sz="1700" dirty="0"/>
          </a:p>
        </p:txBody>
      </p:sp>
      <p:sp>
        <p:nvSpPr>
          <p:cNvPr id="9" name="Text 7"/>
          <p:cNvSpPr txBox="1"/>
          <p:nvPr/>
        </p:nvSpPr>
        <p:spPr>
          <a:xfrm>
            <a:off x="914400" y="2194560"/>
            <a:ext cx="4846320" cy="914400"/>
          </a:xfrm>
          <a:prstGeom prst="rect">
            <a:avLst/>
          </a:prstGeom>
          <a:noFill/>
          <a:ln/>
        </p:spPr>
        <p:txBody>
          <a:bodyPr wrap="square" lIns="0" tIns="0" rIns="0" bIns="0" rtlCol="0" anchor="t"/>
          <a:lstStyle/>
          <a:p>
            <a:pPr algn="l" indent="0" marL="0">
              <a:lnSpc>
                <a:spcPct val="130000"/>
              </a:lnSpc>
              <a:buNone/>
            </a:pPr>
            <a:r>
              <a:rPr lang="en-US" sz="1400" dirty="0">
                <a:solidFill>
                  <a:srgbClr val="F4F8EC"/>
                </a:solidFill>
                <a:latin typeface="Calibri" pitchFamily="34" charset="0"/>
                <a:ea typeface="Calibri" pitchFamily="34" charset="-122"/>
                <a:cs typeface="Calibri" pitchFamily="34" charset="-120"/>
              </a:rPr>
              <a:t>Analisis perbandingan model linier dan model berbasis pohon untuk satu kasus yang ditentukan, disertai justifikasi pemilihan.</a:t>
            </a:r>
            <a:endParaRPr lang="en-US" sz="1400" dirty="0"/>
          </a:p>
        </p:txBody>
      </p:sp>
      <p:sp>
        <p:nvSpPr>
          <p:cNvPr id="10" name="Shape 8"/>
          <p:cNvSpPr/>
          <p:nvPr/>
        </p:nvSpPr>
        <p:spPr>
          <a:xfrm>
            <a:off x="6537960" y="1280160"/>
            <a:ext cx="5029200" cy="2103120"/>
          </a:xfrm>
          <a:prstGeom prst="roundRect">
            <a:avLst>
              <a:gd name="adj" fmla="val 3913"/>
            </a:avLst>
          </a:prstGeom>
          <a:solidFill>
            <a:srgbClr val="FFFFFF"/>
          </a:solidFill>
          <a:ln w="12700">
            <a:solidFill>
              <a:srgbClr val="DCE3DA"/>
            </a:solidFill>
            <a:prstDash val="solid"/>
          </a:ln>
          <a:effectLst>
            <a:outerShdw sx="100000" sy="100000" kx="0" ky="0" algn="bl" rotWithShape="0" blurRad="101600" dist="508" dir="5400000">
              <a:srgbClr val="AFBCB0">
                <a:alpha val="30000"/>
              </a:srgbClr>
            </a:outerShdw>
          </a:effectLst>
        </p:spPr>
      </p:sp>
      <p:sp>
        <p:nvSpPr>
          <p:cNvPr id="11" name="Shape 9"/>
          <p:cNvSpPr/>
          <p:nvPr/>
        </p:nvSpPr>
        <p:spPr>
          <a:xfrm>
            <a:off x="6858000" y="1536192"/>
            <a:ext cx="530352" cy="530352"/>
          </a:xfrm>
          <a:prstGeom prst="ellipse">
            <a:avLst/>
          </a:prstGeom>
          <a:solidFill>
            <a:srgbClr val="3A6B57"/>
          </a:solidFill>
          <a:ln w="12700">
            <a:solidFill>
              <a:srgbClr val="333333"/>
            </a:solidFill>
            <a:prstDash val="solid"/>
          </a:ln>
        </p:spPr>
      </p:sp>
      <p:sp>
        <p:nvSpPr>
          <p:cNvPr id="12" name="Text 10"/>
          <p:cNvSpPr txBox="1"/>
          <p:nvPr/>
        </p:nvSpPr>
        <p:spPr>
          <a:xfrm>
            <a:off x="6858000" y="1536192"/>
            <a:ext cx="53035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BM</a:t>
            </a:r>
            <a:endParaRPr lang="en-US" sz="1300" dirty="0"/>
          </a:p>
        </p:txBody>
      </p:sp>
      <p:sp>
        <p:nvSpPr>
          <p:cNvPr id="13" name="Text 11"/>
          <p:cNvSpPr txBox="1"/>
          <p:nvPr/>
        </p:nvSpPr>
        <p:spPr>
          <a:xfrm>
            <a:off x="7543800" y="1591056"/>
            <a:ext cx="3794760" cy="365760"/>
          </a:xfrm>
          <a:prstGeom prst="rect">
            <a:avLst/>
          </a:prstGeom>
          <a:noFill/>
          <a:ln/>
        </p:spPr>
        <p:txBody>
          <a:bodyPr wrap="square" lIns="0" tIns="0" rIns="0" bIns="0" rtlCol="0" anchor="t"/>
          <a:lstStyle/>
          <a:p>
            <a:pPr algn="l" indent="0" marL="0">
              <a:buNone/>
            </a:pPr>
            <a:r>
              <a:rPr lang="en-US" sz="1700" b="1" dirty="0">
                <a:solidFill>
                  <a:srgbClr val="1B3A2F"/>
                </a:solidFill>
                <a:latin typeface="Cambria" pitchFamily="34" charset="0"/>
                <a:ea typeface="Cambria" pitchFamily="34" charset="-122"/>
                <a:cs typeface="Cambria" pitchFamily="34" charset="-120"/>
              </a:rPr>
              <a:t>Belajar Mandiri  ·  180 menit</a:t>
            </a:r>
            <a:endParaRPr lang="en-US" sz="1700" dirty="0"/>
          </a:p>
        </p:txBody>
      </p:sp>
      <p:sp>
        <p:nvSpPr>
          <p:cNvPr id="14" name="Text 12"/>
          <p:cNvSpPr txBox="1"/>
          <p:nvPr/>
        </p:nvSpPr>
        <p:spPr>
          <a:xfrm>
            <a:off x="6858000" y="2194560"/>
            <a:ext cx="4480560" cy="914400"/>
          </a:xfrm>
          <a:prstGeom prst="rect">
            <a:avLst/>
          </a:prstGeom>
          <a:noFill/>
          <a:ln/>
        </p:spPr>
        <p:txBody>
          <a:bodyPr wrap="square" lIns="0" tIns="0" rIns="0" bIns="0" rtlCol="0" anchor="t"/>
          <a:lstStyle/>
          <a:p>
            <a:pPr algn="l" indent="0" marL="0">
              <a:lnSpc>
                <a:spcPct val="130000"/>
              </a:lnSpc>
              <a:buNone/>
            </a:pPr>
            <a:r>
              <a:rPr lang="en-US" sz="1400" dirty="0">
                <a:solidFill>
                  <a:srgbClr val="17261F"/>
                </a:solidFill>
                <a:latin typeface="Calibri" pitchFamily="34" charset="0"/>
                <a:ea typeface="Calibri" pitchFamily="34" charset="-122"/>
                <a:cs typeface="Calibri" pitchFamily="34" charset="-120"/>
              </a:rPr>
              <a:t>Membaca Géron [1] Bab 6 dan 7 mengenai decision tree dan metode ensemble, serta ISL [11] Bab 8.</a:t>
            </a:r>
            <a:endParaRPr lang="en-US" sz="1400" dirty="0"/>
          </a:p>
        </p:txBody>
      </p:sp>
      <p:sp>
        <p:nvSpPr>
          <p:cNvPr id="15" name="Shape 13"/>
          <p:cNvSpPr/>
          <p:nvPr/>
        </p:nvSpPr>
        <p:spPr>
          <a:xfrm>
            <a:off x="594360" y="3611880"/>
            <a:ext cx="11002975" cy="1417320"/>
          </a:xfrm>
          <a:prstGeom prst="roundRect">
            <a:avLst>
              <a:gd name="adj" fmla="val 5806"/>
            </a:avLst>
          </a:prstGeom>
          <a:solidFill>
            <a:srgbClr val="EDF2E4"/>
          </a:solidFill>
          <a:ln w="12700">
            <a:solidFill>
              <a:srgbClr val="D5E2BC"/>
            </a:solidFill>
            <a:prstDash val="solid"/>
          </a:ln>
          <a:effectLst>
            <a:outerShdw sx="100000" sy="100000" kx="0" ky="0" algn="bl" rotWithShape="0" blurRad="101600" dist="508" dir="5400000">
              <a:srgbClr val="AFBCB0">
                <a:alpha val="30000"/>
              </a:srgbClr>
            </a:outerShdw>
          </a:effectLst>
        </p:spPr>
      </p:sp>
      <p:sp>
        <p:nvSpPr>
          <p:cNvPr id="16" name="Text 14"/>
          <p:cNvSpPr txBox="1"/>
          <p:nvPr/>
        </p:nvSpPr>
        <p:spPr>
          <a:xfrm>
            <a:off x="1005840" y="3794760"/>
            <a:ext cx="10180015" cy="274320"/>
          </a:xfrm>
          <a:prstGeom prst="rect">
            <a:avLst/>
          </a:prstGeom>
          <a:noFill/>
          <a:ln/>
        </p:spPr>
        <p:txBody>
          <a:bodyPr wrap="square" lIns="0" tIns="0" rIns="0" bIns="0" rtlCol="0" anchor="t"/>
          <a:lstStyle/>
          <a:p>
            <a:pPr algn="l" indent="0" marL="0">
              <a:buNone/>
            </a:pPr>
            <a:r>
              <a:rPr lang="en-US" sz="1700" b="1" dirty="0">
                <a:solidFill>
                  <a:srgbClr val="4E6614"/>
                </a:solidFill>
                <a:latin typeface="Cambria" pitchFamily="34" charset="0"/>
                <a:ea typeface="Cambria" pitchFamily="34" charset="-122"/>
                <a:cs typeface="Cambria" pitchFamily="34" charset="-120"/>
              </a:rPr>
              <a:t>Kriteria penilaian tugas</a:t>
            </a:r>
            <a:endParaRPr lang="en-US" sz="1700" dirty="0"/>
          </a:p>
        </p:txBody>
      </p:sp>
      <p:sp>
        <p:nvSpPr>
          <p:cNvPr id="17" name="Text 15"/>
          <p:cNvSpPr txBox="1"/>
          <p:nvPr/>
        </p:nvSpPr>
        <p:spPr>
          <a:xfrm>
            <a:off x="1005840" y="4133088"/>
            <a:ext cx="10180015" cy="822960"/>
          </a:xfrm>
          <a:prstGeom prst="rect">
            <a:avLst/>
          </a:prstGeom>
          <a:noFill/>
          <a:ln/>
        </p:spPr>
        <p:txBody>
          <a:bodyPr wrap="square" lIns="0" tIns="0" rIns="0" bIns="0" rtlCol="0" anchor="t"/>
          <a:lstStyle/>
          <a:p>
            <a:pPr algn="l" indent="0" marL="0">
              <a:lnSpc>
                <a:spcPct val="130000"/>
              </a:lnSpc>
              <a:buNone/>
            </a:pPr>
            <a:r>
              <a:rPr lang="en-US" sz="1350" dirty="0">
                <a:solidFill>
                  <a:srgbClr val="4E6614"/>
                </a:solidFill>
                <a:latin typeface="Calibri" pitchFamily="34" charset="0"/>
                <a:ea typeface="Calibri" pitchFamily="34" charset="-122"/>
                <a:cs typeface="Calibri" pitchFamily="34" charset="-120"/>
              </a:rPr>
              <a:t>Ketepatan menjelaskan mekanisme kedua keluarga model (30%)  ·  Kesesuaian analisis dengan karakteristik data pada kasus (30%)  ·  Kekuatan justifikasi pemilihan (40%).</a:t>
            </a:r>
            <a:endParaRPr lang="en-US" sz="1350" dirty="0"/>
          </a:p>
          <a:p>
            <a:pPr algn="l" indent="0" marL="0">
              <a:lnSpc>
                <a:spcPct val="130000"/>
              </a:lnSpc>
              <a:buNone/>
            </a:pPr>
            <a:r>
              <a:rPr lang="en-US" sz="1350" dirty="0">
                <a:solidFill>
                  <a:srgbClr val="4E6614"/>
                </a:solidFill>
                <a:latin typeface="Calibri" pitchFamily="34" charset="0"/>
                <a:ea typeface="Calibri" pitchFamily="34" charset="-122"/>
                <a:cs typeface="Calibri" pitchFamily="34" charset="-120"/>
              </a:rPr>
              <a:t>Menyebut satu model "lebih baik" tanpa mengaitkannya pada ciri data dan kebutuhan pengguna tidak memperoleh nilai penuh.</a:t>
            </a:r>
            <a:endParaRPr lang="en-US" sz="1350" dirty="0"/>
          </a:p>
        </p:txBody>
      </p:sp>
      <p:sp>
        <p:nvSpPr>
          <p:cNvPr id="18" name="Shape 16"/>
          <p:cNvSpPr/>
          <p:nvPr/>
        </p:nvSpPr>
        <p:spPr>
          <a:xfrm>
            <a:off x="594360" y="5193792"/>
            <a:ext cx="11002975" cy="658368"/>
          </a:xfrm>
          <a:prstGeom prst="roundRect">
            <a:avLst>
              <a:gd name="adj" fmla="val 12500"/>
            </a:avLst>
          </a:prstGeom>
          <a:solidFill>
            <a:srgbClr val="1B3A2F"/>
          </a:solidFill>
          <a:ln w="12700">
            <a:solidFill>
              <a:srgbClr val="1B3A2F"/>
            </a:solidFill>
            <a:prstDash val="solid"/>
          </a:ln>
          <a:effectLst>
            <a:outerShdw sx="100000" sy="100000" kx="0" ky="0" algn="bl" rotWithShape="0" blurRad="101600" dist="508" dir="5400000">
              <a:srgbClr val="AFBCB0">
                <a:alpha val="30000"/>
              </a:srgbClr>
            </a:outerShdw>
          </a:effectLst>
        </p:spPr>
      </p:sp>
      <p:sp>
        <p:nvSpPr>
          <p:cNvPr id="19" name="Text 17"/>
          <p:cNvSpPr txBox="1"/>
          <p:nvPr/>
        </p:nvSpPr>
        <p:spPr>
          <a:xfrm>
            <a:off x="1005840" y="5349240"/>
            <a:ext cx="10180015" cy="411480"/>
          </a:xfrm>
          <a:prstGeom prst="rect">
            <a:avLst/>
          </a:prstGeom>
          <a:noFill/>
          <a:ln/>
        </p:spPr>
        <p:txBody>
          <a:bodyPr wrap="square" lIns="0" tIns="0" rIns="0" bIns="0" rtlCol="0" anchor="t"/>
          <a:lstStyle/>
          <a:p>
            <a:pPr algn="l" indent="0" marL="0">
              <a:buNone/>
            </a:pPr>
            <a:r>
              <a:rPr lang="en-US" sz="1350" b="1" dirty="0">
                <a:solidFill>
                  <a:srgbClr val="B5D45A"/>
                </a:solidFill>
                <a:latin typeface="Calibri" pitchFamily="34" charset="0"/>
                <a:ea typeface="Calibri" pitchFamily="34" charset="-122"/>
                <a:cs typeface="Calibri" pitchFamily="34" charset="-120"/>
              </a:rPr>
              <a:t>Persiapan pertemuan 11: kelompok yang mendapat topik clustering dan reduksi dimensi mulai menyiapkan bahan Presentasi Kilat sesi 2.</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3A2F"/>
        </a:solidFill>
      </p:bgPr>
    </p:bg>
    <p:spTree>
      <p:nvGrpSpPr>
        <p:cNvPr id="1" name=""/>
        <p:cNvGrpSpPr/>
        <p:nvPr/>
      </p:nvGrpSpPr>
      <p:grpSpPr>
        <a:xfrm>
          <a:off x="0" y="0"/>
          <a:ext cx="0" cy="0"/>
          <a:chOff x="0" y="0"/>
          <a:chExt cx="0" cy="0"/>
        </a:xfrm>
      </p:grpSpPr>
      <p:sp>
        <p:nvSpPr>
          <p:cNvPr id="2" name="Shape 0"/>
          <p:cNvSpPr/>
          <p:nvPr/>
        </p:nvSpPr>
        <p:spPr>
          <a:xfrm>
            <a:off x="-1645920" y="4206240"/>
            <a:ext cx="4937760" cy="4937760"/>
          </a:xfrm>
          <a:prstGeom prst="ellipse">
            <a:avLst/>
          </a:prstGeom>
          <a:solidFill>
            <a:srgbClr val="7FA327"/>
          </a:solidFill>
          <a:ln w="12700">
            <a:solidFill>
              <a:srgbClr val="333333"/>
            </a:solidFill>
            <a:prstDash val="solid"/>
          </a:ln>
        </p:spPr>
      </p:sp>
      <p:sp>
        <p:nvSpPr>
          <p:cNvPr id="3" name="Shape 1"/>
          <p:cNvSpPr/>
          <p:nvPr/>
        </p:nvSpPr>
        <p:spPr>
          <a:xfrm>
            <a:off x="10241280" y="-1463040"/>
            <a:ext cx="3840480" cy="3840480"/>
          </a:xfrm>
          <a:prstGeom prst="ellipse">
            <a:avLst/>
          </a:prstGeom>
          <a:solidFill>
            <a:srgbClr val="8E4A6B"/>
          </a:solidFill>
          <a:ln w="12700">
            <a:solidFill>
              <a:srgbClr val="333333"/>
            </a:solidFill>
            <a:prstDash val="solid"/>
          </a:ln>
        </p:spPr>
      </p:sp>
      <p:sp>
        <p:nvSpPr>
          <p:cNvPr id="4" name="Text 2"/>
          <p:cNvSpPr txBox="1"/>
          <p:nvPr/>
        </p:nvSpPr>
        <p:spPr>
          <a:xfrm>
            <a:off x="594360" y="2011680"/>
            <a:ext cx="8686800" cy="320040"/>
          </a:xfrm>
          <a:prstGeom prst="rect">
            <a:avLst/>
          </a:prstGeom>
          <a:noFill/>
          <a:ln/>
        </p:spPr>
        <p:txBody>
          <a:bodyPr wrap="square" lIns="0" tIns="0" rIns="0" bIns="0" rtlCol="0" anchor="t"/>
          <a:lstStyle/>
          <a:p>
            <a:pPr algn="l" indent="0" marL="0">
              <a:buNone/>
            </a:pPr>
            <a:r>
              <a:rPr lang="en-US" sz="1300" b="1" dirty="0">
                <a:solidFill>
                  <a:srgbClr val="B5D45A"/>
                </a:solidFill>
                <a:latin typeface="Calibri" pitchFamily="34" charset="0"/>
                <a:ea typeface="Calibri" pitchFamily="34" charset="-122"/>
                <a:cs typeface="Calibri" pitchFamily="34" charset="-120"/>
              </a:rPr>
              <a:t>PERTEMUAN BERIKUTNYA</a:t>
            </a:r>
            <a:endParaRPr lang="en-US" sz="1300" dirty="0"/>
          </a:p>
        </p:txBody>
      </p:sp>
      <p:sp>
        <p:nvSpPr>
          <p:cNvPr id="5" name="Text 3"/>
          <p:cNvSpPr txBox="1"/>
          <p:nvPr/>
        </p:nvSpPr>
        <p:spPr>
          <a:xfrm>
            <a:off x="594360" y="2468880"/>
            <a:ext cx="8686800" cy="1371600"/>
          </a:xfrm>
          <a:prstGeom prst="rect">
            <a:avLst/>
          </a:prstGeom>
          <a:noFill/>
          <a:ln/>
        </p:spPr>
        <p:txBody>
          <a:bodyPr wrap="square" lIns="0" tIns="0" rIns="0" bIns="0" rtlCol="0" anchor="t"/>
          <a:lstStyle/>
          <a:p>
            <a:pPr algn="l" indent="0" marL="0">
              <a:lnSpc>
                <a:spcPct val="115000"/>
              </a:lnSpc>
              <a:buNone/>
            </a:pPr>
            <a:r>
              <a:rPr lang="en-US" sz="3600" b="1" dirty="0">
                <a:solidFill>
                  <a:srgbClr val="FFFFFF"/>
                </a:solidFill>
                <a:latin typeface="Cambria" pitchFamily="34" charset="0"/>
                <a:ea typeface="Cambria" pitchFamily="34" charset="-122"/>
                <a:cs typeface="Cambria" pitchFamily="34" charset="-120"/>
              </a:rPr>
              <a:t>Clustering dan</a:t>
            </a:r>
            <a:endParaRPr lang="en-US" sz="3600" dirty="0"/>
          </a:p>
          <a:p>
            <a:pPr algn="l" indent="0" marL="0">
              <a:lnSpc>
                <a:spcPct val="115000"/>
              </a:lnSpc>
              <a:buNone/>
            </a:pPr>
            <a:r>
              <a:rPr lang="en-US" sz="3600" b="1" dirty="0">
                <a:solidFill>
                  <a:srgbClr val="FFFFFF"/>
                </a:solidFill>
                <a:latin typeface="Cambria" pitchFamily="34" charset="0"/>
                <a:ea typeface="Cambria" pitchFamily="34" charset="-122"/>
                <a:cs typeface="Cambria" pitchFamily="34" charset="-120"/>
              </a:rPr>
              <a:t>Dasar Probabilitas</a:t>
            </a:r>
            <a:endParaRPr lang="en-US" sz="3600" dirty="0"/>
          </a:p>
        </p:txBody>
      </p:sp>
      <p:sp>
        <p:nvSpPr>
          <p:cNvPr id="6" name="Shape 4"/>
          <p:cNvSpPr/>
          <p:nvPr/>
        </p:nvSpPr>
        <p:spPr>
          <a:xfrm>
            <a:off x="594360" y="4069080"/>
            <a:ext cx="1371600" cy="32004"/>
          </a:xfrm>
          <a:prstGeom prst="rect">
            <a:avLst/>
          </a:prstGeom>
          <a:solidFill>
            <a:srgbClr val="B5D45A"/>
          </a:solidFill>
          <a:ln w="12700">
            <a:solidFill>
              <a:srgbClr val="333333"/>
            </a:solidFill>
            <a:prstDash val="solid"/>
          </a:ln>
        </p:spPr>
      </p:sp>
      <p:sp>
        <p:nvSpPr>
          <p:cNvPr id="7" name="Text 5"/>
          <p:cNvSpPr txBox="1"/>
          <p:nvPr/>
        </p:nvSpPr>
        <p:spPr>
          <a:xfrm>
            <a:off x="594360" y="4343400"/>
            <a:ext cx="8686800" cy="914400"/>
          </a:xfrm>
          <a:prstGeom prst="rect">
            <a:avLst/>
          </a:prstGeom>
          <a:noFill/>
          <a:ln/>
        </p:spPr>
        <p:txBody>
          <a:bodyPr wrap="square" lIns="0" tIns="0" rIns="0" bIns="0" rtlCol="0" anchor="t"/>
          <a:lstStyle/>
          <a:p>
            <a:pPr algn="l" indent="0" marL="0">
              <a:lnSpc>
                <a:spcPct val="130000"/>
              </a:lnSpc>
              <a:buNone/>
            </a:pPr>
            <a:r>
              <a:rPr lang="en-US" sz="1700" dirty="0">
                <a:solidFill>
                  <a:srgbClr val="BCCCC0"/>
                </a:solidFill>
                <a:latin typeface="Calibri" pitchFamily="34" charset="0"/>
                <a:ea typeface="Calibri" pitchFamily="34" charset="-122"/>
                <a:cs typeface="Calibri" pitchFamily="34" charset="-120"/>
              </a:rPr>
              <a:t>Sepanjang sepuluh pertemuan, setiap data selalu punya jawaban yang benar.</a:t>
            </a:r>
            <a:endParaRPr lang="en-US" sz="1700" dirty="0"/>
          </a:p>
          <a:p>
            <a:pPr algn="l" indent="0" marL="0">
              <a:lnSpc>
                <a:spcPct val="130000"/>
              </a:lnSpc>
              <a:buNone/>
            </a:pPr>
            <a:r>
              <a:rPr lang="en-US" sz="1700" dirty="0">
                <a:solidFill>
                  <a:srgbClr val="BCCCC0"/>
                </a:solidFill>
                <a:latin typeface="Calibri" pitchFamily="34" charset="0"/>
                <a:ea typeface="Calibri" pitchFamily="34" charset="-122"/>
                <a:cs typeface="Calibri" pitchFamily="34" charset="-120"/>
              </a:rPr>
              <a:t>Pertemuan depan label itu kita cabut — dan model harus menemukan kelompoknya sendiri.</a:t>
            </a:r>
            <a:endParaRPr lang="en-US" sz="1700" dirty="0"/>
          </a:p>
        </p:txBody>
      </p:sp>
      <p:sp>
        <p:nvSpPr>
          <p:cNvPr id="8" name="Text 6"/>
          <p:cNvSpPr txBox="1"/>
          <p:nvPr/>
        </p:nvSpPr>
        <p:spPr>
          <a:xfrm>
            <a:off x="11231575" y="6291072"/>
            <a:ext cx="457200" cy="292608"/>
          </a:xfrm>
          <a:prstGeom prst="rect">
            <a:avLst/>
          </a:prstGeom>
          <a:noFill/>
          <a:ln/>
        </p:spPr>
        <p:txBody>
          <a:bodyPr wrap="square" lIns="0" tIns="0" rIns="0" bIns="0" rtlCol="0" anchor="ctr"/>
          <a:lstStyle/>
          <a:p>
            <a:pPr algn="r" indent="0" marL="0">
              <a:buNone/>
            </a:pPr>
            <a:r>
              <a:rPr lang="en-US" sz="1000" dirty="0">
                <a:solidFill>
                  <a:srgbClr val="86A093"/>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2026-08-31T10:16:42Z</dcterms:created>
  <dcterms:modified xsi:type="dcterms:W3CDTF">2026-08-31T10:16:42Z</dcterms:modified>
</cp:coreProperties>
</file>