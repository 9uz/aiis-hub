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Kelas sebenarnya (0 atau 1)</c:v>
                </c:pt>
              </c:strCache>
            </c:strRef>
          </c:tx>
          <c:spPr>
            <a:solidFill>
              <a:srgbClr val="A3B2B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</c:v>
                </c:pt>
                <c:pt idx="5">
                  <c:v>0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Prediksi regresi linier</c:v>
                </c:pt>
              </c:strCache>
            </c:strRef>
          </c:tx>
          <c:spPr>
            <a:solidFill>
              <a:srgbClr val="C1485E"/>
            </a:solidFill>
            <a:ln w="38100" cap="flat">
              <a:solidFill>
                <a:srgbClr val="C1485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C1485E"/>
              </a:solidFill>
              <a:ln w="9525" cap="flat">
                <a:solidFill>
                  <a:srgbClr val="C1485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-0.02</c:v>
                </c:pt>
                <c:pt idx="1">
                  <c:v>0.11</c:v>
                </c:pt>
                <c:pt idx="2">
                  <c:v>0.24</c:v>
                </c:pt>
                <c:pt idx="3">
                  <c:v>0.37</c:v>
                </c:pt>
                <c:pt idx="4">
                  <c:v>0.5</c:v>
                </c:pt>
                <c:pt idx="5">
                  <c:v>0.63</c:v>
                </c:pt>
                <c:pt idx="6">
                  <c:v>0.76</c:v>
                </c:pt>
                <c:pt idx="7">
                  <c:v>0.89</c:v>
                </c:pt>
                <c:pt idx="8">
                  <c:v>1.02</c:v>
                </c:pt>
                <c:pt idx="9">
                  <c:v>1.15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7A86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B7A86"/>
                    </a:solidFill>
                    <a:latin typeface="Arial"/>
                  </a:rPr>
                  <a:t>Keterlambatan perjalanan sebelumnya (menit)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8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DE3E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7A86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B7A86"/>
                    </a:solidFill>
                    <a:latin typeface="Arial"/>
                  </a:rPr>
                  <a:t>Keluaran model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6B7A86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σ(z)</c:v>
                </c:pt>
              </c:strCache>
            </c:strRef>
          </c:tx>
          <c:spPr>
            <a:solidFill>
              <a:srgbClr val="8B6BC7"/>
            </a:solidFill>
            <a:ln w="50800" cap="flat">
              <a:solidFill>
                <a:srgbClr val="8B6BC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8B6BC7"/>
              </a:solidFill>
              <a:ln w="9525" cap="flat">
                <a:solidFill>
                  <a:srgbClr val="8B6BC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-6</c:v>
                  </c:pt>
                  <c:pt idx="1">
                    <c:v>-5</c:v>
                  </c:pt>
                  <c:pt idx="2">
                    <c:v>-4</c:v>
                  </c:pt>
                  <c:pt idx="3">
                    <c:v>-3</c:v>
                  </c:pt>
                  <c:pt idx="4">
                    <c:v>-2</c:v>
                  </c:pt>
                  <c:pt idx="5">
                    <c:v>-1</c:v>
                  </c:pt>
                  <c:pt idx="6">
                    <c:v>0</c:v>
                  </c:pt>
                  <c:pt idx="7">
                    <c:v>1</c:v>
                  </c:pt>
                  <c:pt idx="8">
                    <c:v>2</c:v>
                  </c:pt>
                  <c:pt idx="9">
                    <c:v>3</c:v>
                  </c:pt>
                  <c:pt idx="10">
                    <c:v>4</c:v>
                  </c:pt>
                  <c:pt idx="11">
                    <c:v>5</c:v>
                  </c:pt>
                  <c:pt idx="12">
                    <c:v>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0.002</c:v>
                </c:pt>
                <c:pt idx="1">
                  <c:v>0.007</c:v>
                </c:pt>
                <c:pt idx="2">
                  <c:v>0.018</c:v>
                </c:pt>
                <c:pt idx="3">
                  <c:v>0.047</c:v>
                </c:pt>
                <c:pt idx="4">
                  <c:v>0.119</c:v>
                </c:pt>
                <c:pt idx="5">
                  <c:v>0.269</c:v>
                </c:pt>
                <c:pt idx="6">
                  <c:v>0.5</c:v>
                </c:pt>
                <c:pt idx="7">
                  <c:v>0.731</c:v>
                </c:pt>
                <c:pt idx="8">
                  <c:v>0.881</c:v>
                </c:pt>
                <c:pt idx="9">
                  <c:v>0.953</c:v>
                </c:pt>
                <c:pt idx="10">
                  <c:v>0.982</c:v>
                </c:pt>
                <c:pt idx="11">
                  <c:v>0.993</c:v>
                </c:pt>
                <c:pt idx="12">
                  <c:v>0.998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7A86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B7A86"/>
                    </a:solidFill>
                    <a:latin typeface="Arial"/>
                  </a:rPr>
                  <a:t>z  (keluaran model linier)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8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DDE3E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7A86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B7A86"/>
                    </a:solidFill>
                    <a:latin typeface="Arial"/>
                  </a:rPr>
                  <a:t>Probabilitas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Pertemuan 6 dari 16. Empat bagian, dua latihan terbimbing, satu diskusi kasus. Warna dipakai konsisten: teal = kelas negatif (0), rose = kelas positif (1).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Tegaskan bahwa fondasinya sama: masih model linier, masih Gradient Descent. Yang berubah hanya keluaran dan fungsi loss.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Batas cakupan ini penting agar tidak menyerobot materi pertemuan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Biarkan mahasiswa mengusulkan pembulatan. Slide berikutnya menunjukkan kenapa gagal. Jangan langsung dibantah.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Kalimat penutup adalah spesifikasi kebutuhan. Slide berikutnya menyajikan jawabannya.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Tunjukkan di grafik: pada z = -6 dan z = 6 kurva sudah nyaris rata. Ini yang disebut saturasi.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kesalahpahaman paling umum. Batas keputusan tetap garis lurus di ruang fitur; yang melengkung hanya pemetaan skor ke probabilitas.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Kesalahan interpretasi ini sangat sering. Ulangi: koefisien mengalikan odds, bukan menambah probabilitas.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Kunci: P-01 z = -2 + 0,8 = -1,2 sehingga p sekitar 0,23 dan diputuskan tidak terlambat. P-02 z = -2 + 2,0 + 1,2 = 1,2 sehingga p = 0,77 dan diputuskan terlambat. P-03 z = -2 + 3,2 = 1,2 sehingga p = 0,77 dan diputuskan terlambat. P-04 z = -2 + 0 + 1,2 = -0,8 sehingga p sekitar 0,31 dan diputuskan tidak terlambat. Bahas P-02 dan P-03 yang berbeda penyebab tetapi menghasilkan skor sama.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menutup lingkaran dari pertemuan 5. Tunjukkan bahwa kerangka MLE benar-benar berguna, bukan sekadar teori tambahan.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Perhatikan lonjakan dari 0,69 ke 2,30 ke 4,61. Hukuman tumbuh sangat cepat saat model yakin tetapi keliru. Inilah yang tidak dilakukan MSE.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Kalimat penutup adalah inti bagian ini. Model yang sama, kurva yang sama, hanya garis pemisah keputusan yang bergeser.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Bandingkan dengan konteks lain: deteksi penyakit, deteksi penipuan, dan seleksi lamaran kerja. Kaitkan ke etika pertemuan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Kunci: ambang 0,30 menghasilkan 2 peringatan palsu dan 0 terlewat, total 2. Ambang 0,50 menghasilkan 1 peringatan palsu dan 1 terlewat, total 2. Ambang 0,70 menghasilkan 0 peringatan palsu dan 2 terlewat, total 2. Total kesalahan sama, komposisinya berbeda - inilah intinya. Dinas Perhubungan cenderung memilih 0,30; operator cenderung memilih 0,70.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Catatan tentang parameter C penting bagi mahasiswa yang nanti membaca dokumentasi scikit-learn untuk Studi Kasus Akhir.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Kunci: A keliru, selisih 0,02 tidak bermakna; keduanya sama-sama menunjukkan model ragu. B keliru, 1,2 adalah log-odds sehingga odds menjadi e pangkat 1,2 atau sekitar 3,3 kali lipat, bukan naik 120 persen. C keliru, model yang selalu menjawab tidak terlambat sudah mencapai 97 persen; akurasi menyesatkan pada data tidak seimbang - dibahas tuntas pertemuan 7. D keliru, peringatan palsu nol dicapai dengan mengorbankan hampir semua deteksi; periksa berapa keterlambatan yang jadi terlewat.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 kedua sering ditanyakan di ujian. Pastikan mahasiswa bisa menjelaskan bedanya batas keputusan dan kurva keluaran.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Minta mahasiswa menyebut satu perbedaan paling penting antara pertemuan 4 dan pertemuan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Meminta mahasiswa menyimpan tabel latihan menciptakan kesinambungan nyata antarpertemuan.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Sambungkan langsung ke kasus C pada diskusi tadi: akurasi 97 persen yang menyesatkan.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828800"/>
            <a:ext cx="5852160" cy="5852160"/>
          </a:xfrm>
          <a:prstGeom prst="ellipse">
            <a:avLst/>
          </a:prstGeom>
          <a:solidFill>
            <a:srgbClr val="2E9C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3291840"/>
            <a:ext cx="4023360" cy="4023360"/>
          </a:xfrm>
          <a:prstGeom prst="ellipse">
            <a:avLst/>
          </a:prstGeom>
          <a:solidFill>
            <a:srgbClr val="C148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64240" y="5120640"/>
            <a:ext cx="1828800" cy="1828800"/>
          </a:xfrm>
          <a:prstGeom prst="ellipse">
            <a:avLst/>
          </a:prstGeom>
          <a:solidFill>
            <a:srgbClr val="8B6B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4173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78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 ·  TI24425  ·  PERTEMUAN 6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96596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Klasifikasi Linier:</a:t>
            </a:r>
            <a:endParaRPr lang="en-US" sz="4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594360" y="3977640"/>
            <a:ext cx="1371600" cy="32004"/>
          </a:xfrm>
          <a:prstGeom prst="rect">
            <a:avLst/>
          </a:prstGeom>
          <a:solidFill>
            <a:srgbClr val="A78B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42519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B9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Sub-CPMK 6  ·  Mampu menganalisis model klasifikasi linier dan fungsi sigmoid, serta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B9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menginterpretasikan keluaran probabilistik dan pengaruh pemilihan ambang batas (threshold).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59893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E90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Studi Teknologi Informasi  ·  Politeknik Negeri Madiun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ORIENTASI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 mana kita sekarang?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352044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01600" dist="508" dir="5400000">
              <a:srgbClr val="AEBAC4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737360"/>
            <a:ext cx="621792" cy="621792"/>
          </a:xfrm>
          <a:prstGeom prst="ellipse">
            <a:avLst/>
          </a:prstGeom>
          <a:solidFill>
            <a:srgbClr val="2E9C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73736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188366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SELESAI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56032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Regularisasi &amp; Bias-Variance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2918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Kita sudah tahu cara menjaga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agar tidak menghafal.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0" y="1417320"/>
            <a:ext cx="3520440" cy="3200400"/>
          </a:xfrm>
          <a:prstGeom prst="roundRect">
            <a:avLst>
              <a:gd name="adj" fmla="val 2571"/>
            </a:avLst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  <a:effectLst>
            <a:outerShdw sx="100000" sy="100000" kx="0" ky="0" algn="bl" rotWithShape="0" blurRad="101600" dist="508" dir="5400000">
              <a:srgbClr val="AEBAC4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737360"/>
            <a:ext cx="621792" cy="621792"/>
          </a:xfrm>
          <a:prstGeom prst="ellipse">
            <a:avLst/>
          </a:prstGeom>
          <a:solidFill>
            <a:srgbClr val="8B6B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09160" y="173736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0" y="188366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78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INI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256032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709160" y="32918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9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memprediksi angka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9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menjadi memprediksi kelas.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83880" y="1417320"/>
            <a:ext cx="352044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01600" dist="508" dir="5400000">
              <a:srgbClr val="AEBAC4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503920" y="1737360"/>
            <a:ext cx="621792" cy="621792"/>
          </a:xfrm>
          <a:prstGeom prst="ellipse">
            <a:avLst/>
          </a:prstGeom>
          <a:solidFill>
            <a:srgbClr val="2E9C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503920" y="173736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9281160" y="188366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BERIKUTNYA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503920" y="256032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Multi-Kelas &amp; Metrik Evaluasi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503920" y="32918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Lebih dari dua kelas, dan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menilai model klasifikasi.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" y="4937760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8B6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Perubahan hari ini terlihat kecil — keluaran model berubah dari angka bebas menjadi angka antara 0 dan 1. Akibatnya jauh lebih besar dari kelihatannya.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CAPAIAN PEMBELAJARAN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Setelah pertemuan ini Anda mampu…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600200"/>
            <a:ext cx="566928" cy="566928"/>
          </a:xfrm>
          <a:prstGeom prst="ellipse">
            <a:avLst/>
          </a:prstGeom>
          <a:solidFill>
            <a:srgbClr val="2E9C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00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618488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F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Menjelaskan peran fungsi sigmoid dan mengapa regresi linier biasa tidak memadai untuk klasifikasi.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2788920"/>
            <a:ext cx="566928" cy="566928"/>
          </a:xfrm>
          <a:prstGeom prst="ellipse">
            <a:avLst/>
          </a:prstGeom>
          <a:solidFill>
            <a:srgbClr val="2E9C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2788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807208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F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Menghitung dan menginterpretasikan probabilitas keluaran model, termasuk makna odds dan log-odds.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4360" y="3977640"/>
            <a:ext cx="566928" cy="566928"/>
          </a:xfrm>
          <a:prstGeom prst="ellipse">
            <a:avLst/>
          </a:prstGeom>
          <a:solidFill>
            <a:srgbClr val="8B6B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3977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3995928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F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Menjelaskan konsekuensi penggeseran ambang batas terhadap kesalahan tipe I dan tipe II dalam konteks nyata.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5257800"/>
            <a:ext cx="11002975" cy="868680"/>
          </a:xfrm>
          <a:prstGeom prst="roundRect">
            <a:avLst>
              <a:gd name="adj" fmla="val 9474"/>
            </a:avLst>
          </a:prstGeom>
          <a:solidFill>
            <a:srgbClr val="EAE4F3"/>
          </a:solidFill>
          <a:ln w="12700">
            <a:solidFill>
              <a:srgbClr val="D3C8E6"/>
            </a:solidFill>
            <a:prstDash val="solid"/>
          </a:ln>
          <a:effectLst>
            <a:outerShdw sx="100000" sy="100000" kx="0" ky="0" algn="bl" rotWithShape="0" blurRad="101600" dist="508" dir="5400000">
              <a:srgbClr val="AEBAC4">
                <a:alpha val="3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1005840" y="5468112"/>
            <a:ext cx="101800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E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Catatan: metrik evaluasi seperti confusion matrix, precision, dan recall baru dibahas tuntas pada pertemuan 7. Hari ini kita cukup mengenali dua jenis kesalahan dan konsekuensinya.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2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754880" cy="4754880"/>
          </a:xfrm>
          <a:prstGeom prst="ellipse">
            <a:avLst/>
          </a:prstGeom>
          <a:solidFill>
            <a:srgbClr val="2E9C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C148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78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6974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Dari Angka ke Kelas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41148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B9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regresi linier tidak cukup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90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KASUS PEMBUKA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Akankah bus ini terlambat?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5486400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01600" dist="508" dir="5400000">
              <a:srgbClr val="AEBAC4">
                <a:alpha val="3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60120" y="160020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F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Dinas Perhubungan tidak lagi ingin memperkirakan berapa menit waktu tempuh, melainkan menjawab satu pertanyaan ya-atau-tidak: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5146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“Apakah bus ini akan terlambat lebih dari 10 menit?”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246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Keluaran yang diinginkan hanya dua kemungkinan.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37960" y="1325880"/>
            <a:ext cx="5029200" cy="1298448"/>
          </a:xfrm>
          <a:prstGeom prst="roundRect">
            <a:avLst>
              <a:gd name="adj" fmla="val 6338"/>
            </a:avLst>
          </a:prstGeom>
          <a:solidFill>
            <a:srgbClr val="2E9C8E"/>
          </a:solidFill>
          <a:ln w="12700">
            <a:solidFill>
              <a:srgbClr val="2E9C8E"/>
            </a:solidFill>
            <a:prstDash val="solid"/>
          </a:ln>
          <a:effectLst>
            <a:outerShdw sx="100000" sy="100000" kx="0" ky="0" algn="bl" rotWithShape="0" blurRad="101600" dist="508" dir="5400000">
              <a:srgbClr val="AEBAC4">
                <a:alpha val="3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858000" y="1600200"/>
            <a:ext cx="777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7772400" y="17099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TIDAK TERLAMBAT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0" y="2103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0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kelas negatif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37960" y="2807208"/>
            <a:ext cx="5029200" cy="1298448"/>
          </a:xfrm>
          <a:prstGeom prst="roundRect">
            <a:avLst>
              <a:gd name="adj" fmla="val 6338"/>
            </a:avLst>
          </a:prstGeom>
          <a:solidFill>
            <a:srgbClr val="C1485E"/>
          </a:solidFill>
          <a:ln w="12700">
            <a:solidFill>
              <a:srgbClr val="C1485E"/>
            </a:solidFill>
            <a:prstDash val="solid"/>
          </a:ln>
          <a:effectLst>
            <a:outerShdw sx="100000" sy="100000" kx="0" ky="0" algn="bl" rotWithShape="0" blurRad="101600" dist="508" dir="5400000">
              <a:srgbClr val="AEBAC4">
                <a:alpha val="3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858000" y="3081528"/>
            <a:ext cx="777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0" y="319125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TERLAMBAT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0" y="35844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0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kelas positif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" y="4343400"/>
            <a:ext cx="11002975" cy="1234440"/>
          </a:xfrm>
          <a:prstGeom prst="roundRect">
            <a:avLst>
              <a:gd name="adj" fmla="val 6667"/>
            </a:avLst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  <a:effectLst>
            <a:outerShdw sx="100000" sy="100000" kx="0" ky="0" algn="bl" rotWithShape="0" blurRad="101600" dist="508" dir="5400000">
              <a:srgbClr val="AEBAC4">
                <a:alpha val="3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1005840" y="4526280"/>
            <a:ext cx="10180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78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 pembuka untuk didiskusikan (5 menit)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4846320"/>
            <a:ext cx="101800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Bisakah kita memakai regresi linier apa adanya, lalu membulatkan hasilnya — di atas 0,5 dianggap terlambat, di bawahnya dianggap tepat waktu? Apa yang mungkin salah dari cara itu?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MASALAHNYA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yang terjadi kalau dipaksakan?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94360" y="1280160"/>
          <a:ext cx="67665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635240" y="1280160"/>
            <a:ext cx="393192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01600" dist="508" dir="5400000">
              <a:srgbClr val="AEBAC4">
                <a:alpha val="3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909560" y="142646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148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Keluar dari rentang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909560" y="175564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Prediksi turun di bawah 0 dan naik di atas 1. Apa arti peluang −0,02 atau 1,15?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635240" y="2606040"/>
            <a:ext cx="393192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01600" dist="508" dir="5400000">
              <a:srgbClr val="AEBAC4">
                <a:alpha val="3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909560" y="275234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148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Tidak bisa ditafsirkan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909560" y="308152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Angka 0,63 bukan peluang — ia hanya titik pada garis lurus.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635240" y="3931920"/>
            <a:ext cx="393192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01600" dist="508" dir="5400000">
              <a:srgbClr val="AEBAC4">
                <a:alpha val="3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909560" y="407822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148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Sangat peka pada pencilan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7909560" y="440740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perjalanan ekstrem menarik seluruh garis dan menggeser keputusan untuk semua data.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594360" y="5349240"/>
            <a:ext cx="11002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kita butuhkan: fungsi yang selalu menghasilkan nilai antara 0 dan 1, berapa pun masukannya.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2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754880" cy="4754880"/>
          </a:xfrm>
          <a:prstGeom prst="ellipse">
            <a:avLst/>
          </a:prstGeom>
          <a:solidFill>
            <a:srgbClr val="2E9C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C148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78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2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6974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Fungsi Sigmoid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41148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B9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Meremas garis lurus ke dalam rentang nol sampai satu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90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SOLUSI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Kurva berbentuk 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94360" y="1280160"/>
          <a:ext cx="67665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635240" y="1280160"/>
            <a:ext cx="3931920" cy="914400"/>
          </a:xfrm>
          <a:prstGeom prst="roundRect">
            <a:avLst>
              <a:gd name="adj" fmla="val 7000"/>
            </a:avLst>
          </a:prstGeom>
          <a:solidFill>
            <a:srgbClr val="1C2B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635240" y="12801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σ(z) = 1 / (1 + e⁻ᶻ)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635240" y="23957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Selalu antara 0 dan 1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635240" y="26517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Berapa pun nilai z, hasilnya tidak pernah keluar dari rentang itu.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635240" y="31089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Simetris di z = 0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7635240" y="336499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z = 0, hasilnya tepat 0,5 — model sepenuhnya ragu.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635240" y="38221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Melandai di kedua ujung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7635240" y="407822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Perubahan z pada nilai ekstrem hampir tidak menggeser probabilitas.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635240" y="45354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Mulus dan bisa diturunkan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7635240" y="479145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Syarat agar Gradient Descent tetap dapat dipakai.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2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78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 MODEL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 langkah, bukan satu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90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3520440" cy="3200400"/>
          </a:xfrm>
          <a:prstGeom prst="roundRect">
            <a:avLst>
              <a:gd name="adj" fmla="val 2571"/>
            </a:avLst>
          </a:prstGeom>
          <a:solidFill>
            <a:srgbClr val="2C3E4A"/>
          </a:solidFill>
          <a:ln w="12700">
            <a:solidFill>
              <a:srgbClr val="3D5262"/>
            </a:solidFill>
            <a:prstDash val="solid"/>
          </a:ln>
          <a:effectLst>
            <a:outerShdw sx="100000" sy="100000" kx="0" ky="0" algn="bl" rotWithShape="0" blurRad="101600" dist="508" dir="5400000">
              <a:srgbClr val="AEBAC4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0" y="1645920"/>
            <a:ext cx="685800" cy="685800"/>
          </a:xfrm>
          <a:prstGeom prst="ellipse">
            <a:avLst/>
          </a:prstGeom>
          <a:solidFill>
            <a:srgbClr val="2E9C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011680" y="1645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4688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Skor linier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8803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E9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w·x + b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52044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9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 seperti regresi linier</a:t>
            </a:r>
            <a:endParaRPr lang="en-US" sz="12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9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lalu. Nilainya bebas,</a:t>
            </a:r>
            <a:endParaRPr lang="en-US" sz="12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9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bisa negatif atau sangat besar.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133088" y="274320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78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389120" y="1371600"/>
            <a:ext cx="3520440" cy="3200400"/>
          </a:xfrm>
          <a:prstGeom prst="roundRect">
            <a:avLst>
              <a:gd name="adj" fmla="val 2571"/>
            </a:avLst>
          </a:prstGeom>
          <a:solidFill>
            <a:srgbClr val="2C3E4A"/>
          </a:solidFill>
          <a:ln w="12700">
            <a:solidFill>
              <a:srgbClr val="3D5262"/>
            </a:solidFill>
            <a:prstDash val="solid"/>
          </a:ln>
          <a:effectLst>
            <a:outerShdw sx="100000" sy="100000" kx="0" ky="0" algn="bl" rotWithShape="0" blurRad="101600" dist="508" dir="5400000">
              <a:srgbClr val="AEBAC4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806440" y="1645920"/>
            <a:ext cx="685800" cy="685800"/>
          </a:xfrm>
          <a:prstGeom prst="ellipse">
            <a:avLst/>
          </a:prstGeom>
          <a:solidFill>
            <a:srgbClr val="8B6B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806440" y="1645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24688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Peremasan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28803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B6B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σ(z)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352044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9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mengubah skor bebas itu</a:t>
            </a:r>
            <a:endParaRPr lang="en-US" sz="12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9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menjadi probabilitas antara 0 dan 1.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927848" y="274320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78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8183880" y="1371600"/>
            <a:ext cx="3520440" cy="3200400"/>
          </a:xfrm>
          <a:prstGeom prst="roundRect">
            <a:avLst>
              <a:gd name="adj" fmla="val 2571"/>
            </a:avLst>
          </a:prstGeom>
          <a:solidFill>
            <a:srgbClr val="2C3E4A"/>
          </a:solidFill>
          <a:ln w="12700">
            <a:solidFill>
              <a:srgbClr val="3D5262"/>
            </a:solidFill>
            <a:prstDash val="solid"/>
          </a:ln>
          <a:effectLst>
            <a:outerShdw sx="100000" sy="100000" kx="0" ky="0" algn="bl" rotWithShape="0" blurRad="101600" dist="508" dir="5400000">
              <a:srgbClr val="AEBAC4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601200" y="1645920"/>
            <a:ext cx="685800" cy="685800"/>
          </a:xfrm>
          <a:prstGeom prst="ellipse">
            <a:avLst/>
          </a:prstGeom>
          <a:solidFill>
            <a:srgbClr val="C148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0" y="1645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8458200" y="24688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Keputusan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8458200" y="28803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148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≥ ambang → 1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8458200" y="352044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9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Baru pada tahap ini probabilitas</a:t>
            </a:r>
            <a:endParaRPr lang="en-US" sz="12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9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diubah menjadi keputusan kelas.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94360" y="489204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78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tetap linier. Yang dilengkungkan bukan modelnya, melainkan keluarannya.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" y="530352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B9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Itulah sebabnya logistic regression digolongkan sebagai model linier, meskipun kurvanya berbentuk S.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INTERPRETASI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Odds dan log-odds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280160"/>
            <a:ext cx="11002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F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Koefisien logistic regression tidak bisa dibaca seperti regresi linier. Ia tidak menambah probabilitas secara langsung — ia menambah log-odds.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2057400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01600" dist="508" dir="5400000">
              <a:srgbClr val="AEBAC4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2057400"/>
            <a:ext cx="3520440" cy="566928"/>
          </a:xfrm>
          <a:prstGeom prst="roundRect">
            <a:avLst>
              <a:gd name="adj" fmla="val 14516"/>
            </a:avLst>
          </a:prstGeom>
          <a:solidFill>
            <a:srgbClr val="2E9C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05740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Probabilitas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78892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C2B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2461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Peluang kejadian terjadi.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Rentang 0 sampai 1.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9319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0,80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89120" y="2057400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01600" dist="508" dir="5400000">
              <a:srgbClr val="AEBAC4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89120" y="2057400"/>
            <a:ext cx="3520440" cy="566928"/>
          </a:xfrm>
          <a:prstGeom prst="roundRect">
            <a:avLst>
              <a:gd name="adj" fmla="val 14516"/>
            </a:avLst>
          </a:prstGeom>
          <a:solidFill>
            <a:srgbClr val="8B6B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89120" y="205740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Odds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278892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C2B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/ (1 − p)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617720" y="32461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Perbandingan terjadi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lawan tidak terjadi.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617720" y="39319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6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0,80 / 0,20 = 4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83880" y="2057400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01600" dist="508" dir="5400000">
              <a:srgbClr val="AEBAC4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83880" y="2057400"/>
            <a:ext cx="3520440" cy="566928"/>
          </a:xfrm>
          <a:prstGeom prst="roundRect">
            <a:avLst>
              <a:gd name="adj" fmla="val 14516"/>
            </a:avLst>
          </a:prstGeom>
          <a:solidFill>
            <a:srgbClr val="C148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83880" y="205740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Log-odds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366760" y="278892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C2B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ln( p / (1 − p) )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412480" y="32461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Inilah nilai z yang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dihasilkan bagian linier.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412480" y="39319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14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ln(4) ≈ 1,39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4360" y="4617720"/>
            <a:ext cx="11002975" cy="1143000"/>
          </a:xfrm>
          <a:prstGeom prst="roundRect">
            <a:avLst>
              <a:gd name="adj" fmla="val 7200"/>
            </a:avLst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  <a:effectLst>
            <a:outerShdw sx="100000" sy="100000" kx="0" ky="0" algn="bl" rotWithShape="0" blurRad="101600" dist="508" dir="5400000">
              <a:srgbClr val="AEBAC4">
                <a:alpha val="3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1005840" y="4800600"/>
            <a:ext cx="10180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78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membaca koefisien yang benar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05840" y="5120640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 w = 0,5 untuk fitur "jam sibuk", maka pada jam sibuk log-odds keterlambatan naik 0,5 — artinya odds-nya menjadi e⁰˙⁵ ≈ 1,65 kali lipat. Bukan naik 0,5 satuan probabilitas.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LATIHAN TERBIMBING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Dari skor menjadi probabilitas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11002975" cy="621792"/>
          </a:xfrm>
          <a:prstGeom prst="roundRect">
            <a:avLst>
              <a:gd name="adj" fmla="val 13235"/>
            </a:avLst>
          </a:prstGeom>
          <a:solidFill>
            <a:srgbClr val="E6F2F0"/>
          </a:solidFill>
          <a:ln w="12700">
            <a:solidFill>
              <a:srgbClr val="C7E2DD"/>
            </a:solidFill>
            <a:prstDash val="solid"/>
          </a:ln>
          <a:effectLst>
            <a:outerShdw sx="100000" sy="100000" kx="0" ky="0" algn="bl" rotWithShape="0" blurRad="101600" dist="508" dir="5400000">
              <a:srgbClr val="AEBAC4">
                <a:alpha val="3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60120" y="1371600"/>
            <a:ext cx="10271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Kerjakan berpasangan · 12 menit · Gunakan tabel sigmoid di bawah, tidak perlu kalkulator ilmiah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" y="1965960"/>
            <a:ext cx="11002975" cy="640080"/>
          </a:xfrm>
          <a:prstGeom prst="roundRect">
            <a:avLst>
              <a:gd name="adj" fmla="val 10000"/>
            </a:avLst>
          </a:prstGeom>
          <a:solidFill>
            <a:srgbClr val="1C2B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965960"/>
            <a:ext cx="11002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78B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−2,0 + 0,4 × (keterlambatan sebelumnya, menit) + 1,2 × (jam sibuk: 1 ya, 0 tidak)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743200"/>
          <a:ext cx="1100297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651760"/>
                <a:gridCol w="1463040"/>
                <a:gridCol w="1645920"/>
                <a:gridCol w="1920240"/>
                <a:gridCol w="1856232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Perjalanan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Keterlambatan sebelumnya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Jam sibuk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 = 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= σ(z) = 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Keputusan (ambang 0,5)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menit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tidak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menit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menit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tidak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menit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594360" y="4892040"/>
            <a:ext cx="11002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6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bantu σ(z):   z = −1,2 → 0,23   ·   z = −0,8 → 0,31   ·   z = 0 → 0,50   ·   z = 0,8 → 0,69   ·   z = 1,2 → 0,77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94360" y="5303520"/>
            <a:ext cx="11002975" cy="685800"/>
          </a:xfrm>
          <a:prstGeom prst="roundRect">
            <a:avLst>
              <a:gd name="adj" fmla="val 12000"/>
            </a:avLst>
          </a:prstGeom>
          <a:solidFill>
            <a:srgbClr val="EAE4F3"/>
          </a:solidFill>
          <a:ln w="12700">
            <a:solidFill>
              <a:srgbClr val="D3C8E6"/>
            </a:solidFill>
            <a:prstDash val="solid"/>
          </a:ln>
          <a:effectLst>
            <a:outerShdw sx="100000" sy="100000" kx="0" ky="0" algn="bl" rotWithShape="0" blurRad="101600" dist="508" dir="5400000">
              <a:srgbClr val="AEBAC4">
                <a:alpha val="3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960120" y="5458968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4E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 lanjutan: perjalanan P-04 punya keterlambatan sebelumnya nol menit, tetapi berlangsung pada jam sibuk. Apakah model memprediksinya terlambat? Apa artinya secara praktis?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2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754880" cy="4754880"/>
          </a:xfrm>
          <a:prstGeom prst="ellipse">
            <a:avLst/>
          </a:prstGeom>
          <a:solidFill>
            <a:srgbClr val="2E9C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C148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78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6974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Fungsi Loss: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Cross-Entropy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41148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B9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MSE tidak lagi memadai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90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Kenapa tidak pakai MSE saja?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530352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01600" dist="508" dir="5400000">
              <a:srgbClr val="AEBAC4">
                <a:alpha val="3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60120" y="1554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14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 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184708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Permukaan loss tidak lagi cembung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542032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Menggabungkan MSE dengan sigmoid menghasilkan permukaan loss berbenjol-benjol. Gradient Descent bisa terjebak di lembah kecil yang bukan minimum sebenarnya.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325880"/>
            <a:ext cx="530352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01600" dist="508" dir="5400000">
              <a:srgbClr val="AEBAC4">
                <a:alpha val="3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629400" y="1554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14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 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184708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Hukuman terlalu ringan saat sangat salah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2542032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 model sangat yakin tetapi keliru, MSE hanya memberi hukuman kecil karena selisihnya dibatasi rentang 0 sampai 1.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94360" y="3703320"/>
            <a:ext cx="11002975" cy="1965960"/>
          </a:xfrm>
          <a:prstGeom prst="roundRect">
            <a:avLst>
              <a:gd name="adj" fmla="val 4186"/>
            </a:avLst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  <a:effectLst>
            <a:outerShdw sx="100000" sy="100000" kx="0" ky="0" algn="bl" rotWithShape="0" blurRad="101600" dist="508" dir="5400000">
              <a:srgbClr val="AEBAC4">
                <a:alpha val="3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1005840" y="393192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A78B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Jawaban dari pertemuan lalu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4343400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Ingat kesimpulan MLE: fungsi loss lahir dari asumsi tentang sebaran data. Untuk keluaran yang hanya bernilai 0 atau 1, asumsi yang tepat bukan distribusi normal, melainkan distribusi Bernoulli.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5029200"/>
            <a:ext cx="101800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A78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Memaksimalkan likelihood Bernoulli setara dengan meminimalkan cross-entropy — sama persis seperti asumsi normal melahirkan MSE.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FUNGSI LOSS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Cross-entropy: menghukum keyakinan yang keliru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463040" y="1280160"/>
            <a:ext cx="9235440" cy="914400"/>
          </a:xfrm>
          <a:prstGeom prst="roundRect">
            <a:avLst>
              <a:gd name="adj" fmla="val 7000"/>
            </a:avLst>
          </a:prstGeom>
          <a:solidFill>
            <a:srgbClr val="1C2B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463040" y="1280160"/>
            <a:ext cx="9235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78B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= −[ y · ln(p) + (1 − y) · ln(1 − p) ]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33172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6B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Rumusnya tampak rumit, tetapi bekerja sederhana: hanya satu dari dua suku yang aktif, tergantung kelas sebenarnya.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94360" y="2834640"/>
            <a:ext cx="5303520" cy="1234440"/>
          </a:xfrm>
          <a:prstGeom prst="roundRect">
            <a:avLst>
              <a:gd name="adj" fmla="val 6667"/>
            </a:avLst>
          </a:prstGeom>
          <a:solidFill>
            <a:srgbClr val="2E9C8E"/>
          </a:solidFill>
          <a:ln w="12700">
            <a:solidFill>
              <a:srgbClr val="2E9C8E"/>
            </a:solidFill>
            <a:prstDash val="solid"/>
          </a:ln>
          <a:effectLst>
            <a:outerShdw sx="100000" sy="100000" kx="0" ky="0" algn="bl" rotWithShape="0" blurRad="101600" dist="508" dir="5400000">
              <a:srgbClr val="AEBAC4">
                <a:alpha val="3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960120" y="30175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Bila kelas sebenarnya y = 1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336499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F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Suku kedua hilang. Loss menjadi −ln(p).</a:t>
            </a:r>
            <a:endParaRPr lang="en-US" sz="13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F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Semakin p mendekati 1, loss mendekati nol.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63640" y="2834640"/>
            <a:ext cx="5303520" cy="1234440"/>
          </a:xfrm>
          <a:prstGeom prst="roundRect">
            <a:avLst>
              <a:gd name="adj" fmla="val 6667"/>
            </a:avLst>
          </a:prstGeom>
          <a:solidFill>
            <a:srgbClr val="C1485E"/>
          </a:solidFill>
          <a:ln w="12700">
            <a:solidFill>
              <a:srgbClr val="C1485E"/>
            </a:solidFill>
            <a:prstDash val="solid"/>
          </a:ln>
          <a:effectLst>
            <a:outerShdw sx="100000" sy="100000" kx="0" ky="0" algn="bl" rotWithShape="0" blurRad="101600" dist="508" dir="5400000">
              <a:srgbClr val="AEBAC4">
                <a:alpha val="3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629400" y="30175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Bila kelas sebenarnya y = 0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336499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F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Suku pertama hilang. Loss menjadi −ln(1−p).</a:t>
            </a:r>
            <a:endParaRPr lang="en-US" sz="13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F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Semakin p mendekati 0, loss mendekati nol.</a:t>
            </a:r>
            <a:endParaRPr lang="en-US" sz="13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4297680"/>
          <a:ext cx="1100297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468880"/>
                <a:gridCol w="1737360"/>
                <a:gridCol w="4599432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Kelas sebenarnya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Probabilitas prediksi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Nilai loss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Tafsiran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Yakin dan benar — hukuman hampir nol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Ragu — hukuman sedang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Yakin tetapi keliru — hukuman berat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4,61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Sangat yakin dan sangat keliru — hukuman sangat berat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C2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754880" cy="4754880"/>
          </a:xfrm>
          <a:prstGeom prst="ellipse">
            <a:avLst/>
          </a:prstGeom>
          <a:solidFill>
            <a:srgbClr val="2E9C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C148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78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6974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Ambang Batas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 Regularisasi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41148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B9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Keputusan terakhir ada di tangan Anda, bukan model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90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AMBANG BATAS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Angka 0,5 bukan hukum alam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280160"/>
            <a:ext cx="11002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F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menghasilkan probabilitas. Mengubahnya menjadi keputusan memerlukan satu pilihan tambahan yang tidak dipelajari dari data — ambang batas.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2011680"/>
            <a:ext cx="352044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01600" dist="508" dir="5400000">
              <a:srgbClr val="AEBAC4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2011680"/>
            <a:ext cx="3520440" cy="868680"/>
          </a:xfrm>
          <a:prstGeom prst="roundRect">
            <a:avLst>
              <a:gd name="adj" fmla="val 9474"/>
            </a:avLst>
          </a:prstGeom>
          <a:solidFill>
            <a:srgbClr val="2E9C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01168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Ambang diturunkan</a:t>
            </a:r>
            <a:endParaRPr lang="en-US" sz="16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(misalnya 0,3)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06324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lebih mudah menyatakan "terlambat".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84048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Lebih sedikit keterlambatan yang terlewat, tetapi lebih banyak peringatan palsu.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0" y="2011680"/>
            <a:ext cx="352044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01600" dist="508" dir="5400000">
              <a:srgbClr val="AEBAC4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89120" y="2011680"/>
            <a:ext cx="3520440" cy="868680"/>
          </a:xfrm>
          <a:prstGeom prst="roundRect">
            <a:avLst>
              <a:gd name="adj" fmla="val 9474"/>
            </a:avLst>
          </a:prstGeom>
          <a:solidFill>
            <a:srgbClr val="8B6B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201168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Ambang tetap 0,5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306324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Perlakuan setara bagi kedua jenis kesalahan.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384048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Pilihan bawaan, bukan pilihan terbaik untuk semua kasus.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83880" y="2011680"/>
            <a:ext cx="352044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01600" dist="508" dir="5400000">
              <a:srgbClr val="AEBAC4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83880" y="2011680"/>
            <a:ext cx="3520440" cy="868680"/>
          </a:xfrm>
          <a:prstGeom prst="roundRect">
            <a:avLst>
              <a:gd name="adj" fmla="val 9474"/>
            </a:avLst>
          </a:prstGeom>
          <a:solidFill>
            <a:srgbClr val="C148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66760" y="201168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Ambang dinaikkan</a:t>
            </a:r>
            <a:endParaRPr lang="en-US" sz="16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(misalnya 0,7)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503920" y="306324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hanya menyatakan "terlambat" bila sangat yakin.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503920" y="384048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Lebih sedikit peringatan palsu, tetapi lebih banyak keterlambatan yang terlewat.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5257800"/>
            <a:ext cx="11002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B6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Menggeser ambang tidak membuat model lebih baik. Ia hanya memindahkan kesalahan dari satu jenis ke jenis lainnya.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C2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78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KONTEKS MENENTUKAN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 jenis kesalahan, dua harga berbeda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90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5303520" cy="2651760"/>
          </a:xfrm>
          <a:prstGeom prst="roundRect">
            <a:avLst>
              <a:gd name="adj" fmla="val 3103"/>
            </a:avLst>
          </a:prstGeom>
          <a:solidFill>
            <a:srgbClr val="2C3E4A"/>
          </a:solidFill>
          <a:ln w="12700">
            <a:solidFill>
              <a:srgbClr val="3D5262"/>
            </a:solidFill>
            <a:prstDash val="solid"/>
          </a:ln>
          <a:effectLst>
            <a:outerShdw sx="100000" sy="100000" kx="0" ky="0" algn="bl" rotWithShape="0" blurRad="101600" dist="508" dir="5400000">
              <a:srgbClr val="AEBAC4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1627632"/>
            <a:ext cx="502920" cy="45720"/>
          </a:xfrm>
          <a:prstGeom prst="rect">
            <a:avLst/>
          </a:prstGeom>
          <a:solidFill>
            <a:srgbClr val="C148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14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Kesalahan tipe I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0848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Peringatan palsu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578608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6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menyatakan bus akan terlambat, ternyata tepat waktu.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32461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C14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Akibat: penumpang cemas tanpa perlu, petugas disiagakan sia-sia.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325880"/>
            <a:ext cx="5303520" cy="2651760"/>
          </a:xfrm>
          <a:prstGeom prst="roundRect">
            <a:avLst>
              <a:gd name="adj" fmla="val 3103"/>
            </a:avLst>
          </a:prstGeom>
          <a:solidFill>
            <a:srgbClr val="2C3E4A"/>
          </a:solidFill>
          <a:ln w="12700">
            <a:solidFill>
              <a:srgbClr val="3D5262"/>
            </a:solidFill>
            <a:prstDash val="solid"/>
          </a:ln>
          <a:effectLst>
            <a:outerShdw sx="100000" sy="100000" kx="0" ky="0" algn="bl" rotWithShape="0" blurRad="101600" dist="508" dir="5400000">
              <a:srgbClr val="AEBAC4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629400" y="1627632"/>
            <a:ext cx="502920" cy="45720"/>
          </a:xfrm>
          <a:prstGeom prst="rect">
            <a:avLst/>
          </a:prstGeom>
          <a:solidFill>
            <a:srgbClr val="2E9C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2940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Kesalahan tipe II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20848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Keterlambatan terlewat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2578608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6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menyatakan bus tepat waktu, ternyata terlambat 25 menit.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629400" y="32461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2E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Akibat: penumpang tidak diberi tahu, kepercayaan pada layanan runtuh.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" y="4251960"/>
            <a:ext cx="11002975" cy="1463040"/>
          </a:xfrm>
          <a:prstGeom prst="roundRect">
            <a:avLst>
              <a:gd name="adj" fmla="val 5625"/>
            </a:avLst>
          </a:prstGeom>
          <a:solidFill>
            <a:srgbClr val="8B6BC7"/>
          </a:solidFill>
          <a:ln w="12700">
            <a:solidFill>
              <a:srgbClr val="8B6BC7"/>
            </a:solidFill>
            <a:prstDash val="solid"/>
          </a:ln>
          <a:effectLst>
            <a:outerShdw sx="100000" sy="100000" kx="0" ky="0" algn="bl" rotWithShape="0" blurRad="101600" dist="508" dir="5400000">
              <a:srgbClr val="AEBAC4">
                <a:alpha val="3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1005840" y="443484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Pertanyaan yang wajib diajukan sebelum memilih ambang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4828032"/>
            <a:ext cx="101800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2E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 yang lebih merugikan bagi pengguna sistem ini — peringatan palsu atau keterlambatan yang terlewat? Jawabannya tidak ada di dalam data. Ia datang dari pemahaman terhadap masalahnya.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LATIHAN TERBIMBING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Memilih ambang batas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11002975" cy="621792"/>
          </a:xfrm>
          <a:prstGeom prst="roundRect">
            <a:avLst>
              <a:gd name="adj" fmla="val 13235"/>
            </a:avLst>
          </a:prstGeom>
          <a:solidFill>
            <a:srgbClr val="E6F2F0"/>
          </a:solidFill>
          <a:ln w="12700">
            <a:solidFill>
              <a:srgbClr val="C7E2DD"/>
            </a:solidFill>
            <a:prstDash val="solid"/>
          </a:ln>
          <a:effectLst>
            <a:outerShdw sx="100000" sy="100000" kx="0" ky="0" algn="bl" rotWithShape="0" blurRad="101600" dist="508" dir="5400000">
              <a:srgbClr val="AEBAC4">
                <a:alpha val="3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60120" y="1371600"/>
            <a:ext cx="10271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Kerjakan sendiri, lalu bandingkan dengan teman sebangku · 15 menit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965960"/>
            <a:ext cx="11002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Sepuluh perjalanan diurutkan menurut probabilitas keterlambatan yang diprediksi model. Kelas sebenarnya sudah diketahui.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377440"/>
          <a:ext cx="11002975" cy="914400"/>
        </p:xfrm>
        <a:graphic>
          <a:graphicData uri="http://schemas.openxmlformats.org/drawingml/2006/table">
            <a:tbl>
              <a:tblPr/>
              <a:tblGrid>
                <a:gridCol w="2404872"/>
                <a:gridCol w="859536"/>
                <a:gridCol w="859536"/>
                <a:gridCol w="859536"/>
                <a:gridCol w="859536"/>
                <a:gridCol w="859536"/>
                <a:gridCol w="859536"/>
                <a:gridCol w="859536"/>
                <a:gridCol w="859536"/>
                <a:gridCol w="859536"/>
                <a:gridCol w="859536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Probabilitas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Kelas sebenarnya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429000"/>
          <a:ext cx="11002975" cy="914400"/>
        </p:xfrm>
        <a:graphic>
          <a:graphicData uri="http://schemas.openxmlformats.org/drawingml/2006/table">
            <a:tbl>
              <a:tblPr/>
              <a:tblGrid>
                <a:gridCol w="2404872"/>
                <a:gridCol w="3063240"/>
                <a:gridCol w="3520440"/>
                <a:gridCol w="20116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Ambang batas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Peringatan palsu (tipe 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Keterlambatan terlewat (tipe II)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kesalahan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94360" y="5303520"/>
            <a:ext cx="11002975" cy="868680"/>
          </a:xfrm>
          <a:prstGeom prst="roundRect">
            <a:avLst>
              <a:gd name="adj" fmla="val 9474"/>
            </a:avLst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  <a:effectLst>
            <a:outerShdw sx="100000" sy="100000" kx="0" ky="0" algn="bl" rotWithShape="0" blurRad="101600" dist="508" dir="5400000">
              <a:srgbClr val="AEBAC4">
                <a:alpha val="30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1005840" y="5486400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tabel terisi: ambang mana yang Anda pilih, dan untuk siapa? Jawab dua kali — sekali sebagai Dinas Perhubungan yang menjaga kepercayaan penumpang, sekali sebagai operator yang biaya penyiagaan petugasnya mahal.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Regularisasi pada model klasifikasi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28016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F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Gagasan dari pertemuan lalu berlaku tanpa perubahan. Hanya bagian loss datanya yang berganti.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280160" y="1783080"/>
            <a:ext cx="9601200" cy="914400"/>
          </a:xfrm>
          <a:prstGeom prst="roundRect">
            <a:avLst>
              <a:gd name="adj" fmla="val 7000"/>
            </a:avLst>
          </a:prstGeom>
          <a:solidFill>
            <a:srgbClr val="1C2B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80160" y="17830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A78B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 = Cross-Entropy  +  λ · Penalti kompleksitas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94360" y="2926080"/>
            <a:ext cx="11002975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01600" dist="508" dir="5400000">
              <a:srgbClr val="AEBAC4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86968" y="3081528"/>
            <a:ext cx="512064" cy="512064"/>
          </a:xfrm>
          <a:prstGeom prst="ellipse">
            <a:avLst/>
          </a:prstGeom>
          <a:solidFill>
            <a:srgbClr val="2E9C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86968" y="30815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303580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tetap mengancam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40680" y="301752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 banyak fitur, model dapat memisahkan data latih dengan sempurna namun gagal pada data baru — sama seperti pada regresi.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3886200"/>
            <a:ext cx="11002975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01600" dist="508" dir="5400000">
              <a:srgbClr val="AEBAC4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86968" y="4041648"/>
            <a:ext cx="512064" cy="512064"/>
          </a:xfrm>
          <a:prstGeom prst="ellipse">
            <a:avLst/>
          </a:prstGeom>
          <a:solidFill>
            <a:srgbClr val="2E9C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86968" y="40416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399592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dan Lasso tetap berlaku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440680" y="397764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meredam seluruh koefisien; L1 dapat membuat sebagian tepat nol dan sekaligus menyeleksi fitur.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4360" y="4846320"/>
            <a:ext cx="11002975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01600" dist="508" dir="5400000">
              <a:srgbClr val="AEBAC4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86968" y="5001768"/>
            <a:ext cx="512064" cy="512064"/>
          </a:xfrm>
          <a:prstGeom prst="ellipse">
            <a:avLst/>
          </a:prstGeom>
          <a:solidFill>
            <a:srgbClr val="C148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86968" y="50017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600200" y="495604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Pemisahan sempurna justru berbahaya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440680" y="493776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 data latih dapat dipisahkan tanpa cacat, koefisien cenderung membesar tanpa batas. Regularisasi yang menahannya.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" y="585216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Dalam pustaka seperti scikit-learn, parameternya bernama C — yang merupakan kebalikan dari λ. Nilai C kecil berarti regularisasi kuat.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DISKUSI KASUS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 keputusan yang harus Anda nilai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530352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01600" dist="508" dir="5400000">
              <a:srgbClr val="AEBAC4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810512"/>
            <a:ext cx="566928" cy="566928"/>
          </a:xfrm>
          <a:prstGeom prst="ellipse">
            <a:avLst/>
          </a:prstGeom>
          <a:solidFill>
            <a:srgbClr val="C148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8105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155448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menghasilkan probabilitas 0,49 dan 0,51 untuk dua perjalanan. Tim memperlakukan keduanya sebagai kasus yang sangat berbeda.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371600"/>
            <a:ext cx="530352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01600" dist="508" dir="5400000">
              <a:srgbClr val="AEBAC4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1810512"/>
            <a:ext cx="566928" cy="566928"/>
          </a:xfrm>
          <a:prstGeom prst="ellipse">
            <a:avLst/>
          </a:prstGeom>
          <a:solidFill>
            <a:srgbClr val="2E9C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0" y="18105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155448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Koefisien fitur "jam sibuk" bernilai 1,2. Tim melaporkan bahwa jam sibuk menaikkan peluang keterlambatan sebesar 120%.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94360" y="3063240"/>
            <a:ext cx="530352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01600" dist="508" dir="5400000">
              <a:srgbClr val="AEBAC4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4400" y="3502152"/>
            <a:ext cx="566928" cy="566928"/>
          </a:xfrm>
          <a:prstGeom prst="ellipse">
            <a:avLst/>
          </a:prstGeom>
          <a:solidFill>
            <a:srgbClr val="C148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35021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324612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mencapai akurasi 97% pada data yang hanya 3% berisi kasus keterlambatan. Tim menganggapnya berhasil.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63640" y="3063240"/>
            <a:ext cx="530352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01600" dist="508" dir="5400000">
              <a:srgbClr val="AEBAC4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83680" y="3502152"/>
            <a:ext cx="566928" cy="566928"/>
          </a:xfrm>
          <a:prstGeom prst="ellipse">
            <a:avLst/>
          </a:prstGeom>
          <a:solidFill>
            <a:srgbClr val="2E9C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83680" y="35021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324612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Ambang dinaikkan ke 0,9 agar peringatan palsu hilang sama sekali. Peringatan palsu memang nol.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94360" y="4846320"/>
            <a:ext cx="11002975" cy="914400"/>
          </a:xfrm>
          <a:prstGeom prst="roundRect">
            <a:avLst>
              <a:gd name="adj" fmla="val 9000"/>
            </a:avLst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  <a:effectLst>
            <a:outerShdw sx="100000" sy="100000" kx="0" ky="0" algn="bl" rotWithShape="0" blurRad="101600" dist="508" dir="5400000">
              <a:srgbClr val="AEBAC4">
                <a:alpha val="3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1005840" y="5047488"/>
            <a:ext cx="101800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tiap kasus: apakah tim sudah benar? Bila keliru, di mana letak kekeliruannya dan apa perbaikannya?</a:t>
            </a:r>
            <a:endParaRPr lang="en-US" sz="14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Diskusi kelompok 4 orang · 15 menit.</a:t>
            </a:r>
            <a:endParaRPr lang="en-US" sz="14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WASPADAI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 salah kaprah yang paling sering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11002975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01600" dist="508" dir="5400000">
              <a:srgbClr val="AEBAC4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545336"/>
            <a:ext cx="502920" cy="502920"/>
          </a:xfrm>
          <a:prstGeom prst="ellipse">
            <a:avLst/>
          </a:prstGeom>
          <a:solidFill>
            <a:srgbClr val="C148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5453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1453896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C14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adalah model regresi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1453896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Namanya menyesatkan. Ia model klasifikasi. Kata "regresi" merujuk pada bagian liniernya, bukan tugasnya.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2404872"/>
            <a:ext cx="11002975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01600" dist="508" dir="5400000">
              <a:srgbClr val="AEBAC4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2624328"/>
            <a:ext cx="502920" cy="502920"/>
          </a:xfrm>
          <a:prstGeom prst="ellipse">
            <a:avLst/>
          </a:prstGeom>
          <a:solidFill>
            <a:srgbClr val="C148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2624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2532888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C14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Karena kurvanya melengkung, modelnya non-linier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2532888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Batas keputusannya tetap garis lurus. Yang melengkung hanya pemetaan skor menjadi probabilitas.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" y="3483864"/>
            <a:ext cx="11002975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01600" dist="508" dir="5400000">
              <a:srgbClr val="AEBAC4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3703320"/>
            <a:ext cx="502920" cy="502920"/>
          </a:xfrm>
          <a:prstGeom prst="ellipse">
            <a:avLst/>
          </a:prstGeom>
          <a:solidFill>
            <a:srgbClr val="C148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361188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C14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Koefisien menambah probabilitas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6035040" y="36118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Koefisien menambah log-odds, yang berarti mengalikan odds. Pengaruhnya pada probabilitas tidak tetap.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" y="4562856"/>
            <a:ext cx="11002975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01600" dist="508" dir="5400000">
              <a:srgbClr val="AEBAC4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8680" y="4782312"/>
            <a:ext cx="502920" cy="502920"/>
          </a:xfrm>
          <a:prstGeom prst="ellipse">
            <a:avLst/>
          </a:prstGeom>
          <a:solidFill>
            <a:srgbClr val="C148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8680" y="4782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554480" y="4690872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C14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Ambang 0,5 adalah bawaan yang benar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6035040" y="4690872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hanya nilai bawaan perangkat lunak. Pemilihan ambang adalah keputusan perancangan, bukan keputusan teknis.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C2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78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 perlu Anda bawa pulang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90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2C3E4A"/>
          </a:solidFill>
          <a:ln w="12700">
            <a:solidFill>
              <a:srgbClr val="3D5262"/>
            </a:solidFill>
            <a:prstDash val="solid"/>
          </a:ln>
          <a:effectLst>
            <a:outerShdw sx="100000" sy="100000" kx="0" ky="0" algn="bl" rotWithShape="0" blurRad="101600" dist="508" dir="5400000">
              <a:srgbClr val="AEBAC4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664208"/>
            <a:ext cx="457200" cy="41148"/>
          </a:xfrm>
          <a:prstGeom prst="rect">
            <a:avLst/>
          </a:prstGeom>
          <a:solidFill>
            <a:srgbClr val="A78B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81051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78B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Masalahnya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19456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6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 linier menghasilkan nilai di luar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6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rentang 0–1 dan tidak dapat ditafsirkan.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37160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2C3E4A"/>
          </a:solidFill>
          <a:ln w="12700">
            <a:solidFill>
              <a:srgbClr val="3D5262"/>
            </a:solidFill>
            <a:prstDash val="solid"/>
          </a:ln>
          <a:effectLst>
            <a:outerShdw sx="100000" sy="100000" kx="0" ky="0" algn="bl" rotWithShape="0" blurRad="101600" dist="508" dir="5400000">
              <a:srgbClr val="AEBAC4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664208"/>
            <a:ext cx="457200" cy="41148"/>
          </a:xfrm>
          <a:prstGeom prst="rect">
            <a:avLst/>
          </a:prstGeom>
          <a:solidFill>
            <a:srgbClr val="A78B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09160" y="181051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78B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Sigmoid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219456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6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Meremas skor linier z menjadi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6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probabilitas antara 0 dan 1.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83880" y="137160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2C3E4A"/>
          </a:solidFill>
          <a:ln w="12700">
            <a:solidFill>
              <a:srgbClr val="3D5262"/>
            </a:solidFill>
            <a:prstDash val="solid"/>
          </a:ln>
          <a:effectLst>
            <a:outerShdw sx="100000" sy="100000" kx="0" ky="0" algn="bl" rotWithShape="0" blurRad="101600" dist="508" dir="5400000">
              <a:srgbClr val="AEBAC4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503920" y="1664208"/>
            <a:ext cx="457200" cy="41148"/>
          </a:xfrm>
          <a:prstGeom prst="rect">
            <a:avLst/>
          </a:prstGeom>
          <a:solidFill>
            <a:srgbClr val="A78B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503920" y="181051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78B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Tetap linier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503920" y="219456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6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Batas keputusan tetap garis lurus.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6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keluarannya yang dilengkungkan.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94360" y="333756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2C3E4A"/>
          </a:solidFill>
          <a:ln w="12700">
            <a:solidFill>
              <a:srgbClr val="3D5262"/>
            </a:solidFill>
            <a:prstDash val="solid"/>
          </a:ln>
          <a:effectLst>
            <a:outerShdw sx="100000" sy="100000" kx="0" ky="0" algn="bl" rotWithShape="0" blurRad="101600" dist="508" dir="5400000">
              <a:srgbClr val="AEBAC4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400" y="3630168"/>
            <a:ext cx="457200" cy="41148"/>
          </a:xfrm>
          <a:prstGeom prst="rect">
            <a:avLst/>
          </a:prstGeom>
          <a:solidFill>
            <a:srgbClr val="A78B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377647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78B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Interpretasi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41605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6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Koefisien menambah log-odds,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6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berarti mengalikan odds.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389120" y="333756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2C3E4A"/>
          </a:solidFill>
          <a:ln w="12700">
            <a:solidFill>
              <a:srgbClr val="3D5262"/>
            </a:solidFill>
            <a:prstDash val="solid"/>
          </a:ln>
          <a:effectLst>
            <a:outerShdw sx="100000" sy="100000" kx="0" ky="0" algn="bl" rotWithShape="0" blurRad="101600" dist="508" dir="5400000">
              <a:srgbClr val="AEBAC4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3630168"/>
            <a:ext cx="457200" cy="41148"/>
          </a:xfrm>
          <a:prstGeom prst="rect">
            <a:avLst/>
          </a:prstGeom>
          <a:solidFill>
            <a:srgbClr val="A78B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09160" y="377647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78B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Cross-entropy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4709160" y="41605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6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Lahir dari asumsi Bernoulli lewat MLE.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6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Menghukum berat keyakinan yang keliru.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183880" y="333756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2C3E4A"/>
          </a:solidFill>
          <a:ln w="12700">
            <a:solidFill>
              <a:srgbClr val="3D5262"/>
            </a:solidFill>
            <a:prstDash val="solid"/>
          </a:ln>
          <a:effectLst>
            <a:outerShdw sx="100000" sy="100000" kx="0" ky="0" algn="bl" rotWithShape="0" blurRad="101600" dist="508" dir="5400000">
              <a:srgbClr val="AEBAC4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503920" y="3630168"/>
            <a:ext cx="457200" cy="41148"/>
          </a:xfrm>
          <a:prstGeom prst="rect">
            <a:avLst/>
          </a:prstGeom>
          <a:solidFill>
            <a:srgbClr val="A78B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503920" y="377647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78B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Ambang batas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8503920" y="41605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6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bagian dari model. Keputusan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6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perancangan yang bergantung konteks.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TINDAK LANJUT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Sebelum pertemuan berikutnya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548640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01600" dist="508" dir="5400000">
              <a:srgbClr val="AEBAC4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572768"/>
            <a:ext cx="530352" cy="530352"/>
          </a:xfrm>
          <a:prstGeom prst="ellipse">
            <a:avLst/>
          </a:prstGeom>
          <a:solidFill>
            <a:srgbClr val="2E9C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5727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BM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16276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Belajar Mandiri  ·  180 menit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24028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Membaca Géron [1] Bab 4 bagian logistic regression dan softmax, serta ISL [11] Bab 4.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537960" y="1325880"/>
            <a:ext cx="502920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01600" dist="508" dir="5400000">
              <a:srgbClr val="AEBAC4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58000" y="1572768"/>
            <a:ext cx="530352" cy="530352"/>
          </a:xfrm>
          <a:prstGeom prst="ellipse">
            <a:avLst/>
          </a:prstGeom>
          <a:solidFill>
            <a:srgbClr val="8B6B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0" y="15727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543800" y="162763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Penugasan Terstruktur  ·  180 menit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224028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Latihan soal: perhitungan probabilitas sigmoid dan analisis pengaruh pergeseran ambang batas. Dibahas bersama di kelas.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3566160"/>
            <a:ext cx="11002975" cy="822960"/>
          </a:xfrm>
          <a:prstGeom prst="roundRect">
            <a:avLst>
              <a:gd name="adj" fmla="val 10000"/>
            </a:avLst>
          </a:prstGeom>
          <a:solidFill>
            <a:srgbClr val="E6F2F0"/>
          </a:solidFill>
          <a:ln w="12700">
            <a:solidFill>
              <a:srgbClr val="C7E2DD"/>
            </a:solidFill>
            <a:prstDash val="solid"/>
          </a:ln>
          <a:effectLst>
            <a:outerShdw sx="100000" sy="100000" kx="0" ky="0" algn="bl" rotWithShape="0" blurRad="101600" dist="508" dir="5400000">
              <a:srgbClr val="AEBAC4">
                <a:alpha val="3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1005840" y="3767328"/>
            <a:ext cx="10180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Latihan ini bersifat formatif — tidak berbobot tersendiri. Kontribusi Anda saat pembahasan di kelas dinilai melalui komponen Aktivitas Partisipatif.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94360" y="4572000"/>
            <a:ext cx="11002975" cy="868680"/>
          </a:xfrm>
          <a:prstGeom prst="roundRect">
            <a:avLst>
              <a:gd name="adj" fmla="val 9474"/>
            </a:avLst>
          </a:prstGeom>
          <a:solidFill>
            <a:srgbClr val="EAE4F3"/>
          </a:solidFill>
          <a:ln w="12700">
            <a:solidFill>
              <a:srgbClr val="D3C8E6"/>
            </a:solidFill>
            <a:prstDash val="solid"/>
          </a:ln>
          <a:effectLst>
            <a:outerShdw sx="100000" sy="100000" kx="0" ky="0" algn="bl" rotWithShape="0" blurRad="101600" dist="508" dir="5400000">
              <a:srgbClr val="AEBAC4">
                <a:alpha val="3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1005840" y="4773168"/>
            <a:ext cx="101800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4E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Persiapan pertemuan 7: bawa kembali tabel latihan ambang batas hari ini. Kita akan mengubahnya menjadi confusion matrix dan menghitung precision serta recall di atasnya.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566928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Bacaan pendukung:  [1] Géron Bab 4  ·  [11] James dkk. Bab 4  ·  [10] Catatan kuliah CS 189 — https://people.eecs.berkeley.edu/~jrs/189/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C2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206240"/>
            <a:ext cx="4937760" cy="4937760"/>
          </a:xfrm>
          <a:prstGeom prst="ellipse">
            <a:avLst/>
          </a:prstGeom>
          <a:solidFill>
            <a:srgbClr val="2E9C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-1463040"/>
            <a:ext cx="3840480" cy="3840480"/>
          </a:xfrm>
          <a:prstGeom prst="ellipse">
            <a:avLst/>
          </a:prstGeom>
          <a:solidFill>
            <a:srgbClr val="C148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20116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78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BERIKUTNYA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46888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Klasifikasi Multi-Kelas</a:t>
            </a:r>
            <a:endParaRPr lang="en-US" sz="3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 Metrik Evaluasi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94360" y="4069080"/>
            <a:ext cx="1371600" cy="32004"/>
          </a:xfrm>
          <a:prstGeom prst="rect">
            <a:avLst/>
          </a:prstGeom>
          <a:solidFill>
            <a:srgbClr val="A78B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434340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B9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ini kita membangun model klasifikasi dan menyadari bahwa satu angka akurasi</a:t>
            </a:r>
            <a:endParaRPr lang="en-US" sz="17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B9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cukup. Pertemuan depan kita belajar mengukurnya dengan benar.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90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2026-08-31T05:11:36Z</dcterms:created>
  <dcterms:modified xsi:type="dcterms:W3CDTF">2026-08-31T05:11:36Z</dcterms:modified>
</cp:coreProperties>
</file>