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charts/chart1.xml" ContentType="application/vnd.openxmlformats-officedocument.drawingml.chart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slideMasters/slideMaster26.xml" ContentType="application/vnd.openxmlformats-officedocument.presentationml.slideMaster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</p:sldIdLst>
  <p:notesMasterIdLst>
    <p:notesMasterId r:id="rId28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slide" Target="slides/slide26.xml"/><Relationship Id="rId28" Type="http://schemas.openxmlformats.org/officeDocument/2006/relationships/notesMaster" Target="notesMasters/notesMaster1.xml"/><Relationship Id="rId29" Type="http://schemas.openxmlformats.org/officeDocument/2006/relationships/presProps" Target="presProps.xml"/><Relationship Id="rId30" Type="http://schemas.openxmlformats.org/officeDocument/2006/relationships/viewProps" Target="viewProps.xml"/><Relationship Id="rId31" Type="http://schemas.openxmlformats.org/officeDocument/2006/relationships/theme" Target="theme/theme1.xml"/><Relationship Id="rId32" Type="http://schemas.openxmlformats.org/officeDocument/2006/relationships/tableStyles" Target="tableStyles.xml"/></Relationships>
</file>

<file path=ppt/charts/_rels/chart1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Akurasi pada data uji</c:v>
                </c:pt>
              </c:strCache>
            </c:strRef>
          </c:tx>
          <c:spPr>
            <a:solidFill>
              <a:srgbClr val="C7623E"/>
            </a:solidFill>
            <a:effectLst/>
          </c:spPr>
          <c:invertIfNegative val="0"/>
          <c:dLbls>
            <c:numFmt formatCode="0.00" sourceLinked="0"/>
            <c:txPr>
              <a:bodyPr/>
              <a:lstStyle/>
              <a:p>
                <a:pPr>
                  <a:defRPr b="0" i="0" strike="noStrike" sz="1000" u="none">
                    <a:solidFill>
                      <a:srgbClr val="7C667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Sheet1!$A$2:$A$9</c:f>
              <c:multiLvlStrCache>
                <c:ptCount val="8"/>
                <c:lvl>
                  <c:pt idx="0">
                    <c:v>Split 1</c:v>
                  </c:pt>
                  <c:pt idx="1">
                    <c:v>Split 2</c:v>
                  </c:pt>
                  <c:pt idx="2">
                    <c:v>Split 3</c:v>
                  </c:pt>
                  <c:pt idx="3">
                    <c:v>Split 4</c:v>
                  </c:pt>
                  <c:pt idx="4">
                    <c:v>Split 5</c:v>
                  </c:pt>
                  <c:pt idx="5">
                    <c:v>Split 6</c:v>
                  </c:pt>
                  <c:pt idx="6">
                    <c:v>Split 7</c:v>
                  </c:pt>
                  <c:pt idx="7">
                    <c:v>Split 8</c:v>
                  </c:pt>
                </c:lvl>
              </c:multiLvlStrCache>
            </c:multiLvl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0.81</c:v>
                </c:pt>
                <c:pt idx="1">
                  <c:v>0.88</c:v>
                </c:pt>
                <c:pt idx="2">
                  <c:v>0.79</c:v>
                </c:pt>
                <c:pt idx="3">
                  <c:v>0.92</c:v>
                </c:pt>
                <c:pt idx="4">
                  <c:v>0.84</c:v>
                </c:pt>
                <c:pt idx="5">
                  <c:v>0.76</c:v>
                </c:pt>
                <c:pt idx="6">
                  <c:v>0.9</c:v>
                </c:pt>
                <c:pt idx="7">
                  <c:v>0.83</c:v>
                </c:pt>
              </c:numCache>
            </c:numRef>
          </c:val>
        </c:ser>
        <c:dLbls>
          <c:numFmt formatCode="0.00" sourceLinked="0"/>
          <c:txPr>
            <a:bodyPr/>
            <a:lstStyle/>
            <a:p>
              <a:pPr>
                <a:defRPr b="0" i="0" strike="noStrike" sz="1000" u="none">
                  <a:solidFill>
                    <a:srgbClr val="7C667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667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"/>
          <c:min val="0"/>
        </c:scaling>
        <c:delete val="0"/>
        <c:axPos val="l"/>
        <c:majorGridlines>
          <c:spPr>
            <a:ln w="12700" cap="flat">
              <a:solidFill>
                <a:srgbClr val="E5DCDF"/>
              </a:solidFill>
              <a:prstDash val="solid"/>
              <a:round/>
            </a:ln>
          </c:spPr>
        </c:majorGridlines>
        <c:title>
          <c:tx>
            <c:rich>
              <a:bodyPr/>
              <a:lstStyle/>
              <a:p>
                <a:pPr>
                  <a:defRPr sz="1100" b="0" i="0" u="none" strike="noStrike">
                    <a:solidFill>
                      <a:srgbClr val="7C6670"/>
                    </a:solidFill>
                    <a:latin typeface="Arial"/>
                  </a:defRPr>
                </a:pPr>
                <a:r>
                  <a:rPr sz="1100" b="0" i="0" u="none" strike="noStrike">
                    <a:solidFill>
                      <a:srgbClr val="7C6670"/>
                    </a:solidFill>
                    <a:latin typeface="Arial"/>
                  </a:rPr>
                  <a:t>Akurasi</a:t>
                </a:r>
              </a:p>
            </c:rich>
          </c:tx>
          <c:layout/>
          <c:overlay val="0"/>
        </c:title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000" b="0" i="0" u="none" strike="noStrike">
                <a:solidFill>
                  <a:srgbClr val="7C667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_rels/notesSlide2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Pertemuan 9 dari 16, pertemuan pertama setelah UTS. Lima bagian, dua latihan terbimbing, satu diskusi kasus. Warna: sage = bagian data pelatih, copper = bagian data penguji.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Buka dengan membahas singkat hasil UTS bila sudah tersedia. Lalu masuk ke pertanyaan pada kartu.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Tegaskan bahwa kemampuan mengaudit prosedur orang lain adalah keterampilan profesional, bukan sekadar bahan ujian.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Cara membedakan yang paling cepat: bila angkanya berubah sendiri selama pelatihan, itu parameter. Bila Anda yang mengetiknya, itu hyperparameter.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Rekapitulasi ini membantu mahasiswa melihat bahwa hyperparameter bukan konsep baru, hanya belum pernah diberi nama sebagai satu kategori.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Tanyakan: bila Anda konsultan yang dibayar, angka mana yang tergoda Anda laporkan? Ini pintu masuk pembahasan etika pelaporan.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Analogi: data uji seperti soal ujian yang disegel. Bila dibuka untuk latihan, ia tidak lagi bisa mengukur kesiapan.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Tunjukkan diagonal copper di layar. Nilai k yang lazim adalah 5 atau 10. Nilai k besar berarti lebih teliti tetapi lebih mahal.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Laporan yang baik selalu menulis rata-rata plus minus simpangan baku, bukan rata-rata saja.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Contoh Group k-fold pada kasus kita: satu armada bus menyumbang ratusan catatan perjalanan yang saling mirip.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rata-rata keduanya sama persis 0,850. Simpangan baku Model A sekitar 0,016 sedangkan Model B sekitar 0,115. Bila hanya melihat Fold 3, Model B tampak jauh unggul dengan 0,95 lawan 0,87 - inilah bahaya melaporkan satu split. Pilih Model A karena stabil; langkah pertama sebelum memutuskan: periksa apakah fold Model B yang buruk punya komposisi kelas yang berbeda, dan pertimbangkan stratified k-fold.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Hitung bersama di kelas: bila tiap pelatihan butuh 2 menit, 120 pelatihan berarti 4 jam. Tambah satu hyperparameter dengan 4 nilai, jadi 16 jam.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Untuk kelas ini cukup gagasan intinya. Mahasiswa yang ingin lebih dalam dapat membaca Bergstra dan Bengio 2012.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penutup adalah godaan nyata yang dihadapi setiap praktisi. Jujur menyebutkannya membuat mahasiswa lebih waspada.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Kalimat penutup adalah rumusan paling tepat. Masalahnya bukan kinerja, melainkan hilangnya kemampuan menilai.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P-1 tidak valid, praproses sebelum pembagian menyebabkan statistik data uji bocor ke data latih; normalisasi harus dihitung dari data latih saja lalu diterapkan ke data uji. P-2 valid, inilah prosedur yang benar. P-3 tidak valid, data uji dipakai untuk memilih model sehingga berubah fungsi menjadi data validasi; seharusnya pemilihan dilakukan dengan cross-validation di dalam data latih. P-4 tidak valid, data berurut waktu tidak boleh diacak karena model akan dilatih memakai data masa depan untuk memprediksi masa lalu; gunakan time series split.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Kunci: A rata-rata tanpa simpangan baku menyembunyikan kestabilan; minta laporan ulang dengan kedua angka. B biaya grid search adalah sepuluh pangkat lima yaitu seratus ribu kombinasi; beralih ke random search dengan anggaran percobaan yang ditetapkan. C gunakan stratified k-fold sehingga proporsi kelas terjaga di tiap fold. D data uji sudah tercemar; angka barunya tidak sah dilaporkan, dan idealnya diperlukan data uji baru yang belum pernah disentuh.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Butir keempat paling penting. Hasil yang terlalu bagus harus memicu kecurigaan, bukan kepuasan.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Minta mahasiswa menyebut satu prosedur di sekitar mereka - tugas kuliah lain, skripsi kakak tingkat - yang kini mereka curigai mengandung kebocoran.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Menghubungkan materi ke Studi Kasus Akhir membuat mahasiswa memperlakukan pertemuan ini sebagai bekal kerja, bukan bahan hafalan.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Umumkan pengundian topik Presentasi Kilat Algoritma di akhir pertemuan ini agar mahasiswa punya waktu menyiapkan.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1.xml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595360" y="-1828800"/>
            <a:ext cx="5852160" cy="585216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9966960" y="3291840"/>
            <a:ext cx="4023360" cy="402336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Shape 2"/>
          <p:cNvSpPr/>
          <p:nvPr/>
        </p:nvSpPr>
        <p:spPr>
          <a:xfrm>
            <a:off x="11064240" y="5120640"/>
            <a:ext cx="1828800" cy="1828800"/>
          </a:xfrm>
          <a:prstGeom prst="ellipse">
            <a:avLst/>
          </a:prstGeom>
          <a:solidFill>
            <a:srgbClr val="D99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" name="Text 3"/>
          <p:cNvSpPr txBox="1"/>
          <p:nvPr/>
        </p:nvSpPr>
        <p:spPr>
          <a:xfrm>
            <a:off x="594360" y="1371600"/>
            <a:ext cx="76809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SCIENCE  ·  TI24425  ·  PERTEMUAN 9</a:t>
            </a:r>
            <a:endParaRPr lang="en-US" sz="13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1920240"/>
            <a:ext cx="7680960" cy="1645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Model dan</a:t>
            </a:r>
            <a:endParaRPr lang="en-US" sz="42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42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 Hyperparameter</a:t>
            </a:r>
            <a:endParaRPr lang="en-US" sz="4200" dirty="0"/>
          </a:p>
        </p:txBody>
      </p:sp>
      <p:sp>
        <p:nvSpPr>
          <p:cNvPr id="7" name="Shape 5"/>
          <p:cNvSpPr/>
          <p:nvPr/>
        </p:nvSpPr>
        <p:spPr>
          <a:xfrm>
            <a:off x="594360" y="3931920"/>
            <a:ext cx="1371600" cy="32004"/>
          </a:xfrm>
          <a:prstGeom prst="rect">
            <a:avLst/>
          </a:prstGeom>
          <a:solidFill>
            <a:srgbClr val="E8B3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594360" y="4206240"/>
            <a:ext cx="768096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Sub-CPMK 8  ·  Mampu menganalisis prosedur cross-validation dan tuning hyperparameter,</a:t>
            </a:r>
            <a:endParaRPr lang="en-US" sz="1400" dirty="0"/>
          </a:p>
          <a:p>
            <a:pPr algn="l" indent="0" marL="0">
              <a:lnSpc>
                <a:spcPct val="120000"/>
              </a:lnSpc>
              <a:buNone/>
            </a:pPr>
            <a:r>
              <a:rPr lang="en-US" sz="14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serta mengevaluasi validitas suatu prosedur evaluasi model.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594360" y="5989320"/>
            <a:ext cx="76809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Program Studi Teknologi Informasi  ·  Politeknik Negeri Madiun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ORIENTASI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Kembali setelah ujian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737360"/>
            <a:ext cx="621792" cy="621792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SELESAI</a:t>
            </a:r>
            <a:endParaRPr lang="en-US" sz="10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Ujian Tengah Semester</a:t>
            </a:r>
            <a:endParaRPr lang="en-US" sz="170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Materi pertemuan 1–7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sudah diuji.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438912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3B1F2B"/>
          </a:solidFill>
          <a:ln w="12700">
            <a:solidFill>
              <a:srgbClr val="3B1F2B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4709160" y="1737360"/>
            <a:ext cx="621792" cy="621792"/>
          </a:xfrm>
          <a:prstGeom prst="ellipse">
            <a:avLst/>
          </a:prstGeom>
          <a:solidFill>
            <a:srgbClr val="D99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470916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9</a:t>
            </a:r>
            <a:endParaRPr lang="en-US" sz="2000" dirty="0"/>
          </a:p>
        </p:txBody>
      </p:sp>
      <p:sp>
        <p:nvSpPr>
          <p:cNvPr id="14" name="Text 12"/>
          <p:cNvSpPr txBox="1"/>
          <p:nvPr/>
        </p:nvSpPr>
        <p:spPr>
          <a:xfrm>
            <a:off x="548640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1000" dirty="0"/>
          </a:p>
        </p:txBody>
      </p:sp>
      <p:sp>
        <p:nvSpPr>
          <p:cNvPr id="15" name="Text 13"/>
          <p:cNvSpPr txBox="1"/>
          <p:nvPr/>
        </p:nvSpPr>
        <p:spPr>
          <a:xfrm>
            <a:off x="470916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Validasi &amp; Tuning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470916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Bagaimana memastikan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evaluasi kita jujur.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8183880" y="1417320"/>
            <a:ext cx="3520440" cy="3200400"/>
          </a:xfrm>
          <a:prstGeom prst="roundRect">
            <a:avLst>
              <a:gd name="adj" fmla="val 2571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0" y="1737360"/>
            <a:ext cx="621792" cy="621792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0" y="1737360"/>
            <a:ext cx="62179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2000" dirty="0"/>
          </a:p>
        </p:txBody>
      </p:sp>
      <p:sp>
        <p:nvSpPr>
          <p:cNvPr id="20" name="Text 18"/>
          <p:cNvSpPr txBox="1"/>
          <p:nvPr/>
        </p:nvSpPr>
        <p:spPr>
          <a:xfrm>
            <a:off x="9281160" y="1883664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000" b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BERIKUTNYA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8503920" y="2560320"/>
            <a:ext cx="28803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Berbasis Pohon</a:t>
            </a:r>
            <a:endParaRPr lang="en-US" sz="1700" dirty="0"/>
          </a:p>
        </p:txBody>
      </p:sp>
      <p:sp>
        <p:nvSpPr>
          <p:cNvPr id="22" name="Text 20"/>
          <p:cNvSpPr txBox="1"/>
          <p:nvPr/>
        </p:nvSpPr>
        <p:spPr>
          <a:xfrm>
            <a:off x="8503920" y="3291840"/>
            <a:ext cx="28803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Keluarga model baru:</a:t>
            </a:r>
            <a:endParaRPr lang="en-US" sz="130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decision tree dan ensemble.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94360" y="4892040"/>
            <a:ext cx="11002975" cy="914400"/>
          </a:xfrm>
          <a:prstGeom prst="roundRect">
            <a:avLst>
              <a:gd name="adj" fmla="val 9000"/>
            </a:avLst>
          </a:prstGeom>
          <a:solidFill>
            <a:srgbClr val="F5EAE2"/>
          </a:solidFill>
          <a:ln w="12700">
            <a:solidFill>
              <a:srgbClr val="E8D2C2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4" name="Text 22"/>
          <p:cNvSpPr txBox="1"/>
          <p:nvPr/>
        </p:nvSpPr>
        <p:spPr>
          <a:xfrm>
            <a:off x="1005840" y="5102352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50" b="1" dirty="0">
                <a:solidFill>
                  <a:srgbClr val="8A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Tujuh pertemuan pertama mengajarkan cara membangun dan menilai model. Hari ini kita bertanya satu tingkat lebih dalam: dari mana kita tahu bahwa angka penilaian itu sendiri dapat dipercaya?</a:t>
            </a:r>
            <a:endParaRPr lang="en-US" sz="145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CAPAIAN PEMBELAJARAN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pertemuan ini Anda mampu…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463040"/>
            <a:ext cx="566928" cy="566928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" name="Text 4"/>
          <p:cNvSpPr txBox="1"/>
          <p:nvPr/>
        </p:nvSpPr>
        <p:spPr>
          <a:xfrm>
            <a:off x="594360" y="14630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01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417320" y="1481328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Membedakan parameter dan hyperparameter, serta menjelaskan mengapa keduanya diperlakukan berbeda.</a:t>
            </a:r>
            <a:endParaRPr lang="en-US" sz="1600" dirty="0"/>
          </a:p>
        </p:txBody>
      </p:sp>
      <p:sp>
        <p:nvSpPr>
          <p:cNvPr id="8" name="Shape 6"/>
          <p:cNvSpPr/>
          <p:nvPr/>
        </p:nvSpPr>
        <p:spPr>
          <a:xfrm>
            <a:off x="594360" y="2487168"/>
            <a:ext cx="566928" cy="566928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594360" y="2487168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02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417320" y="2505456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Menjelaskan mekanisme dan tujuan k-fold cross-validation, termasuk cara membaca hasilnya.</a:t>
            </a:r>
            <a:endParaRPr lang="en-US" sz="1600" dirty="0"/>
          </a:p>
        </p:txBody>
      </p:sp>
      <p:sp>
        <p:nvSpPr>
          <p:cNvPr id="11" name="Shape 9"/>
          <p:cNvSpPr/>
          <p:nvPr/>
        </p:nvSpPr>
        <p:spPr>
          <a:xfrm>
            <a:off x="594360" y="3511296"/>
            <a:ext cx="566928" cy="566928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594360" y="3511296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03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417320" y="3529584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Menilai validitas sebuah prosedur evaluasi dan menunjukkan letak kebocoran data bila ada.</a:t>
            </a:r>
            <a:endParaRPr lang="en-US" sz="1600" dirty="0"/>
          </a:p>
        </p:txBody>
      </p:sp>
      <p:sp>
        <p:nvSpPr>
          <p:cNvPr id="14" name="Shape 12"/>
          <p:cNvSpPr/>
          <p:nvPr/>
        </p:nvSpPr>
        <p:spPr>
          <a:xfrm>
            <a:off x="594360" y="4535424"/>
            <a:ext cx="566928" cy="566928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594360" y="4535424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04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417320" y="4553712"/>
            <a:ext cx="1014984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6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Membandingkan grid search dan random search dari sisi biaya komputasi.</a:t>
            </a:r>
            <a:endParaRPr lang="en-US" sz="16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760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Indikator 03 adalah inti pertemuan ini, dan akan diuji kembali pada Studi Kasus Akhir maupun Ujian Akhir Semester.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1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Parameter dan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jenis angka yang sering tertukar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PEMBEDAAN DASAR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Siapa yang menentukan angkanya?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</a:t>
            </a:r>
            <a:endParaRPr lang="en-US" sz="12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Dipelajari model dari data</a:t>
            </a:r>
            <a:endParaRPr lang="en-US" sz="19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377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Ditemukan selama pelatihan berlangsung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Nilainya berubah tiap iterasi Gradient Descent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Jumlahnya bisa ribuan hingga miliaran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 tidak menyentuhnya secara langsung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914400" y="4315968"/>
            <a:ext cx="4663440" cy="18288"/>
          </a:xfrm>
          <a:prstGeom prst="rect">
            <a:avLst/>
          </a:prstGeom>
          <a:solidFill>
            <a:srgbClr val="E5D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914400" y="44988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6B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bobot w dan bias b pada regresi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6263640" y="1325880"/>
            <a:ext cx="5303520" cy="3977640"/>
          </a:xfrm>
          <a:prstGeom prst="roundRect">
            <a:avLst>
              <a:gd name="adj" fmla="val 2069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3" name="Shape 11"/>
          <p:cNvSpPr/>
          <p:nvPr/>
        </p:nvSpPr>
        <p:spPr>
          <a:xfrm>
            <a:off x="6263640" y="1325880"/>
            <a:ext cx="5303520" cy="868680"/>
          </a:xfrm>
          <a:prstGeom prst="roundRect">
            <a:avLst>
              <a:gd name="adj" fmla="val 9474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6583680" y="1444752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</a:t>
            </a:r>
            <a:endParaRPr lang="en-US" sz="1200" dirty="0"/>
          </a:p>
        </p:txBody>
      </p:sp>
      <p:sp>
        <p:nvSpPr>
          <p:cNvPr id="15" name="Text 13"/>
          <p:cNvSpPr txBox="1"/>
          <p:nvPr/>
        </p:nvSpPr>
        <p:spPr>
          <a:xfrm>
            <a:off x="6583680" y="1737360"/>
            <a:ext cx="46634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Ditetapkan manusia sebelum pelatihan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6583680" y="2377440"/>
            <a:ext cx="466344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Ditetapkan sebelum pelatihan dimulai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Nilainya tetap selama satu kali pelatihan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Jumlahnya biasanya di bawah sepuluh</a:t>
            </a:r>
            <a:endParaRPr lang="en-US" sz="1400" dirty="0"/>
          </a:p>
          <a:p>
            <a:pPr marL="342900" indent="-342900">
              <a:spcAft>
                <a:spcPts val="700"/>
              </a:spcAft>
              <a:buSzPct val="100000"/>
              <a:buChar char="•"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Andalah yang bertanggung jawab memilihnya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6583680" y="4315968"/>
            <a:ext cx="4663440" cy="18288"/>
          </a:xfrm>
          <a:prstGeom prst="rect">
            <a:avLst/>
          </a:prstGeom>
          <a:solidFill>
            <a:srgbClr val="E5D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8" name="Text 16"/>
          <p:cNvSpPr txBox="1"/>
          <p:nvPr/>
        </p:nvSpPr>
        <p:spPr>
          <a:xfrm>
            <a:off x="6583680" y="4498848"/>
            <a:ext cx="46634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b="1" i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Contoh: learning rate α dan λ pada regularisasi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53212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tidak bisa dipilih dengan menebak. Diperlukan prosedur pencarian yang sistematis — dan prosedur itulah isi pertemuan hari ini.</a:t>
            </a:r>
            <a:endParaRPr lang="en-US" sz="15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REKAPITULASI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 yang sudah kita temui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50392" y="1554480"/>
            <a:ext cx="621792" cy="594360"/>
          </a:xfrm>
          <a:prstGeom prst="roundRect">
            <a:avLst>
              <a:gd name="adj" fmla="val 10769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50392" y="1554480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91640" y="1627632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rate</a:t>
            </a:r>
            <a:endParaRPr lang="en-US" sz="1600" dirty="0"/>
          </a:p>
        </p:txBody>
      </p:sp>
      <p:sp>
        <p:nvSpPr>
          <p:cNvPr id="9" name="Text 7"/>
          <p:cNvSpPr txBox="1"/>
          <p:nvPr/>
        </p:nvSpPr>
        <p:spPr>
          <a:xfrm>
            <a:off x="1691640" y="1938528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4</a:t>
            </a:r>
            <a:endParaRPr lang="en-US" sz="1200" dirty="0"/>
          </a:p>
        </p:txBody>
      </p:sp>
      <p:sp>
        <p:nvSpPr>
          <p:cNvPr id="10" name="Text 8"/>
          <p:cNvSpPr txBox="1"/>
          <p:nvPr/>
        </p:nvSpPr>
        <p:spPr>
          <a:xfrm>
            <a:off x="5074920" y="1572768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besar: loss meledak.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kecil: konvergensi lambat.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487168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0392" y="2670048"/>
            <a:ext cx="621792" cy="594360"/>
          </a:xfrm>
          <a:prstGeom prst="roundRect">
            <a:avLst>
              <a:gd name="adj" fmla="val 10769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" y="2670048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</a:t>
            </a:r>
            <a:endParaRPr lang="en-US" sz="1900" dirty="0"/>
          </a:p>
        </p:txBody>
      </p:sp>
      <p:sp>
        <p:nvSpPr>
          <p:cNvPr id="14" name="Text 12"/>
          <p:cNvSpPr txBox="1"/>
          <p:nvPr/>
        </p:nvSpPr>
        <p:spPr>
          <a:xfrm>
            <a:off x="1691640" y="2743200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Kekuatan regularisasi</a:t>
            </a:r>
            <a:endParaRPr lang="en-US" sz="1600" dirty="0"/>
          </a:p>
        </p:txBody>
      </p:sp>
      <p:sp>
        <p:nvSpPr>
          <p:cNvPr id="15" name="Text 13"/>
          <p:cNvSpPr txBox="1"/>
          <p:nvPr/>
        </p:nvSpPr>
        <p:spPr>
          <a:xfrm>
            <a:off x="1691640" y="3054096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5</a:t>
            </a:r>
            <a:endParaRPr lang="en-US" sz="1200" dirty="0"/>
          </a:p>
        </p:txBody>
      </p:sp>
      <p:sp>
        <p:nvSpPr>
          <p:cNvPr id="16" name="Text 14"/>
          <p:cNvSpPr txBox="1"/>
          <p:nvPr/>
        </p:nvSpPr>
        <p:spPr>
          <a:xfrm>
            <a:off x="5074920" y="2688336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besar: underfitting.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Terlalu kecil: overfitting kembali.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594360" y="3602736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850392" y="3785616"/>
            <a:ext cx="621792" cy="594360"/>
          </a:xfrm>
          <a:prstGeom prst="roundRect">
            <a:avLst>
              <a:gd name="adj" fmla="val 10769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850392" y="3785616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—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1691640" y="3858768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Ambang batas keputusan</a:t>
            </a:r>
            <a:endParaRPr lang="en-US" sz="1600" dirty="0"/>
          </a:p>
        </p:txBody>
      </p:sp>
      <p:sp>
        <p:nvSpPr>
          <p:cNvPr id="21" name="Text 19"/>
          <p:cNvSpPr txBox="1"/>
          <p:nvPr/>
        </p:nvSpPr>
        <p:spPr>
          <a:xfrm>
            <a:off x="1691640" y="4169664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6</a:t>
            </a:r>
            <a:endParaRPr lang="en-US" sz="1200" dirty="0"/>
          </a:p>
        </p:txBody>
      </p:sp>
      <p:sp>
        <p:nvSpPr>
          <p:cNvPr id="22" name="Text 20"/>
          <p:cNvSpPr txBox="1"/>
          <p:nvPr/>
        </p:nvSpPr>
        <p:spPr>
          <a:xfrm>
            <a:off x="5074920" y="3803904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Menggeser komposisi kesalahan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tipe I dan tipe II.</a:t>
            </a:r>
            <a:endParaRPr lang="en-US" sz="1350" dirty="0"/>
          </a:p>
        </p:txBody>
      </p:sp>
      <p:sp>
        <p:nvSpPr>
          <p:cNvPr id="23" name="Shape 21"/>
          <p:cNvSpPr/>
          <p:nvPr/>
        </p:nvSpPr>
        <p:spPr>
          <a:xfrm>
            <a:off x="594360" y="4718304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4" name="Shape 22"/>
          <p:cNvSpPr/>
          <p:nvPr/>
        </p:nvSpPr>
        <p:spPr>
          <a:xfrm>
            <a:off x="850392" y="4901184"/>
            <a:ext cx="621792" cy="594360"/>
          </a:xfrm>
          <a:prstGeom prst="roundRect">
            <a:avLst>
              <a:gd name="adj" fmla="val 10769"/>
            </a:avLst>
          </a:prstGeom>
          <a:solidFill>
            <a:srgbClr val="D99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5" name="Text 23"/>
          <p:cNvSpPr txBox="1"/>
          <p:nvPr/>
        </p:nvSpPr>
        <p:spPr>
          <a:xfrm>
            <a:off x="850392" y="4901184"/>
            <a:ext cx="621792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3B1F2B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k</a:t>
            </a:r>
            <a:endParaRPr lang="en-US" sz="1900" dirty="0"/>
          </a:p>
        </p:txBody>
      </p:sp>
      <p:sp>
        <p:nvSpPr>
          <p:cNvPr id="26" name="Text 24"/>
          <p:cNvSpPr txBox="1"/>
          <p:nvPr/>
        </p:nvSpPr>
        <p:spPr>
          <a:xfrm>
            <a:off x="1691640" y="4974336"/>
            <a:ext cx="30175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Jumlah fold</a:t>
            </a:r>
            <a:endParaRPr lang="en-US" sz="1600" dirty="0"/>
          </a:p>
        </p:txBody>
      </p:sp>
      <p:sp>
        <p:nvSpPr>
          <p:cNvPr id="27" name="Text 25"/>
          <p:cNvSpPr txBox="1"/>
          <p:nvPr/>
        </p:nvSpPr>
        <p:spPr>
          <a:xfrm>
            <a:off x="1691640" y="5285232"/>
            <a:ext cx="30175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</a:t>
            </a:r>
            <a:endParaRPr lang="en-US" sz="1200" dirty="0"/>
          </a:p>
        </p:txBody>
      </p:sp>
      <p:sp>
        <p:nvSpPr>
          <p:cNvPr id="28" name="Text 26"/>
          <p:cNvSpPr txBox="1"/>
          <p:nvPr/>
        </p:nvSpPr>
        <p:spPr>
          <a:xfrm>
            <a:off x="5074920" y="4919472"/>
            <a:ext cx="630936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Menentukan keseimbangan antara</a:t>
            </a:r>
            <a:endParaRPr lang="en-US" sz="13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ketelitian dan biaya komputasi.</a:t>
            </a:r>
            <a:endParaRPr lang="en-US" sz="1350" dirty="0"/>
          </a:p>
        </p:txBody>
      </p:sp>
      <p:sp>
        <p:nvSpPr>
          <p:cNvPr id="29" name="Text 27"/>
          <p:cNvSpPr txBox="1"/>
          <p:nvPr/>
        </p:nvSpPr>
        <p:spPr>
          <a:xfrm>
            <a:off x="594360" y="58064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model baru membawa hyperparameternya sendiri. Pertemuan depan bertambah lagi: kedalaman pohon dan jumlah pohon.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2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Masalah dengan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Pembagian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Mengapa satu train-test split tidak cukup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0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BUKTI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yang sama, delapan jawaban berbeda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yang persis sama dilatih dan diuji delapan kali. Yang berubah hanya satu hal: baris mana yang kebetulan masuk ke data uji.</a:t>
            </a:r>
            <a:endParaRPr lang="en-US" sz="1600" dirty="0"/>
          </a:p>
        </p:txBody>
      </p:sp>
      <p:graphicFrame>
        <p:nvGraphicFramePr>
          <p:cNvPr id="6" name="Chart 0" descr=""/>
          <p:cNvGraphicFramePr/>
          <p:nvPr/>
        </p:nvGraphicFramePr>
        <p:xfrm>
          <a:off x="594360" y="1874520"/>
          <a:ext cx="6949440" cy="329184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7" name="Shape 4"/>
          <p:cNvSpPr/>
          <p:nvPr/>
        </p:nvSpPr>
        <p:spPr>
          <a:xfrm>
            <a:off x="7772400" y="1874520"/>
            <a:ext cx="3794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8046720" y="2011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Rentang 0,76 sampai 0,92</a:t>
            </a:r>
            <a:endParaRPr lang="en-US" sz="1400" dirty="0"/>
          </a:p>
        </p:txBody>
      </p:sp>
      <p:sp>
        <p:nvSpPr>
          <p:cNvPr id="9" name="Text 6"/>
          <p:cNvSpPr txBox="1"/>
          <p:nvPr/>
        </p:nvSpPr>
        <p:spPr>
          <a:xfrm>
            <a:off x="8046720" y="2313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Selisihnya 16 poin persentase — cukup besar untuk mengubah keputusan pembelian sistem.</a:t>
            </a:r>
            <a:endParaRPr lang="en-US" sz="1200" dirty="0"/>
          </a:p>
        </p:txBody>
      </p:sp>
      <p:sp>
        <p:nvSpPr>
          <p:cNvPr id="10" name="Shape 7"/>
          <p:cNvSpPr/>
          <p:nvPr/>
        </p:nvSpPr>
        <p:spPr>
          <a:xfrm>
            <a:off x="7772400" y="3017520"/>
            <a:ext cx="3794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1" name="Text 8"/>
          <p:cNvSpPr txBox="1"/>
          <p:nvPr/>
        </p:nvSpPr>
        <p:spPr>
          <a:xfrm>
            <a:off x="8046720" y="3154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 yang benar?</a:t>
            </a:r>
            <a:endParaRPr lang="en-US" sz="1400" dirty="0"/>
          </a:p>
        </p:txBody>
      </p:sp>
      <p:sp>
        <p:nvSpPr>
          <p:cNvPr id="12" name="Text 9"/>
          <p:cNvSpPr txBox="1"/>
          <p:nvPr/>
        </p:nvSpPr>
        <p:spPr>
          <a:xfrm>
            <a:off x="8046720" y="3456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Semuanya benar, dan semuanya menyesatkan bila dilaporkan sendirian.</a:t>
            </a:r>
            <a:endParaRPr lang="en-US" sz="1200" dirty="0"/>
          </a:p>
        </p:txBody>
      </p:sp>
      <p:sp>
        <p:nvSpPr>
          <p:cNvPr id="13" name="Shape 10"/>
          <p:cNvSpPr/>
          <p:nvPr/>
        </p:nvSpPr>
        <p:spPr>
          <a:xfrm>
            <a:off x="7772400" y="4160520"/>
            <a:ext cx="3794760" cy="1005840"/>
          </a:xfrm>
          <a:prstGeom prst="roundRect">
            <a:avLst>
              <a:gd name="adj" fmla="val 8182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4" name="Text 11"/>
          <p:cNvSpPr txBox="1"/>
          <p:nvPr/>
        </p:nvSpPr>
        <p:spPr>
          <a:xfrm>
            <a:off x="8046720" y="4297680"/>
            <a:ext cx="32918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Godaan yang berbahaya</a:t>
            </a:r>
            <a:endParaRPr lang="en-US" sz="1400" dirty="0"/>
          </a:p>
        </p:txBody>
      </p:sp>
      <p:sp>
        <p:nvSpPr>
          <p:cNvPr id="15" name="Text 12"/>
          <p:cNvSpPr txBox="1"/>
          <p:nvPr/>
        </p:nvSpPr>
        <p:spPr>
          <a:xfrm>
            <a:off x="8046720" y="4599432"/>
            <a:ext cx="32918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Menjalankan ulang sampai muncul angka yang bagus, lalu melaporkan angka itu saja.</a:t>
            </a:r>
            <a:endParaRPr lang="en-US" sz="1200" dirty="0"/>
          </a:p>
        </p:txBody>
      </p:sp>
      <p:sp>
        <p:nvSpPr>
          <p:cNvPr id="16" name="Text 13"/>
          <p:cNvSpPr txBox="1"/>
          <p:nvPr/>
        </p:nvSpPr>
        <p:spPr>
          <a:xfrm>
            <a:off x="594360" y="534924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Satu angka dari satu pembagian bukan pengukuran — ia satu lemparan dadu.</a:t>
            </a:r>
            <a:endParaRPr lang="en-US" sz="15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YANG BENAR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Tiga bagian, tiga tugas berbeda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71600"/>
            <a:ext cx="3520440" cy="685800"/>
          </a:xfrm>
          <a:prstGeom prst="roundRect">
            <a:avLst>
              <a:gd name="adj" fmla="val 12000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13716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LATIH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86868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6B8E7F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60%</a:t>
            </a:r>
            <a:endParaRPr lang="en-US" sz="26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mempelajari parameternya di sini. Boleh dilihat berkali-kali.</a:t>
            </a:r>
            <a:endParaRPr lang="en-US" sz="1350" dirty="0"/>
          </a:p>
        </p:txBody>
      </p:sp>
      <p:sp>
        <p:nvSpPr>
          <p:cNvPr id="10" name="Shape 8"/>
          <p:cNvSpPr/>
          <p:nvPr/>
        </p:nvSpPr>
        <p:spPr>
          <a:xfrm>
            <a:off x="4389120" y="13716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4389120" y="1371600"/>
            <a:ext cx="3520440" cy="685800"/>
          </a:xfrm>
          <a:prstGeom prst="roundRect">
            <a:avLst>
              <a:gd name="adj" fmla="val 12000"/>
            </a:avLst>
          </a:prstGeom>
          <a:solidFill>
            <a:srgbClr val="D99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4389120" y="13716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VALIDASI</a:t>
            </a:r>
            <a:endParaRPr lang="en-US" sz="1800" dirty="0"/>
          </a:p>
        </p:txBody>
      </p:sp>
      <p:sp>
        <p:nvSpPr>
          <p:cNvPr id="13" name="Text 11"/>
          <p:cNvSpPr txBox="1"/>
          <p:nvPr/>
        </p:nvSpPr>
        <p:spPr>
          <a:xfrm>
            <a:off x="466344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D9974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20%</a:t>
            </a:r>
            <a:endParaRPr lang="en-US" sz="2600" dirty="0"/>
          </a:p>
        </p:txBody>
      </p:sp>
      <p:sp>
        <p:nvSpPr>
          <p:cNvPr id="14" name="Text 12"/>
          <p:cNvSpPr txBox="1"/>
          <p:nvPr/>
        </p:nvSpPr>
        <p:spPr>
          <a:xfrm>
            <a:off x="470916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Tempat membandingkan hyperparameter dan memilih model. Boleh dilihat berulang.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8183880" y="1371600"/>
            <a:ext cx="3520440" cy="2880360"/>
          </a:xfrm>
          <a:prstGeom prst="roundRect">
            <a:avLst>
              <a:gd name="adj" fmla="val 285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183880" y="1371600"/>
            <a:ext cx="3520440" cy="685800"/>
          </a:xfrm>
          <a:prstGeom prst="roundRect">
            <a:avLst>
              <a:gd name="adj" fmla="val 12000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183880" y="137160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UJI</a:t>
            </a:r>
            <a:endParaRPr lang="en-US" sz="1800" dirty="0"/>
          </a:p>
        </p:txBody>
      </p:sp>
      <p:sp>
        <p:nvSpPr>
          <p:cNvPr id="18" name="Text 16"/>
          <p:cNvSpPr txBox="1"/>
          <p:nvPr/>
        </p:nvSpPr>
        <p:spPr>
          <a:xfrm>
            <a:off x="8458200" y="2240280"/>
            <a:ext cx="29718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2600" b="1" dirty="0">
                <a:solidFill>
                  <a:srgbClr val="C7623E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≈ 20%</a:t>
            </a:r>
            <a:endParaRPr lang="en-US" sz="2600" dirty="0"/>
          </a:p>
        </p:txBody>
      </p:sp>
      <p:sp>
        <p:nvSpPr>
          <p:cNvPr id="19" name="Text 17"/>
          <p:cNvSpPr txBox="1"/>
          <p:nvPr/>
        </p:nvSpPr>
        <p:spPr>
          <a:xfrm>
            <a:off x="8503920" y="288036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ct val="130000"/>
              </a:lnSpc>
              <a:buNone/>
            </a:pPr>
            <a:r>
              <a:rPr lang="en-US" sz="13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Disegel sampai akhir. Dibuka satu kali saja, untuk melaporkan hasil.</a:t>
            </a:r>
            <a:endParaRPr lang="en-US" sz="1350" dirty="0"/>
          </a:p>
        </p:txBody>
      </p:sp>
      <p:sp>
        <p:nvSpPr>
          <p:cNvPr id="20" name="Shape 18"/>
          <p:cNvSpPr/>
          <p:nvPr/>
        </p:nvSpPr>
        <p:spPr>
          <a:xfrm>
            <a:off x="594360" y="4480560"/>
            <a:ext cx="11002975" cy="1325880"/>
          </a:xfrm>
          <a:prstGeom prst="roundRect">
            <a:avLst>
              <a:gd name="adj" fmla="val 6207"/>
            </a:avLst>
          </a:prstGeom>
          <a:solidFill>
            <a:srgbClr val="4E2C3A"/>
          </a:solidFill>
          <a:ln w="12700">
            <a:solidFill>
              <a:srgbClr val="C7623E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1" name="Text 19"/>
          <p:cNvSpPr txBox="1"/>
          <p:nvPr/>
        </p:nvSpPr>
        <p:spPr>
          <a:xfrm>
            <a:off x="1005840" y="4663440"/>
            <a:ext cx="10180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Aturan yang tidak boleh dilanggar</a:t>
            </a:r>
            <a:endParaRPr lang="en-US" sz="1800" dirty="0"/>
          </a:p>
        </p:txBody>
      </p:sp>
      <p:sp>
        <p:nvSpPr>
          <p:cNvPr id="22" name="Text 20"/>
          <p:cNvSpPr txBox="1"/>
          <p:nvPr/>
        </p:nvSpPr>
        <p:spPr>
          <a:xfrm>
            <a:off x="1005840" y="50292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Begitu data uji dipakai untuk memilih sesuatu — model, hyperparameter, bahkan ambang batas — ia berhenti menjadi data uji. Sejak saat itu angkanya tidak lagi menggambarkan kinerja pada data yang benar-benar baru.</a:t>
            </a:r>
            <a:endParaRPr lang="en-US" sz="14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3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Cross-Validation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Memakai seluruh data sebagai penguji, bergantian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10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MEKANISME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Lima putaran, lima penguji berbeda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07008"/>
            <a:ext cx="1100297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5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latih dibagi menjadi k bagian sama besar. Setiap putaran, satu bagian menjadi penguji dan sisanya menjadi pelatih. Diulang sampai semua bagian pernah menjadi penguji.</a:t>
            </a:r>
            <a:endParaRPr lang="en-US" sz="1500" dirty="0"/>
          </a:p>
        </p:txBody>
      </p:sp>
      <p:sp>
        <p:nvSpPr>
          <p:cNvPr id="6" name="Text 4"/>
          <p:cNvSpPr txBox="1"/>
          <p:nvPr/>
        </p:nvSpPr>
        <p:spPr>
          <a:xfrm>
            <a:off x="731520" y="1920240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Putaran 1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2651760" y="1920240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8" name="Text 6"/>
          <p:cNvSpPr txBox="1"/>
          <p:nvPr/>
        </p:nvSpPr>
        <p:spPr>
          <a:xfrm>
            <a:off x="2651760" y="19202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</a:t>
            </a:r>
            <a:endParaRPr lang="en-US" sz="1200" dirty="0"/>
          </a:p>
        </p:txBody>
      </p:sp>
      <p:sp>
        <p:nvSpPr>
          <p:cNvPr id="9" name="Shape 7"/>
          <p:cNvSpPr/>
          <p:nvPr/>
        </p:nvSpPr>
        <p:spPr>
          <a:xfrm>
            <a:off x="4425696" y="1920240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4425696" y="19202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6199632" y="1920240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199632" y="19202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13" name="Shape 11"/>
          <p:cNvSpPr/>
          <p:nvPr/>
        </p:nvSpPr>
        <p:spPr>
          <a:xfrm>
            <a:off x="7973568" y="1920240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4" name="Text 12"/>
          <p:cNvSpPr txBox="1"/>
          <p:nvPr/>
        </p:nvSpPr>
        <p:spPr>
          <a:xfrm>
            <a:off x="7973568" y="19202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15" name="Shape 13"/>
          <p:cNvSpPr/>
          <p:nvPr/>
        </p:nvSpPr>
        <p:spPr>
          <a:xfrm>
            <a:off x="9747504" y="1920240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9747504" y="1920240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17" name="Text 15"/>
          <p:cNvSpPr txBox="1"/>
          <p:nvPr/>
        </p:nvSpPr>
        <p:spPr>
          <a:xfrm>
            <a:off x="11612880" y="1920240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1</a:t>
            </a:r>
            <a:endParaRPr lang="en-US" sz="1250" dirty="0"/>
          </a:p>
        </p:txBody>
      </p:sp>
      <p:sp>
        <p:nvSpPr>
          <p:cNvPr id="18" name="Text 16"/>
          <p:cNvSpPr txBox="1"/>
          <p:nvPr/>
        </p:nvSpPr>
        <p:spPr>
          <a:xfrm>
            <a:off x="731520" y="2542032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Putaran 2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2651760" y="2542032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0" name="Text 18"/>
          <p:cNvSpPr txBox="1"/>
          <p:nvPr/>
        </p:nvSpPr>
        <p:spPr>
          <a:xfrm>
            <a:off x="2651760" y="2542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21" name="Shape 19"/>
          <p:cNvSpPr/>
          <p:nvPr/>
        </p:nvSpPr>
        <p:spPr>
          <a:xfrm>
            <a:off x="4425696" y="2542032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4425696" y="2542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6199632" y="2542032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4" name="Text 22"/>
          <p:cNvSpPr txBox="1"/>
          <p:nvPr/>
        </p:nvSpPr>
        <p:spPr>
          <a:xfrm>
            <a:off x="6199632" y="2542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25" name="Shape 23"/>
          <p:cNvSpPr/>
          <p:nvPr/>
        </p:nvSpPr>
        <p:spPr>
          <a:xfrm>
            <a:off x="7973568" y="2542032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7973568" y="2542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27" name="Shape 25"/>
          <p:cNvSpPr/>
          <p:nvPr/>
        </p:nvSpPr>
        <p:spPr>
          <a:xfrm>
            <a:off x="9747504" y="2542032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9747504" y="2542032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29" name="Text 27"/>
          <p:cNvSpPr txBox="1"/>
          <p:nvPr/>
        </p:nvSpPr>
        <p:spPr>
          <a:xfrm>
            <a:off x="11612880" y="2542032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2</a:t>
            </a:r>
            <a:endParaRPr lang="en-US" sz="1250" dirty="0"/>
          </a:p>
        </p:txBody>
      </p:sp>
      <p:sp>
        <p:nvSpPr>
          <p:cNvPr id="30" name="Text 28"/>
          <p:cNvSpPr txBox="1"/>
          <p:nvPr/>
        </p:nvSpPr>
        <p:spPr>
          <a:xfrm>
            <a:off x="731520" y="3163824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Putaran 3</a:t>
            </a:r>
            <a:endParaRPr lang="en-US" sz="1300" dirty="0"/>
          </a:p>
        </p:txBody>
      </p:sp>
      <p:sp>
        <p:nvSpPr>
          <p:cNvPr id="31" name="Shape 29"/>
          <p:cNvSpPr/>
          <p:nvPr/>
        </p:nvSpPr>
        <p:spPr>
          <a:xfrm>
            <a:off x="2651760" y="3163824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2651760" y="31638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4425696" y="3163824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4425696" y="31638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35" name="Shape 33"/>
          <p:cNvSpPr/>
          <p:nvPr/>
        </p:nvSpPr>
        <p:spPr>
          <a:xfrm>
            <a:off x="6199632" y="3163824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6" name="Text 34"/>
          <p:cNvSpPr txBox="1"/>
          <p:nvPr/>
        </p:nvSpPr>
        <p:spPr>
          <a:xfrm>
            <a:off x="6199632" y="31638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</a:t>
            </a:r>
            <a:endParaRPr lang="en-US" sz="1200" dirty="0"/>
          </a:p>
        </p:txBody>
      </p:sp>
      <p:sp>
        <p:nvSpPr>
          <p:cNvPr id="37" name="Shape 35"/>
          <p:cNvSpPr/>
          <p:nvPr/>
        </p:nvSpPr>
        <p:spPr>
          <a:xfrm>
            <a:off x="7973568" y="3163824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8" name="Text 36"/>
          <p:cNvSpPr txBox="1"/>
          <p:nvPr/>
        </p:nvSpPr>
        <p:spPr>
          <a:xfrm>
            <a:off x="7973568" y="31638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39" name="Shape 37"/>
          <p:cNvSpPr/>
          <p:nvPr/>
        </p:nvSpPr>
        <p:spPr>
          <a:xfrm>
            <a:off x="9747504" y="3163824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0" name="Text 38"/>
          <p:cNvSpPr txBox="1"/>
          <p:nvPr/>
        </p:nvSpPr>
        <p:spPr>
          <a:xfrm>
            <a:off x="9747504" y="3163824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41" name="Text 39"/>
          <p:cNvSpPr txBox="1"/>
          <p:nvPr/>
        </p:nvSpPr>
        <p:spPr>
          <a:xfrm>
            <a:off x="11612880" y="3163824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3</a:t>
            </a:r>
            <a:endParaRPr lang="en-US" sz="1250" dirty="0"/>
          </a:p>
        </p:txBody>
      </p:sp>
      <p:sp>
        <p:nvSpPr>
          <p:cNvPr id="42" name="Text 40"/>
          <p:cNvSpPr txBox="1"/>
          <p:nvPr/>
        </p:nvSpPr>
        <p:spPr>
          <a:xfrm>
            <a:off x="731520" y="3785616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Putaran 4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2651760" y="3785616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4" name="Text 42"/>
          <p:cNvSpPr txBox="1"/>
          <p:nvPr/>
        </p:nvSpPr>
        <p:spPr>
          <a:xfrm>
            <a:off x="2651760" y="37856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45" name="Shape 43"/>
          <p:cNvSpPr/>
          <p:nvPr/>
        </p:nvSpPr>
        <p:spPr>
          <a:xfrm>
            <a:off x="4425696" y="3785616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6" name="Text 44"/>
          <p:cNvSpPr txBox="1"/>
          <p:nvPr/>
        </p:nvSpPr>
        <p:spPr>
          <a:xfrm>
            <a:off x="4425696" y="37856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47" name="Shape 45"/>
          <p:cNvSpPr/>
          <p:nvPr/>
        </p:nvSpPr>
        <p:spPr>
          <a:xfrm>
            <a:off x="6199632" y="3785616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8" name="Text 46"/>
          <p:cNvSpPr txBox="1"/>
          <p:nvPr/>
        </p:nvSpPr>
        <p:spPr>
          <a:xfrm>
            <a:off x="6199632" y="37856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49" name="Shape 47"/>
          <p:cNvSpPr/>
          <p:nvPr/>
        </p:nvSpPr>
        <p:spPr>
          <a:xfrm>
            <a:off x="7973568" y="3785616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0" name="Text 48"/>
          <p:cNvSpPr txBox="1"/>
          <p:nvPr/>
        </p:nvSpPr>
        <p:spPr>
          <a:xfrm>
            <a:off x="7973568" y="37856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</a:t>
            </a:r>
            <a:endParaRPr lang="en-US" sz="1200" dirty="0"/>
          </a:p>
        </p:txBody>
      </p:sp>
      <p:sp>
        <p:nvSpPr>
          <p:cNvPr id="51" name="Shape 49"/>
          <p:cNvSpPr/>
          <p:nvPr/>
        </p:nvSpPr>
        <p:spPr>
          <a:xfrm>
            <a:off x="9747504" y="3785616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2" name="Text 50"/>
          <p:cNvSpPr txBox="1"/>
          <p:nvPr/>
        </p:nvSpPr>
        <p:spPr>
          <a:xfrm>
            <a:off x="9747504" y="3785616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53" name="Text 51"/>
          <p:cNvSpPr txBox="1"/>
          <p:nvPr/>
        </p:nvSpPr>
        <p:spPr>
          <a:xfrm>
            <a:off x="11612880" y="3785616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4</a:t>
            </a:r>
            <a:endParaRPr lang="en-US" sz="1250" dirty="0"/>
          </a:p>
        </p:txBody>
      </p:sp>
      <p:sp>
        <p:nvSpPr>
          <p:cNvPr id="54" name="Text 52"/>
          <p:cNvSpPr txBox="1"/>
          <p:nvPr/>
        </p:nvSpPr>
        <p:spPr>
          <a:xfrm>
            <a:off x="731520" y="4407408"/>
            <a:ext cx="17373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Putaran 5</a:t>
            </a:r>
            <a:endParaRPr lang="en-US" sz="1300" dirty="0"/>
          </a:p>
        </p:txBody>
      </p:sp>
      <p:sp>
        <p:nvSpPr>
          <p:cNvPr id="55" name="Shape 53"/>
          <p:cNvSpPr/>
          <p:nvPr/>
        </p:nvSpPr>
        <p:spPr>
          <a:xfrm>
            <a:off x="2651760" y="4407408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6" name="Text 54"/>
          <p:cNvSpPr txBox="1"/>
          <p:nvPr/>
        </p:nvSpPr>
        <p:spPr>
          <a:xfrm>
            <a:off x="2651760" y="44074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57" name="Shape 55"/>
          <p:cNvSpPr/>
          <p:nvPr/>
        </p:nvSpPr>
        <p:spPr>
          <a:xfrm>
            <a:off x="4425696" y="4407408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58" name="Text 56"/>
          <p:cNvSpPr txBox="1"/>
          <p:nvPr/>
        </p:nvSpPr>
        <p:spPr>
          <a:xfrm>
            <a:off x="4425696" y="44074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59" name="Shape 57"/>
          <p:cNvSpPr/>
          <p:nvPr/>
        </p:nvSpPr>
        <p:spPr>
          <a:xfrm>
            <a:off x="6199632" y="4407408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0" name="Text 58"/>
          <p:cNvSpPr txBox="1"/>
          <p:nvPr/>
        </p:nvSpPr>
        <p:spPr>
          <a:xfrm>
            <a:off x="6199632" y="44074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61" name="Shape 59"/>
          <p:cNvSpPr/>
          <p:nvPr/>
        </p:nvSpPr>
        <p:spPr>
          <a:xfrm>
            <a:off x="7973568" y="4407408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2" name="Text 60"/>
          <p:cNvSpPr txBox="1"/>
          <p:nvPr/>
        </p:nvSpPr>
        <p:spPr>
          <a:xfrm>
            <a:off x="7973568" y="44074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</a:t>
            </a:r>
            <a:endParaRPr lang="en-US" sz="1200" dirty="0"/>
          </a:p>
        </p:txBody>
      </p:sp>
      <p:sp>
        <p:nvSpPr>
          <p:cNvPr id="63" name="Shape 61"/>
          <p:cNvSpPr/>
          <p:nvPr/>
        </p:nvSpPr>
        <p:spPr>
          <a:xfrm>
            <a:off x="9747504" y="4407408"/>
            <a:ext cx="1691640" cy="475488"/>
          </a:xfrm>
          <a:prstGeom prst="roundRect">
            <a:avLst>
              <a:gd name="adj" fmla="val 9615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64" name="Text 62"/>
          <p:cNvSpPr txBox="1"/>
          <p:nvPr/>
        </p:nvSpPr>
        <p:spPr>
          <a:xfrm>
            <a:off x="9747504" y="4407408"/>
            <a:ext cx="169164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uji</a:t>
            </a:r>
            <a:endParaRPr lang="en-US" sz="1200" dirty="0"/>
          </a:p>
        </p:txBody>
      </p:sp>
      <p:sp>
        <p:nvSpPr>
          <p:cNvPr id="65" name="Text 63"/>
          <p:cNvSpPr txBox="1"/>
          <p:nvPr/>
        </p:nvSpPr>
        <p:spPr>
          <a:xfrm>
            <a:off x="11612880" y="4407408"/>
            <a:ext cx="118872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25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 5</a:t>
            </a:r>
            <a:endParaRPr lang="en-US" sz="1250" dirty="0"/>
          </a:p>
        </p:txBody>
      </p:sp>
      <p:sp>
        <p:nvSpPr>
          <p:cNvPr id="66" name="Text 64"/>
          <p:cNvSpPr txBox="1"/>
          <p:nvPr/>
        </p:nvSpPr>
        <p:spPr>
          <a:xfrm>
            <a:off x="594360" y="52578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6B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 akhir adalah rata-rata dari kelima skor — bukan salah satu di antaranya.</a:t>
            </a:r>
            <a:endParaRPr lang="en-US" sz="1500" dirty="0"/>
          </a:p>
        </p:txBody>
      </p:sp>
      <p:sp>
        <p:nvSpPr>
          <p:cNvPr id="67" name="Text 65"/>
          <p:cNvSpPr txBox="1"/>
          <p:nvPr/>
        </p:nvSpPr>
        <p:spPr>
          <a:xfrm>
            <a:off x="594360" y="5650992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Setiap baris data pernah menjadi penguji tepat satu kali, dan menjadi pelatih k−1 kali. Tidak ada data yang terbuang.</a:t>
            </a:r>
            <a:endParaRPr lang="en-US" sz="135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HASIL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angka, bukan satu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72768"/>
            <a:ext cx="502920" cy="45720"/>
          </a:xfrm>
          <a:prstGeom prst="rect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737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Rata-rata</a:t>
            </a:r>
            <a:endParaRPr lang="en-US" sz="20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21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Perkiraan kinerja model pada data baru. Ini angka yang biasanya dilaporkan.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25880"/>
            <a:ext cx="5303520" cy="1371600"/>
          </a:xfrm>
          <a:prstGeom prst="roundRect">
            <a:avLst>
              <a:gd name="adj" fmla="val 6000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572768"/>
            <a:ext cx="502920" cy="45720"/>
          </a:xfrm>
          <a:prstGeom prst="rect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737360"/>
            <a:ext cx="46634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Simpangan baku</a:t>
            </a:r>
            <a:endParaRPr lang="en-US" sz="2000" dirty="0"/>
          </a:p>
        </p:txBody>
      </p:sp>
      <p:sp>
        <p:nvSpPr>
          <p:cNvPr id="12" name="Text 10"/>
          <p:cNvSpPr txBox="1"/>
          <p:nvPr/>
        </p:nvSpPr>
        <p:spPr>
          <a:xfrm>
            <a:off x="6583680" y="2121408"/>
            <a:ext cx="4663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Seberapa goyah kinerja itu antar-fold. Sering diabaikan, padahal sama pentingnya.</a:t>
            </a:r>
            <a:endParaRPr lang="en-US" sz="135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926080"/>
          <a:ext cx="11002975" cy="914400"/>
        </p:xfrm>
        <a:graphic>
          <a:graphicData uri="http://schemas.openxmlformats.org/drawingml/2006/table">
            <a:tbl>
              <a:tblPr/>
              <a:tblGrid>
                <a:gridCol w="3657600"/>
                <a:gridCol w="1737360"/>
                <a:gridCol w="2011680"/>
                <a:gridCol w="3593592"/>
              </a:tblGrid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Hasil 5-fold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Simpangan baku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2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membacanya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3B1F2B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0,84  0,86  0,85  0,84  0,86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0,009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 — dapat dipercaya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0,92  0,74  0,95  0,71  0,93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0,115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Goyah — rata-rata menyembunyikan kekacauan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3035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0,62  0,64  0,63  0,62  0,64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0,630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0,010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Stabil tetapi lemah — kemungkinan underfitting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63500" marR="63500" marT="63500" marB="6350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Shape 11"/>
          <p:cNvSpPr/>
          <p:nvPr/>
        </p:nvSpPr>
        <p:spPr>
          <a:xfrm>
            <a:off x="594360" y="5166360"/>
            <a:ext cx="11002975" cy="868680"/>
          </a:xfrm>
          <a:prstGeom prst="roundRect">
            <a:avLst>
              <a:gd name="adj" fmla="val 9474"/>
            </a:avLst>
          </a:prstGeom>
          <a:solidFill>
            <a:srgbClr val="F5EAE2"/>
          </a:solidFill>
          <a:ln w="12700">
            <a:solidFill>
              <a:srgbClr val="E8D2C2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5" name="Text 12"/>
          <p:cNvSpPr txBox="1"/>
          <p:nvPr/>
        </p:nvSpPr>
        <p:spPr>
          <a:xfrm>
            <a:off x="1005840" y="5349240"/>
            <a:ext cx="10180015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dirty="0">
                <a:solidFill>
                  <a:srgbClr val="8A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Baris kedua adalah peringatan penting: dua model dengan rata-rata identik bisa sangat berbeda kualitasnya. Simpangan baku yang besar biasanya menandakan data terlalu sedikit atau ada fold yang komposisinya jauh berbeda.</a:t>
            </a:r>
            <a:endParaRPr lang="en-US" sz="14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VARIAN PENTING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Ketika pembagian acak tidak cukup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22960" y="1554480"/>
            <a:ext cx="2834640" cy="841248"/>
          </a:xfrm>
          <a:prstGeom prst="roundRect">
            <a:avLst>
              <a:gd name="adj" fmla="val 7609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22960" y="1554480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 k-fold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3886200" y="1545336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proporsi tiap kelas tetap sama di setiap fold.</a:t>
            </a:r>
            <a:endParaRPr lang="en-US" sz="1400" dirty="0"/>
          </a:p>
        </p:txBody>
      </p:sp>
      <p:sp>
        <p:nvSpPr>
          <p:cNvPr id="9" name="Text 7"/>
          <p:cNvSpPr txBox="1"/>
          <p:nvPr/>
        </p:nvSpPr>
        <p:spPr>
          <a:xfrm>
            <a:off x="7315200" y="1527048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dipakai pada data tidak seimbang. Dengan 3% kelas positif, pembagian acak bisa menghasilkan fold yang sama sekali tidak berisi kelas positif.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94360" y="2807208"/>
            <a:ext cx="11002975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22960" y="3035808"/>
            <a:ext cx="2834640" cy="841248"/>
          </a:xfrm>
          <a:prstGeom prst="roundRect">
            <a:avLst>
              <a:gd name="adj" fmla="val 7609"/>
            </a:avLst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22960" y="3035808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Time series split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3886200" y="3026664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 disusun menurut urutan waktu, tidak diacak.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7315200" y="3008376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untuk data berurut waktu. Melatih dengan data masa depan untuk memprediksi masa lalu adalah kebocoran yang sering tidak disadari.</a:t>
            </a:r>
            <a:endParaRPr lang="en-US" sz="1250" dirty="0"/>
          </a:p>
        </p:txBody>
      </p:sp>
      <p:sp>
        <p:nvSpPr>
          <p:cNvPr id="15" name="Shape 13"/>
          <p:cNvSpPr/>
          <p:nvPr/>
        </p:nvSpPr>
        <p:spPr>
          <a:xfrm>
            <a:off x="594360" y="4288536"/>
            <a:ext cx="11002975" cy="1298448"/>
          </a:xfrm>
          <a:prstGeom prst="roundRect">
            <a:avLst>
              <a:gd name="adj" fmla="val 6338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22960" y="4517136"/>
            <a:ext cx="2834640" cy="841248"/>
          </a:xfrm>
          <a:prstGeom prst="roundRect">
            <a:avLst>
              <a:gd name="adj" fmla="val 7609"/>
            </a:avLst>
          </a:prstGeom>
          <a:solidFill>
            <a:srgbClr val="D99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22960" y="4517136"/>
            <a:ext cx="2834640" cy="8412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Group k-fold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3886200" y="4507992"/>
            <a:ext cx="320040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Menjaga data dari satu sumber tidak terpecah antar-fold.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7315200" y="4489704"/>
            <a:ext cx="406908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2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bila satu bus, satu pasien, atau satu pengguna menyumbang banyak baris data yang saling berkaitan.</a:t>
            </a:r>
            <a:endParaRPr lang="en-US" sz="1250" dirty="0"/>
          </a:p>
        </p:txBody>
      </p:sp>
      <p:sp>
        <p:nvSpPr>
          <p:cNvPr id="20" name="Text 18"/>
          <p:cNvSpPr txBox="1"/>
          <p:nvPr/>
        </p:nvSpPr>
        <p:spPr>
          <a:xfrm>
            <a:off x="594360" y="580644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Pembagian acak adalah bawaan perangkat lunak, bukan pilihan yang selalu benar. Periksa dulu sifat data Anda.</a:t>
            </a:r>
            <a:endParaRPr lang="en-US" sz="140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1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Membaca hasil cross-validation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11002975" cy="621792"/>
          </a:xfrm>
          <a:prstGeom prst="roundRect">
            <a:avLst>
              <a:gd name="adj" fmla="val 13235"/>
            </a:avLst>
          </a:prstGeom>
          <a:solidFill>
            <a:srgbClr val="EDF1EF"/>
          </a:solidFill>
          <a:ln w="12700">
            <a:solidFill>
              <a:srgbClr val="D2DFDA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353312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5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berpasangan · 12 menit · Cukup kertas dan kalkulator sederhana</a:t>
            </a:r>
            <a:endParaRPr lang="en-US" sz="1450" dirty="0"/>
          </a:p>
        </p:txBody>
      </p:sp>
      <p:sp>
        <p:nvSpPr>
          <p:cNvPr id="7" name="Text 5"/>
          <p:cNvSpPr txBox="1"/>
          <p:nvPr/>
        </p:nvSpPr>
        <p:spPr>
          <a:xfrm>
            <a:off x="594360" y="1965960"/>
            <a:ext cx="11002975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model diuji dengan 5-fold cross-validation pada data yang sama. Berikut skor akurasi tiap fold.</a:t>
            </a:r>
            <a:endParaRPr lang="en-US" sz="1400" dirty="0"/>
          </a:p>
        </p:txBody>
      </p:sp>
      <p:graphicFrame>
        <p:nvGraphicFramePr>
          <p:cNvPr id="15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2377440"/>
          <a:ext cx="11002975" cy="914400"/>
        </p:xfrm>
        <a:graphic>
          <a:graphicData uri="http://schemas.openxmlformats.org/drawingml/2006/table">
            <a:tbl>
              <a:tblPr/>
              <a:tblGrid>
                <a:gridCol w="1691640"/>
                <a:gridCol w="1188720"/>
                <a:gridCol w="1188720"/>
                <a:gridCol w="1188720"/>
                <a:gridCol w="1188720"/>
                <a:gridCol w="1188720"/>
                <a:gridCol w="1600200"/>
                <a:gridCol w="1764792"/>
              </a:tblGrid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Fold 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Rata-rata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b="1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Simpangan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A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0,86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0,87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0,83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438912"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B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0,92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0,74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0,95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0,71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35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0,93</a:t>
                      </a: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endParaRPr lang="en-US" sz="13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 anchor="ctr">
                    <a:lnL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E0D5D8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Shape 6"/>
          <p:cNvSpPr/>
          <p:nvPr/>
        </p:nvSpPr>
        <p:spPr>
          <a:xfrm>
            <a:off x="594360" y="4023360"/>
            <a:ext cx="11002975" cy="1783080"/>
          </a:xfrm>
          <a:prstGeom prst="roundRect">
            <a:avLst>
              <a:gd name="adj" fmla="val 4615"/>
            </a:avLst>
          </a:prstGeom>
          <a:solidFill>
            <a:srgbClr val="3B1F2B"/>
          </a:solidFill>
          <a:ln w="12700">
            <a:solidFill>
              <a:srgbClr val="3B1F2B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0" name="Text 7"/>
          <p:cNvSpPr txBox="1"/>
          <p:nvPr/>
        </p:nvSpPr>
        <p:spPr>
          <a:xfrm>
            <a:off x="1005840" y="4206240"/>
            <a:ext cx="10180015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E8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Setelah tabel terisi, jawab empat hal</a:t>
            </a:r>
            <a:endParaRPr lang="en-US" sz="1800" dirty="0"/>
          </a:p>
        </p:txBody>
      </p:sp>
      <p:sp>
        <p:nvSpPr>
          <p:cNvPr id="11" name="Text 8"/>
          <p:cNvSpPr txBox="1"/>
          <p:nvPr/>
        </p:nvSpPr>
        <p:spPr>
          <a:xfrm>
            <a:off x="1005840" y="4572000"/>
            <a:ext cx="10180015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Berapa rata-rata masing-masing? Apakah keduanya sama?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mana yang simpangan bakunya jauh lebih besar? Apa artinya?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Anda hanya melihat Fold 3, model mana yang tampak lebih unggul? Apa bahayanya kesimpulan itu?</a:t>
            </a:r>
            <a:endParaRPr lang="en-US" sz="1350" dirty="0"/>
          </a:p>
          <a:p>
            <a:pPr marL="342900" indent="-342900">
              <a:spcAft>
                <a:spcPts val="500"/>
              </a:spcAft>
              <a:buSzPct val="100000"/>
              <a:buChar char="•"/>
            </a:pPr>
            <a:r>
              <a:rPr lang="en-US" sz="13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mana yang Anda pilih untuk dipakai, dan apa satu langkah yang akan Anda lakukan lebih dulu sebelum memutuskan?</a:t>
            </a:r>
            <a:endParaRPr lang="en-US" sz="135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4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Tuning</a:t>
            </a:r>
            <a:endParaRPr lang="en-US" sz="3800" dirty="0"/>
          </a:p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Hyperparameter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Mencari kombinasi terbaik secara sistematis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</a:t>
            </a:r>
            <a:endParaRPr lang="en-US" sz="10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PERTAMA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search: coba semua kombinasi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16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Tentukan daftar nilai untuk tiap hyperparameter, lalu uji setiap kombinasi yang mungkin dengan cross-validation.</a:t>
            </a:r>
            <a:endParaRPr lang="en-US" sz="1600" dirty="0"/>
          </a:p>
        </p:txBody>
      </p:sp>
      <p:sp>
        <p:nvSpPr>
          <p:cNvPr id="6" name="Shape 4"/>
          <p:cNvSpPr/>
          <p:nvPr/>
        </p:nvSpPr>
        <p:spPr>
          <a:xfrm>
            <a:off x="594360" y="1828800"/>
            <a:ext cx="5394960" cy="1965960"/>
          </a:xfrm>
          <a:prstGeom prst="roundRect">
            <a:avLst>
              <a:gd name="adj" fmla="val 4186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7" name="Text 5"/>
          <p:cNvSpPr txBox="1"/>
          <p:nvPr/>
        </p:nvSpPr>
        <p:spPr>
          <a:xfrm>
            <a:off x="914400" y="2011680"/>
            <a:ext cx="475488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Contoh daftar nilai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395728"/>
            <a:ext cx="475488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λ    ∈  { 0,01 ;  0,1 ;  1 ;  10 }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α    ∈  { 0,001 ;  0,01 ;  0,1 }</a:t>
            </a:r>
            <a:endParaRPr lang="en-US" sz="1400" dirty="0"/>
          </a:p>
          <a:p>
            <a:pPr algn="l" indent="0" marL="0">
              <a:lnSpc>
                <a:spcPct val="140000"/>
              </a:lnSpc>
              <a:buNone/>
            </a:pPr>
            <a:r>
              <a:rPr lang="en-US" sz="1400" dirty="0">
                <a:solidFill>
                  <a:srgbClr val="2B1A21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jenis ∈  { Ridge ;  Lasso }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6446520" y="1828800"/>
            <a:ext cx="5120640" cy="1965960"/>
          </a:xfrm>
          <a:prstGeom prst="roundRect">
            <a:avLst>
              <a:gd name="adj" fmla="val 3256"/>
            </a:avLst>
          </a:prstGeom>
          <a:solidFill>
            <a:srgbClr val="3B1F2B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0" name="Text 8"/>
          <p:cNvSpPr txBox="1"/>
          <p:nvPr/>
        </p:nvSpPr>
        <p:spPr>
          <a:xfrm>
            <a:off x="6446520" y="1828800"/>
            <a:ext cx="5120640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dirty="0">
                <a:solidFill>
                  <a:srgbClr val="E8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 × 3 × 2 = 24 kombinasi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× 5 fold</a:t>
            </a:r>
            <a:endParaRPr lang="en-US" sz="1900" dirty="0"/>
          </a:p>
          <a:p>
            <a:pPr algn="ctr" indent="0" marL="0">
              <a:buNone/>
            </a:pPr>
            <a:r>
              <a:rPr lang="en-US" sz="1900" dirty="0">
                <a:solidFill>
                  <a:srgbClr val="E8B36A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= 120 kali pelatihan</a:t>
            </a:r>
            <a:endParaRPr lang="en-US" sz="1900" dirty="0"/>
          </a:p>
        </p:txBody>
      </p:sp>
      <p:sp>
        <p:nvSpPr>
          <p:cNvPr id="11" name="Text 9"/>
          <p:cNvSpPr txBox="1"/>
          <p:nvPr/>
        </p:nvSpPr>
        <p:spPr>
          <a:xfrm>
            <a:off x="594360" y="40233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12" name="Text 10"/>
          <p:cNvSpPr txBox="1"/>
          <p:nvPr/>
        </p:nvSpPr>
        <p:spPr>
          <a:xfrm>
            <a:off x="960120" y="40233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Menyeluruh — tidak ada kombinasi dalam daftar yang terlewat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594360" y="44805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6B8E7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960120" y="44805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Hasilnya dapat diulang persis oleh orang lain</a:t>
            </a:r>
            <a:endParaRPr lang="en-US" sz="1400" dirty="0"/>
          </a:p>
        </p:txBody>
      </p:sp>
      <p:sp>
        <p:nvSpPr>
          <p:cNvPr id="15" name="Text 13"/>
          <p:cNvSpPr txBox="1"/>
          <p:nvPr/>
        </p:nvSpPr>
        <p:spPr>
          <a:xfrm>
            <a:off x="594360" y="49377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700" dirty="0"/>
          </a:p>
        </p:txBody>
      </p:sp>
      <p:sp>
        <p:nvSpPr>
          <p:cNvPr id="16" name="Text 14"/>
          <p:cNvSpPr txBox="1"/>
          <p:nvPr/>
        </p:nvSpPr>
        <p:spPr>
          <a:xfrm>
            <a:off x="960120" y="49377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Biaya tumbuh secara perkalian — menambah satu hyperparameter dapat melipatgandakan waktu</a:t>
            </a:r>
            <a:endParaRPr lang="en-US" sz="1400" dirty="0"/>
          </a:p>
        </p:txBody>
      </p:sp>
      <p:sp>
        <p:nvSpPr>
          <p:cNvPr id="17" name="Text 15"/>
          <p:cNvSpPr txBox="1"/>
          <p:nvPr/>
        </p:nvSpPr>
        <p:spPr>
          <a:xfrm>
            <a:off x="594360" y="5394960"/>
            <a:ext cx="2743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960120" y="5394960"/>
            <a:ext cx="104241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Banyak waktu terbuang pada hyperparameter yang ternyata tidak berpengaruh</a:t>
            </a:r>
            <a:endParaRPr lang="en-US" sz="14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PENDEKATAN KEDUA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Random search: ambil sampel acak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17</a:t>
            </a:r>
            <a:endParaRPr lang="en-US" sz="10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1280160"/>
            <a:ext cx="1100297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Alih-alih mencoba semua kombinasi, tentukan rentang untuk tiap hyperparameter lalu ambil sejumlah kombinasi acak dari rentang itu.</a:t>
            </a:r>
            <a:endParaRPr lang="en-US" sz="1600" dirty="0"/>
          </a:p>
        </p:txBody>
      </p:sp>
      <p:graphicFrame>
        <p:nvGraphicFramePr>
          <p:cNvPr id="18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94360" y="1874520"/>
          <a:ext cx="11002975" cy="914400"/>
        </p:xfrm>
        <a:graphic>
          <a:graphicData uri="http://schemas.openxmlformats.org/drawingml/2006/table">
            <a:tbl>
              <a:tblPr/>
              <a:tblGrid>
                <a:gridCol w="3108960"/>
                <a:gridCol w="3931920"/>
                <a:gridCol w="3959352"/>
              </a:tblGrid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Grid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C3A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Random Search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4E2C3A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Cara memilih kombinasi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Semua kombinasi dari daftar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Sejumlah n kombinasi acak dari rentang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Jumlah percobaan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Ditentukan oleh perkalian daftar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Ditentukan sendiri oleh Anda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Bila anggaran waktu terbatas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Harus memangkas daftar nilai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Cukup kurangi n, rentang tetap luas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yang dapat ditemukan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Hanya yang ada dalam daftar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Nilai apa pun dalam rentang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029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Saat sebagian hyperparameter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tidak berpengaruh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Waktu terbuang mengulanginya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300" dirty="0">
                          <a:solidFill>
                            <a:srgbClr val="2B1A21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Tetap menjelajah yang berpengaruh</a:t>
                      </a:r>
                      <a:endParaRPr lang="en-US" sz="13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76200" marR="76200" marT="76200" marB="76200" anchor="ctr">
                    <a:lnL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C9B9B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7" name="Shape 4"/>
          <p:cNvSpPr/>
          <p:nvPr/>
        </p:nvSpPr>
        <p:spPr>
          <a:xfrm>
            <a:off x="594360" y="5074920"/>
            <a:ext cx="11002975" cy="1005840"/>
          </a:xfrm>
          <a:prstGeom prst="roundRect">
            <a:avLst>
              <a:gd name="adj" fmla="val 8182"/>
            </a:avLst>
          </a:prstGeom>
          <a:solidFill>
            <a:srgbClr val="4E2C3A"/>
          </a:solidFill>
          <a:ln w="12700">
            <a:solidFill>
              <a:srgbClr val="D9974A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8" name="Text 5"/>
          <p:cNvSpPr txBox="1"/>
          <p:nvPr/>
        </p:nvSpPr>
        <p:spPr>
          <a:xfrm>
            <a:off x="1005840" y="5257800"/>
            <a:ext cx="1018001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Temuan yang mengejutkan: pada sebagian besar kasus, random search dengan 60 percobaan menemukan hasil yang setara dengan grid search yang mencoba ratusan kombinasi — karena biasanya hanya satu atau dua hyperparameter yang benar-benar berpengaruh.</a:t>
            </a:r>
            <a:endParaRPr lang="en-US" sz="14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ALUR KERJA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Urutan yang benar dari awal sampai akhir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18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444752"/>
            <a:ext cx="530352" cy="530352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444752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7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399032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Pisahkan data uji lebih dulu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6355080" y="1399032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Sebelum melihat apa pun. Segel dan jangan disentuh.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221992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340864"/>
            <a:ext cx="530352" cy="530352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340864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700" dirty="0"/>
          </a:p>
        </p:txBody>
      </p:sp>
      <p:sp>
        <p:nvSpPr>
          <p:cNvPr id="13" name="Text 11"/>
          <p:cNvSpPr txBox="1"/>
          <p:nvPr/>
        </p:nvSpPr>
        <p:spPr>
          <a:xfrm>
            <a:off x="1600200" y="2295144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Lakukan praproses hanya pada data latih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6355080" y="2295144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Rata-rata dan simpangan untuk penskalaan dihitung dari data latih saja.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118104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236976"/>
            <a:ext cx="530352" cy="530352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236976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17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3191256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Jalankan pencarian hyperparameter dengan cross-validation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6355080" y="3191256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pencarian berlangsung di dalam data latih.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014216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133088"/>
            <a:ext cx="530352" cy="530352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13308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700" dirty="0"/>
          </a:p>
        </p:txBody>
      </p:sp>
      <p:sp>
        <p:nvSpPr>
          <p:cNvPr id="23" name="Text 21"/>
          <p:cNvSpPr txBox="1"/>
          <p:nvPr/>
        </p:nvSpPr>
        <p:spPr>
          <a:xfrm>
            <a:off x="1600200" y="4087368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 ulang model terbaik pada seluruh data latih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6355080" y="4087368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Dengan hyperparameter yang sudah terpilih.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94360" y="4910328"/>
            <a:ext cx="11002975" cy="777240"/>
          </a:xfrm>
          <a:prstGeom prst="roundRect">
            <a:avLst>
              <a:gd name="adj" fmla="val 10588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68680" y="5029200"/>
            <a:ext cx="530352" cy="530352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68680" y="5029200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7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700" dirty="0"/>
          </a:p>
        </p:txBody>
      </p:sp>
      <p:sp>
        <p:nvSpPr>
          <p:cNvPr id="28" name="Text 26"/>
          <p:cNvSpPr txBox="1"/>
          <p:nvPr/>
        </p:nvSpPr>
        <p:spPr>
          <a:xfrm>
            <a:off x="1600200" y="4983480"/>
            <a:ext cx="45720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Buka segel data uji, evaluasi satu kali</a:t>
            </a:r>
            <a:endParaRPr lang="en-US" sz="1450" dirty="0"/>
          </a:p>
        </p:txBody>
      </p:sp>
      <p:sp>
        <p:nvSpPr>
          <p:cNvPr id="29" name="Text 27"/>
          <p:cNvSpPr txBox="1"/>
          <p:nvPr/>
        </p:nvSpPr>
        <p:spPr>
          <a:xfrm>
            <a:off x="6355080" y="4983480"/>
            <a:ext cx="50292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Angka inilah yang dilaporkan. Tidak boleh diulang.</a:t>
            </a:r>
            <a:endParaRPr lang="en-US" sz="1300" dirty="0"/>
          </a:p>
        </p:txBody>
      </p:sp>
      <p:sp>
        <p:nvSpPr>
          <p:cNvPr id="30" name="Text 28"/>
          <p:cNvSpPr txBox="1"/>
          <p:nvPr/>
        </p:nvSpPr>
        <p:spPr>
          <a:xfrm>
            <a:off x="594360" y="585216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400" b="1" i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Bila langkah 5 menghasilkan angka yang mengecewakan, Anda tidak boleh kembali ke langkah 3 lalu mengulang langkah 5. Itu mengubah data uji menjadi data validasi.</a:t>
            </a:r>
            <a:endParaRPr lang="en-US" sz="14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9418320" y="-1371600"/>
            <a:ext cx="4754880" cy="475488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607040" y="4023360"/>
            <a:ext cx="3108960" cy="310896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28600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BAGIAN 5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697480"/>
            <a:ext cx="78638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Kebocoran Data</a:t>
            </a:r>
            <a:endParaRPr lang="en-US" sz="3800" dirty="0"/>
          </a:p>
        </p:txBody>
      </p:sp>
      <p:sp>
        <p:nvSpPr>
          <p:cNvPr id="6" name="Text 4"/>
          <p:cNvSpPr txBox="1"/>
          <p:nvPr/>
        </p:nvSpPr>
        <p:spPr>
          <a:xfrm>
            <a:off x="594360" y="4114800"/>
            <a:ext cx="768096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5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Kesalahan yang membuat seluruh angka tidak berarti</a:t>
            </a:r>
            <a:endParaRPr lang="en-US" sz="1500" dirty="0"/>
          </a:p>
        </p:txBody>
      </p:sp>
      <p:sp>
        <p:nvSpPr>
          <p:cNvPr id="7" name="Text 5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19</a:t>
            </a:r>
            <a:endParaRPr lang="en-US" sz="10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DUA BENTUK UTAMA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Dari mana informasi masa depan menyusup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594360" y="132588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32588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Praproses sebelum pembagian</a:t>
            </a:r>
            <a:endParaRPr lang="en-US" sz="18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Bentuknya</a:t>
            </a:r>
            <a:endParaRPr lang="en-US" sz="115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4505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dinormalisasi memakai rata-rata dan simpangan dari seluruh dataset, baru kemudian dibagi.</a:t>
            </a:r>
            <a:endParaRPr lang="en-US" sz="1350" dirty="0"/>
          </a:p>
        </p:txBody>
      </p:sp>
      <p:sp>
        <p:nvSpPr>
          <p:cNvPr id="10" name="Text 8"/>
          <p:cNvSpPr txBox="1"/>
          <p:nvPr/>
        </p:nvSpPr>
        <p:spPr>
          <a:xfrm>
            <a:off x="914400" y="32735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Akibatnya</a:t>
            </a:r>
            <a:endParaRPr lang="en-US" sz="1150" dirty="0"/>
          </a:p>
        </p:txBody>
      </p:sp>
      <p:sp>
        <p:nvSpPr>
          <p:cNvPr id="11" name="Text 9"/>
          <p:cNvSpPr txBox="1"/>
          <p:nvPr/>
        </p:nvSpPr>
        <p:spPr>
          <a:xfrm>
            <a:off x="914400" y="35295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Statistik data uji ikut masuk ke dalam data latih. Model sudah tahu sesuatu tentang data yang seharusnya asing baginya.</a:t>
            </a:r>
            <a:endParaRPr lang="en-US" sz="1350" dirty="0"/>
          </a:p>
        </p:txBody>
      </p:sp>
      <p:sp>
        <p:nvSpPr>
          <p:cNvPr id="12" name="Shape 10"/>
          <p:cNvSpPr/>
          <p:nvPr/>
        </p:nvSpPr>
        <p:spPr>
          <a:xfrm>
            <a:off x="914400" y="4389120"/>
            <a:ext cx="4663440" cy="18288"/>
          </a:xfrm>
          <a:prstGeom prst="rect">
            <a:avLst/>
          </a:prstGeom>
          <a:solidFill>
            <a:srgbClr val="E5D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914400" y="45537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Gejalanya: skor pada data uji terlihat terlalu bagus dan tidak pernah tercapai lagi setelah sistem dipakai.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6263640" y="1325880"/>
            <a:ext cx="5303520" cy="4206240"/>
          </a:xfrm>
          <a:prstGeom prst="roundRect">
            <a:avLst>
              <a:gd name="adj" fmla="val 1957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5" name="Shape 13"/>
          <p:cNvSpPr/>
          <p:nvPr/>
        </p:nvSpPr>
        <p:spPr>
          <a:xfrm>
            <a:off x="6263640" y="1325880"/>
            <a:ext cx="5303520" cy="713232"/>
          </a:xfrm>
          <a:prstGeom prst="roundRect">
            <a:avLst>
              <a:gd name="adj" fmla="val 11538"/>
            </a:avLst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6" name="Text 14"/>
          <p:cNvSpPr txBox="1"/>
          <p:nvPr/>
        </p:nvSpPr>
        <p:spPr>
          <a:xfrm>
            <a:off x="6583680" y="1325880"/>
            <a:ext cx="4663440" cy="7132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Memilih berdasarkan data uji</a:t>
            </a:r>
            <a:endParaRPr lang="en-US" sz="1800" dirty="0"/>
          </a:p>
        </p:txBody>
      </p:sp>
      <p:sp>
        <p:nvSpPr>
          <p:cNvPr id="17" name="Text 15"/>
          <p:cNvSpPr txBox="1"/>
          <p:nvPr/>
        </p:nvSpPr>
        <p:spPr>
          <a:xfrm>
            <a:off x="6583680" y="2194560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Bentuknya</a:t>
            </a:r>
            <a:endParaRPr lang="en-US" sz="1150" dirty="0"/>
          </a:p>
        </p:txBody>
      </p:sp>
      <p:sp>
        <p:nvSpPr>
          <p:cNvPr id="18" name="Text 16"/>
          <p:cNvSpPr txBox="1"/>
          <p:nvPr/>
        </p:nvSpPr>
        <p:spPr>
          <a:xfrm>
            <a:off x="6583680" y="2450592"/>
            <a:ext cx="46634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Beberapa model dicoba, semuanya dinilai pada data uji, lalu yang skornya tertinggi dilaporkan.</a:t>
            </a:r>
            <a:endParaRPr lang="en-US" sz="1350" dirty="0"/>
          </a:p>
        </p:txBody>
      </p:sp>
      <p:sp>
        <p:nvSpPr>
          <p:cNvPr id="19" name="Text 17"/>
          <p:cNvSpPr txBox="1"/>
          <p:nvPr/>
        </p:nvSpPr>
        <p:spPr>
          <a:xfrm>
            <a:off x="6583680" y="3273552"/>
            <a:ext cx="46634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150" b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Akibatnya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6583680" y="3529584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uji berubah fungsi menjadi data validasi. Angka yang dilaporkan sudah dioptimalkan terhadapnya.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6583680" y="4389120"/>
            <a:ext cx="4663440" cy="18288"/>
          </a:xfrm>
          <a:prstGeom prst="rect">
            <a:avLst/>
          </a:prstGeom>
          <a:solidFill>
            <a:srgbClr val="E5DCD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6583680" y="4553712"/>
            <a:ext cx="46634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00" i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Gejalanya: model juara di laporan, tetapi biasa saja ketika benar-benar dipakai.</a:t>
            </a:r>
            <a:endParaRPr lang="en-US" sz="130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715000"/>
            <a:ext cx="11002975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3B1F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Kebocoran data tidak membuat model menjadi buruk. Ia membuat kita tidak tahu apakah model itu baik atau buruk.</a:t>
            </a:r>
            <a:endParaRPr lang="en-US" sz="15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TERBIMBING 2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Audit empat prosedur evaluasi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207008"/>
            <a:ext cx="11002975" cy="621792"/>
          </a:xfrm>
          <a:prstGeom prst="roundRect">
            <a:avLst>
              <a:gd name="adj" fmla="val 13235"/>
            </a:avLst>
          </a:prstGeom>
          <a:solidFill>
            <a:srgbClr val="EDF1EF"/>
          </a:solidFill>
          <a:ln w="12700">
            <a:solidFill>
              <a:srgbClr val="D2DFDA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Text 4"/>
          <p:cNvSpPr txBox="1"/>
          <p:nvPr/>
        </p:nvSpPr>
        <p:spPr>
          <a:xfrm>
            <a:off x="960120" y="1353312"/>
            <a:ext cx="1027145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50" b="1" dirty="0">
                <a:solidFill>
                  <a:srgbClr val="3F5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Kerjakan berkelompok tiga orang · 15 menit · Untuk tiap prosedur: valid atau tidak, dan tunjukkan letak masalahnya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594360" y="2011680"/>
            <a:ext cx="1100297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8" name="Shape 6"/>
          <p:cNvSpPr/>
          <p:nvPr/>
        </p:nvSpPr>
        <p:spPr>
          <a:xfrm>
            <a:off x="850392" y="2157984"/>
            <a:ext cx="548640" cy="54864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9" name="Text 7"/>
          <p:cNvSpPr txBox="1"/>
          <p:nvPr/>
        </p:nvSpPr>
        <p:spPr>
          <a:xfrm>
            <a:off x="850392" y="215798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P-1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600200" y="210312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Seluruh dataset dinormalisasi terlebih dahulu, kemudian dibagi menjadi data latih dan data uji. Model dilatih dan dievaluasi.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594360" y="2971800"/>
            <a:ext cx="1100297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2" name="Shape 10"/>
          <p:cNvSpPr/>
          <p:nvPr/>
        </p:nvSpPr>
        <p:spPr>
          <a:xfrm>
            <a:off x="850392" y="3118104"/>
            <a:ext cx="548640" cy="54864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3" name="Text 11"/>
          <p:cNvSpPr txBox="1"/>
          <p:nvPr/>
        </p:nvSpPr>
        <p:spPr>
          <a:xfrm>
            <a:off x="850392" y="311810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P-2</a:t>
            </a:r>
            <a:endParaRPr lang="en-US" sz="1400" dirty="0"/>
          </a:p>
        </p:txBody>
      </p:sp>
      <p:sp>
        <p:nvSpPr>
          <p:cNvPr id="14" name="Text 12"/>
          <p:cNvSpPr txBox="1"/>
          <p:nvPr/>
        </p:nvSpPr>
        <p:spPr>
          <a:xfrm>
            <a:off x="1600200" y="306324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dibagi latih dan uji. Grid search dijalankan dengan 5-fold cross-validation di dalam data latih. Model terbaik dievaluasi satu kali pada data uji.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594360" y="3931920"/>
            <a:ext cx="1100297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50392" y="4078224"/>
            <a:ext cx="548640" cy="54864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50392" y="407822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P-3</a:t>
            </a:r>
            <a:endParaRPr lang="en-US" sz="1400" dirty="0"/>
          </a:p>
        </p:txBody>
      </p:sp>
      <p:sp>
        <p:nvSpPr>
          <p:cNvPr id="18" name="Text 16"/>
          <p:cNvSpPr txBox="1"/>
          <p:nvPr/>
        </p:nvSpPr>
        <p:spPr>
          <a:xfrm>
            <a:off x="1600200" y="402336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dibagi latih dan uji. Enam model dicoba, semuanya dievaluasi pada data uji, lalu model dengan skor tertinggi dilaporkan sebagai hasil akhir.</a:t>
            </a:r>
            <a:endParaRPr lang="en-US" sz="1350" dirty="0"/>
          </a:p>
        </p:txBody>
      </p:sp>
      <p:sp>
        <p:nvSpPr>
          <p:cNvPr id="19" name="Shape 17"/>
          <p:cNvSpPr/>
          <p:nvPr/>
        </p:nvSpPr>
        <p:spPr>
          <a:xfrm>
            <a:off x="594360" y="4892040"/>
            <a:ext cx="11002975" cy="841248"/>
          </a:xfrm>
          <a:prstGeom prst="roundRect">
            <a:avLst>
              <a:gd name="adj" fmla="val 9783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0" name="Shape 18"/>
          <p:cNvSpPr/>
          <p:nvPr/>
        </p:nvSpPr>
        <p:spPr>
          <a:xfrm>
            <a:off x="850392" y="5038344"/>
            <a:ext cx="548640" cy="54864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1" name="Text 19"/>
          <p:cNvSpPr txBox="1"/>
          <p:nvPr/>
        </p:nvSpPr>
        <p:spPr>
          <a:xfrm>
            <a:off x="850392" y="5038344"/>
            <a:ext cx="548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P-4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1600200" y="4983480"/>
            <a:ext cx="978408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catatan perjalanan bus selama tiga tahun dibagi secara acak menjadi lima fold untuk cross-validation.</a:t>
            </a:r>
            <a:endParaRPr lang="en-US" sz="1350" dirty="0"/>
          </a:p>
        </p:txBody>
      </p:sp>
      <p:sp>
        <p:nvSpPr>
          <p:cNvPr id="23" name="Text 21"/>
          <p:cNvSpPr txBox="1"/>
          <p:nvPr/>
        </p:nvSpPr>
        <p:spPr>
          <a:xfrm>
            <a:off x="594360" y="594360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sz="1350" i="1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Petunjuk: tiga dari empat prosedur mengandung masalah. Bagian tersulit bukan menemukan yang salah, melainkan menjelaskan mengapa itu salah.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KASUS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laporan dari lapangan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810512"/>
            <a:ext cx="566928" cy="566928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1645920" y="15544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 melaporkan akurasi 0,91 dari 5-fold cross-validation, tanpa menyebutkan simpangan bakunya sama sekali.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263640" y="137160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6583680" y="1810512"/>
            <a:ext cx="566928" cy="566928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6583680" y="181051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</a:t>
            </a:r>
            <a:endParaRPr lang="en-US" sz="1900" dirty="0"/>
          </a:p>
        </p:txBody>
      </p:sp>
      <p:sp>
        <p:nvSpPr>
          <p:cNvPr id="12" name="Text 10"/>
          <p:cNvSpPr txBox="1"/>
          <p:nvPr/>
        </p:nvSpPr>
        <p:spPr>
          <a:xfrm>
            <a:off x="7315200" y="155448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search dengan lima hyperparameter dan sepuluh nilai tiap hyperparameter diusulkan. Tenggat proyek tinggal tiga hari.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594360" y="306324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914400" y="3502152"/>
            <a:ext cx="566928" cy="566928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914400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</a:t>
            </a:r>
            <a:endParaRPr lang="en-US" sz="1900" dirty="0"/>
          </a:p>
        </p:txBody>
      </p:sp>
      <p:sp>
        <p:nvSpPr>
          <p:cNvPr id="16" name="Text 14"/>
          <p:cNvSpPr txBox="1"/>
          <p:nvPr/>
        </p:nvSpPr>
        <p:spPr>
          <a:xfrm>
            <a:off x="1645920" y="3246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deteksi kerusakan mesin dengan 1,5% kasus positif dievaluasi memakai k-fold biasa. Dua fold tidak berisi satu pun kasus positif.</a:t>
            </a:r>
            <a:endParaRPr lang="en-US" sz="1350" dirty="0"/>
          </a:p>
        </p:txBody>
      </p:sp>
      <p:sp>
        <p:nvSpPr>
          <p:cNvPr id="17" name="Shape 15"/>
          <p:cNvSpPr/>
          <p:nvPr/>
        </p:nvSpPr>
        <p:spPr>
          <a:xfrm>
            <a:off x="6263640" y="3063240"/>
            <a:ext cx="5303520" cy="1463040"/>
          </a:xfrm>
          <a:prstGeom prst="roundRect">
            <a:avLst>
              <a:gd name="adj" fmla="val 5625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6583680" y="3502152"/>
            <a:ext cx="566928" cy="566928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6583680" y="3502152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</a:t>
            </a:r>
            <a:endParaRPr lang="en-US" sz="1900" dirty="0"/>
          </a:p>
        </p:txBody>
      </p:sp>
      <p:sp>
        <p:nvSpPr>
          <p:cNvPr id="20" name="Text 18"/>
          <p:cNvSpPr txBox="1"/>
          <p:nvPr/>
        </p:nvSpPr>
        <p:spPr>
          <a:xfrm>
            <a:off x="7315200" y="3246120"/>
            <a:ext cx="4023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35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Setelah data uji dibuka dan hasilnya mengecewakan, tim kembali menyetel hyperparameter lalu menguji ulang pada data uji yang sama.</a:t>
            </a:r>
            <a:endParaRPr lang="en-US" sz="1350" dirty="0"/>
          </a:p>
        </p:txBody>
      </p:sp>
      <p:sp>
        <p:nvSpPr>
          <p:cNvPr id="21" name="Shape 19"/>
          <p:cNvSpPr/>
          <p:nvPr/>
        </p:nvSpPr>
        <p:spPr>
          <a:xfrm>
            <a:off x="594360" y="484632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3B1F2B"/>
          </a:solidFill>
          <a:ln w="12700">
            <a:solidFill>
              <a:srgbClr val="3B1F2B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2" name="Text 20"/>
          <p:cNvSpPr txBox="1"/>
          <p:nvPr/>
        </p:nvSpPr>
        <p:spPr>
          <a:xfrm>
            <a:off x="1005840" y="5047488"/>
            <a:ext cx="10180015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Untuk tiap laporan: apa masalahnya, dan apa satu tindakan pertama yang Anda sarankan? Jawab dengan alasan.</a:t>
            </a:r>
            <a:endParaRPr lang="en-US" sz="145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4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Diskusi kelompok 4 orang · 15 menit.</a:t>
            </a:r>
            <a:endParaRPr lang="en-US" sz="145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WASPADAI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Empat salah kaprah yang paling sering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23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868680" y="1545336"/>
            <a:ext cx="502920" cy="50292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868680" y="1545336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554480" y="1453896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Cross-validation membuat model lebih baik</a:t>
            </a:r>
            <a:endParaRPr lang="en-US" sz="1450" dirty="0"/>
          </a:p>
        </p:txBody>
      </p:sp>
      <p:sp>
        <p:nvSpPr>
          <p:cNvPr id="9" name="Text 7"/>
          <p:cNvSpPr txBox="1"/>
          <p:nvPr/>
        </p:nvSpPr>
        <p:spPr>
          <a:xfrm>
            <a:off x="5943600" y="1435608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Tidak. Ia hanya membuat penilaian kita lebih dapat dipercaya. Modelnya sendiri tidak berubah.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94360" y="2404872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868680" y="2624328"/>
            <a:ext cx="502920" cy="50292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868680" y="262432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3" name="Text 11"/>
          <p:cNvSpPr txBox="1"/>
          <p:nvPr/>
        </p:nvSpPr>
        <p:spPr>
          <a:xfrm>
            <a:off x="1554480" y="2532888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Semakin besar k semakin baik</a:t>
            </a:r>
            <a:endParaRPr lang="en-US" sz="1450" dirty="0"/>
          </a:p>
        </p:txBody>
      </p:sp>
      <p:sp>
        <p:nvSpPr>
          <p:cNvPr id="14" name="Text 12"/>
          <p:cNvSpPr txBox="1"/>
          <p:nvPr/>
        </p:nvSpPr>
        <p:spPr>
          <a:xfrm>
            <a:off x="5943600" y="2514600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 besar memberi perkiraan lebih teliti tetapi jauh lebih mahal, dan hasilnya menjadi lebih goyah antar-fold.</a:t>
            </a:r>
            <a:endParaRPr lang="en-US" sz="1300" dirty="0"/>
          </a:p>
        </p:txBody>
      </p:sp>
      <p:sp>
        <p:nvSpPr>
          <p:cNvPr id="15" name="Shape 13"/>
          <p:cNvSpPr/>
          <p:nvPr/>
        </p:nvSpPr>
        <p:spPr>
          <a:xfrm>
            <a:off x="594360" y="3483864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6" name="Shape 14"/>
          <p:cNvSpPr/>
          <p:nvPr/>
        </p:nvSpPr>
        <p:spPr>
          <a:xfrm>
            <a:off x="868680" y="3703320"/>
            <a:ext cx="502920" cy="50292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7" name="Text 15"/>
          <p:cNvSpPr txBox="1"/>
          <p:nvPr/>
        </p:nvSpPr>
        <p:spPr>
          <a:xfrm>
            <a:off x="868680" y="3703320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18" name="Text 16"/>
          <p:cNvSpPr txBox="1"/>
          <p:nvPr/>
        </p:nvSpPr>
        <p:spPr>
          <a:xfrm>
            <a:off x="1554480" y="3611880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validasi dan data uji itu sama saja</a:t>
            </a:r>
            <a:endParaRPr lang="en-US" sz="1450" dirty="0"/>
          </a:p>
        </p:txBody>
      </p:sp>
      <p:sp>
        <p:nvSpPr>
          <p:cNvPr id="19" name="Text 17"/>
          <p:cNvSpPr txBox="1"/>
          <p:nvPr/>
        </p:nvSpPr>
        <p:spPr>
          <a:xfrm>
            <a:off x="5943600" y="3593592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validasi boleh dilihat berkali-kali untuk memilih. Data uji hanya boleh dibuka sekali, di akhir.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94360" y="4562856"/>
            <a:ext cx="11002975" cy="932688"/>
          </a:xfrm>
          <a:prstGeom prst="roundRect">
            <a:avLst>
              <a:gd name="adj" fmla="val 8824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1" name="Shape 19"/>
          <p:cNvSpPr/>
          <p:nvPr/>
        </p:nvSpPr>
        <p:spPr>
          <a:xfrm>
            <a:off x="868680" y="4782312"/>
            <a:ext cx="502920" cy="50292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2" name="Text 20"/>
          <p:cNvSpPr txBox="1"/>
          <p:nvPr/>
        </p:nvSpPr>
        <p:spPr>
          <a:xfrm>
            <a:off x="868680" y="4782312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✕</a:t>
            </a:r>
            <a:endParaRPr lang="en-US" sz="1600" dirty="0"/>
          </a:p>
        </p:txBody>
      </p:sp>
      <p:sp>
        <p:nvSpPr>
          <p:cNvPr id="23" name="Text 21"/>
          <p:cNvSpPr txBox="1"/>
          <p:nvPr/>
        </p:nvSpPr>
        <p:spPr>
          <a:xfrm>
            <a:off x="1554480" y="4690872"/>
            <a:ext cx="42062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1450" b="1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Kebocoran data selalu terlihat dari hasilnya</a:t>
            </a:r>
            <a:endParaRPr lang="en-US" sz="1450" dirty="0"/>
          </a:p>
        </p:txBody>
      </p:sp>
      <p:sp>
        <p:nvSpPr>
          <p:cNvPr id="24" name="Text 22"/>
          <p:cNvSpPr txBox="1"/>
          <p:nvPr/>
        </p:nvSpPr>
        <p:spPr>
          <a:xfrm>
            <a:off x="5943600" y="4672584"/>
            <a:ext cx="557784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13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Justru sebaliknya. Gejalanya adalah hasil yang bagus — dan itulah yang membuatnya sulit disadari.</a:t>
            </a:r>
            <a:endParaRPr lang="en-US" sz="130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RINGKASAN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Yang perlu Anda bawa pulang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24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664208"/>
            <a:ext cx="457200" cy="41148"/>
          </a:xfrm>
          <a:prstGeom prst="rect">
            <a:avLst/>
          </a:prstGeom>
          <a:solidFill>
            <a:srgbClr val="E8B3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Dua jenis angka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91440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Parameter dipelajari model.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Hyperparameter ditetapkan Anda.</a:t>
            </a:r>
            <a:endParaRPr lang="en-US" sz="1250" dirty="0"/>
          </a:p>
        </p:txBody>
      </p:sp>
      <p:sp>
        <p:nvSpPr>
          <p:cNvPr id="9" name="Shape 7"/>
          <p:cNvSpPr/>
          <p:nvPr/>
        </p:nvSpPr>
        <p:spPr>
          <a:xfrm>
            <a:off x="438912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0" name="Shape 8"/>
          <p:cNvSpPr/>
          <p:nvPr/>
        </p:nvSpPr>
        <p:spPr>
          <a:xfrm>
            <a:off x="4709160" y="1664208"/>
            <a:ext cx="457200" cy="41148"/>
          </a:xfrm>
          <a:prstGeom prst="rect">
            <a:avLst/>
          </a:prstGeom>
          <a:solidFill>
            <a:srgbClr val="E8B3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1" name="Text 9"/>
          <p:cNvSpPr txBox="1"/>
          <p:nvPr/>
        </p:nvSpPr>
        <p:spPr>
          <a:xfrm>
            <a:off x="470916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Satu split rapuh</a:t>
            </a:r>
            <a:endParaRPr lang="en-US" sz="1600" dirty="0"/>
          </a:p>
        </p:txBody>
      </p:sp>
      <p:sp>
        <p:nvSpPr>
          <p:cNvPr id="12" name="Text 10"/>
          <p:cNvSpPr txBox="1"/>
          <p:nvPr/>
        </p:nvSpPr>
        <p:spPr>
          <a:xfrm>
            <a:off x="470916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Skornya bergantung pada baris mana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yang kebetulan masuk data uji.</a:t>
            </a:r>
            <a:endParaRPr lang="en-US" sz="1250" dirty="0"/>
          </a:p>
        </p:txBody>
      </p:sp>
      <p:sp>
        <p:nvSpPr>
          <p:cNvPr id="13" name="Shape 11"/>
          <p:cNvSpPr/>
          <p:nvPr/>
        </p:nvSpPr>
        <p:spPr>
          <a:xfrm>
            <a:off x="8183880" y="137160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4" name="Shape 12"/>
          <p:cNvSpPr/>
          <p:nvPr/>
        </p:nvSpPr>
        <p:spPr>
          <a:xfrm>
            <a:off x="8503920" y="1664208"/>
            <a:ext cx="457200" cy="41148"/>
          </a:xfrm>
          <a:prstGeom prst="rect">
            <a:avLst/>
          </a:prstGeom>
          <a:solidFill>
            <a:srgbClr val="E8B3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5" name="Text 13"/>
          <p:cNvSpPr txBox="1"/>
          <p:nvPr/>
        </p:nvSpPr>
        <p:spPr>
          <a:xfrm>
            <a:off x="8503920" y="181051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k-fold</a:t>
            </a:r>
            <a:endParaRPr lang="en-US" sz="1600" dirty="0"/>
          </a:p>
        </p:txBody>
      </p:sp>
      <p:sp>
        <p:nvSpPr>
          <p:cNvPr id="16" name="Text 14"/>
          <p:cNvSpPr txBox="1"/>
          <p:nvPr/>
        </p:nvSpPr>
        <p:spPr>
          <a:xfrm>
            <a:off x="8503920" y="219456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Semua data bergiliran menjadi penguji.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Laporkan rata-rata dan simpangan.</a:t>
            </a:r>
            <a:endParaRPr lang="en-US" sz="1250" dirty="0"/>
          </a:p>
        </p:txBody>
      </p:sp>
      <p:sp>
        <p:nvSpPr>
          <p:cNvPr id="17" name="Shape 15"/>
          <p:cNvSpPr/>
          <p:nvPr/>
        </p:nvSpPr>
        <p:spPr>
          <a:xfrm>
            <a:off x="59436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8" name="Shape 16"/>
          <p:cNvSpPr/>
          <p:nvPr/>
        </p:nvSpPr>
        <p:spPr>
          <a:xfrm>
            <a:off x="914400" y="3630168"/>
            <a:ext cx="457200" cy="41148"/>
          </a:xfrm>
          <a:prstGeom prst="rect">
            <a:avLst/>
          </a:prstGeom>
          <a:solidFill>
            <a:srgbClr val="E8B3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9" name="Text 17"/>
          <p:cNvSpPr txBox="1"/>
          <p:nvPr/>
        </p:nvSpPr>
        <p:spPr>
          <a:xfrm>
            <a:off x="91440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Stratified</a:t>
            </a:r>
            <a:endParaRPr lang="en-US" sz="1600" dirty="0"/>
          </a:p>
        </p:txBody>
      </p:sp>
      <p:sp>
        <p:nvSpPr>
          <p:cNvPr id="20" name="Text 18"/>
          <p:cNvSpPr txBox="1"/>
          <p:nvPr/>
        </p:nvSpPr>
        <p:spPr>
          <a:xfrm>
            <a:off x="91440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Wajib pada data tidak seimbang.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 series split untuk data berurut.</a:t>
            </a:r>
            <a:endParaRPr lang="en-US" sz="1250" dirty="0"/>
          </a:p>
        </p:txBody>
      </p:sp>
      <p:sp>
        <p:nvSpPr>
          <p:cNvPr id="21" name="Shape 19"/>
          <p:cNvSpPr/>
          <p:nvPr/>
        </p:nvSpPr>
        <p:spPr>
          <a:xfrm>
            <a:off x="438912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2" name="Shape 20"/>
          <p:cNvSpPr/>
          <p:nvPr/>
        </p:nvSpPr>
        <p:spPr>
          <a:xfrm>
            <a:off x="4709160" y="3630168"/>
            <a:ext cx="457200" cy="41148"/>
          </a:xfrm>
          <a:prstGeom prst="rect">
            <a:avLst/>
          </a:prstGeom>
          <a:solidFill>
            <a:srgbClr val="E8B3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3" name="Text 21"/>
          <p:cNvSpPr txBox="1"/>
          <p:nvPr/>
        </p:nvSpPr>
        <p:spPr>
          <a:xfrm>
            <a:off x="470916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Grid vs Random</a:t>
            </a:r>
            <a:endParaRPr lang="en-US" sz="1600" dirty="0"/>
          </a:p>
        </p:txBody>
      </p:sp>
      <p:sp>
        <p:nvSpPr>
          <p:cNvPr id="24" name="Text 22"/>
          <p:cNvSpPr txBox="1"/>
          <p:nvPr/>
        </p:nvSpPr>
        <p:spPr>
          <a:xfrm>
            <a:off x="470916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Grid menyeluruh tetapi mahal.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Random lebih hemat pada anggaran ketat.</a:t>
            </a:r>
            <a:endParaRPr lang="en-US" sz="1250" dirty="0"/>
          </a:p>
        </p:txBody>
      </p:sp>
      <p:sp>
        <p:nvSpPr>
          <p:cNvPr id="25" name="Shape 23"/>
          <p:cNvSpPr/>
          <p:nvPr/>
        </p:nvSpPr>
        <p:spPr>
          <a:xfrm>
            <a:off x="8183880" y="3337560"/>
            <a:ext cx="3520440" cy="1737360"/>
          </a:xfrm>
          <a:prstGeom prst="roundRect">
            <a:avLst>
              <a:gd name="adj" fmla="val 4737"/>
            </a:avLst>
          </a:prstGeom>
          <a:solidFill>
            <a:srgbClr val="4E2C3A"/>
          </a:solidFill>
          <a:ln w="12700">
            <a:solidFill>
              <a:srgbClr val="65404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26" name="Shape 24"/>
          <p:cNvSpPr/>
          <p:nvPr/>
        </p:nvSpPr>
        <p:spPr>
          <a:xfrm>
            <a:off x="8503920" y="3630168"/>
            <a:ext cx="457200" cy="41148"/>
          </a:xfrm>
          <a:prstGeom prst="rect">
            <a:avLst/>
          </a:prstGeom>
          <a:solidFill>
            <a:srgbClr val="E8B3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27" name="Text 25"/>
          <p:cNvSpPr txBox="1"/>
          <p:nvPr/>
        </p:nvSpPr>
        <p:spPr>
          <a:xfrm>
            <a:off x="8503920" y="3776472"/>
            <a:ext cx="28803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E8B36A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uji disegel</a:t>
            </a:r>
            <a:endParaRPr lang="en-US" sz="1600" dirty="0"/>
          </a:p>
        </p:txBody>
      </p:sp>
      <p:sp>
        <p:nvSpPr>
          <p:cNvPr id="28" name="Text 26"/>
          <p:cNvSpPr txBox="1"/>
          <p:nvPr/>
        </p:nvSpPr>
        <p:spPr>
          <a:xfrm>
            <a:off x="8503920" y="4160520"/>
            <a:ext cx="288036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Dibuka satu kali di akhir. Sekali</a:t>
            </a:r>
            <a:endParaRPr lang="en-US" sz="1250" dirty="0"/>
          </a:p>
          <a:p>
            <a:pPr algn="l" indent="0" marL="0">
              <a:lnSpc>
                <a:spcPct val="125000"/>
              </a:lnSpc>
              <a:buNone/>
            </a:pPr>
            <a:r>
              <a:rPr lang="en-US" sz="1250" dirty="0">
                <a:solidFill>
                  <a:srgbClr val="E0D2D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dipakai memilih, ia tidak sah lagi.</a:t>
            </a:r>
            <a:endParaRPr lang="en-US" sz="125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7F3F4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94360" y="128016"/>
            <a:ext cx="11002975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762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TINDAK LANJUT</a:t>
            </a:r>
            <a:endParaRPr lang="en-US" sz="1100" dirty="0"/>
          </a:p>
        </p:txBody>
      </p:sp>
      <p:sp>
        <p:nvSpPr>
          <p:cNvPr id="3" name="Text 1"/>
          <p:cNvSpPr txBox="1"/>
          <p:nvPr/>
        </p:nvSpPr>
        <p:spPr>
          <a:xfrm>
            <a:off x="594360" y="384048"/>
            <a:ext cx="11002975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Sebelum pertemuan berikutnya</a:t>
            </a:r>
            <a:endParaRPr lang="en-US" sz="3000" dirty="0"/>
          </a:p>
        </p:txBody>
      </p:sp>
      <p:sp>
        <p:nvSpPr>
          <p:cNvPr id="4" name="Text 2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</a:t>
            </a:r>
            <a:endParaRPr lang="en-US" sz="1000" dirty="0"/>
          </a:p>
        </p:txBody>
      </p:sp>
      <p:sp>
        <p:nvSpPr>
          <p:cNvPr id="5" name="Shape 3"/>
          <p:cNvSpPr/>
          <p:nvPr/>
        </p:nvSpPr>
        <p:spPr>
          <a:xfrm>
            <a:off x="594360" y="1325880"/>
            <a:ext cx="54864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6" name="Shape 4"/>
          <p:cNvSpPr/>
          <p:nvPr/>
        </p:nvSpPr>
        <p:spPr>
          <a:xfrm>
            <a:off x="914400" y="1572768"/>
            <a:ext cx="530352" cy="530352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91440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BM</a:t>
            </a:r>
            <a:endParaRPr lang="en-US" sz="1300" dirty="0"/>
          </a:p>
        </p:txBody>
      </p:sp>
      <p:sp>
        <p:nvSpPr>
          <p:cNvPr id="8" name="Text 6"/>
          <p:cNvSpPr txBox="1"/>
          <p:nvPr/>
        </p:nvSpPr>
        <p:spPr>
          <a:xfrm>
            <a:off x="1600200" y="1627632"/>
            <a:ext cx="4114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Belajar Mandiri  ·  180 menit</a:t>
            </a:r>
            <a:endParaRPr lang="en-US" sz="1700" dirty="0"/>
          </a:p>
        </p:txBody>
      </p:sp>
      <p:sp>
        <p:nvSpPr>
          <p:cNvPr id="9" name="Text 7"/>
          <p:cNvSpPr txBox="1"/>
          <p:nvPr/>
        </p:nvSpPr>
        <p:spPr>
          <a:xfrm>
            <a:off x="914400" y="2240280"/>
            <a:ext cx="48463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Membaca Géron [1] Bab 2 mengenai cross-validation dan pencarian hyperparameter, serta ISL [11] Bab 5.</a:t>
            </a:r>
            <a:endParaRPr lang="en-US" sz="1400" dirty="0"/>
          </a:p>
        </p:txBody>
      </p:sp>
      <p:sp>
        <p:nvSpPr>
          <p:cNvPr id="10" name="Shape 8"/>
          <p:cNvSpPr/>
          <p:nvPr/>
        </p:nvSpPr>
        <p:spPr>
          <a:xfrm>
            <a:off x="6537960" y="1325880"/>
            <a:ext cx="5029200" cy="2011680"/>
          </a:xfrm>
          <a:prstGeom prst="roundRect">
            <a:avLst>
              <a:gd name="adj" fmla="val 4091"/>
            </a:avLst>
          </a:prstGeom>
          <a:solidFill>
            <a:srgbClr val="FFFFFF"/>
          </a:solidFill>
          <a:ln w="12700">
            <a:solidFill>
              <a:srgbClr val="E5DCDF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1" name="Shape 9"/>
          <p:cNvSpPr/>
          <p:nvPr/>
        </p:nvSpPr>
        <p:spPr>
          <a:xfrm>
            <a:off x="6858000" y="1572768"/>
            <a:ext cx="530352" cy="530352"/>
          </a:xfrm>
          <a:prstGeom prst="ellipse">
            <a:avLst/>
          </a:prstGeom>
          <a:solidFill>
            <a:srgbClr val="D9974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12" name="Text 10"/>
          <p:cNvSpPr txBox="1"/>
          <p:nvPr/>
        </p:nvSpPr>
        <p:spPr>
          <a:xfrm>
            <a:off x="6858000" y="1572768"/>
            <a:ext cx="530352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PT</a:t>
            </a:r>
            <a:endParaRPr lang="en-US" sz="1300" dirty="0"/>
          </a:p>
        </p:txBody>
      </p:sp>
      <p:sp>
        <p:nvSpPr>
          <p:cNvPr id="13" name="Text 11"/>
          <p:cNvSpPr txBox="1"/>
          <p:nvPr/>
        </p:nvSpPr>
        <p:spPr>
          <a:xfrm>
            <a:off x="7543800" y="1627632"/>
            <a:ext cx="3794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700" b="1" dirty="0">
                <a:solidFill>
                  <a:srgbClr val="3B1F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Penugasan Terstruktur  ·  180 menit</a:t>
            </a:r>
            <a:endParaRPr lang="en-US" sz="1700" dirty="0"/>
          </a:p>
        </p:txBody>
      </p:sp>
      <p:sp>
        <p:nvSpPr>
          <p:cNvPr id="14" name="Text 12"/>
          <p:cNvSpPr txBox="1"/>
          <p:nvPr/>
        </p:nvSpPr>
        <p:spPr>
          <a:xfrm>
            <a:off x="6858000" y="2240280"/>
            <a:ext cx="448056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400" dirty="0">
                <a:solidFill>
                  <a:srgbClr val="2B1A2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audit: menilai validitas empat skenario prosedur evaluasi model dan menunjukkan letak kesalahannya.</a:t>
            </a:r>
            <a:endParaRPr lang="en-US" sz="1400" dirty="0"/>
          </a:p>
        </p:txBody>
      </p:sp>
      <p:sp>
        <p:nvSpPr>
          <p:cNvPr id="15" name="Shape 13"/>
          <p:cNvSpPr/>
          <p:nvPr/>
        </p:nvSpPr>
        <p:spPr>
          <a:xfrm>
            <a:off x="594360" y="3566160"/>
            <a:ext cx="11002975" cy="822960"/>
          </a:xfrm>
          <a:prstGeom prst="roundRect">
            <a:avLst>
              <a:gd name="adj" fmla="val 10000"/>
            </a:avLst>
          </a:prstGeom>
          <a:solidFill>
            <a:srgbClr val="EDF1EF"/>
          </a:solidFill>
          <a:ln w="12700">
            <a:solidFill>
              <a:srgbClr val="D2DFDA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6" name="Text 14"/>
          <p:cNvSpPr txBox="1"/>
          <p:nvPr/>
        </p:nvSpPr>
        <p:spPr>
          <a:xfrm>
            <a:off x="1005840" y="3767328"/>
            <a:ext cx="1018001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400" dirty="0">
                <a:solidFill>
                  <a:srgbClr val="3F5C5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Latihan ini bersifat formatif — tidak berbobot tersendiri. Kontribusi Anda saat pembahasan di kelas dinilai melalui komponen Aktivitas Partisipatif.</a:t>
            </a:r>
            <a:endParaRPr lang="en-US" sz="1400" dirty="0"/>
          </a:p>
        </p:txBody>
      </p:sp>
      <p:sp>
        <p:nvSpPr>
          <p:cNvPr id="17" name="Shape 15"/>
          <p:cNvSpPr/>
          <p:nvPr/>
        </p:nvSpPr>
        <p:spPr>
          <a:xfrm>
            <a:off x="594360" y="4572000"/>
            <a:ext cx="11002975" cy="960120"/>
          </a:xfrm>
          <a:prstGeom prst="roundRect">
            <a:avLst>
              <a:gd name="adj" fmla="val 8571"/>
            </a:avLst>
          </a:prstGeom>
          <a:solidFill>
            <a:srgbClr val="F5EAE2"/>
          </a:solidFill>
          <a:ln w="12700">
            <a:solidFill>
              <a:srgbClr val="E8D2C2"/>
            </a:solidFill>
            <a:prstDash val="solid"/>
          </a:ln>
          <a:effectLst>
            <a:outerShdw sx="100000" sy="100000" kx="0" ky="0" algn="bl" rotWithShape="0" blurRad="101600" dist="508" dir="5400000">
              <a:srgbClr val="BFAEB4">
                <a:alpha val="30000"/>
              </a:srgbClr>
            </a:outerShdw>
          </a:effectLst>
        </p:spPr>
      </p:sp>
      <p:sp>
        <p:nvSpPr>
          <p:cNvPr id="18" name="Text 16"/>
          <p:cNvSpPr txBox="1"/>
          <p:nvPr/>
        </p:nvSpPr>
        <p:spPr>
          <a:xfrm>
            <a:off x="1005840" y="4773168"/>
            <a:ext cx="10180015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25000"/>
              </a:lnSpc>
              <a:buNone/>
            </a:pPr>
            <a:r>
              <a:rPr lang="en-US" sz="1400" b="1" dirty="0">
                <a:solidFill>
                  <a:srgbClr val="8A4A2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Catatan untuk Studi Kasus Akhir: bagian B.5 dokumen tugas meminta Anda menunjukkan di titik mana prosedur Anda berpotensi mengalami kebocoran data. Materi hari ini adalah bekal langsung untuk bagian itu.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594360" y="5760720"/>
            <a:ext cx="1100297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250" dirty="0">
                <a:solidFill>
                  <a:srgbClr val="7C66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Bacaan pendukung:  [1] Géron Bab 2  ·  [11] James dkk. Bab 5  ·  [9] CS 189/289A — https://eecs189.org/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3B1F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645920" y="4206240"/>
            <a:ext cx="4937760" cy="4937760"/>
          </a:xfrm>
          <a:prstGeom prst="ellipse">
            <a:avLst/>
          </a:prstGeom>
          <a:solidFill>
            <a:srgbClr val="C7623E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10241280" y="-1463040"/>
            <a:ext cx="3840480" cy="3840480"/>
          </a:xfrm>
          <a:prstGeom prst="ellipse">
            <a:avLst/>
          </a:prstGeom>
          <a:solidFill>
            <a:srgbClr val="6B8E7F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4" name="Text 2"/>
          <p:cNvSpPr txBox="1"/>
          <p:nvPr/>
        </p:nvSpPr>
        <p:spPr>
          <a:xfrm>
            <a:off x="594360" y="2011680"/>
            <a:ext cx="8686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E8B36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PERTEMUAN BERIKUTNYA</a:t>
            </a:r>
            <a:endParaRPr lang="en-US" sz="1300" dirty="0"/>
          </a:p>
        </p:txBody>
      </p:sp>
      <p:sp>
        <p:nvSpPr>
          <p:cNvPr id="5" name="Text 3"/>
          <p:cNvSpPr txBox="1"/>
          <p:nvPr/>
        </p:nvSpPr>
        <p:spPr>
          <a:xfrm>
            <a:off x="594360" y="2468880"/>
            <a:ext cx="86868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Model Berbasis Pohon</a:t>
            </a:r>
            <a:endParaRPr lang="en-US" sz="3600" dirty="0"/>
          </a:p>
          <a:p>
            <a:pPr algn="l" indent="0" marL="0">
              <a:lnSpc>
                <a:spcPct val="115000"/>
              </a:lnSpc>
              <a:buNone/>
            </a:pPr>
            <a:r>
              <a:rPr lang="en-US" sz="3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dan Ensemble</a:t>
            </a:r>
            <a:endParaRPr lang="en-US" sz="3600" dirty="0"/>
          </a:p>
        </p:txBody>
      </p:sp>
      <p:sp>
        <p:nvSpPr>
          <p:cNvPr id="6" name="Shape 4"/>
          <p:cNvSpPr/>
          <p:nvPr/>
        </p:nvSpPr>
        <p:spPr>
          <a:xfrm>
            <a:off x="594360" y="4069080"/>
            <a:ext cx="1371600" cy="32004"/>
          </a:xfrm>
          <a:prstGeom prst="rect">
            <a:avLst/>
          </a:prstGeom>
          <a:solidFill>
            <a:srgbClr val="E8B36A"/>
          </a:solidFill>
          <a:ln w="12700">
            <a:solidFill>
              <a:srgbClr val="333333"/>
            </a:solidFill>
            <a:prstDash val="solid"/>
          </a:ln>
        </p:spPr>
      </p:sp>
      <p:sp>
        <p:nvSpPr>
          <p:cNvPr id="7" name="Text 5"/>
          <p:cNvSpPr txBox="1"/>
          <p:nvPr/>
        </p:nvSpPr>
        <p:spPr>
          <a:xfrm>
            <a:off x="594360" y="4343400"/>
            <a:ext cx="868680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Hari ini kita belajar memastikan angka penilaian kita jujur. Pertemuan depan kita memakai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prosedur itu untuk menilai keluarga model yang sama sekali baru — dan Anda akan</a:t>
            </a:r>
            <a:endParaRPr lang="en-US" sz="1600" dirty="0"/>
          </a:p>
          <a:p>
            <a:pPr algn="l" indent="0" marL="0">
              <a:lnSpc>
                <a:spcPct val="130000"/>
              </a:lnSpc>
              <a:buNone/>
            </a:pPr>
            <a:r>
              <a:rPr lang="en-US" sz="1600" dirty="0">
                <a:solidFill>
                  <a:srgbClr val="D6C3C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memaparkan satu algoritma pilihan Anda sendiri lewat Presentasi Kilat.</a:t>
            </a:r>
            <a:endParaRPr lang="en-US" sz="1600" dirty="0"/>
          </a:p>
        </p:txBody>
      </p:sp>
      <p:sp>
        <p:nvSpPr>
          <p:cNvPr id="8" name="Text 6"/>
          <p:cNvSpPr txBox="1"/>
          <p:nvPr/>
        </p:nvSpPr>
        <p:spPr>
          <a:xfrm>
            <a:off x="11231575" y="6291072"/>
            <a:ext cx="457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00" dirty="0">
                <a:solidFill>
                  <a:srgbClr val="9B83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26</a:t>
            </a:r>
            <a:endParaRPr lang="en-US" sz="10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26</Slides>
  <Notes>26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  <vt:lpstr>Slide 26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2026-08-31T10:03:45Z</dcterms:created>
  <dcterms:modified xsi:type="dcterms:W3CDTF">2026-08-31T10:03:45Z</dcterms:modified>
</cp:coreProperties>
</file>