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mbria"/>
              </a:rPr>
              <a:t>Data aktual vs prediksi garis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aktual</c:v>
                </c:pt>
              </c:strCache>
            </c:strRef>
          </c:tx>
          <c:spPr>
            <a:solidFill>
              <a:srgbClr val="065A8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14</c:v>
                </c:pt>
                <c:pt idx="2">
                  <c:v>22</c:v>
                </c:pt>
                <c:pt idx="3">
                  <c:v>26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Prediksi garis y = 4x</c:v>
                </c:pt>
              </c:strCache>
            </c:strRef>
          </c:tx>
          <c:spPr>
            <a:solidFill>
              <a:srgbClr val="F2A65A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A65A"/>
              </a:solidFill>
              <a:ln w="9525" cap="flat">
                <a:solidFill>
                  <a:srgbClr val="F2A65A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7D"/>
                    </a:solidFill>
                    <a:latin typeface="Arial"/>
                  </a:rPr>
                  <a:t>Jarak (km)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7D"/>
                    </a:solidFill>
                    <a:latin typeface="Arial"/>
                  </a:rPr>
                  <a:t>Waktu (menit)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α terlalu kecil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50</c:v>
                </c:pt>
                <c:pt idx="1">
                  <c:v>47</c:v>
                </c:pt>
                <c:pt idx="2">
                  <c:v>44.5</c:v>
                </c:pt>
                <c:pt idx="3">
                  <c:v>42</c:v>
                </c:pt>
                <c:pt idx="4">
                  <c:v>40</c:v>
                </c:pt>
                <c:pt idx="5">
                  <c:v>38</c:v>
                </c:pt>
                <c:pt idx="6">
                  <c:v>36.5</c:v>
                </c:pt>
                <c:pt idx="7">
                  <c:v>35</c:v>
                </c:pt>
                <c:pt idx="8">
                  <c:v>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α tepat</c:v>
                </c:pt>
              </c:strCache>
            </c:strRef>
          </c:tx>
          <c:spPr>
            <a:solidFill>
              <a:srgbClr val="F2A65A"/>
            </a:solidFill>
            <a:ln w="38100" cap="flat">
              <a:solidFill>
                <a:srgbClr val="F2A6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65A"/>
              </a:solidFill>
              <a:ln w="9525" cap="flat">
                <a:solidFill>
                  <a:srgbClr val="F2A6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50</c:v>
                </c:pt>
                <c:pt idx="1">
                  <c:v>22</c:v>
                </c:pt>
                <c:pt idx="2">
                  <c:v>10</c:v>
                </c:pt>
                <c:pt idx="3">
                  <c:v>5</c:v>
                </c:pt>
                <c:pt idx="4">
                  <c:v>3</c:v>
                </c:pt>
                <c:pt idx="5">
                  <c:v>2.2</c:v>
                </c:pt>
                <c:pt idx="6">
                  <c:v>1.9</c:v>
                </c:pt>
                <c:pt idx="7">
                  <c:v>1.8</c:v>
                </c:pt>
                <c:pt idx="8">
                  <c:v>1.75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α terlalu besar</c:v>
                </c:pt>
              </c:strCache>
            </c:strRef>
          </c:tx>
          <c:spPr>
            <a:solidFill>
              <a:srgbClr val="C0504D"/>
            </a:solidFill>
            <a:ln w="381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50</c:v>
                </c:pt>
                <c:pt idx="1">
                  <c:v>30</c:v>
                </c:pt>
                <c:pt idx="2">
                  <c:v>45</c:v>
                </c:pt>
                <c:pt idx="3">
                  <c:v>26</c:v>
                </c:pt>
                <c:pt idx="4">
                  <c:v>48</c:v>
                </c:pt>
                <c:pt idx="5">
                  <c:v>24</c:v>
                </c:pt>
                <c:pt idx="6">
                  <c:v>52</c:v>
                </c:pt>
                <c:pt idx="7">
                  <c:v>22</c:v>
                </c:pt>
                <c:pt idx="8">
                  <c:v>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7D"/>
                    </a:solidFill>
                    <a:latin typeface="Arial"/>
                  </a:rPr>
                  <a:t>Iterasi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7D"/>
                    </a:solidFill>
                    <a:latin typeface="Arial"/>
                  </a:rPr>
                  <a:t>Nilai loss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B7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4 dari 16. Durasi tatap muka 150 menit. Struktur: 4 bagian, 2 latihan terbimbing, 1 diskusi kasus. Ingatkan bahwa ini mata kuliah teori: fokus pada penalaran, bukan menulis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 konteks: tiga pertemuan pertama adalah persiapan. Hari ini pertama kali mereka melihat "mesin belajar" bekerja.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indikator 04: mahasiswa sering berhenti di angka. Interpretasi kontekstual yang dinilai.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langsung beri jawaban. Minta mahasiswa menebak nilai w kasar dari tabel (sekitar 3 menit per km). Ini membangun intuisi sebelum formalisme.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tegas: x dan f(x) berubah tiap baris data; w dan b tetap untuk seluruh dataset. Ini titik bingung paling umum.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korelasi vs kausalitas wajib ditekankan. Kaitkan dengan materi etika pertemuan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di grafik: jarak vertikal antara titik oranye dan titik biru adalah residual. Minta mahasiswa menunjuk titik dengan residual terbesar.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Sifat ketiga adalah kunci menuju bagian 3. Gradient Descent butuh turunan; MSE menyediakannya dengan mudah.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Tanyakan: untuk memprediksi waktu tempuh ambulans, mana yang lebih tepat? (MSE, karena keterlambatan besar berakibat fatal.)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Garis A residual 0,0,2,0 -&gt; MSE = 1,0. Garis B residual 0,-2,-2,-6 -&gt; MSE = 11,0. Garis A jauh lebih baik. Dengan MAE: A = 0,5 dan B = 2,5 - kesimpulan sama, tetapi selisihnya jauh lebih kecil. Bahas mengapa.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menjawab pertanyaan yang pasti muncul: kalau ada rumus langsung, kenapa repot iterasi? Jawabannya ada di kalimat penutup.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Metafora kabut menjelaskan kenapa GD bisa terjebak di minimum lokal - akan dibahas lagi di pertemuan 12 tentang neural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Tanda minus adalah kesalahan konsep paling sering. Ulangi minimal dua 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Kaitkan ke pertemuan 9 (tuning hyperparameter). Sebut nilai lazim: 0,001 sampai 0,1.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Kurva ini akan muncul lagi di pertemuan 5 untuk mendiagnosis underfitting dan overfitting. Sebutkan bahwa ini pratinjau.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Iterasi 1 - gradien = -2(2)(10-2) = -32; w baru = 1 - 0,1(-32) = 4,2. Loss awal 64, loss baru (10-8,4)^2 = 2,56. Iterasi 2 - gradien = -2(2)(10-8,4) = -6,4; w = 4,2 + 0,64 = 4,84. Loss = 0,1024. Tunjukkan loss mengecil cepat lalu melambat.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Mini-batch adalah yang dipakai di praktik nyata, hampir selalu. Sebut ukuran lazim 32, 64, 128.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A - alpha terlalu besar, kecilkan. B - alpha terlalu kecil atau fitur belum diskalakan. C - beralih ke mini-batch SGD. D - alpha jauh terlalu besar sehingga divergen, atau ada nilai ekstrem di data yang belum ditangani.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keempat menjadi jembatan ke pertemuan 12. Sebutkan bahwa MSE pada regresi linier berbentuk mangkuk, jadi 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menutup catatan dan menyebutkan satu poin yang paling membingungkan. Gunakan itu untuk mengulang.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bahwa ISL tersedia gratis dan legal di situs penulisnya.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pertanyaan itu menggantung. Ini memancing rasa ingin tahu untuk pertemuan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5120640"/>
            <a:ext cx="1828800" cy="182880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TI24425  ·  PERTEMUAN 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 Linier,</a:t>
            </a:r>
            <a:endParaRPr lang="en-US" sz="4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Loss, dan</a:t>
            </a:r>
            <a:endParaRPr lang="en-US" sz="4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94360" y="4343400"/>
            <a:ext cx="1371600" cy="32004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4617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4  ·  Mampu menganalisis formulasi regresi linier dan fungsi loss,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mekanisme Gradient Descent dan SGD, serta menginterpretasikan hasilnya.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989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Informasi  ·  Politeknik Negeri Madiun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mana kita sekarang?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Problem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sudah tahu cara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merumuskan masalah dan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membagi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621792" cy="62179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 &amp; Gradient Descent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291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pertama kita.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mesin benar-benar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"belajar" dari data.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1737360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BERIKUTNYA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Regularisasi &amp; Bias-Variance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291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terjadi kalau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belajar terlalu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dari data.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9377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pertemuan 3 kita membahas bagaimana merumuskan masalah. Mulai hari ini kita membedah bagaimana model menemukan jawabannya.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pertemuan ini Anda mampu…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8132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formulasi regresi linier dan fungsi loss MSE, serta alasan di balik pengkuadratan galat.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566928" cy="5669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05456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langkah iterasi Gradient Descent secara manual pada data kecil.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511296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29584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akibat learning rate yang terlalu besar maupun terlalu kecil terhadap konvergensi.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535424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5371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Menginterpretasikan koefisien model dalam konteks masalah nyata, bukan sekadar menyebut angkanya.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7607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02 dinilai lewat latihan terbimbing hari ini. Sisanya diuji pada UTS pertemuan 8.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 Linier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Menarik satu garis melalui kekacauan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PEMBUKA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Berapa lama perjalanan ini?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Dinas Perhubungan ingin memperkirakan waktu tempuh bus kota berdasarkan jarak rute.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tersedia: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288036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 (km)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(menit)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537960" y="17373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Pertanyaannya sederhana:</a:t>
            </a: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garis seperti apa yang paling</a:t>
            </a: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baik menggambarkan pola ini?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3291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yang lebih penting — apa yang kita maksud dengan kata "paling baik"?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37960" y="4297680"/>
            <a:ext cx="5029200" cy="685800"/>
          </a:xfrm>
          <a:prstGeom prst="roundRect">
            <a:avLst>
              <a:gd name="adj" fmla="val 9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4297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waktu ≈ w × jarak + b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52578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5 menit: menurut Anda, apa arti w dan b dalam konteks perjalanan bus?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 model regresi linier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77440" y="1325880"/>
            <a:ext cx="7406640" cy="1051560"/>
          </a:xfrm>
          <a:prstGeom prst="roundRect">
            <a:avLst>
              <a:gd name="adj" fmla="val 608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77440" y="13258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w · x + b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2971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Prediksi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23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Keluaran model — nilai yang kita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perkirakan, bukan nilai sebenarnya.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19856" y="2743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19856" y="2971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4023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Masukan yang kita amati.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kasus kita: jarak rute.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5352" y="2743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45352" y="2971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Bobot / Koefisien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4023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besar x memengaruhi keluaran.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yang dipelajari model.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70848" y="2743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70848" y="2971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253728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/ Intersep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4023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keluaran saat x = 0.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 dipelajari model.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2578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dan b disebut parameter. Nilainya tidak kita tentukan sendiri — model yang mencarinya dari data.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Angka itu artinya apa?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868680"/>
          </a:xfrm>
          <a:prstGeom prst="roundRect">
            <a:avLst>
              <a:gd name="adj" fmla="val 736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waktu = 3.1 × jarak + 1.8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788920"/>
            <a:ext cx="50292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926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3.1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29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tambahan 1 km rute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memperpanjang waktu tempuh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sekitar 3,1 menit.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laju, bukan total.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51460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788920"/>
            <a:ext cx="5029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2926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1.8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29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jarak nol, model tetap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memperkirakan 1,8 menit —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naik-turun penumpang.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selalu bermakna fisik.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FDF3E7"/>
          </a:solidFill>
          <a:ln w="12700">
            <a:solidFill>
              <a:srgbClr val="F3D9B8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507492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Peringatan:  hubungan yang ditemukan model adalah korelasi, bukan sebab-akibat. Model tidak tahu bahwa jarak "menyebabkan" waktu — ia hanya menemukan pola dalam angka.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KESALAHAN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Seberapa meleset garis kita?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tiap titik data, ada selisih antara nilai sebenarnya dan nilai prediksi. Selisih itu disebut residual atau galat.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2402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402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eᵢ = yᵢ − f(xᵢ)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4612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positif: model menebak terlalu rendah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negatif: model menebak terlalu tinggi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nol: tebakan tepat (jarang terjadi)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452628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FDF3E7"/>
          </a:solidFill>
          <a:ln w="12700">
            <a:solidFill>
              <a:srgbClr val="F3D9B8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4709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tidak dijumlahkan begitu saja?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residual positif dan negatif akan saling meniadakan — garis yang buruk bisa tampak sempurna.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492240" y="1280160"/>
          <a:ext cx="5166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LOSS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Squared Error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1325880"/>
            <a:ext cx="7955280" cy="1097280"/>
          </a:xfrm>
          <a:prstGeom prst="roundRect">
            <a:avLst>
              <a:gd name="adj" fmla="val 58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03120" y="13258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(1/n) Σ (yᵢ − f(xᵢ))²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154680"/>
            <a:ext cx="548640" cy="5486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²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40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Kuadrat menghapus tanda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389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Positif dan negatif tidak lagi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saling meniadakan.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28803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3154680"/>
            <a:ext cx="548640" cy="5486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840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Galat besar dihukum lebih berat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389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Meleset 10 satuan terasa 100 kali,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10 kali.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28803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3154680"/>
            <a:ext cx="548640" cy="5486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840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Mulus dan bisa diturunkan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389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 mutlak agar Gradient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 bisa bekerja.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2578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bukan satu-satunya pilihan — tetapi sifat ketiga inilah alasan ia mendominasi.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atau MAE?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100297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16552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(Mean Squared Error)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(Mean Absolute Error)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Rumus inti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rata-rata dari (galat)²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rata-rata dari |galat|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Terhadap pencilan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sensitif — satu pencilan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dapat menguasai seluruh nilai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Tahan pencilan — tiap galat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dihitung setara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Turunan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Mulus di semua titik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terdefinisi saat galat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Satuan hasil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Kuadrat dari satuan asli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(sulit ditafsirkan langsung)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 dengan satuan asli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(mudah ditafsirkan)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Dipakai saat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Galat besar memang harus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dihindari sekuat tenaga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mengandung pencilan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wajar dan tidak keliru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5440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jawaban universal. Pilihan loss adalah keputusan perancangan yang harus Anda justifikasi.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Hitung MSE dua kandidat garis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11002975" cy="6858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C5DCEA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444752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berpasangan · 10 menit · Cukup kertas dan kalkulator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4884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 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Garis A:  3x + 2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Garis B:  4x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2148840"/>
            <a:ext cx="41148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 kerja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26974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residual tiap baris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Kuadratkan setiap residual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Jumlahkan, lalu bagi 4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MSE A dan B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4617720"/>
            <a:ext cx="11002975" cy="1143000"/>
          </a:xfrm>
          <a:prstGeom prst="roundRect">
            <a:avLst>
              <a:gd name="adj" fmla="val 7200"/>
            </a:avLst>
          </a:prstGeom>
          <a:solidFill>
            <a:srgbClr val="FDF3E7"/>
          </a:solidFill>
          <a:ln w="12700">
            <a:solidFill>
              <a:srgbClr val="F3D9B8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60120" y="480060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lanjutan yang wajib dijawab: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512064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mana yang lebih baik? Apakah keputusan Anda berubah bila digunakan MAE, bukan MSE? Jelaskan alasannya.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Menemukan Minimum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jalan menuju garis terbaik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Analitik atau iteratif?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9164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Analitik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Persamaan Normal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06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 langsung dengan aljabar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 eksak, sekali hitung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membalik matriks XᵀX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3931920"/>
            <a:ext cx="4572000" cy="18288"/>
          </a:xfrm>
          <a:prstGeom prst="rect">
            <a:avLst/>
          </a:prstGeom>
          <a:solidFill>
            <a:srgbClr val="E1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Runtuh ketika fitur sangat banyak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matriks tidak dapat dibalik.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37160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1691640"/>
            <a:ext cx="566928" cy="5669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Iteratif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606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tebakan sedikit demi sedikit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 hampiran, berulang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perlu menghitung turunan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29400" y="3931920"/>
            <a:ext cx="4572000" cy="18288"/>
          </a:xfrm>
          <a:prstGeom prst="rect">
            <a:avLst/>
          </a:prstGeom>
          <a:solidFill>
            <a:srgbClr val="E1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 pada data raksasa dan pada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yang tidak punya solusi tertutup.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303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linier kebetulan punya solusi analitik. Sebagian besar model yang akan kita pelajari nanti tidak punya — karena itu kita mempelajari cara iteratif.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Menuruni lembah selangkah demi selangkah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Turun bukit dalam kabut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6459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Bayangkan Anda berada di lereng bukit, tertutup kabut tebal. Anda ingin turun ke titik terendah, tetapi hanya bisa merasakan kemiringan tanah tepat di bawah kaki.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bisa Anda lakukan: rasakan arah paling curam menurun, melangkah sedikit ke sana, lalu ulangi.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Padanan istilah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Lereng bukit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7373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28116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Permukaan fungsi loss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042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Anda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230428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w dan b saat ini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87121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Kemiringan di bawah kaki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87121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 — turunan loss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4381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 langkah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343814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34381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(α)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0050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terendah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40050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40050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minimum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3492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Kabut itu penting: model tidak pernah melihat keseluruhan permukaan loss. Ia hanya tahu kemiringan di titik tempatnya berdiri.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langkah yang diulang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155448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Tebak awal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w dan b sembarang,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misalnya keduanya nol.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1920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19856" y="132588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25696" y="155448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25696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Hitung gradien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turunan loss terhadap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dan terhadap b.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44184" y="1920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45352" y="132588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51192" y="1554480"/>
            <a:ext cx="594360" cy="5943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51192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Perbarui parameter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Geser w dan b berlawanan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gradien.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1920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070848" y="132588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76688" y="155448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76688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Ulangi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 ke langkah 2 sampai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berhenti terpenuhi.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56616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pembaruan (langkah 3)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371600" y="3931920"/>
            <a:ext cx="4572000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71600" y="3931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− α · ∂L/∂w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63640" y="3931920"/>
            <a:ext cx="4572000" cy="86868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3931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← b − α · ∂L/∂b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0749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minus itu bukan hiasan. Gradien menunjuk arah loss naik paling cepat — kita bergerak ke arah sebaliknya.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KUNCI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Sebesar apa satu langkah?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terlalu kecil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Konvergen, tetapi sangat lambat. Butuh ribuan iterasi untuk mencapai minimum — boros waktu dan komputasi.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14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Gejala: loss turun, tetapi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nyaris tidak terasa.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325880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325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tepat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1945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 cepat di awal, lalu melambat mendekati minimum dan berhenti dengan mulus.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114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Gejala: kurva loss menurun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tajam lalu mendatar.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132588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325880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325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terlalu besar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1945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Melompati minimum. Loss dapat berosilasi naik-turun atau justru meledak menuju tak hingga.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4114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Gejala: loss naik, berayun,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menjadi NaN.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3492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tidak dipelajari model — Anda yang menentukannya. Inilah yang membedakan hyperparameter dari parameter.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Membaca kurva loss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32588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325880"/>
            <a:ext cx="3749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381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membacanya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196596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mendatar terlalu tinggi: α terlalu kecil atau model kurang mampu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berayun atau naik: α terlalu besar, kecilkan sepuluh kali lipat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turun lalu mendatar rendah: inilah yang kita harapkan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turun terus tanpa henti: latih lebih lama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534924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loss adalah alat diagnosis pertama Anda — lihat sebelum menyalahkan data.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Telusuri dua iterasi Gradient Descent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11002975" cy="6858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C5DCEA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444752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sendiri lalu bandingkan dengan teman sebangku · 15 menit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Diketahui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889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titik data: x = 2, y = 10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disederhanakan: f(x) = w · x  (tanpa b)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awal: w = 1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α = 0,1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L = (y − w·x)²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2148840"/>
            <a:ext cx="5029200" cy="2788920"/>
          </a:xfrm>
          <a:prstGeom prst="roundRect">
            <a:avLst>
              <a:gd name="adj" fmla="val 295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0" y="2377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harus dikerjakan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78892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∂L/∂w untuk satu titik data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gradien pada w = 1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Perbarui w, catat nilai barunya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sekali lagi untuk iterasi kedua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loss sebelum dan sesudah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51663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Petunjuk: ∂L/∂w = −2x(y − wx). Anda tidak perlu menghafalnya — tetapi harus bisa menjelaskan mengapa tandanya negatif.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Gradient Descent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data terlalu besar untuk dilihat sekaligus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perlu versi stokastik?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1143000"/>
          </a:xfrm>
          <a:prstGeom prst="roundRect">
            <a:avLst>
              <a:gd name="adj" fmla="val 7200"/>
            </a:avLst>
          </a:prstGeom>
          <a:solidFill>
            <a:srgbClr val="FDF3E7"/>
          </a:solidFill>
          <a:ln w="12700">
            <a:solidFill>
              <a:srgbClr val="F3D9B8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155448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biasa menghitung gradien dari SELURUH data pada setiap langkah. Dengan 10 juta baris data, satu langkah saja berarti 10 juta perhitungan — dan Anda butuh ribuan langkah.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69748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697480"/>
            <a:ext cx="3520440" cy="621792"/>
          </a:xfrm>
          <a:prstGeom prst="roundRect">
            <a:avLst>
              <a:gd name="adj" fmla="val 1323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6974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GD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74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 dihitung dari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03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69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Lintasan mulus dan stabil menuju minimum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Sangat lambat pada data besar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269748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2697480"/>
            <a:ext cx="3520440" cy="621792"/>
          </a:xfrm>
          <a:prstGeom prst="roundRect">
            <a:avLst>
              <a:gd name="adj" fmla="val 13235"/>
            </a:avLst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26974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GD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474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 dihitung dari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703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069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Sangat cepat per langkah, dapat lepas dari minimum lokal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Lintasan berisik dan berayun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2697480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2697480"/>
            <a:ext cx="3520440" cy="621792"/>
          </a:xfrm>
          <a:prstGeom prst="roundRect">
            <a:avLst>
              <a:gd name="adj" fmla="val 13235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26974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Mini-batch GD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3474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 dihitung dari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3703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32–256 baris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4069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Kompromi terbaik, cocok untuk komputasi paralel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Ukuran batch jadi hyperparameter baru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KASUS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skenario, empat keputusan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55648"/>
            <a:ext cx="594360" cy="5943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55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2763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turun tajam lalu naik lagi dan berayun tanpa henti setelah iterasi ke-50.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755648"/>
            <a:ext cx="594360" cy="5943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755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62763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5.000 iterasi, loss masih 48 dari nilai awal 50.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29718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355848"/>
            <a:ext cx="594360" cy="5943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355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22783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dilatih pada 8 juta baris data transaksi. Satu iterasi memakan 40 menit.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9718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3355848"/>
            <a:ext cx="594360" cy="5943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355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22783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menjadi NaN pada iterasi kedua.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70916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89204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tiap skenario: apa dugaan penyebabnya, dan apa satu tindakan pertama yang akan Anda lakukan?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 dengan alasan, bukan tebakan. Diskusi kelompok 4 orang · 15 menit.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WASPADAI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salah kaprah yang paling sering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45336"/>
            <a:ext cx="502920" cy="50292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45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4721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adalah sebuah model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453896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Bukan. Ia algoritma optimisasi — cara mencari parameter. Modelnya tetap regresi linier.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24328"/>
            <a:ext cx="502920" cy="50292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5511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dipelajari dari data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53288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Tidak. α adalah hyperparameter yang Anda tetapkan sendiri sebelum pelatihan dimulai.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483864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6301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nol berarti model sempurna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6118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Justru mencurigakan. Loss nol pada data latih sering menandakan overfitting — dibahas pertemuan 5.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562856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782312"/>
            <a:ext cx="502920" cy="50292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709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 selalu membawa ke minimum global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69087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untuk fungsi cembung seperti MSE pada regresi linier. Pada neural network, tidak ada jaminan itu.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Anda bawa pulang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64208"/>
            <a:ext cx="457200" cy="41148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w·x + b. Hanya w dan b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dipelajari dari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64208"/>
            <a:ext cx="457200" cy="41148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Ukuran kesalahan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mengkuadratkan galat sehingga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diturunkan — syarat bagi GD.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664208"/>
            <a:ext cx="457200" cy="41148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belajar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bergerak berlawanan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gradien, sedikit demi sedikit.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630168"/>
            <a:ext cx="457200" cy="41148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Kendali utama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α menentukan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konvergen, lambat, atau meledak.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630168"/>
            <a:ext cx="457200" cy="41148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Skala besar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dan mini-batch menukar kestabilan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kecepatan.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8388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C3670"/>
          </a:solidFill>
          <a:ln w="12700">
            <a:solidFill>
              <a:srgbClr val="3E4A8C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3920" y="3630168"/>
            <a:ext cx="457200" cy="41148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 tafsir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menunjukkan hubungan,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sebab-akibat.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pertemuan berikutnya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664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Belajar Mandiri  ·  180 menit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31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Géron [1] Bab 4 mengenai pelatihan model dan Gradient Descent. Siapkan satu pertanyaan tertulis.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37960" y="1325880"/>
            <a:ext cx="50292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600200"/>
            <a:ext cx="548640" cy="5486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Penugasan Terstruktur  ·  180 menit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3317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soal: penelusuran manual iterasi Gradient Descent dan interpretasi koefisien regresi. Dibahas bersama di kelas.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8F1F7"/>
          </a:solidFill>
          <a:ln w="12700">
            <a:solidFill>
              <a:srgbClr val="C5DCEA"/>
            </a:solidFill>
            <a:prstDash val="solid"/>
          </a:ln>
          <a:effectLst>
            <a:outerShdw sx="100000" sy="100000" kx="0" ky="0" algn="bl" rotWithShape="0" blurRad="101600" dist="508" dir="5400000">
              <a:srgbClr val="A8B6C6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3950208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ini bersifat formatif — tidak berbobot tersendiri. Kontribusi Anda saat pembahasan di kelas dinilai melalui komponen Aktivitas Partisipatif.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80060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Bacaan pendukung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507492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CS 189/289A, University of California Berkeley — https://eecs189.org/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James, Witten, Hastie &amp; Tibshirani, An Introduction to Statistical Learning, Bab 3 (tersedia bebas daring)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463040"/>
            <a:ext cx="3840480" cy="3840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011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Regularisasi, MLE, dan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Bias-Variance Trade-off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4069080"/>
            <a:ext cx="1371600" cy="32004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4343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 kita membuat model belajar dari data.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depan kita bertanya: bagaimana kalau model belajar terlalu banyak?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2026-08-31T04:57:44Z</dcterms:created>
  <dcterms:modified xsi:type="dcterms:W3CDTF">2026-08-31T04:57:44Z</dcterms:modified>
</cp:coreProperties>
</file>