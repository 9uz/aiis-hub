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kelas: tanyakan siapa yang pernah memakai Excel untuk mengolah data. pandas adalah 'Excel' yang bisa diprogram dan dapat diulang (reproducible).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kata kerja: menjelaskan, mengoperasikan, meringkas, memvisualkan — inilah yang akan diuji pada kuis dan tugas.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dictionary → kunci menjadi nama kolom, list menjadi isi kolom. Panjang setiap list harus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Ilustrasikan di papan: gambar tabel 5x4, beri nomor 0-4 di kiri dan 0-3 di atas, lalu arsir hasil tiap perintah.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(1) Menara, (2) Perpustakaan, (3) Lapangan.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konsep paling sering membuat mahasiswa bingung. Tekankan: hasil operasi harus ditugaskan kembali. inplace=True sekarang mulai ditinggalkan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penanda berada di x=1975, y=74, berukuran paling besar karena size dipetakan ke Tinggi, dan menampilkan nama 'Menara' saat di-hover.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937760" cy="4937760"/>
          </a:xfrm>
          <a:prstGeom prst="ellipse">
            <a:avLst/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931920"/>
            <a:ext cx="2377440" cy="2377440"/>
          </a:xfrm>
          <a:prstGeom prst="ellipse">
            <a:avLst/>
          </a:prstGeom>
          <a:solidFill>
            <a:srgbClr val="2C1580"/>
          </a:solidFill>
          <a:ln w="12700">
            <a:solidFill>
              <a:srgbClr val="2C15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  •  DATA SCIENCE &amp; MACHINE LEARNING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Perkakas Data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01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Visualisasi Data dengan Python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4348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“Tidak ada model yang baik tanpa data yang rapi. Sebelum belajar melatih model, kita belajar menjinakkan datanya.”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Pembelajaran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pertemuan ini, mahasiswa diharapkan mampu: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19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4884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Series, DataFrame, dan Index serta kapan masing-masing dipakai.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2807208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935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Mengoperasikan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64408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seleksi, penyaringan, dan modifikasi data dengan loc, iloc, dan [ ].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392277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78808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050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Meringkas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379976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groupby, agregasi, pivot_table, dan penggabungan antar-tabel.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" y="5038344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294376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166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Memvisualkan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495544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grafik eksploratif dengan Plotly dan membacanya secara kritis.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Kita Mulai dari Data?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waktu proyek machine learning habis untuk menyiapkan data, bukan melatih model.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16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adalah fondasi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930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model bermula dan berakhir pada data. Model hanya sebaik data yang melatihnya — garbage in, garbage out.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70248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103120"/>
            <a:ext cx="566928" cy="56692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816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eksperimen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34930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Keberhasilan eksperimen bergantung pada kemampuan kita menyiapkan input dan membaca output secara sistematis.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46136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2103120"/>
            <a:ext cx="566928" cy="56692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045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0456" y="2816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Keterampilan wajib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20456" y="34930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 di laboratorium riset maupun industri, kemampuan data wrangling dan visualisasi adalah syarat dasar.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377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38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data mentah itu seperti bahan pasar. pandas adalah pisau dan talenannya — tanpa persiapan, masakan (model) tidak akan jadi.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Materi Hari Ini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bagian, dari struktur data sampai visualisasi.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pandas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889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DataFrame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148840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889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&amp; Pengambilan Data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61120" y="192024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89720" y="2148840"/>
            <a:ext cx="502920" cy="50292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7889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Penyaringan Data (Filtering)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8862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754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Modifikasi DataFrame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383280" y="38862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11880" y="4114800"/>
            <a:ext cx="502920" cy="50292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4754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&amp; Pengelompokan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72200" y="38862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754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DataFrame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61120" y="388620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89720" y="4114800"/>
            <a:ext cx="502920" cy="50292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897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754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1–7 memakai pandas; bagian 8 memakai Plotly. Semua contoh memakai satu dataset yang sama agar mudah diikuti.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Data pandas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Series, DataFrame, dan Index sebagai tiga blok penyusun pandas.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pandas?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pandas berasal dari “panel data” — istilah ekonometrika untuk data tabel antarwaktu.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6035040" cy="3246120"/>
          </a:xfrm>
          <a:prstGeom prst="roundRect">
            <a:avLst>
              <a:gd name="adj" fmla="val 338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pandas kita dapat: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data dalam bentuk tabel (baris × kolom).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 informasi berdasarkan kondisi tertentu.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Mengolah data untuk menghasilkan informasi baru.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operasi numerik NumPy pada data.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komputasi tervektorisasi yang jauh lebih cepat daripada perulangan biasa.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03720" y="178308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04888" y="1911096"/>
            <a:ext cx="4169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pd.__version__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3154680"/>
            <a:ext cx="4572000" cy="1874520"/>
          </a:xfrm>
          <a:prstGeom prst="roundRect">
            <a:avLst>
              <a:gd name="adj" fmla="val 5854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7804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bukan Excel?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3703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pandas dapat diulang, diperiksa, dan dijalankan pada jutaan baris. Klik-klik di Excel tidak meninggalkan jejak yang bisa direproduksi orang lain.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adalah perkakas standar di dunia riset maupun industri untuk data tabular.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Objek Inti pandas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Pahami ketiganya lebih dulu — sisa materi hanyalah operasi di atas ketiga objek ini.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42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Larik satu dimensi berlabel. Satu kolom tabel adalah sebuah Series.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7947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69848" y="3922776"/>
            <a:ext cx="2432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pd.Series([30, 307, 80])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0248" y="17830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44568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542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dua dimensi. Kumpulan Series yang berbagi Index yang sama.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44568" y="37947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45736" y="3922776"/>
            <a:ext cx="2432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46136" y="17830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0456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2542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baris (atau kolom). Bukan sekadar nomor — bisa berupa teks atau tanggal.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0456" y="37947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21624" y="3922776"/>
            <a:ext cx="2432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5285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</a:t>
            </a:r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beberapa Series + satu Index bersama. Karena itu banyak metode Series juga tersedia pada DataFrame.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Series: Larik Satu Dimensi Berlabel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Series terdiri atas dua komponen: values dan index.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911096"/>
            <a:ext cx="51755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pd.Series(["selamat", "datang", "di", "Data Science"])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337560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s.values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array(['selamat', 'datang', 'di', 'Data Science'], dtype=object)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33672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306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s.index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994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RangeIndex(start=0, stop=4, step=1)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5129784"/>
            <a:ext cx="5577840" cy="749808"/>
          </a:xfrm>
          <a:prstGeom prst="roundRect">
            <a:avLst>
              <a:gd name="adj" fmla="val 14634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5202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s[1]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955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'datang'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6656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 penting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487168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menyimpan datanya, index menyimpan labelnya.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default berupa angka 0, 1, 2, … tetapi dapat diganti menjadi teks atau tanggal.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elemen Series idealnya bertipe sama (dtype) agar operasi tervektorisasi berjalan cepat.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aritmetika berjalan elemen per elemen tanpa perlu perulangan for.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DataFrame: Tabel yang Kita Pakai Sehari-hari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dataset yang akan dipakai sepanjang kuliah ini: landmark kampus.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6035040" cy="2606040"/>
          </a:xfrm>
          <a:prstGeom prst="roundRect">
            <a:avLst>
              <a:gd name="adj" fmla="val 3509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911096"/>
            <a:ext cx="563270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'Nama':   ['Gerbang', 'Menara', 'Perpustakaan',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'Lapangan', 'Plaza'],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'Jenis':  ['Gerbang', 'Menara', 'Perpustakaan',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'Ruang Terbuka', 'Plaza'],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'Tinggi': [12, 74, 28, 0, 0],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'Tahun':  [1960, 1975, 1968, None, 1992]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34440"/>
                <a:gridCol w="1371600"/>
                <a:gridCol w="77724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5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Gerbang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Gerbang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5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5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Perpustakaan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Perpustakaan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5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Ruang Terbuka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5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461772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144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cara membuat DataFrame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120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dari berkas CSV  ·  ② dari dictionary  ·  ③ dari list + nama kolom  ·  ④ dari beberapa Series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4681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nilai None pada kolom Tahun: pandas menampilkannya sebagai NaN. Kita akan menanganinya pada Bagian 5.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Data dari Berkas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praktik, data hampir selalu datang dari berkas atau basis data.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67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205740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70048" y="218541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pd.read_csv('data/landmark.csv')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67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paling umum. Perhatikan pemisah (sep) dan encoding.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5387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68880" y="342900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670048" y="355701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pd.read_excel('data.xlsx', sheet_name=0)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5387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pustaka openpyxl. Pilih sheet yang tepat.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5262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910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/ SQL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68880" y="480060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670048" y="492861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pd.read_json(...)  ·  pd.read_sql(...)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9103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data dari API atau basis data relasional.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5852160"/>
            <a:ext cx="0" cy="0"/>
          </a:xfrm>
          <a:prstGeom prst="roundRect">
            <a:avLst>
              <a:gd name="adj" fmla="val Infinity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index_col='Tahun' menjadikan kolom Tahun sebagai Index, berguna untuk data deret waktu.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Eksplorasi DataFrame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menganalisis, kenali dulu bentuk dan isi datanya.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Utilitas untuk Mengenali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perintah pertama yang selalu dijalankan seorang data scientist.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head() / tail()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420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beberapa baris pertama atau terakhir.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0248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4568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info()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5420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tiap kolom dan jumlah nilai non-null.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46136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0456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5420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statistik kolom numerik.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sample()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537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baris secara acak agar tidak bias urutan.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70248" y="38404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44568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5537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frekuensi tiap nilai unik.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46136" y="38404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0456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0456" y="45537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daftar nilai unik.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baik: jalankan df.head(), df.info(), lalu df.describe() setiap kali membuka dataset baru.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head(), tail(), shape, dan size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perintah untuk menjawab: “sebesar apa dan seperti apa data saya?”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baris pertama (nilai bawaan n = 5)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df.tail(3)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baris terakhir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 4)  →  5 baris, 4 kolom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93776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df.size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394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→  jumlah seluruh sel (5 × 4)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94944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Kesalahan yang sering terjadi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487168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df.shape() dengan tanda kurung. shape adalah atribut, bukan metode — tulis df.shape saja.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Menganggap size sama dengan jumlah baris. size adalah baris × kolom; untuk jumlah baris gunakan len(df).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head() lalu menyimpulkan seluruh data. Lima baris pertama sering terurut dan tidak mewakili keseluruhan — gunakan sample().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sample(): Mengambil Baris Secara Acak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jujur daripada head() karena tidak terpengaruh urutan data.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.sample(n=3)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3 baris secara acak.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.sample(frac=0.2)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20% dari seluruh baris.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520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.sample(n=3, replace=True)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931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mengambil baris yang sama lebih dari sekali.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33756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3520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.sample(n=3, random_state=42)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931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acak yang sama setiap dijalankan (reproducible).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93776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193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gunakan random_state pada tugas dan laporan. Tanpa itu, hasil Anda tidak dapat direproduksi oleh dosen maupun rekan setim.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value_counts() dan unique()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perintah kunci untuk memahami kolom kategorikal.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Series.value_counts()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berapa kali setiap nilai unik muncul, terurut dari yang terbanyak.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115568" y="3191256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df['Jenis'].value_counts()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15568" y="3922776"/>
            <a:ext cx="43525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Gerbang          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Menara           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Perpustakaan     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Ruang Terbuka    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Plaza            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count, dtype: int64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2011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Series.unique()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450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larik berisi setiap nilai unik, tanpa menghitung frekuensinya.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92240" y="3063240"/>
            <a:ext cx="4754880" cy="594360"/>
          </a:xfrm>
          <a:prstGeom prst="roundRect">
            <a:avLst>
              <a:gd name="adj" fmla="val 15385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93408" y="3191256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df['Jenis'].unique()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79476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93408" y="3922776"/>
            <a:ext cx="4352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array(['Gerbang', 'Menara',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'Perpustakaan',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FE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'Ruang Terbuka', 'Plaza'])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jumlahnya saja? Pakai df['Jenis'].nunique().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Seleksi &amp; Pengambilan Data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cara mengambil potongan data: berdasarkan posisi, label, dan konteks.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iloc[] — Seleksi Berdasarkan Posisi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Bacalah sebagai “integer location”: yang dipakai adalah nomor urut, bukan label.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9339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dapat berupa daftar, irisan (slice), atau satu nilai tunggal.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 Python: posisi pertama adalah 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Irisan bersifat eksklusif — batas kanan tidak ikut terambil.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df.iloc[[1, 2]]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ke-1 dan ke-2 (semua kolom).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56616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df.iloc[[1, 2], [1, 2, 3]]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1–2, kolom 1 sampai 3.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407408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462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df.iloc[2:4]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73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2 dan 3 — baris ke-4 TIDAK ikut.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407408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4462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df.iloc[:, 1:2]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73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baris, hanya kolom ke-1.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248656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303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df.iloc[2]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14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utuh → hasilnya sebuah Series.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5248656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0" y="5303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df.iloc[0, 1]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5614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sel tunggal → hasilnya nilai tunggal.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loc[] — Seleksi Berdasarkan Label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dipakai adalah label baris dan nama kolom, bukan nomor urut.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9339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dapat berupa daftar, irisan, atau satu nilai tunggal.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dengan iloc: irisan pada loc bersifat INKLUSIF.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baris tidak harus angka — bisa nama, kode, atau tanggal.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df.loc[[1, 2]]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berlabel 1 dan 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56616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df.loc[[1, 2], ['Jenis', 'Tinggi']]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1–2, dua kolom terpilih.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407408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462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df.loc[2:3]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73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2 DAN 3 — batas kanan ikut.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407408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4462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df.loc[:, 'Nama':'Tinggi']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73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baris, kolom Nama sampai Tinggi.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248656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303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df.loc[2]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14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utuh sebagai Series.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5248656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0" y="5303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df.loc[0, 'Jenis']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5614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sel: baris 0, kolom Jenis.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Kurung Siku [ ] — Seleksi Bergantung Konteks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hanya menerima satu argumen, dan artinya berubah mengikuti jenis argumen itu.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76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Irisan angka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108960" y="2084832"/>
            <a:ext cx="3566160" cy="585216"/>
          </a:xfrm>
          <a:prstGeom prst="roundRect">
            <a:avLst>
              <a:gd name="adj" fmla="val 15625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10128" y="2212848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df[1:3]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76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Diartikan sebagai BARIS ke-1 dan ke-2.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127248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label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108960" y="3383280"/>
            <a:ext cx="3566160" cy="585216"/>
          </a:xfrm>
          <a:prstGeom prst="roundRect">
            <a:avLst>
              <a:gd name="adj" fmla="val 15625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10128" y="351129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df[['Nama', 'Tahun']]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474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Diartikan sebagai KOLOM. Hasilnya DataFrame.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425696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773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tunggal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3108960" y="4681728"/>
            <a:ext cx="3566160" cy="585216"/>
          </a:xfrm>
          <a:prstGeom prst="roundRect">
            <a:avLst>
              <a:gd name="adj" fmla="val 15625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310128" y="480974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df['Tahun']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773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KOLOM. Hasilnya Series.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83387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ambigu, [ ] nyaman untuk penulisan cepat, tetapi gunakan loc / iloc bila ingin kode yang jelas dibaca.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Ringkasan: loc vs iloc vs [ 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tabel yang layak Anda hafalkan.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83464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loc[]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iloc[]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Dasar seleksi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Posisi (angka)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Bergantung konteks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Batas kanan irisan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Ikut terambil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ikut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ikut (baris)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Menerima Boolean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argumen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 (baris, kolom)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 (baris, kolom)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saja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Paling cocok untuk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yang eksplisit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Iterasi berbasis posisi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Mengambil kolom cepat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1206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53218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klasik: </a:t>
            </a:r>
            <a:pPr indent="0" marL="0">
              <a:buNone/>
            </a:pPr>
            <a:r>
              <a:rPr lang="en-US" sz="14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df.loc[0:2] menghasilkan 3 baris, sedangkan df.iloc[0:2] menghasilkan 2 baris. Perbedaan ini sering menjadi sumber bug diam-diam.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CEPAT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 landmark apa yang dihasilkan?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14600"/>
            <a:ext cx="457200" cy="457200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54203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df.loc[1, 'Nama']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611880"/>
            <a:ext cx="457200" cy="457200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63931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df.iloc[2, 0]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709160"/>
            <a:ext cx="457200" cy="457200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7365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df['Nama'][3]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 dengan teman sebelah selama 2 menit. Gunakan tabel pada slide sebelumnya sebagai acuan.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Penyaringan Data (Filtering)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baris yang memenuhi syarat dengan Boolean masking.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Masking: Menyaring dengan Kondisi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sudah bisa memilih berdasarkan posisi dan label. Bagaimana memilih berdasarkan syarat?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669280" cy="4114800"/>
          </a:xfrm>
          <a:prstGeom prst="roundRect">
            <a:avLst>
              <a:gd name="adj" fmla="val 266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kerjanya dua langkah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384048" cy="384048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87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menghasilkan Series berisi True / False sepanjang jumlah baris.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384048" cy="384048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00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Boolean itu dipakai sebagai penyaring: baris bernilai True diambil, yang False dibuang.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115568" y="4197096"/>
            <a:ext cx="47183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df['Tinggi'] &gt; 20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False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True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True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False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penulisan yang setara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58000" y="2468880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59168" y="259689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df[df['Tinggi'] &gt; 20]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setara dengan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3401568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59168" y="352958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df.loc[df['Tinggi'] &gt; 20]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1148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.loc lebih dianjurkan karena dapat sekaligus memilih kolom dan menghindari peringatan SettingWithCopyWarning saat data diubah.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Menggabungkan Beberapa Kondisi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operator bitwise, bukan kata kunci and / or milik Python.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911096"/>
            <a:ext cx="104790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df[(df['Tinggi'] &gt; 20) &amp; (df['Jenis'] == 'Menara')]</a:t>
            </a:r>
            <a:endParaRPr lang="en-US" sz="13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8036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Simbol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Penulisan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~p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Negasi dari p (kebalikannya)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&amp; 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DAN q — keduanya harus benar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| 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ATAU q — cukup salah satu benar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^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^ 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XOR q — benar bila tepat satu yang benar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269480" y="288036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5895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Wajib diingat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5204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kondisi harus dibungkus tanda kurung — prioritas &amp; lebih tinggi daripada &gt;.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akan memicu ValueError pada Series.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rapi: df.query('Tinggi &gt; 20 and Jenis == "Menara"').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5394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banyak nilai sekaligus? Gunakan df[df['Jenis'].isin(['Menara', 'Plaza'])] alih-alih menyambung banyak operator |.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Modifikasi DataFrame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Menambah, menghapus, mengurutkan, dan membersihkan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Menambah dan Mengubah Kolom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rujuk nama kolom baru dengan [ ] lalu berikan nilainya.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daftar nilai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4754880" cy="640080"/>
          </a:xfrm>
          <a:prstGeom prst="roundRect">
            <a:avLst>
              <a:gd name="adj" fmla="val 1428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15568" y="2505456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df['Usia'] = [65, 50, 57, 40, 33]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daftar harus sama persis dengan jumlah baris, jika tidak akan muncul ValueError.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kolom lain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4754880" cy="640080"/>
          </a:xfrm>
          <a:prstGeom prst="roundRect">
            <a:avLst>
              <a:gd name="adj" fmla="val 1428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01968" y="2505456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df['Tinggi_m'] = df['Tinggi'] * 0.3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berjalan tervektorisasi pada seluruh kolom sekaligus — tidak perlu perulangan.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251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Sebagian besar operasi pandas TIDAK mengubah data aslinya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47091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115568" y="4837176"/>
            <a:ext cx="4443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df.drop(columns=['Usia'])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print(df)   # kolom masih ada!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drop mengembalikan salinan baru. Agar perubahan tersimpan, gunakan salah satu: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35040" y="5138928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36208" y="5266944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df.drop(columns=['Usia'])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Mengurutkan Data dengan sort_values()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memudahkan kita melihat nilai ekstrem dan pola.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kolom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15568" y="2505456"/>
            <a:ext cx="4352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df.sort_values(by='Tinggi',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ascending=True)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kolom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01968" y="2505456"/>
            <a:ext cx="4352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df.sort_values(by=['Tinggi', 'Jenis'],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ascending=[True, False])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069080"/>
            <a:ext cx="10241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bawaan ascending adalah True (menaik). Untuk menurun, tulis ascending=False.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beberapa kolom, urutan nama kolom menentukan prioritas pengurutan; panjang daftar ascending harus sama.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NaN secara bawaan ditempatkan di akhir — atur dengan na_position='first' bila perlu.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mengurutkan berdasarkan label baris? Gunakan sort_index().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Menangani Nilai yang Hilang (Missing Values)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dunia nyata hampir selalu tidak lengkap. Deteksi dulu, baru putuskan tindakannya.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57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60604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69848" y="2734056"/>
            <a:ext cx="24323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peta True/False, lalu menghitung berapa nilai hilang per kolom.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0248" y="17830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2011680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45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2057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Hapus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44568" y="260604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45736" y="2734056"/>
            <a:ext cx="24323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df.dropna(subset=['Tahun'])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bila jumlah baris hilang sedikit. Berisiko membuang informasi bila banyak.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46136" y="17830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0456" y="2011680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04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4816" y="2057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 (imputasi)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0456" y="260604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21624" y="2734056"/>
            <a:ext cx="24323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df['Tahun'].fillna(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df['Tahun'].median())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0456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dengan nilai tertentu, median, atau modus. Pertahankan ukuran data.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534924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aturan baku. Selalu tanyakan: mengapa data ini hilang? Nilai hilang yang tidak acak dapat membuat model menjadi bias.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Agregasi &amp; Pengelompokan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ribuan baris menjadi beberapa angka yang bermakna.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Agregasi di pandas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meringkas banyak nilai menjadi satu nilai ringkas.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1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   ·   mean()   ·   median()   ·   min()   ·   max()   ·   count()   ·   nunique()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7830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4568" y="1965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4231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1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std()   ·   var()   ·   sem()   ·   skew()   ·   prod()   ·   quantile()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46136" y="17830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0456" y="1965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&amp; Indeks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4231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41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any()   ·   all()   ·   first()   ·   last()   ·   idxmin()   ·   idxmax()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6177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pada dataset kita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df['Tinggi'].mean()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22.8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df['Tinggi'].std()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31.2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0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df['Tinggi'].idxmax()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groupby(): Split — Apply — Combine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berpikir yang sama dipakai di SQL, Excel PivotTable, dan Spark.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29968"/>
            <a:ext cx="475488" cy="47548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7004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 baris ke dalam kelompok berdasarkan nilai suatu kolom, misalnya per Jenis landmark.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029968"/>
            <a:ext cx="475488" cy="475488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7004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fungsi agregasi pada setiap kelompok, misalnya menghitung rata-rata tinggi.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549640" y="182880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23960" y="2029968"/>
            <a:ext cx="475488" cy="47548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2396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267004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hasil tiap kelompok menjadi satu tabel ringkasan yang jauh lebih kecil.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2519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95528" y="4379976"/>
            <a:ext cx="508406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df.groupby('Jenis')['Tinggi'].mean()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atau bentuk eksplisit: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df.groupby('Jenis')[['Tinggi']].agg('mean')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425196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67512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.agg() boleh apa saja?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77316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bawaan pandas ('mean'), fungsi NumPy (np.mean), fungsi Python (max), atau fungsi buatan sendiri — asalkan mengubah banyak nilai menjadi satu nilai. Beberapa sekaligus: .agg(['mean', 'max']).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Mengelompokkan Berdasarkan Beberapa Kolom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hasilnya bertingkat dan sulit dibaca, ubah menjadi tabel pivot.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dengan dua kolom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15568" y="2551176"/>
            <a:ext cx="4352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df.groupby(['Jenis', 'Kampus'])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[['Tinggi']]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.agg('max')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94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memakai MultiIndex: dua tingkat label baris. Informatif, tetapi kurang nyaman dibaca dan sulit dipakai langsung untuk grafik.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pivot_table: bentuk matriks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0" y="2423160"/>
            <a:ext cx="4754880" cy="1783080"/>
          </a:xfrm>
          <a:prstGeom prst="roundRect">
            <a:avLst>
              <a:gd name="adj" fmla="val 5128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01968" y="2551176"/>
            <a:ext cx="43525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pd.pivot_table(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index='Jenis',      # baris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columns='Kampus',   # kolom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values='Tinggi',    # nilai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aggfunc='max'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kategori menjadi baris, kategori lain menjadi kolom. Bentuk inilah yang siap dipakai untuk heatmap atau grafik batang berkelompok.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Menggabungkan DataFrame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informasi dari dua tabel melalui kunci yang sama.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Perlu Menggabungkan Tabel?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nyata jarang tersimpan dalam satu tabel besar.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A — landmark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 ·  Jenis  ·  Tinggi  ·  Tahun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ciri fisik setiap bangunan.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B — peristiwa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Tahun  ·  Peristiwa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kejadian penting per tahun.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206240"/>
            <a:ext cx="10881360" cy="1645920"/>
          </a:xfrm>
          <a:prstGeom prst="roundRect">
            <a:avLst>
              <a:gd name="adj" fmla="val 6667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389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Kunci penggabungan (join key)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280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Tahun pada tabel A dan kolom Tahun pada tabel B menjadi penghubung. Dari sinilah kita dapat bertanya: peristiwa apa yang terjadi pada tahun bangunan ini didirikan?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Jenis Join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Perbedaannya hanya satu: baris mana yang dipertahankan ketika tidak ada pasangan.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67128"/>
            <a:ext cx="658368" cy="65836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67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02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4048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baris yang kuncinya ada di KEDUA tabel. Paling aman, tetapi bisa membuang banyak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67128"/>
            <a:ext cx="658368" cy="658368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67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02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Join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4048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 dari kedua tabel. Yang tidak berpasangan diisi NaN.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858768"/>
            <a:ext cx="658368" cy="658368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Join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0965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 tabel kiri, ditambah pasangan dari tabel kanan bila ada.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47472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858768"/>
            <a:ext cx="658368" cy="658368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Join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0965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 tabel kanan, ditambah pasangan dari tabel kiri bila ada.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212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5528" y="5340096"/>
            <a:ext cx="104790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hasil = landmark.merge(peristiwa, how='inner', left_on='Tahun', right_on='Tahun')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merge() atau join()?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perintah, satu tujuan — pilih sesuai bentuk kunci Anda.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df.merge()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df.join()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45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Dasar penggabungan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mana pun (left_on / right_on / 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(kecuali dipaksa dengan on=)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Fleksibilitas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Paling fleksibel, jadi paling sering dipakai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Ringkas bila kunci sudah menjadi Index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bawaan how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'inner'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'left'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0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dipilih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Kunci berupa kolom biasa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1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Kunci sudah disetel sebagai Index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7091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setelah menggabungkan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2120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df.shape sebelum dan sesudah. Jumlah baris yang membengkak menandakan kunci tidak unik (relasi banyak-ke-banyak); jumlah baris yang menyusut drastis menandakan kunci banyak yang tidak berpasangan.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Data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angka menjadi pemahaman melalui gambar.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3167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234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Struktur Data pandas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653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Eksplorasi DataFrame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41401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3317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Seleksi &amp; Pengambilan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96265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2880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Penyaringan Data (Filtering)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51129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429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Modifikasi DataFrame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0" y="405993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Agregasi &amp; Pengelompokan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4608576"/>
            <a:ext cx="201168" cy="201168"/>
          </a:xfrm>
          <a:prstGeom prst="ellipse">
            <a:avLst/>
          </a:prstGeom>
          <a:solidFill>
            <a:srgbClr val="3B2E7A"/>
          </a:solidFill>
          <a:ln w="12700">
            <a:solidFill>
              <a:srgbClr val="3B2E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Menggabungkan DataFrame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5157216"/>
            <a:ext cx="201168" cy="201168"/>
          </a:xfrm>
          <a:prstGeom prst="ellipse">
            <a:avLst/>
          </a:prstGeom>
          <a:solidFill>
            <a:srgbClr val="FFCA00"/>
          </a:solidFill>
          <a:ln w="12700">
            <a:solidFill>
              <a:srgbClr val="FFC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Visualisasi Data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Kita Memvisualkan Data?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tujuan yang berbeda, dan menuntut gaya grafik yang berbeda pula.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— untuk diri sendiri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1012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pola, pencilan, dan hubungan antarvariabel. Grafik dibuat cepat, banyak, dan boleh berantakan. Inilah fokus mata kuliah ini.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057400"/>
            <a:ext cx="594360" cy="59436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— untuk orang lain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31012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temuan kepada pembaca. Grafik dibuat sedikit, rapi, berlabel jelas, dan memiliki pesan tunggal.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75488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Kuartet Anscombe: empat dataset dengan rata-rata, varians, dan korelasi yang identik, tetapi bentuk sebarannya sama sekali berbeda. Statistik ringkas saja tidak pernah cukup — selalu gambar datanya.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Pustaka Visualisasi yang Perlu Anda Kenal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Masing-masing punya tempatnya sendiri.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emas sejak 2005. Grafik statis, sangat dapat dikendalikan, dan masih dipakai untuk hampir semua gambar di jurnal ilmiah.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0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429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interaktif lintas bahasa. Bisa di-zoom, di-hover, dan disaring — cepat untuk eksplorasi. Fokus utama kuliah ini.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&amp; Biases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untuk melacak proses pelatihan model dan menyimpan artefak eksperimen secara otomatis.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5852160"/>
            <a:ext cx="0" cy="0"/>
          </a:xfrm>
          <a:prstGeom prst="roundRect">
            <a:avLst>
              <a:gd name="adj" fmla="val Infinity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Plotly lebih dulu? </a:t>
            </a:r>
            <a:pPr indent="0" marL="0">
              <a:buNone/>
            </a:pPr>
            <a:r>
              <a:rPr lang="en-US" sz="14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interaksi mempercepat penemuan wawasan. Matplotlib tetap wajib dikuasai untuk laporan ilmiah.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Memilih Jenis Grafik yang Tepat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 menentukan grafiknya, bukan sebaliknya.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Plot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sepanjang waktu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0248" y="18288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4568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Plot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antarkategori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46136" y="18288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0456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 satu variabel numerik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7947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dua variabel numerik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70248" y="37947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44568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 + pencilan per kelompok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46136" y="37947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0456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20456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pada matriks atau korelasi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praktis: mulai dari histogram tiap kolom numerik dan bar plot tiap kolom kategorikal sebelum membuat grafik yang lebih rumit.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Membuat Grafik dengan Plotly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yang paling sederhana sampai yang paling leluasa.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938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plot bawaan pandas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TERMUDAH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0299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panggil .plot() langsung pada DataFrame. Tempat terbaik untuk memulai.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474720"/>
            <a:ext cx="502920" cy="50292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 Express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+ EKSPRESIF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4015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Mirip fungsi pandas, tetapi jauh lebih banyak pilihan grafik dan pengaturan.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48056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681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Objects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138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70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LANJUTAN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47731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grafik dari komponennya, seperti Matplotlib. Perlu memahami konsep dasar Plotly.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menghasilkan objek grafik Plotly yang sama, sehingga dapat disesuaikan lebih lanjut dengan cara yang sama.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Kode: pandas .plot() dan Plotly Express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pola yang sama: data, jenis grafik, lalu pemetaan kolom ke elemen visual.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Lewat pandas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4754880" cy="2423160"/>
          </a:xfrm>
          <a:prstGeom prst="roundRect">
            <a:avLst>
              <a:gd name="adj" fmla="val 3774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15568" y="2459736"/>
            <a:ext cx="435254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pd.set_option('plotting.backend',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'plotly')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mpg.plot(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kind='scatter',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x='weight', y='mpg',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color='origin',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title='MPG vs Berat',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width=800, height=600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92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satu baris pengaturan di awal notebook, lalu semua grafik pandas menjadi interaktif.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Lewat Plotly Express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0" y="2331720"/>
            <a:ext cx="4754880" cy="2423160"/>
          </a:xfrm>
          <a:prstGeom prst="roundRect">
            <a:avLst>
              <a:gd name="adj" fmla="val 3774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01968" y="2459736"/>
            <a:ext cx="435254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plotly.express as px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px.scatter(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mpg,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x='weight', y='mpg',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color='origin',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size='cylinders',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hover_data=mpg.columns,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title='MPG vs Berat'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892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kita tentukan selalu sama: jenis grafik, dan kolom mana dipetakan ke sumbu x, y, warna, ukuran, atau bentuk.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CEPAT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terjadi pada penanda Menara?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20A33"/>
          </a:solidFill>
          <a:ln w="12700">
            <a:solidFill>
              <a:srgbClr val="120A33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2322576"/>
            <a:ext cx="101132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px.scatter(df, x='Tahun', y='Tinggi', size='Tinggi',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9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hover_name='Nama')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Diketahui Menara memiliki Tinggi = 74 dan Tahun = 1975, sedangkan landmark lain jauh lebih rendah.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10515600" cy="548640"/>
          </a:xfrm>
          <a:prstGeom prst="roundRect">
            <a:avLst>
              <a:gd name="adj" fmla="val 16667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133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posisinya pada sumbu x dan 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681728"/>
            <a:ext cx="10515600" cy="548640"/>
          </a:xfrm>
          <a:prstGeom prst="roundRect">
            <a:avLst>
              <a:gd name="adj" fmla="val 16667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7914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ukuran penandanya dibanding yang lain?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340096"/>
            <a:ext cx="10515600" cy="548640"/>
          </a:xfrm>
          <a:prstGeom prst="roundRect">
            <a:avLst>
              <a:gd name="adj" fmla="val 16667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54498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muncul saat kursor diarahkan ke penanda itu?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Pertemuan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hal yang perlu Anda bawa pulang hari ini.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20824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293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DataFrame, dan Index adalah tiga blok penyusun pandas.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20824"/>
            <a:ext cx="457200" cy="45720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9293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data lebih dulu: head(), info(), describe(), sample().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862072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99816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0083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memakai label dan inklusif; iloc memakai posisi dan eksklusif.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2862072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099816"/>
            <a:ext cx="457200" cy="45720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0083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Penyaringan memakai Boolean masking dengan operator &amp;, |, dan ~.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941064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178808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087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operasi tidak in-place — tugaskan kembali hasilnya.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3941064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4178808"/>
            <a:ext cx="457200" cy="45720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087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hilang perlu dideteksi dulu sebelum dihapus atau diisi.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5020056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mengikuti pola split–apply–combine; pivot_table merapikan hasilnya.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5020056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5257800"/>
            <a:ext cx="457200" cy="457200"/>
          </a:xfrm>
          <a:prstGeom prst="ellipse">
            <a:avLst/>
          </a:prstGeom>
          <a:solidFill>
            <a:srgbClr val="E70488"/>
          </a:solidFill>
          <a:ln w="12700">
            <a:solidFill>
              <a:srgbClr val="E7048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bukan pelengkap laporan, melainkan alat menemukan wawasan.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dan Cara Belajar Lanjut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mandiri agar materi hari ini benar-benar melekat.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Tools — pandas &amp; Visualisasi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FEEF7"/>
          </a:solidFill>
          <a:ln w="12700">
            <a:solidFill>
              <a:srgbClr val="EF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praktikum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satu dataset publik (mis. dari data.go.id atau Kaggle).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eksplorasi awal: bentuk data, tipe kolom, dan nilai hilang.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minimal tiga penyaringan dengan kondisi majemuk.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satu ringkasan groupby dan satu pivot_table.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Sajikan tiga grafik Plotly beserta satu paragraf temuan untuk setiap grafik.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9C9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965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belajar mandiri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Telusuri dokumentasi resmi pandas dan galeri Plotly Express — keduanya penuh contoh siap jalan.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menemui kebuntuan, tanyakan pada asisten AI; model bahasa sangat baik untuk pandas dan Plotly.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 jangan menyalin mentah-mentah: jalankan kodenya, ubah satu argumen, lalu amati apa yang berubah.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ini hanya tumbuh lewat pengulangan pada data yang benar-benar Anda pedulikan.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2C1580"/>
          </a:solidFill>
          <a:ln w="12700">
            <a:solidFill>
              <a:srgbClr val="2C15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Perkakas Data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berikutnya: eksplorasi data lanjutan dan pra-pemrosesan untuk pemodelan.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6949440" cy="1051560"/>
          </a:xfrm>
          <a:prstGeom prst="roundRect">
            <a:avLst>
              <a:gd name="adj" fmla="val 10435"/>
            </a:avLst>
          </a:prstGeom>
          <a:solidFill>
            <a:srgbClr val="22106B"/>
          </a:solidFill>
          <a:ln w="12700">
            <a:solidFill>
              <a:srgbClr val="2210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645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diadaptasi dari kuliah “Data Tools” oleh Joseph E. Gonzalez dan Narges Norouzi, disusun ulang dalam bahasa Indonesia. Topik ini tidak dibahas pada buku teks utama.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2026-09-01T23:00:30Z</dcterms:created>
  <dcterms:modified xsi:type="dcterms:W3CDTF">2026-09-01T23:00:30Z</dcterms:modified>
</cp:coreProperties>
</file>